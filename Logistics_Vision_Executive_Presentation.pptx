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7.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8.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9.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0.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11.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bde2895dc64353" /><Relationship Type="http://schemas.openxmlformats.org/officeDocument/2006/relationships/extended-properties" Target="/docProps/app.xml" Id="Rc0dde36bb1fc4691" /><Relationship Type="http://schemas.openxmlformats.org/officeDocument/2006/relationships/officeDocument" Target="/ppt/presentation.xml" Id="Re2f1023194994061" /></Relationships>
</file>

<file path=ppt/presentation.xml><?xml version="1.0" encoding="utf-8"?>
<p:presentation xmlns:p="http://schemas.openxmlformats.org/presentationml/2006/main">
  <p:sldMasterIdLst>
    <p:sldMasterId xmlns:r="http://schemas.openxmlformats.org/officeDocument/2006/relationships" id="2147483648" r:id="Rc42f5542db23456d"/>
  </p:sldMasterIdLst>
  <p:notesMasterIdLst>
    <p:notesMasterId xmlns:r="http://schemas.openxmlformats.org/officeDocument/2006/relationships" r:id="R63e70640e4f74a0e"/>
  </p:notesMasterIdLst>
  <p:sldIdLst>
    <p:sldId xmlns:r="http://schemas.openxmlformats.org/officeDocument/2006/relationships" id="256" r:id="R2eb2b375e46848bc"/>
    <p:sldId xmlns:r="http://schemas.openxmlformats.org/officeDocument/2006/relationships" id="257" r:id="R9aaa4356da364020"/>
    <p:sldId xmlns:r="http://schemas.openxmlformats.org/officeDocument/2006/relationships" id="258" r:id="R32cb41baacc1445d"/>
    <p:sldId xmlns:r="http://schemas.openxmlformats.org/officeDocument/2006/relationships" id="259" r:id="Rc9b61d8539b74e45"/>
    <p:sldId xmlns:r="http://schemas.openxmlformats.org/officeDocument/2006/relationships" id="260" r:id="R974833de09224de0"/>
    <p:sldId xmlns:r="http://schemas.openxmlformats.org/officeDocument/2006/relationships" id="261" r:id="R38f7ecc8f1f846bc"/>
    <p:sldId xmlns:r="http://schemas.openxmlformats.org/officeDocument/2006/relationships" id="262" r:id="R2bd3209fd36643b4"/>
    <p:sldId xmlns:r="http://schemas.openxmlformats.org/officeDocument/2006/relationships" id="263" r:id="R38e74a925e444f66"/>
    <p:sldId xmlns:r="http://schemas.openxmlformats.org/officeDocument/2006/relationships" id="264" r:id="R6a70cab9103243a5"/>
    <p:sldId xmlns:r="http://schemas.openxmlformats.org/officeDocument/2006/relationships" id="265" r:id="Rc958a71b0f4441a7"/>
    <p:sldId xmlns:r="http://schemas.openxmlformats.org/officeDocument/2006/relationships" id="266" r:id="R11f74795c10b4c4b"/>
    <p:sldId xmlns:r="http://schemas.openxmlformats.org/officeDocument/2006/relationships" id="267" r:id="Rb24a71a5198c456d"/>
    <p:sldId xmlns:r="http://schemas.openxmlformats.org/officeDocument/2006/relationships" id="268" r:id="Re6fa218c4cde4ef4"/>
    <p:sldId xmlns:r="http://schemas.openxmlformats.org/officeDocument/2006/relationships" id="269" r:id="Rbe43554fe1454647"/>
    <p:sldId xmlns:r="http://schemas.openxmlformats.org/officeDocument/2006/relationships" id="270" r:id="R0c352fcbc8024d5e"/>
    <p:sldId xmlns:r="http://schemas.openxmlformats.org/officeDocument/2006/relationships" id="271" r:id="Re2282c71dc834356"/>
    <p:sldId xmlns:r="http://schemas.openxmlformats.org/officeDocument/2006/relationships" id="272" r:id="R998328eb8e464f6f"/>
    <p:sldId xmlns:r="http://schemas.openxmlformats.org/officeDocument/2006/relationships" id="273" r:id="R14579d587a004392"/>
    <p:sldId xmlns:r="http://schemas.openxmlformats.org/officeDocument/2006/relationships" id="274" r:id="R26d8a4e3094c4c72"/>
    <p:sldId xmlns:r="http://schemas.openxmlformats.org/officeDocument/2006/relationships" id="275" r:id="Rdd0d3f649fdc48b8"/>
    <p:sldId xmlns:r="http://schemas.openxmlformats.org/officeDocument/2006/relationships" id="276" r:id="Rc815371522314870"/>
    <p:sldId xmlns:r="http://schemas.openxmlformats.org/officeDocument/2006/relationships" id="277" r:id="Rae780b0e3eb749c0"/>
    <p:sldId xmlns:r="http://schemas.openxmlformats.org/officeDocument/2006/relationships" id="278" r:id="Re9593741bb8e4d1a"/>
    <p:sldId xmlns:r="http://schemas.openxmlformats.org/officeDocument/2006/relationships" id="279" r:id="Rcb764e7186da4482"/>
    <p:sldId xmlns:r="http://schemas.openxmlformats.org/officeDocument/2006/relationships" id="280" r:id="R5c69f0ac28364e49"/>
    <p:sldId xmlns:r="http://schemas.openxmlformats.org/officeDocument/2006/relationships" id="281" r:id="R0fd8ad0575e54aab"/>
    <p:sldId xmlns:r="http://schemas.openxmlformats.org/officeDocument/2006/relationships" id="282" r:id="Rb13834bdebd34ef4"/>
    <p:sldId xmlns:r="http://schemas.openxmlformats.org/officeDocument/2006/relationships" id="283" r:id="R355e137175484633"/>
    <p:sldId xmlns:r="http://schemas.openxmlformats.org/officeDocument/2006/relationships" id="284" r:id="R5ab8d541f7484a4b"/>
    <p:sldId xmlns:r="http://schemas.openxmlformats.org/officeDocument/2006/relationships" id="285" r:id="Ra220e4d0bb834e6a"/>
    <p:sldId xmlns:r="http://schemas.openxmlformats.org/officeDocument/2006/relationships" id="286" r:id="Rd3b1b5e4485942d1"/>
    <p:sldId xmlns:r="http://schemas.openxmlformats.org/officeDocument/2006/relationships" id="287" r:id="Radd48e80ef594fcf"/>
    <p:sldId xmlns:r="http://schemas.openxmlformats.org/officeDocument/2006/relationships" id="288" r:id="Rb58854fb17434c90"/>
    <p:sldId xmlns:r="http://schemas.openxmlformats.org/officeDocument/2006/relationships" id="289" r:id="R74e3757dd51c4880"/>
    <p:sldId xmlns:r="http://schemas.openxmlformats.org/officeDocument/2006/relationships" id="290" r:id="R0eb434e3a8de475e"/>
    <p:sldId xmlns:r="http://schemas.openxmlformats.org/officeDocument/2006/relationships" id="291" r:id="R9ab658f13a414c88"/>
    <p:sldId xmlns:r="http://schemas.openxmlformats.org/officeDocument/2006/relationships" id="292" r:id="Rb5b174e22f0e4243"/>
    <p:sldId xmlns:r="http://schemas.openxmlformats.org/officeDocument/2006/relationships" id="293" r:id="R36abde6d53b545b3"/>
    <p:sldId xmlns:r="http://schemas.openxmlformats.org/officeDocument/2006/relationships" id="294" r:id="Rc2757032c64e4f00"/>
    <p:sldId xmlns:r="http://schemas.openxmlformats.org/officeDocument/2006/relationships" id="295" r:id="Re52b742598f3487f"/>
    <p:sldId xmlns:r="http://schemas.openxmlformats.org/officeDocument/2006/relationships" id="296" r:id="R43072c5968264b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ef7b81c1f84be5" /><Relationship Type="http://schemas.openxmlformats.org/officeDocument/2006/relationships/slideMaster" Target="/ppt/slideMasters/slideMaster1.xml" Id="Rc42f5542db23456d" /><Relationship Type="http://schemas.openxmlformats.org/officeDocument/2006/relationships/notesMaster" Target="/ppt/notesMasters/notesMaster1.xml" Id="R63e70640e4f74a0e" /><Relationship Type="http://schemas.openxmlformats.org/officeDocument/2006/relationships/presProps" Target="/ppt/presProps.xml" Id="Raa5f9881ed6f4068" /><Relationship Type="http://schemas.openxmlformats.org/officeDocument/2006/relationships/tableStyles" Target="/ppt/tableStyles.xml" Id="Re9df5333d875466b" /><Relationship Type="http://schemas.openxmlformats.org/officeDocument/2006/relationships/slide" Target="/ppt/slides/slide1.xml" Id="R2eb2b375e46848bc" /><Relationship Type="http://schemas.openxmlformats.org/officeDocument/2006/relationships/slide" Target="/ppt/slides/slide2.xml" Id="R9aaa4356da364020" /><Relationship Type="http://schemas.openxmlformats.org/officeDocument/2006/relationships/slide" Target="/ppt/slides/slide3.xml" Id="R32cb41baacc1445d" /><Relationship Type="http://schemas.openxmlformats.org/officeDocument/2006/relationships/slide" Target="/ppt/slides/slide4.xml" Id="Rc9b61d8539b74e45" /><Relationship Type="http://schemas.openxmlformats.org/officeDocument/2006/relationships/slide" Target="/ppt/slides/slide5.xml" Id="R974833de09224de0" /><Relationship Type="http://schemas.openxmlformats.org/officeDocument/2006/relationships/slide" Target="/ppt/slides/slide6.xml" Id="R38f7ecc8f1f846bc" /><Relationship Type="http://schemas.openxmlformats.org/officeDocument/2006/relationships/slide" Target="/ppt/slides/slide7.xml" Id="R2bd3209fd36643b4" /><Relationship Type="http://schemas.openxmlformats.org/officeDocument/2006/relationships/slide" Target="/ppt/slides/slide8.xml" Id="R38e74a925e444f66" /><Relationship Type="http://schemas.openxmlformats.org/officeDocument/2006/relationships/slide" Target="/ppt/slides/slide9.xml" Id="R6a70cab9103243a5" /><Relationship Type="http://schemas.openxmlformats.org/officeDocument/2006/relationships/slide" Target="/ppt/slides/slide10.xml" Id="Rc958a71b0f4441a7" /><Relationship Type="http://schemas.openxmlformats.org/officeDocument/2006/relationships/slide" Target="/ppt/slides/slide11.xml" Id="R11f74795c10b4c4b" /><Relationship Type="http://schemas.openxmlformats.org/officeDocument/2006/relationships/slide" Target="/ppt/slides/slide12.xml" Id="Rb24a71a5198c456d" /><Relationship Type="http://schemas.openxmlformats.org/officeDocument/2006/relationships/slide" Target="/ppt/slides/slide13.xml" Id="Re6fa218c4cde4ef4" /><Relationship Type="http://schemas.openxmlformats.org/officeDocument/2006/relationships/slide" Target="/ppt/slides/slide14.xml" Id="Rbe43554fe1454647" /><Relationship Type="http://schemas.openxmlformats.org/officeDocument/2006/relationships/slide" Target="/ppt/slides/slide15.xml" Id="R0c352fcbc8024d5e" /><Relationship Type="http://schemas.openxmlformats.org/officeDocument/2006/relationships/slide" Target="/ppt/slides/slide16.xml" Id="Re2282c71dc834356" /><Relationship Type="http://schemas.openxmlformats.org/officeDocument/2006/relationships/slide" Target="/ppt/slides/slide17.xml" Id="R998328eb8e464f6f" /><Relationship Type="http://schemas.openxmlformats.org/officeDocument/2006/relationships/slide" Target="/ppt/slides/slide18.xml" Id="R14579d587a004392" /><Relationship Type="http://schemas.openxmlformats.org/officeDocument/2006/relationships/slide" Target="/ppt/slides/slide19.xml" Id="R26d8a4e3094c4c72" /><Relationship Type="http://schemas.openxmlformats.org/officeDocument/2006/relationships/slide" Target="/ppt/slides/slide20.xml" Id="Rdd0d3f649fdc48b8" /><Relationship Type="http://schemas.openxmlformats.org/officeDocument/2006/relationships/slide" Target="/ppt/slides/slide21.xml" Id="Rc815371522314870" /><Relationship Type="http://schemas.openxmlformats.org/officeDocument/2006/relationships/slide" Target="/ppt/slides/slide22.xml" Id="Rae780b0e3eb749c0" /><Relationship Type="http://schemas.openxmlformats.org/officeDocument/2006/relationships/slide" Target="/ppt/slides/slide23.xml" Id="Re9593741bb8e4d1a" /><Relationship Type="http://schemas.openxmlformats.org/officeDocument/2006/relationships/slide" Target="/ppt/slides/slide24.xml" Id="Rcb764e7186da4482" /><Relationship Type="http://schemas.openxmlformats.org/officeDocument/2006/relationships/slide" Target="/ppt/slides/slide25.xml" Id="R5c69f0ac28364e49" /><Relationship Type="http://schemas.openxmlformats.org/officeDocument/2006/relationships/slide" Target="/ppt/slides/slide26.xml" Id="R0fd8ad0575e54aab" /><Relationship Type="http://schemas.openxmlformats.org/officeDocument/2006/relationships/slide" Target="/ppt/slides/slide27.xml" Id="Rb13834bdebd34ef4" /><Relationship Type="http://schemas.openxmlformats.org/officeDocument/2006/relationships/slide" Target="/ppt/slides/slide28.xml" Id="R355e137175484633" /><Relationship Type="http://schemas.openxmlformats.org/officeDocument/2006/relationships/slide" Target="/ppt/slides/slide29.xml" Id="R5ab8d541f7484a4b" /><Relationship Type="http://schemas.openxmlformats.org/officeDocument/2006/relationships/slide" Target="/ppt/slides/slide30.xml" Id="Ra220e4d0bb834e6a" /><Relationship Type="http://schemas.openxmlformats.org/officeDocument/2006/relationships/slide" Target="/ppt/slides/slide31.xml" Id="Rd3b1b5e4485942d1" /><Relationship Type="http://schemas.openxmlformats.org/officeDocument/2006/relationships/slide" Target="/ppt/slides/slide32.xml" Id="Radd48e80ef594fcf" /><Relationship Type="http://schemas.openxmlformats.org/officeDocument/2006/relationships/slide" Target="/ppt/slides/slide33.xml" Id="Rb58854fb17434c90" /><Relationship Type="http://schemas.openxmlformats.org/officeDocument/2006/relationships/slide" Target="/ppt/slides/slide34.xml" Id="R74e3757dd51c4880" /><Relationship Type="http://schemas.openxmlformats.org/officeDocument/2006/relationships/slide" Target="/ppt/slides/slide35.xml" Id="R0eb434e3a8de475e" /><Relationship Type="http://schemas.openxmlformats.org/officeDocument/2006/relationships/slide" Target="/ppt/slides/slide36.xml" Id="R9ab658f13a414c88" /><Relationship Type="http://schemas.openxmlformats.org/officeDocument/2006/relationships/slide" Target="/ppt/slides/slide37.xml" Id="Rb5b174e22f0e4243" /><Relationship Type="http://schemas.openxmlformats.org/officeDocument/2006/relationships/slide" Target="/ppt/slides/slide38.xml" Id="R36abde6d53b545b3" /><Relationship Type="http://schemas.openxmlformats.org/officeDocument/2006/relationships/slide" Target="/ppt/slides/slide39.xml" Id="Rc2757032c64e4f00" /><Relationship Type="http://schemas.openxmlformats.org/officeDocument/2006/relationships/slide" Target="/ppt/slides/slide40.xml" Id="Re52b742598f3487f" /><Relationship Type="http://schemas.openxmlformats.org/officeDocument/2006/relationships/slide" Target="/ppt/slides/slide41.xml" Id="R43072c5968264b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6d46aac0fb47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20d18b886a479b" /><Relationship Type="http://schemas.openxmlformats.org/officeDocument/2006/relationships/notesMaster" Target="/ppt/notesMasters/notesMaster1.xml" Id="Rea10f4bc9b0046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4055d7489741c5" /><Relationship Type="http://schemas.openxmlformats.org/officeDocument/2006/relationships/notesMaster" Target="/ppt/notesMasters/notesMaster1.xml" Id="Rc2a9a79508d149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38a9dcef9e48b3" /><Relationship Type="http://schemas.openxmlformats.org/officeDocument/2006/relationships/notesMaster" Target="/ppt/notesMasters/notesMaster1.xml" Id="R3ef3ad7db91240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27c61d03854630" /><Relationship Type="http://schemas.openxmlformats.org/officeDocument/2006/relationships/notesMaster" Target="/ppt/notesMasters/notesMaster1.xml" Id="R4b2f2924159a45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4e20e1e639446c" /><Relationship Type="http://schemas.openxmlformats.org/officeDocument/2006/relationships/notesMaster" Target="/ppt/notesMasters/notesMaster1.xml" Id="R0b426bbf2ae742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1281b2aa214287" /><Relationship Type="http://schemas.openxmlformats.org/officeDocument/2006/relationships/notesMaster" Target="/ppt/notesMasters/notesMaster1.xml" Id="R918a64ae6b814b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721d4700ff430f" /><Relationship Type="http://schemas.openxmlformats.org/officeDocument/2006/relationships/notesMaster" Target="/ppt/notesMasters/notesMaster1.xml" Id="R380e7d2e3e0041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16b0e383e04a45" /><Relationship Type="http://schemas.openxmlformats.org/officeDocument/2006/relationships/notesMaster" Target="/ppt/notesMasters/notesMaster1.xml" Id="Rbe6bdc1a74a843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8b663949d8466a" /><Relationship Type="http://schemas.openxmlformats.org/officeDocument/2006/relationships/notesMaster" Target="/ppt/notesMasters/notesMaster1.xml" Id="R9c96a38bd8c14d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6c913d2a1f4a25" /><Relationship Type="http://schemas.openxmlformats.org/officeDocument/2006/relationships/notesMaster" Target="/ppt/notesMasters/notesMaster1.xml" Id="R476105cd645f47e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72fc7e03554eeb" /><Relationship Type="http://schemas.openxmlformats.org/officeDocument/2006/relationships/notesMaster" Target="/ppt/notesMasters/notesMaster1.xml" Id="Rda6f1160cd1d46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dfd76d620249cd" /><Relationship Type="http://schemas.openxmlformats.org/officeDocument/2006/relationships/notesMaster" Target="/ppt/notesMasters/notesMaster1.xml" Id="Rd31d5dda366944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861643511045fe" /><Relationship Type="http://schemas.openxmlformats.org/officeDocument/2006/relationships/notesMaster" Target="/ppt/notesMasters/notesMaster1.xml" Id="Rdc04e2677f4b4c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42615ee3a8443d" /><Relationship Type="http://schemas.openxmlformats.org/officeDocument/2006/relationships/notesMaster" Target="/ppt/notesMasters/notesMaster1.xml" Id="Rbded0eb00b69489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c6efcf6aeb43a7" /><Relationship Type="http://schemas.openxmlformats.org/officeDocument/2006/relationships/notesMaster" Target="/ppt/notesMasters/notesMaster1.xml" Id="R7767d9aaa01540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edbc61045a4dae" /><Relationship Type="http://schemas.openxmlformats.org/officeDocument/2006/relationships/notesMaster" Target="/ppt/notesMasters/notesMaster1.xml" Id="R57023db2b8c94a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3dc6dfdea844b4f" /><Relationship Type="http://schemas.openxmlformats.org/officeDocument/2006/relationships/notesMaster" Target="/ppt/notesMasters/notesMaster1.xml" Id="R6bb61b84aa9c466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79c351093f4fcc" /><Relationship Type="http://schemas.openxmlformats.org/officeDocument/2006/relationships/notesMaster" Target="/ppt/notesMasters/notesMaster1.xml" Id="Rde479165fe524c9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49c1971076a4cc3" /><Relationship Type="http://schemas.openxmlformats.org/officeDocument/2006/relationships/notesMaster" Target="/ppt/notesMasters/notesMaster1.xml" Id="Rd18f1398a92240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2655a56630546af" /><Relationship Type="http://schemas.openxmlformats.org/officeDocument/2006/relationships/notesMaster" Target="/ppt/notesMasters/notesMaster1.xml" Id="Raced6132a8ec454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34b9d99885947f5" /><Relationship Type="http://schemas.openxmlformats.org/officeDocument/2006/relationships/notesMaster" Target="/ppt/notesMasters/notesMaster1.xml" Id="Rc6e5aceccf8e4aa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20fc77e40e741a6" /><Relationship Type="http://schemas.openxmlformats.org/officeDocument/2006/relationships/notesMaster" Target="/ppt/notesMasters/notesMaster1.xml" Id="R1f38f29d3cb146f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9cc5bb871184ee7" /><Relationship Type="http://schemas.openxmlformats.org/officeDocument/2006/relationships/notesMaster" Target="/ppt/notesMasters/notesMaster1.xml" Id="R3b71ed02e2db466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6c41f9d940947b9" /><Relationship Type="http://schemas.openxmlformats.org/officeDocument/2006/relationships/notesMaster" Target="/ppt/notesMasters/notesMaster1.xml" Id="R6051e5929f0740f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51ff7c77baa4f15" /><Relationship Type="http://schemas.openxmlformats.org/officeDocument/2006/relationships/notesMaster" Target="/ppt/notesMasters/notesMaster1.xml" Id="R01008af33f01458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cadd658ccea4b02" /><Relationship Type="http://schemas.openxmlformats.org/officeDocument/2006/relationships/notesMaster" Target="/ppt/notesMasters/notesMaster1.xml" Id="R6a5b0128172e49a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75c31160d7c4f88" /><Relationship Type="http://schemas.openxmlformats.org/officeDocument/2006/relationships/notesMaster" Target="/ppt/notesMasters/notesMaster1.xml" Id="R67fe8546ab674c9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c2cad4fd0c540f2" /><Relationship Type="http://schemas.openxmlformats.org/officeDocument/2006/relationships/notesMaster" Target="/ppt/notesMasters/notesMaster1.xml" Id="Rf1cb8c387af340b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7c7e46714704197" /><Relationship Type="http://schemas.openxmlformats.org/officeDocument/2006/relationships/notesMaster" Target="/ppt/notesMasters/notesMaster1.xml" Id="R4800a8d2c32f43a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7a13b788494408c" /><Relationship Type="http://schemas.openxmlformats.org/officeDocument/2006/relationships/notesMaster" Target="/ppt/notesMasters/notesMaster1.xml" Id="R4d6b228d578546b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1633c9a38484219" /><Relationship Type="http://schemas.openxmlformats.org/officeDocument/2006/relationships/notesMaster" Target="/ppt/notesMasters/notesMaster1.xml" Id="Rb39011919fcf4a7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f333b92ca584bec" /><Relationship Type="http://schemas.openxmlformats.org/officeDocument/2006/relationships/notesMaster" Target="/ppt/notesMasters/notesMaster1.xml" Id="R97627ebeaf28494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3410179986d46a5" /><Relationship Type="http://schemas.openxmlformats.org/officeDocument/2006/relationships/notesMaster" Target="/ppt/notesMasters/notesMaster1.xml" Id="R1736d7eb84144d7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08dcdd8c2034c40" /><Relationship Type="http://schemas.openxmlformats.org/officeDocument/2006/relationships/notesMaster" Target="/ppt/notesMasters/notesMaster1.xml" Id="Rd5234718c129498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cb30a3687df4a09" /><Relationship Type="http://schemas.openxmlformats.org/officeDocument/2006/relationships/notesMaster" Target="/ppt/notesMasters/notesMaster1.xml" Id="Rb4b2b6f134304c9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8702833e39542c9" /><Relationship Type="http://schemas.openxmlformats.org/officeDocument/2006/relationships/notesMaster" Target="/ppt/notesMasters/notesMaster1.xml" Id="R3325faa4a2bb4c4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60f6560b4cc4db4" /><Relationship Type="http://schemas.openxmlformats.org/officeDocument/2006/relationships/notesMaster" Target="/ppt/notesMasters/notesMaster1.xml" Id="R6699ae6e8fd64af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67fcdaa65bc47cf" /><Relationship Type="http://schemas.openxmlformats.org/officeDocument/2006/relationships/notesMaster" Target="/ppt/notesMasters/notesMaster1.xml" Id="R3464ab2e405246b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0fa4d0181ae42ed" /><Relationship Type="http://schemas.openxmlformats.org/officeDocument/2006/relationships/notesMaster" Target="/ppt/notesMasters/notesMaster1.xml" Id="R45c5bdc7233e497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571dcc7dfc74b64" /><Relationship Type="http://schemas.openxmlformats.org/officeDocument/2006/relationships/notesMaster" Target="/ppt/notesMasters/notesMaster1.xml" Id="R5a6f7bd82e8843a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19f44b4a2834cb6" /><Relationship Type="http://schemas.openxmlformats.org/officeDocument/2006/relationships/notesMaster" Target="/ppt/notesMasters/notesMaster1.xml" Id="Rd00c89941a3547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0:20 ضمن مسار الشرح الأساسي.</a:t>
            </a:r>
          </a:p>
          <a:p xmlns:a="http://schemas.openxmlformats.org/drawingml/2006/main">
            <a:r>
              <a:t/>
            </a:r>
          </a:p>
          <a:p xmlns:a="http://schemas.openxmlformats.org/drawingml/2006/main">
            <a:r>
              <a:t>النص المقترح:</a:t>
            </a:r>
          </a:p>
          <a:p xmlns:a="http://schemas.openxmlformats.org/drawingml/2006/main">
            <a:r>
              <a:t>أهلاً بيكم. إحنا فريق Logistics Vision، ودي رحلة تحليل بيانات تشغيل أسطول ونقل بضائع. بدأنا بسؤال عن الخدمة والتكلفة والسعة، وبعد تجهيز الداتا راجعنا المؤشرات نفسها، عشان كل توصية يبقى وراها دليل واضح وحدود معروفة.</a:t>
            </a:r>
          </a:p>
          <a:p xmlns:a="http://schemas.openxmlformats.org/drawingml/2006/main">
            <a:r>
              <a:t/>
            </a:r>
          </a:p>
          <a:p xmlns:a="http://schemas.openxmlformats.org/drawingml/2006/main">
            <a:r>
              <a:t>منطق التحليل والمعنى التجاري:</a:t>
            </a:r>
          </a:p>
          <a:p xmlns:a="http://schemas.openxmlformats.org/drawingml/2006/main">
            <a:r>
              <a:t>الهدف ندعم القرار، ونفصل بين النتيجة المحسوبة، وتفسيرها، والفرضية اللي لسه محتاجة اختبار.</a:t>
            </a:r>
          </a:p>
          <a:p xmlns:a="http://schemas.openxmlformats.org/drawingml/2006/main">
            <a:r>
              <a:t/>
            </a:r>
          </a:p>
          <a:p xmlns:a="http://schemas.openxmlformats.org/drawingml/2006/main">
            <a:r>
              <a:t>الأرقام الأساسية:</a:t>
            </a:r>
          </a:p>
          <a:p xmlns:a="http://schemas.openxmlformats.org/drawingml/2006/main">
            <a:r>
              <a:t>تواريخ الشحنات والرحلات من 2022 إلى 2024؛ وبعض سجلات الوقود والتسليم بتكمل لبداية 2025. الأرقام إعادة حساب من البيانات المحفوظة.</a:t>
            </a:r>
          </a:p>
          <a:p xmlns:a="http://schemas.openxmlformats.org/drawingml/2006/main">
            <a:r>
              <a:t/>
            </a:r>
          </a:p>
          <a:p xmlns:a="http://schemas.openxmlformats.org/drawingml/2006/main">
            <a:r>
              <a:t>الانتقال:</a:t>
            </a:r>
          </a:p>
          <a:p xmlns:a="http://schemas.openxmlformats.org/drawingml/2006/main">
            <a:r>
              <a:t>نعرّف الفريق بسرعة، وبعدها نبدأ بالسؤال التجاري.</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0:15 ضمن مسار الشرح الأساسي.</a:t>
            </a:r>
          </a:p>
          <a:p xmlns:a="http://schemas.openxmlformats.org/drawingml/2006/main">
            <a:r>
              <a:t/>
            </a:r>
          </a:p>
          <a:p xmlns:a="http://schemas.openxmlformats.org/drawingml/2006/main">
            <a:r>
              <a:t>النص المقترح:</a:t>
            </a:r>
          </a:p>
          <a:p xmlns:a="http://schemas.openxmlformats.org/drawingml/2006/main">
            <a:r>
              <a:t>المشروع من إعداد المهندس عبدالوهاب عبدالله، والمهندس إسلام ياسر، والمهندس يوسف هاني، والمهندس محمد سامي. الـ Instructor هو المهندس عبدالرحمن فراج، والـ Mentor المهندس إسماعيل مصطفى، ضمن Instant Diploma في Data Analytics.</a:t>
            </a:r>
          </a:p>
          <a:p xmlns:a="http://schemas.openxmlformats.org/drawingml/2006/main">
            <a:r>
              <a:t/>
            </a:r>
          </a:p>
          <a:p xmlns:a="http://schemas.openxmlformats.org/drawingml/2006/main">
            <a:r>
              <a:t>منطق التحليل والمعنى التجاري:</a:t>
            </a:r>
          </a:p>
          <a:p xmlns:a="http://schemas.openxmlformats.org/drawingml/2006/main">
            <a:r>
              <a:t>الأسماء والأدوار من العرض المرجعي، ودور Instructor اتعدل بناءً على طلب الفريق.</a:t>
            </a:r>
          </a:p>
          <a:p xmlns:a="http://schemas.openxmlformats.org/drawingml/2006/main">
            <a:r>
              <a:t/>
            </a:r>
          </a:p>
          <a:p xmlns:a="http://schemas.openxmlformats.org/drawingml/2006/main">
            <a:r>
              <a:t>الأرقام الأساسية:</a:t>
            </a:r>
          </a:p>
          <a:p xmlns:a="http://schemas.openxmlformats.org/drawingml/2006/main">
            <a:r>
              <a:t>الفريق فيه أربعة أعضاء.</a:t>
            </a:r>
          </a:p>
          <a:p xmlns:a="http://schemas.openxmlformats.org/drawingml/2006/main">
            <a:r>
              <a:t/>
            </a:r>
          </a:p>
          <a:p xmlns:a="http://schemas.openxmlformats.org/drawingml/2006/main">
            <a:r>
              <a:t>الانتقال:</a:t>
            </a:r>
          </a:p>
          <a:p xmlns:a="http://schemas.openxmlformats.org/drawingml/2006/main">
            <a:r>
              <a:t>إيه المشكلة اللي خلّتنا نبدأ التحليل؟</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1:05 ضمن مسار الشرح الأساسي.</a:t>
            </a:r>
          </a:p>
          <a:p xmlns:a="http://schemas.openxmlformats.org/drawingml/2006/main">
            <a:r>
              <a:t/>
            </a:r>
          </a:p>
          <a:p xmlns:a="http://schemas.openxmlformats.org/drawingml/2006/main">
            <a:r>
              <a:t>النص المقترح:</a:t>
            </a:r>
          </a:p>
          <a:p xmlns:a="http://schemas.openxmlformats.org/drawingml/2006/main">
            <a:r>
              <a:t>سألنا نفسنا: إيه القرارات اللي داتا النقل دي تقدر تساعدنا ناخدها بثقة؟ عندنا شحنات ورحلات، وسواقين وعربيات، ووقود وصيانة وسلامة. لكن اكتمال الرحلة لوحده ما يقولش إنها وصلت في معادها، وحجم الإيراد لوحده ما يثبتش إن العميل مربح. لو تعريف الـ KPI أو نطاق البيانات مش واضح، ممكن قرار الخدمة أو التكلفة أو السعة يبقى مضلل. عشان كده ربطنا التشغيل بالنتيجة، وحددنا إيه المؤكد وإيه اللي محتاج تحقق. التحليل ممكن يفيد فرق Operations وFleet وFinance وCommercial وSafety وBI. دي أدوار مقترحة للاستفادة من المشروع؛ إحنا ما بندّعيش إننا عملنا معاهم مقابلات أو نشرنا نظام إنتاج فعلي.</a:t>
            </a:r>
          </a:p>
          <a:p xmlns:a="http://schemas.openxmlformats.org/drawingml/2006/main">
            <a:r>
              <a:t/>
            </a:r>
          </a:p>
          <a:p xmlns:a="http://schemas.openxmlformats.org/drawingml/2006/main">
            <a:r>
              <a:t>منطق التحليل والمعنى التجاري:</a:t>
            </a:r>
          </a:p>
          <a:p xmlns:a="http://schemas.openxmlformats.org/drawingml/2006/main">
            <a:r>
              <a:t>سؤال المشروع هو: إزاي نحدد أولويات الخدمة والتكلفة والسعة، وإحنا عارفين حدود القياس؟ النتائج وصفية، ومش إثبات للأسباب أو لتنفيذ التوصيات.</a:t>
            </a:r>
          </a:p>
          <a:p xmlns:a="http://schemas.openxmlformats.org/drawingml/2006/main">
            <a:r>
              <a:t/>
            </a:r>
          </a:p>
          <a:p xmlns:a="http://schemas.openxmlformats.org/drawingml/2006/main">
            <a:r>
              <a:t>الأرقام الأساسية:</a:t>
            </a:r>
          </a:p>
          <a:p xmlns:a="http://schemas.openxmlformats.org/drawingml/2006/main">
            <a:r>
              <a:t>عندنا 85,410 حمولة، ونفس العدد من الرحلات، بتواريخ من 2022 إلى 2024.</a:t>
            </a:r>
          </a:p>
          <a:p xmlns:a="http://schemas.openxmlformats.org/drawingml/2006/main">
            <a:r>
              <a:t/>
            </a:r>
          </a:p>
          <a:p xmlns:a="http://schemas.openxmlformats.org/drawingml/2006/main">
            <a:r>
              <a:t>الانتقال:</a:t>
            </a:r>
          </a:p>
          <a:p xmlns:a="http://schemas.openxmlformats.org/drawingml/2006/main">
            <a:r>
              <a:t>عشان نجاوب، كان لازم نفهم أجزاء الداتا الأول.</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0:45 ضمن مسار الشرح الأساسي.</a:t>
            </a:r>
          </a:p>
          <a:p xmlns:a="http://schemas.openxmlformats.org/drawingml/2006/main">
            <a:r>
              <a:t/>
            </a:r>
          </a:p>
          <a:p xmlns:a="http://schemas.openxmlformats.org/drawingml/2006/main">
            <a:r>
              <a:t>النص المقترح:</a:t>
            </a:r>
          </a:p>
          <a:p xmlns:a="http://schemas.openxmlformats.org/drawingml/2006/main">
            <a:r>
              <a:t>قسمنا الـ14 business tables لخمس مجموعات. Master Data بتوصف السواقين والعربيات والمقطورات والعملاء والمنشآت والمسارات. Operations فيها loads وtrips، وبتوضح النشاط اللي حصل. Costs فيها الوقود والصيانة، وPerformance فيها أحداث التسليم وملخصات السواقين والعربيات الشهرية، وSafety فيها الحوادث. التقسيم ساعدنا نختار المصدر الصح لكل سؤال. مثلًا، الالتزام الفعلي بميعاد التسليم لازم يتحسب من حدث Delivery. ده مختلف عن مؤشر شهري للسواقين، ومينفعش نتعامل مع المتوسطات الشهرية كأنها أحداث تسليم مستقلة.</a:t>
            </a:r>
          </a:p>
          <a:p xmlns:a="http://schemas.openxmlformats.org/drawingml/2006/main">
            <a:r>
              <a:t/>
            </a:r>
          </a:p>
          <a:p xmlns:a="http://schemas.openxmlformats.org/drawingml/2006/main">
            <a:r>
              <a:t>منطق التحليل والمعنى التجاري:</a:t>
            </a:r>
          </a:p>
          <a:p xmlns:a="http://schemas.openxmlformats.org/drawingml/2006/main">
            <a:r>
              <a:t>ده تصنيف بيساعدنا نفهم البيانات. الصيانة والسلامة سجلات أحداث، والـmonthly metrics وحدها ملخصات شهرية.</a:t>
            </a:r>
          </a:p>
          <a:p xmlns:a="http://schemas.openxmlformats.org/drawingml/2006/main">
            <a:r>
              <a:t/>
            </a:r>
          </a:p>
          <a:p xmlns:a="http://schemas.openxmlformats.org/drawingml/2006/main">
            <a:r>
              <a:t>الأرقام الأساسية:</a:t>
            </a:r>
          </a:p>
          <a:p xmlns:a="http://schemas.openxmlformats.org/drawingml/2006/main">
            <a:r>
              <a:t>6 جداول Master Data، وجدولين Operations، وجدولين Costs، و3 جداول Performance، وجدول Safety.</a:t>
            </a:r>
          </a:p>
          <a:p xmlns:a="http://schemas.openxmlformats.org/drawingml/2006/main">
            <a:r>
              <a:t/>
            </a:r>
          </a:p>
          <a:p xmlns:a="http://schemas.openxmlformats.org/drawingml/2006/main">
            <a:r>
              <a:t>الانتقال:</a:t>
            </a:r>
          </a:p>
          <a:p xmlns:a="http://schemas.openxmlformats.org/drawingml/2006/main">
            <a:r>
              <a:t>بعد التقسيم، رتبنا رحلة الشغل في ثماني خطوات.</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0:35 ضمن مسار الشرح الأساسي.</a:t>
            </a:r>
          </a:p>
          <a:p xmlns:a="http://schemas.openxmlformats.org/drawingml/2006/main">
            <a:r>
              <a:t/>
            </a:r>
          </a:p>
          <a:p xmlns:a="http://schemas.openxmlformats.org/drawingml/2006/main">
            <a:r>
              <a:t>النص المقترح:</a:t>
            </a:r>
          </a:p>
          <a:p xmlns:a="http://schemas.openxmlformats.org/drawingml/2006/main">
            <a:r>
              <a:t>رحلة التحليل عندنا ثماني خطوات: فهم الداتا، تحديد المشكلة، جمع ملفاتها، ثم Cleaning في Power Query باستخدام M. بعد كده Data Modeling بمبادئ Star Schema، وData Processing بالأعمدة والمقاييس، ثم Data Analysis، وفي الآخر Recommendations. الترتيب ده بيوضح الرحلة، لكن كنا بنرجع لخطوة سابقة لما نلاقي تعريف أو علاقة محتاجة مراجعة. كل نتيجة لازم يبقى لها مصدر ومقام ونطاق نقدر نرجعلهم.</a:t>
            </a:r>
          </a:p>
          <a:p xmlns:a="http://schemas.openxmlformats.org/drawingml/2006/main">
            <a:r>
              <a:t/>
            </a:r>
          </a:p>
          <a:p xmlns:a="http://schemas.openxmlformats.org/drawingml/2006/main">
            <a:r>
              <a:t>منطق التحليل والمعنى التجاري:</a:t>
            </a:r>
          </a:p>
          <a:p xmlns:a="http://schemas.openxmlformats.org/drawingml/2006/main">
            <a:r>
              <a:t>بنشرح خطوات المشروع، من غير ما ندّعي إن كل مشكلات المصدر اتصلحت.</a:t>
            </a:r>
          </a:p>
          <a:p xmlns:a="http://schemas.openxmlformats.org/drawingml/2006/main">
            <a:r>
              <a:t/>
            </a:r>
          </a:p>
          <a:p xmlns:a="http://schemas.openxmlformats.org/drawingml/2006/main">
            <a:r>
              <a:t>الأرقام الأساسية:</a:t>
            </a:r>
          </a:p>
          <a:p xmlns:a="http://schemas.openxmlformats.org/drawingml/2006/main">
            <a:r>
              <a:t>8 خطوات تحليل؛ وتعريفات Power Query بتشير إلى 14 ملف CSV.</a:t>
            </a:r>
          </a:p>
          <a:p xmlns:a="http://schemas.openxmlformats.org/drawingml/2006/main">
            <a:r>
              <a:t/>
            </a:r>
          </a:p>
          <a:p xmlns:a="http://schemas.openxmlformats.org/drawingml/2006/main">
            <a:r>
              <a:t>الانتقال:</a:t>
            </a:r>
          </a:p>
          <a:p xmlns:a="http://schemas.openxmlformats.org/drawingml/2006/main">
            <a:r>
              <a:t>نبدأ بخطوات التجهيز واختبارات الجودة اللي عندنا دليل عليها.</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1:40 ضمن مسار الشرح الأساسي.</a:t>
            </a:r>
          </a:p>
          <a:p xmlns:a="http://schemas.openxmlformats.org/drawingml/2006/main">
            <a:r>
              <a:t/>
            </a:r>
          </a:p>
          <a:p xmlns:a="http://schemas.openxmlformats.org/drawingml/2006/main">
            <a:r>
              <a:t>النص المقترح:</a:t>
            </a:r>
          </a:p>
          <a:p xmlns:a="http://schemas.openxmlformats.org/drawingml/2006/main">
            <a:r>
              <a:t>تعريفات Power Query بتثبت إننا عملنا Promote Headers وحددنا Data Types لملفات المصدر الأربعتاشر. استخدمنا Text.Trim وText.Proper لتنضيف أسماء السواقين، ودمجنا الاسم. فصلنا التاريخ عن الوقت في الوقود والسلامة، واشتقينا real_on_time_flag بمقارنة actual مع scheduled، وحسبنا delay_minutes. كمان اشتقينا الإيراد وفئات الوزن. لكن استبدال مفتاح فاضي بكلمة unknown مش معناه إن العلاقة اتصلحت؛ لسه فيه مفاتيح مش موجودة في الأبعاد. في المراجعة الإضافية اختبرنا uniqueness والـnulls وتسلسل الأحداث. مفيش duplicate primary keys في loads وtrips وcustomers وroutes بالنسخة المحفوظة. ما بنقولش إننا حذفنا duplicates أو outliers؛ الخطوة دي مش مثبتة في التحويلات. ولقينا 486 زوج أحداث ظاهر فيهم التسليم قبل الاستلام. دي محتاجة مراجعة معنى التوقيت والمنطقة الزمنية، فحافظنا على السجلات وعملنا اختبار حساسية منفصل بدل حذفها تلقائيًا. المهم هنا نفرّق بين إن العمود نوعه صح، وإن معناه وعلاقته صح. ممكن حقل يبقى نص منظم، لكن كوده مش موجود في الجدول المرجعي. عشان كده تجهيز الأعمدة لازم يتكمل باختبارات جودة وربط، وكل ملاحظة تفضل ظاهرة بدل ما نخبيها بتحويل شكلي.</a:t>
            </a:r>
          </a:p>
          <a:p xmlns:a="http://schemas.openxmlformats.org/drawingml/2006/main">
            <a:r>
              <a:t/>
            </a:r>
          </a:p>
          <a:p xmlns:a="http://schemas.openxmlformats.org/drawingml/2006/main">
            <a:r>
              <a:t>منطق التحليل والمعنى التجاري:</a:t>
            </a:r>
          </a:p>
          <a:p xmlns:a="http://schemas.openxmlformats.org/drawingml/2006/main">
            <a:r>
              <a:t>نفصل بين تحويلات M الموجودة في المشروع واختبارات المراجعة الحالية. عدد أعمدة الموديل بعد التحويل مختلف عن عدد أعمدة CSV الخام، والقيمة غير المعتادة مش بالضرورة خطأ.</a:t>
            </a:r>
          </a:p>
          <a:p xmlns:a="http://schemas.openxmlformats.org/drawingml/2006/main">
            <a:r>
              <a:t/>
            </a:r>
          </a:p>
          <a:p xmlns:a="http://schemas.openxmlformats.org/drawingml/2006/main">
            <a:r>
              <a:t>الأرقام الأساسية:</a:t>
            </a:r>
          </a:p>
          <a:p xmlns:a="http://schemas.openxmlformats.org/drawingml/2006/main">
            <a:r>
              <a:t>14 ملف CSV؛ و0 duplicate primary keys في الجداول الأربعة المذكورة؛ و486 زوج أحداث عليه علامة مراجعة لترتيب actual.</a:t>
            </a:r>
          </a:p>
          <a:p xmlns:a="http://schemas.openxmlformats.org/drawingml/2006/main">
            <a:r>
              <a:t/>
            </a:r>
          </a:p>
          <a:p xmlns:a="http://schemas.openxmlformats.org/drawingml/2006/main">
            <a:r>
              <a:t>الانتقال:</a:t>
            </a:r>
          </a:p>
          <a:p xmlns:a="http://schemas.openxmlformats.org/drawingml/2006/main">
            <a:r>
              <a:t>بعد تجهيز الحقول، نراجع مسارات الربط والفلترة.</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1:30 ضمن مسار الشرح الأساسي.</a:t>
            </a:r>
          </a:p>
          <a:p xmlns:a="http://schemas.openxmlformats.org/drawingml/2006/main">
            <a:r>
              <a:t/>
            </a:r>
          </a:p>
          <a:p xmlns:a="http://schemas.openxmlformats.org/drawingml/2006/main">
            <a:r>
              <a:t>النص المقترح:</a:t>
            </a:r>
          </a:p>
          <a:p xmlns:a="http://schemas.openxmlformats.org/drawingml/2006/main">
            <a:r>
              <a:t>استخدمنا مبادئ Star Schema: جداول facts فيها الأحداث والقياسات، والأبعاد فيها الوصف اللي بنحلل بيه. جدول trips نقطة ربط مهمة؛ فيه load_id وdriver_id وtruck_id وtrailer_id. customers وroutes مرتبطين بـloads، وباقي الحقائق بتشارك أبعاد زي الشاحنات والمنشآت. الرسم هنا جزء مبسط من الموديل؛ الموديل كله مش نجمة واحدة خالصة. فيه 16 علاقة، منها 14 active واتنين inactive. معظمها many-to-one، لكن safety مع trips علاقة one-to-one، وفيه مسارين باتجاه Both لازم نراعي تأثيرهم على الفلترة. كمان Calendar موجود لكنه مش مربوط بالحقائق؛ فوجود Year slicer لوحده مش دليل إنه بيغيّر الرقم. عشان كده حسبنا الاتجاهات السنوية مباشرة من load_date. دي مراجعة لطريقة القياس، ومش ادعاء إننا عدلنا الـPBIX أثناء تحديث العرض. وإحنا بنقرا الرسم، نسأل عند كل خط: إيه درجة تفصيل الصف؟ وهل المفتاح في ناحية البُعد فريد؟ لو السؤال عن الإيراد نبدأ من loads، ولو عن استهلاك الرحلة نبدأ من trips. بعد كده نختبر مسار الربط، بدل ما نفترض إن كل فلتر بيغطي كل الحقائق بنفس الطريقة.</a:t>
            </a:r>
          </a:p>
          <a:p xmlns:a="http://schemas.openxmlformats.org/drawingml/2006/main">
            <a:r>
              <a:t/>
            </a:r>
          </a:p>
          <a:p xmlns:a="http://schemas.openxmlformats.org/drawingml/2006/main">
            <a:r>
              <a:t>منطق التحليل والمعنى التجاري:</a:t>
            </a:r>
          </a:p>
          <a:p xmlns:a="http://schemas.openxmlformats.org/drawingml/2006/main">
            <a:r>
              <a:t>تحديد الـgrain والمفاتيح الفريدة بيحمي الحساب من تضخيم الصفوف. الربط بين facts واتجاه Both محتاجين اختبار؛ فلتر العميل مش معناه تلقائيًا إن تكلفة الوقود اتوزعت عليه صح.</a:t>
            </a:r>
          </a:p>
          <a:p xmlns:a="http://schemas.openxmlformats.org/drawingml/2006/main">
            <a:r>
              <a:t/>
            </a:r>
          </a:p>
          <a:p xmlns:a="http://schemas.openxmlformats.org/drawingml/2006/main">
            <a:r>
              <a:t>الأرقام الأساسية:</a:t>
            </a:r>
          </a:p>
          <a:p xmlns:a="http://schemas.openxmlformats.org/drawingml/2006/main">
            <a:r>
              <a:t>16 علاقة: 14 active و2 inactive. جدول Calendar من غير relationship مع الحقائق.</a:t>
            </a:r>
          </a:p>
          <a:p xmlns:a="http://schemas.openxmlformats.org/drawingml/2006/main">
            <a:r>
              <a:t/>
            </a:r>
          </a:p>
          <a:p xmlns:a="http://schemas.openxmlformats.org/drawingml/2006/main">
            <a:r>
              <a:t>الانتقال:</a:t>
            </a:r>
          </a:p>
          <a:p xmlns:a="http://schemas.openxmlformats.org/drawingml/2006/main">
            <a:r>
              <a:t>وده يقودنا لتعريفات DAX؛ اسم المقياس لوحده مش كفاية.</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1:50 ضمن مسار الشرح الأساسي.</a:t>
            </a:r>
          </a:p>
          <a:p xmlns:a="http://schemas.openxmlformats.org/drawingml/2006/main">
            <a:r>
              <a:t/>
            </a:r>
          </a:p>
          <a:p xmlns:a="http://schemas.openxmlformats.org/drawingml/2006/main">
            <a:r>
              <a:t>النص المقترح:</a:t>
            </a:r>
          </a:p>
          <a:p xmlns:a="http://schemas.openxmlformats.org/drawingml/2006/main">
            <a:r>
              <a:t>عندنا 187 DAX measures وعمودين calculated columns. لكن العدد مش هو دليل الجودة؛ التعريف هو الأهم. Total_Revenue بيستخدم SUMX على loads، وبيجمع freight وfuel surcharge وaccessorials. Delivery OTD بيستخدم CALCULATE لحصر الأحداث في Delivery، وبيقسم عدد التسليمات اللي real_on_time_flag فيها صحيح على كل التسليمات. ده مختلف عن AVERAGE لمعدلات driver-month، ومختلف عن ترجيحها بعدد الرحلات. وMPG عندنا هو مجموع الأميال على مجموع gallons burned؛ مش متوسط MPG بسيط، ومش مجموع المشتريات مع الاستهلاك. Total Cost بيضم الوقود والصيانة والحوادث وأجور مفترضة بـ25 دولار للساعة. عشان كده بنسمي الفرق بعد البنود دي modeled contribution، رغم إن اسم المقياس في التقرير Net Profit. الـfilter context بينتقل بس لو فيه مسار صحيح؛ وجود Calendar المنفصل في visual مش هيصلح العلاقة. الصيغ الكاملة وأمثلة السيناريو في الـAppendix لو احتجنا نراجعها. مثال بسيط: متوسط نسب مجموعتين مش بالضرورة يساوي نسبة الإجمالي، لأن أحجامهم ممكن تختلف. لذلك بنحدد هل إحنا بنحسب متوسط مؤشرات، ولا عدد أحداث ناجحة على إجمالي الأحداث. دي مش مشكلة تنسيق نسبة مئوية؛ ده اختلاف في السؤال اللي المقياس بيجاوب عليه، وبيغيّر معنى المقارنة.</a:t>
            </a:r>
          </a:p>
          <a:p xmlns:a="http://schemas.openxmlformats.org/drawingml/2006/main">
            <a:r>
              <a:t/>
            </a:r>
          </a:p>
          <a:p xmlns:a="http://schemas.openxmlformats.org/drawingml/2006/main">
            <a:r>
              <a:t>منطق التحليل والمعنى التجاري:</a:t>
            </a:r>
          </a:p>
          <a:p xmlns:a="http://schemas.openxmlformats.org/drawingml/2006/main">
            <a:r>
              <a:t>SUMX بيحسب تعبيرًا لكل صف، وCALCULATE بيغيّر filter context، وDIVIDE بيتعامل مع المقام الصفري. لما المقاييس تجمع grains مختلفة، لازم نوضح المصدر والمقام قبل المقارنة.</a:t>
            </a:r>
          </a:p>
          <a:p xmlns:a="http://schemas.openxmlformats.org/drawingml/2006/main">
            <a:r>
              <a:t/>
            </a:r>
          </a:p>
          <a:p xmlns:a="http://schemas.openxmlformats.org/drawingml/2006/main">
            <a:r>
              <a:t>الأرقام الأساسية:</a:t>
            </a:r>
          </a:p>
          <a:p xmlns:a="http://schemas.openxmlformats.org/drawingml/2006/main">
            <a:r>
              <a:t>187 measures؛ وأجور مفترضة $25/hour؛ وOTD يساوي 28,422 على 85,410؛ وMPG يساوي 122,159,201 على 18,946,280.1.</a:t>
            </a:r>
          </a:p>
          <a:p xmlns:a="http://schemas.openxmlformats.org/drawingml/2006/main">
            <a:r>
              <a:t/>
            </a:r>
          </a:p>
          <a:p xmlns:a="http://schemas.openxmlformats.org/drawingml/2006/main">
            <a:r>
              <a:t>الانتقال:</a:t>
            </a:r>
          </a:p>
          <a:p xmlns:a="http://schemas.openxmlformats.org/drawingml/2006/main">
            <a:r>
              <a:t>نشوف إزاي صفحات التقرير التسعة بتحوّل التعريفات دي لأسئلة تفيد البزنس.</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0:50 ضمن مسار الشرح الأساسي.</a:t>
            </a:r>
          </a:p>
          <a:p xmlns:a="http://schemas.openxmlformats.org/drawingml/2006/main">
            <a:r>
              <a:t/>
            </a:r>
          </a:p>
          <a:p xmlns:a="http://schemas.openxmlformats.org/drawingml/2006/main">
            <a:r>
              <a:t>النص المقترح:</a:t>
            </a:r>
          </a:p>
          <a:p xmlns:a="http://schemas.openxmlformats.org/drawingml/2006/main">
            <a:r>
              <a:t>التقرير فيه تسع صفحات. Home للهوية وروابط الصفحات، وCompany Overview للصورة العامة والإيراد والخدمة. Operations للنشاط والمسارات والـidle، وCost &amp; Profitability لبنود التكلفة. Driver وVehicle Performance للتفصيل حسب الشخص والأصل، وSafety للحوادث، وMaps للتوزيع الجغرافي، وWHAT-IF لتجربة السعر والوقود. التعريفات بتثبت وجود cards وcharts وtables وslicers، وفيه Date field parameter للتبديل بين Month وQuarter وYear. وفيه Top-N filters محتاجة فحص. ده فحص لتعريفات التقرير؛ مش اختبار حي لكل cross-filtering أو navigation. الدليل المصاحب موضح استخدام ومقاييس وفلاتر كل صفحة.</a:t>
            </a:r>
          </a:p>
          <a:p xmlns:a="http://schemas.openxmlformats.org/drawingml/2006/main">
            <a:r>
              <a:t/>
            </a:r>
          </a:p>
          <a:p xmlns:a="http://schemas.openxmlformats.org/drawingml/2006/main">
            <a:r>
              <a:t>منطق التحليل والمعنى التجاري:</a:t>
            </a:r>
          </a:p>
          <a:p xmlns:a="http://schemas.openxmlformats.org/drawingml/2006/main">
            <a:r>
              <a:t>بنفرّق بين وجود العنصر واختبار سلوكه داخل Power BI. رسومات العرض مبنية من الداتا، ومش صور dashboard مصطنعة.</a:t>
            </a:r>
          </a:p>
          <a:p xmlns:a="http://schemas.openxmlformats.org/drawingml/2006/main">
            <a:r>
              <a:t/>
            </a:r>
          </a:p>
          <a:p xmlns:a="http://schemas.openxmlformats.org/drawingml/2006/main">
            <a:r>
              <a:t>الأرقام الأساسية:</a:t>
            </a:r>
          </a:p>
          <a:p xmlns:a="http://schemas.openxmlformats.org/drawingml/2006/main">
            <a:r>
              <a:t>9 صفحات؛ وفي WHAT-IF فيه Rate Multiplier وScenario Fuel Price. أغلب الصفحات فيها Year/Month وفلاتر خاصة بالنشاط.</a:t>
            </a:r>
          </a:p>
          <a:p xmlns:a="http://schemas.openxmlformats.org/drawingml/2006/main">
            <a:r>
              <a:t/>
            </a:r>
          </a:p>
          <a:p xmlns:a="http://schemas.openxmlformats.org/drawingml/2006/main">
            <a:r>
              <a:t>الانتقال:</a:t>
            </a:r>
          </a:p>
          <a:p xmlns:a="http://schemas.openxmlformats.org/drawingml/2006/main">
            <a:r>
              <a:t>قبل ما ندخل في التفاصيل، دي الصورة الإجمالية بنطاقها الصحيح.</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0:45 ضمن مسار الشرح الأساسي.</a:t>
            </a:r>
          </a:p>
          <a:p xmlns:a="http://schemas.openxmlformats.org/drawingml/2006/main">
            <a:r>
              <a:t/>
            </a:r>
          </a:p>
          <a:p xmlns:a="http://schemas.openxmlformats.org/drawingml/2006/main">
            <a:r>
              <a:t>النص المقترح:</a:t>
            </a:r>
          </a:p>
          <a:p xmlns:a="http://schemas.openxmlformats.org/drawingml/2006/main">
            <a:r>
              <a:t>الإيراد المجمع 298.62 مليون دولار، والتكلفة الممثلة 157.39 مليون. المتبقي modeled contribution بقيمة 141.23 مليون، وهامش 47.29%. ده مش صافي ربح محاسبي شامل؛ overhead والتأمين والإهلاك مش ممثلين. عندنا 122.16 مليون ميل و85,410 حمولة مكتملة، وكفاءة الوقود 6.45 MPG، والتسليم في الموعد 33.28%. معدل الحوادث 1.99 لكل ألف رحلة، وده وصف للبيانات من غير تقييم مقارنة بالصناعة. التجميع بيشمل كل السجلات المحفوظة؛ الشحنات من 2022 إلى 2024، وبعض أحداث التسليم ومشتريات الوقود بتكمل لبداية 2025.</a:t>
            </a:r>
          </a:p>
          <a:p xmlns:a="http://schemas.openxmlformats.org/drawingml/2006/main">
            <a:r>
              <a:t/>
            </a:r>
          </a:p>
          <a:p xmlns:a="http://schemas.openxmlformats.org/drawingml/2006/main">
            <a:r>
              <a:t>منطق التحليل والمعنى التجاري:</a:t>
            </a:r>
          </a:p>
          <a:p xmlns:a="http://schemas.openxmlformats.org/drawingml/2006/main">
            <a:r>
              <a:t>القيم لها نطاق تكلفة وفترة واضحين. ما بنجمعش معدلات مختلفة، وما بنعرضش الأرقام دي كأنها ROI.</a:t>
            </a:r>
          </a:p>
          <a:p xmlns:a="http://schemas.openxmlformats.org/drawingml/2006/main">
            <a:r>
              <a:t/>
            </a:r>
          </a:p>
          <a:p xmlns:a="http://schemas.openxmlformats.org/drawingml/2006/main">
            <a:r>
              <a:t>الأرقام الأساسية:</a:t>
            </a:r>
          </a:p>
          <a:p xmlns:a="http://schemas.openxmlformats.org/drawingml/2006/main">
            <a:r>
              <a:t>Revenue بقيمة $298.62M؛ وmodeled contribution بقيمة $141.23M؛ وmodeled cost per mile بقيمة $1.29.</a:t>
            </a:r>
          </a:p>
          <a:p xmlns:a="http://schemas.openxmlformats.org/drawingml/2006/main">
            <a:r>
              <a:t/>
            </a:r>
          </a:p>
          <a:p xmlns:a="http://schemas.openxmlformats.org/drawingml/2006/main">
            <a:r>
              <a:t>الانتقال:</a:t>
            </a:r>
          </a:p>
          <a:p xmlns:a="http://schemas.openxmlformats.org/drawingml/2006/main">
            <a:r>
              <a:t>هل استقرار الإيراد بيخفي تغيّر في نوع الشغل؟</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0:50 ضمن مسار الشرح الأساسي.</a:t>
            </a:r>
          </a:p>
          <a:p xmlns:a="http://schemas.openxmlformats.org/drawingml/2006/main">
            <a:r>
              <a:t/>
            </a:r>
          </a:p>
          <a:p xmlns:a="http://schemas.openxmlformats.org/drawingml/2006/main">
            <a:r>
              <a:t>النص المقترح:</a:t>
            </a:r>
          </a:p>
          <a:p xmlns:a="http://schemas.openxmlformats.org/drawingml/2006/main">
            <a:r>
              <a:t>الإيراد السنوي شبه ثابت: 99.92 مليون في 2022، و98.91 مليون في 2023، و99.79 مليون في 2024. من 2023 إلى 2024، عدد الشحنات زاد 1.74%، والإيراد زاد 0.89%؛ بالتالي الإيراد لكل حمولة نزل 0.84%. لكن الرقم لوحده ما يثبتش ضغط أسعار. ممكن الشحنات تكون أقصر، أو حصة المسارات والعملاء تكون اتغيرت. حسبنا السنوات من load_date مباشرة عشان نتجنب مشكلة Calendar المنفصل. والخطوة اللي بعدها كانت نفك فرق الإيراد لعوامل قابلة للمقارنة، قبل ما نوصي بزيادة سعر عامة.</a:t>
            </a:r>
          </a:p>
          <a:p xmlns:a="http://schemas.openxmlformats.org/drawingml/2006/main">
            <a:r>
              <a:t/>
            </a:r>
          </a:p>
          <a:p xmlns:a="http://schemas.openxmlformats.org/drawingml/2006/main">
            <a:r>
              <a:t>منطق التحليل والمعنى التجاري:</a:t>
            </a:r>
          </a:p>
          <a:p xmlns:a="http://schemas.openxmlformats.org/drawingml/2006/main">
            <a:r>
              <a:t>الإيراد لكل حمولة مؤشر yield تقريبي؛ مش contract rate، ومش بيضبط اختلاف المسافة أو الـmix لوحده.</a:t>
            </a:r>
          </a:p>
          <a:p xmlns:a="http://schemas.openxmlformats.org/drawingml/2006/main">
            <a:r>
              <a:t/>
            </a:r>
          </a:p>
          <a:p xmlns:a="http://schemas.openxmlformats.org/drawingml/2006/main">
            <a:r>
              <a:t>الأرقام الأساسية:</a:t>
            </a:r>
          </a:p>
          <a:p xmlns:a="http://schemas.openxmlformats.org/drawingml/2006/main">
            <a:r>
              <a:t>في 2024: loads زادت 1.7433%، وrevenue زاد 0.8924%، وrevenue per load نزل 0.8363%.</a:t>
            </a:r>
          </a:p>
          <a:p xmlns:a="http://schemas.openxmlformats.org/drawingml/2006/main">
            <a:r>
              <a:t/>
            </a:r>
          </a:p>
          <a:p xmlns:a="http://schemas.openxmlformats.org/drawingml/2006/main">
            <a:r>
              <a:t>الانتقال:</a:t>
            </a:r>
          </a:p>
          <a:p xmlns:a="http://schemas.openxmlformats.org/drawingml/2006/main">
            <a:r>
              <a:t>الـbridge الجاي بيوضح مساهمة الحجم، وتغيّر الـmix، والـyield داخل نفس المجموعات.</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1:30 ضمن مسار الشرح الأساسي.</a:t>
            </a:r>
          </a:p>
          <a:p xmlns:a="http://schemas.openxmlformats.org/drawingml/2006/main">
            <a:r>
              <a:t/>
            </a:r>
          </a:p>
          <a:p xmlns:a="http://schemas.openxmlformats.org/drawingml/2006/main">
            <a:r>
              <a:t>النص المقترح:</a:t>
            </a:r>
          </a:p>
          <a:p xmlns:a="http://schemas.openxmlformats.org/drawingml/2006/main">
            <a:r>
              <a:t>قسمنا الشغل إلى 174 مجموعة من route مع customer type. كل المجموعات موجودة في 2023 و2024، وأقل حجم 122 حمولة في السنة. استخدمنا symmetric decomposition عشان نفرّق أثر زيادة الحجم، عن تغيّر حصة المجموعات، عن تغيّر الإيراد داخل نفس المجموعة. زيادة الحجم أضافت 1.717 مليون دولار، والـmix خفّض المقارنة بحوالي 897.5 ألف، والـwithin-segment yield أضاف 63.1 ألف. مجموع التلاتة 882.6 ألف، وده نفس الزيادة الفعلية في الإيراد. كررنا الاختبار باستخدام route مع load_type، والاتجاه فضل نفسه. كمان أميال الرحلة الواحدة نزلت 1.04%، والإيراد لكل ميل زاد 0.20%. النتائج دي بتدعم إن المزيج والمسافة جزء أساسي من التفسير، ومش بتثبت تراجع عام في الأسعار. قبل أي repricing، نقارن مجموعات متقاربة ونضيف contract rates وشروط الخدمة. ده تفكيك حسابي بيوضح مصدر التغيّر؛ مش تجربة تثبت سببًا أو تحكم لوحدها على جودة التسعير. خلّونا نقرا الرسم من الشمال لليمين: كل عمود مساهمة مالية في الفرق، مش نسبة نمو مستقلة. العمود الأخير هو صافي التغيّر، مش عامل رابع نضيفه للتلاتة. قوة المقارنة إن المكونات بترجع لنفس الزيادة الفعلية، مع بقاء التفسير التجاري محتاج مراجعة شروط العقود.</a:t>
            </a:r>
          </a:p>
          <a:p xmlns:a="http://schemas.openxmlformats.org/drawingml/2006/main">
            <a:r>
              <a:t/>
            </a:r>
          </a:p>
          <a:p xmlns:a="http://schemas.openxmlformats.org/drawingml/2006/main">
            <a:r>
              <a:t>منطق التحليل والمعنى التجاري:</a:t>
            </a:r>
          </a:p>
          <a:p xmlns:a="http://schemas.openxmlformats.org/drawingml/2006/main">
            <a:r>
              <a:t>نفكّر في توزيع revenue per load داخل مجموعات متشابهة، بدل ما نفسّر المتوسط الإجمالي كأنه سعر ثابت لكل الشغل.</a:t>
            </a:r>
          </a:p>
          <a:p xmlns:a="http://schemas.openxmlformats.org/drawingml/2006/main">
            <a:r>
              <a:t/>
            </a:r>
          </a:p>
          <a:p xmlns:a="http://schemas.openxmlformats.org/drawingml/2006/main">
            <a:r>
              <a:t>الأرقام الأساسية:</a:t>
            </a:r>
          </a:p>
          <a:p xmlns:a="http://schemas.openxmlformats.org/drawingml/2006/main">
            <a:r>
              <a:t>Volume: +$1.717055M؛ وmix: −$0.897521M؛ وwithin-group yield: +$0.063100M؛ وصافي التغيّر: +$0.882634M.</a:t>
            </a:r>
          </a:p>
          <a:p xmlns:a="http://schemas.openxmlformats.org/drawingml/2006/main">
            <a:r>
              <a:t/>
            </a:r>
          </a:p>
          <a:p xmlns:a="http://schemas.openxmlformats.org/drawingml/2006/main">
            <a:r>
              <a:t>الانتقال:</a:t>
            </a:r>
          </a:p>
          <a:p xmlns:a="http://schemas.openxmlformats.org/drawingml/2006/main">
            <a:r>
              <a:t>بعد الإيراد، هل الشحنات المكتملة وصلت فعلًا في موعدها؟</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1:00 ضمن مسار الشرح الأساسي.</a:t>
            </a:r>
          </a:p>
          <a:p xmlns:a="http://schemas.openxmlformats.org/drawingml/2006/main">
            <a:r>
              <a:t/>
            </a:r>
          </a:p>
          <a:p xmlns:a="http://schemas.openxmlformats.org/drawingml/2006/main">
            <a:r>
              <a:t>النص المقترح:</a:t>
            </a:r>
          </a:p>
          <a:p xmlns:a="http://schemas.openxmlformats.org/drawingml/2006/main">
            <a:r>
              <a:t>من 85,410 حدث Delivery، فيه 28,422 وصلوا في الموعد، و56,988 متأخرين. نسبة OTD هي 33.28%، أقل بـ56.72 نقطة مئوية من 90% الموجودة في مقياس Target_On_Time. بنسميها model target؛ مفيش اتفاق خدمة أو benchmark خارجي يثبت إن ده الهدف التجاري المعتمد. راجعنا real_on_time_flag، ولقيناه مطابق لقاعدة actual أقل من أو يساوي scheduled في كل صف. لكن صحة الحساب مش معناها إننا عرفنا سبب التأخير؛ لازم نراجع معنى scheduled_datetime وحدود الالتزام. وبصينا كمان على شدة التأخير: بين المتأخرين بس، الوسيط 180.05 دقيقة، وP90 حوالي 324.38 دقيقة. يعني 90% من حالات التأخير عند القيمة دي أو أقل، مش إن 90% من كل التسليمات متأخرة بنفس المقدار.</a:t>
            </a:r>
          </a:p>
          <a:p xmlns:a="http://schemas.openxmlformats.org/drawingml/2006/main">
            <a:r>
              <a:t/>
            </a:r>
          </a:p>
          <a:p xmlns:a="http://schemas.openxmlformats.org/drawingml/2006/main">
            <a:r>
              <a:t>منطق التحليل والمعنى التجاري:</a:t>
            </a:r>
          </a:p>
          <a:p xmlns:a="http://schemas.openxmlformats.org/drawingml/2006/main">
            <a:r>
              <a:t>نفصل بين نتيجة صحيحة من التوقيتات، وبين اعتماد معنى الموعد التجاري. بنذكر المقام وعدد الحالات، والفرق بالنقاط المئوية.</a:t>
            </a:r>
          </a:p>
          <a:p xmlns:a="http://schemas.openxmlformats.org/drawingml/2006/main">
            <a:r>
              <a:t/>
            </a:r>
          </a:p>
          <a:p xmlns:a="http://schemas.openxmlformats.org/drawingml/2006/main">
            <a:r>
              <a:t>الأرقام الأساسية:</a:t>
            </a:r>
          </a:p>
          <a:p xmlns:a="http://schemas.openxmlformats.org/drawingml/2006/main">
            <a:r>
              <a:t>OTD يساوي 33.2771%؛ وعدد المتأخرين 56,988؛ ووسيط تأخير المتأخرين 180.05 دقيقة؛ وP90 يساوي 324.38 دقيقة.</a:t>
            </a:r>
          </a:p>
          <a:p xmlns:a="http://schemas.openxmlformats.org/drawingml/2006/main">
            <a:r>
              <a:t/>
            </a:r>
          </a:p>
          <a:p xmlns:a="http://schemas.openxmlformats.org/drawingml/2006/main">
            <a:r>
              <a:t>الانتقال:</a:t>
            </a:r>
          </a:p>
          <a:p xmlns:a="http://schemas.openxmlformats.org/drawingml/2006/main">
            <a:r>
              <a:t>هل التأخير متركز في كام مسار، ولا النمط منتشر؟</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1:40 ضمن مسار الشرح الأساسي.</a:t>
            </a:r>
          </a:p>
          <a:p xmlns:a="http://schemas.openxmlformats.org/drawingml/2006/main">
            <a:r>
              <a:t/>
            </a:r>
          </a:p>
          <a:p xmlns:a="http://schemas.openxmlformats.org/drawingml/2006/main">
            <a:r>
              <a:t>النص المقترح:</a:t>
            </a:r>
          </a:p>
          <a:p xmlns:a="http://schemas.openxmlformats.org/drawingml/2006/main">
            <a:r>
              <a:t>اختبرنا فرضية إن شوية مسارات هم سبب معظم المشكلة، باستخدام segmentation وconcentration analysis. أعلى 5 مسارات في عدد التأخيرات شايلين 9.20% من المتأخرين، مقابل 8.99% من حجم التسليم. يعني حصتهم من المشكلة قريبة جدًا من حصتهم في النشاط. واحتجنا 46 من أصل 58 مسار عشان نوصل إلى 80% من التأخيرات؛ فمش هنحكي قصة Pareto الداتا مش بتدعمها. OTD بين المسارات من حوالي 30.18% إلى 36.22%، والسنوات كلها قريبة من 33%. اختبرنا detention كمان؛ ارتباطه بدقائق التأخير قريب من الصفر. ده ما يثبتش استحالة تأثيره، لكنه ما يدعمش اعتباره السبب الرئيسي من البيانات دي. وفيه مخاطرة في معنى facility_id وتسلسل التوقيتات. لذلك نراجع قواعد المواعيد والأحداث على مستوى التشغيل الأول، وبعدها نختار pilot واضح. البيانات المطلوبة تشمل contract windows، وتغييرات المواعيد، وGPS، ومعنى كود المنشأة: هل هو مكان التسليم، ولا hub؟ لحد ما نتأكد، ما نحذفش السجلات غير المعتادة، وما ننسبش الاختناق لمنشأة مسماة. النتيجة العملية إننا ما نبدأش باتهام المسار اللي عنده أكبر عدد تأخيرات؛ ممكن يكون ببساطة عنده شغل أكتر. نقارن حصة التأخير بحصة النشاط، وبعدين معدل الالتزام وشدة التأخير. المقارنة دي بتوجّه التحقيق، لكن تحديد السبب محتاج دليل من تسلسل التشغيل نفسه.</a:t>
            </a:r>
          </a:p>
          <a:p xmlns:a="http://schemas.openxmlformats.org/drawingml/2006/main">
            <a:r>
              <a:t/>
            </a:r>
          </a:p>
          <a:p xmlns:a="http://schemas.openxmlformats.org/drawingml/2006/main">
            <a:r>
              <a:t>منطق التحليل والمعنى التجاري:</a:t>
            </a:r>
          </a:p>
          <a:p xmlns:a="http://schemas.openxmlformats.org/drawingml/2006/main">
            <a:r>
              <a:t>التحليل الجيد بيوضح كمان الدليل اللي ما بيدعمش الفرضية. المقارنات دي وصفية؛ مش بتعزل كل العوامل المتداخلة أو تثبت السبب.</a:t>
            </a:r>
          </a:p>
          <a:p xmlns:a="http://schemas.openxmlformats.org/drawingml/2006/main">
            <a:r>
              <a:t/>
            </a:r>
          </a:p>
          <a:p xmlns:a="http://schemas.openxmlformats.org/drawingml/2006/main">
            <a:r>
              <a:t>الأرقام الأساسية:</a:t>
            </a:r>
          </a:p>
          <a:p xmlns:a="http://schemas.openxmlformats.org/drawingml/2006/main">
            <a:r>
              <a:t>أعلى 5 مسارات: 9.2037% من التأخيرات مقابل 8.9896% من الحجم. الوصول إلى 80% من التأخير احتاج 46 من 58 مسار. معامل الارتباط حوالي 0.0042.</a:t>
            </a:r>
          </a:p>
          <a:p xmlns:a="http://schemas.openxmlformats.org/drawingml/2006/main">
            <a:r>
              <a:t/>
            </a:r>
          </a:p>
          <a:p xmlns:a="http://schemas.openxmlformats.org/drawingml/2006/main">
            <a:r>
              <a:t>الانتقال:</a:t>
            </a:r>
          </a:p>
          <a:p xmlns:a="http://schemas.openxmlformats.org/drawingml/2006/main">
            <a:r>
              <a:t>بنفس المنطق، نراجع فرق الوقود قبل ما نسميه فاقد.</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0:55 ضمن مسار الشرح الأساسي.</a:t>
            </a:r>
          </a:p>
          <a:p xmlns:a="http://schemas.openxmlformats.org/drawingml/2006/main">
            <a:r>
              <a:t/>
            </a:r>
          </a:p>
          <a:p xmlns:a="http://schemas.openxmlformats.org/drawingml/2006/main">
            <a:r>
              <a:t>النص المقترح:</a:t>
            </a:r>
          </a:p>
          <a:p xmlns:a="http://schemas.openxmlformats.org/drawingml/2006/main">
            <a:r>
              <a:t>إجمالي المشتريات 24.519 مليون جالون، والاستخدام المسجل في الرحلات 18.946 مليون. الفرق 5.573 مليون، أو 22.73% من المشتريات، و29.41% من الاستهلاك. المقام لازم يبقى واضح؛ النسبتين صح، لكن كل واحدة بتجاوب سؤال مختلف. الفرق ده مش خسارة مثبتة. المشتريات بتتسجل وقت الشراء، واستهلاك الرحلات بننسبه إلى dispatch، ومفيش بيانات كاملة عن المخزون أو non-trip use. وفيه كمان unknown IDs وحدود زمنية مختلفة. عشان كده، بدل ما نحوّل الفرق لرقم توفير، عملنا مقارنة truck-month. الهدف نعرف إيه اللي بيفضل بعد توحيد الشاحنة والشهر، وإيه اللي لسه محتاج تسوية مخزون وتوقيت.</a:t>
            </a:r>
          </a:p>
          <a:p xmlns:a="http://schemas.openxmlformats.org/drawingml/2006/main">
            <a:r>
              <a:t/>
            </a:r>
          </a:p>
          <a:p xmlns:a="http://schemas.openxmlformats.org/drawingml/2006/main">
            <a:r>
              <a:t>منطق التحليل والمعنى التجاري:</a:t>
            </a:r>
          </a:p>
          <a:p xmlns:a="http://schemas.openxmlformats.org/drawingml/2006/main">
            <a:r>
              <a:t>المشتريات والاستهلاك قياسين مختلفين. ما بنجمعهمش، وما بنفترضش إنهم لازم يتساووا فورًا، وما بنعرضش الفرق كوفورات.</a:t>
            </a:r>
          </a:p>
          <a:p xmlns:a="http://schemas.openxmlformats.org/drawingml/2006/main">
            <a:r>
              <a:t/>
            </a:r>
          </a:p>
          <a:p xmlns:a="http://schemas.openxmlformats.org/drawingml/2006/main">
            <a:r>
              <a:t>الأرقام الأساسية:</a:t>
            </a:r>
          </a:p>
          <a:p xmlns:a="http://schemas.openxmlformats.org/drawingml/2006/main">
            <a:r>
              <a:t>المشتريات 24.519M جالون؛ والاستهلاك 18.946M؛ والفرق 5.573M، بما يساوي 22.73% من المشتريات.</a:t>
            </a:r>
          </a:p>
          <a:p xmlns:a="http://schemas.openxmlformats.org/drawingml/2006/main">
            <a:r>
              <a:t/>
            </a:r>
          </a:p>
          <a:p xmlns:a="http://schemas.openxmlformats.org/drawingml/2006/main">
            <a:r>
              <a:t>الانتقال:</a:t>
            </a:r>
          </a:p>
          <a:p xmlns:a="http://schemas.openxmlformats.org/drawingml/2006/main">
            <a:r>
              <a:t>المقارنة الجاية بتفصل الجزء المطابق، والمفاتيح غير المحسومة، وحدود يناير.</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1:15 ضمن مسار الشرح الأساسي.</a:t>
            </a:r>
          </a:p>
          <a:p xmlns:a="http://schemas.openxmlformats.org/drawingml/2006/main">
            <a:r>
              <a:t/>
            </a:r>
          </a:p>
          <a:p xmlns:a="http://schemas.openxmlformats.org/drawingml/2006/main">
            <a:r>
              <a:t>النص المقترح:</a:t>
            </a:r>
          </a:p>
          <a:p xmlns:a="http://schemas.openxmlformats.org/drawingml/2006/main">
            <a:r>
              <a:t>هنا نقلنا السؤال من فرق إجمالي إلى فرق على مستوى truck-month، عشان ما نخلطش الشاحنات أو الشهور. من الفرق الإجمالي 5.573 مليون جالون، قدرنا نطابق 3,312 شهر شاحنة معروف. الجزء المطابق فيه 24.008 مليون مشتريات مقابل 18.570 مليون استخدام، بفرق 5.437 مليون. وفي 3,038 من الشهور المطابقة، المشتريات أعلى من الاستخدام؛ فالنمط واسع، مش حالة شاحنة واحدة. لكن ده برضه مش إثبات هدر أو سرقة. الشراء بتاريخ purchase_date، واستخدام الرحلة في شهر dispatch. وفيه 25,477 جالون مشتريات في يناير 2025، وبيانات unknown ليها صافي فرق 109,881 جالون. لسه ناقصنا opening وclosing inventory، والتحويلات، وnon-trip use. التوصية fuel reconciliation كاملة، ومؤشر المتابعة يبقى residual difference بعد التسويات. مش هنعتبر كل الفرق توفير محتمل، ومش هنقول إننا وفرنا فلوس.</a:t>
            </a:r>
          </a:p>
          <a:p xmlns:a="http://schemas.openxmlformats.org/drawingml/2006/main">
            <a:r>
              <a:t/>
            </a:r>
          </a:p>
          <a:p xmlns:a="http://schemas.openxmlformats.org/drawingml/2006/main">
            <a:r>
              <a:t>منطق التحليل والمعنى التجاري:</a:t>
            </a:r>
          </a:p>
          <a:p xmlns:a="http://schemas.openxmlformats.org/drawingml/2006/main">
            <a:r>
              <a:t>نفس شهر التقويم مش بالضرورة نفس دورة المخزون. الـunknown bucket مش مطابقة لشاحنة، وN/A في يناير معناها غياب تغطية burn، مش إثبات صفر استهلاك.</a:t>
            </a:r>
          </a:p>
          <a:p xmlns:a="http://schemas.openxmlformats.org/drawingml/2006/main">
            <a:r>
              <a:t/>
            </a:r>
          </a:p>
          <a:p xmlns:a="http://schemas.openxmlformats.org/drawingml/2006/main">
            <a:r>
              <a:t>الأرقام الأساسية:</a:t>
            </a:r>
          </a:p>
          <a:p xmlns:a="http://schemas.openxmlformats.org/drawingml/2006/main">
            <a:r>
              <a:t>3,312 matched truck-months؛ فيها 24.008M purchased و18.570M burned، بفرق 5.437M جالون. الفرق الإجمالي 5.573M، أو 22.73% من المشتريات الإجمالية 24.519M، مقابل إجمالي burn قدره 18.946M.</a:t>
            </a:r>
          </a:p>
          <a:p xmlns:a="http://schemas.openxmlformats.org/drawingml/2006/main">
            <a:r>
              <a:t/>
            </a:r>
          </a:p>
          <a:p xmlns:a="http://schemas.openxmlformats.org/drawingml/2006/main">
            <a:r>
              <a:t>الانتقال:</a:t>
            </a:r>
          </a:p>
          <a:p xmlns:a="http://schemas.openxmlformats.org/drawingml/2006/main">
            <a:r>
              <a:t>وقبل قرار عن سعة الأسطول، لازم نراجع معنى مقياس الاستخدام نفسه.</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1:30 ضمن مسار الشرح الأساسي.</a:t>
            </a:r>
          </a:p>
          <a:p xmlns:a="http://schemas.openxmlformats.org/drawingml/2006/main">
            <a:r>
              <a:t/>
            </a:r>
          </a:p>
          <a:p xmlns:a="http://schemas.openxmlformats.org/drawingml/2006/main">
            <a:r>
              <a:t>النص المقترح:</a:t>
            </a:r>
          </a:p>
          <a:p xmlns:a="http://schemas.openxmlformats.org/drawingml/2006/main">
            <a:r>
              <a:t>في التحليل المتقدم لازم نسأل: هل اسم الـKPI مناسب لحسابه؟ متوسط source utilization هو 83.04%، لكن فيه 436 سجل أعلى من 100%، وأعلى قيمة 148.4%. لما اختبرنا التعريف عدديًا، كل الـ3,312 سجل طابقوا تقريبًا عدد الرحلات مقسوم على أيام الشهر، بفرق rounding أقل من 0.0005. فالحقل بيتصرف كـtrips-per-day index؛ مش إثبات لساعات تشغيل على ساعات متاحة. عشان كده ارتباطه بعدد الرحلات، 0.991، مش اكتشاف سبب تشغيلي جديد؛ ده غالبًا مرتبط بنفس طريقة الحساب. ارتباطه بالـdowntime حوالي سالب 0.018، قريب من الصفر، فمش هنقول الصيانة هي سبب انخفاضه. كمان البيانات الشهرية بتغطي 92 شاحنة بس. والـ76.67% بتوصف عدد الشاحنات Active من إجمالي 120 في snapshot، مش استخدام تاريخي. المطلوب نثبت التعريف مع صاحب الداتا، ونجيب busy hours وavailable hours وstatus history. كده نحمي قرار شراء أو تقليل شاحنات من مقياس معناه مش مؤكد. بصّوا على الفرق بين عدد الرحلات وبين الوقت المتاح: العربية ممكن تعمل رحلات أكتر أو أقل حسب طول الرحلة، من غير ما ده يقول لوحده استخدمت كام ساعة من طاقتها. لذلك ما نحولش باقي النسبة تلقائيًا إلى سعة فارغة، ولا نربطه مباشرة بقرار استثمار.</a:t>
            </a:r>
          </a:p>
          <a:p xmlns:a="http://schemas.openxmlformats.org/drawingml/2006/main">
            <a:r>
              <a:t/>
            </a:r>
          </a:p>
          <a:p xmlns:a="http://schemas.openxmlformats.org/drawingml/2006/main">
            <a:r>
              <a:t>منطق التحليل والمعنى التجاري:</a:t>
            </a:r>
          </a:p>
          <a:p xmlns:a="http://schemas.openxmlformats.org/drawingml/2006/main">
            <a:r>
              <a:t>التطابق العددي ما يكشفش صيغة المصدر الأصلية غير المتاحة. بنقول الحقل بيطابق أو بيتصرف كالمؤشر ده؛ وما نستنتجش إن 16.96% سعة متاحة للاسترداد.</a:t>
            </a:r>
          </a:p>
          <a:p xmlns:a="http://schemas.openxmlformats.org/drawingml/2006/main">
            <a:r>
              <a:t/>
            </a:r>
          </a:p>
          <a:p xmlns:a="http://schemas.openxmlformats.org/drawingml/2006/main">
            <a:r>
              <a:t>الأرقام الأساسية:</a:t>
            </a:r>
          </a:p>
          <a:p xmlns:a="http://schemas.openxmlformats.org/drawingml/2006/main">
            <a:r>
              <a:t>436 من 3,312 سجل فوق 100%؛ وأعلى قيمة 148.4%. القيم تطابق trips على calendar days، والتغطية 92 من 120 شاحنة.</a:t>
            </a:r>
          </a:p>
          <a:p xmlns:a="http://schemas.openxmlformats.org/drawingml/2006/main">
            <a:r>
              <a:t/>
            </a:r>
          </a:p>
          <a:p xmlns:a="http://schemas.openxmlformats.org/drawingml/2006/main">
            <a:r>
              <a:t>الانتقال:</a:t>
            </a:r>
          </a:p>
          <a:p xmlns:a="http://schemas.openxmlformats.org/drawingml/2006/main">
            <a:r>
              <a:t>بعد السعة، نراجع السلامة من زاويتين: عدد الحوادث وشدة التكلفة.</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1:00 ضمن مسار الشرح الأساسي.</a:t>
            </a:r>
          </a:p>
          <a:p xmlns:a="http://schemas.openxmlformats.org/drawingml/2006/main">
            <a:r>
              <a:t/>
            </a:r>
          </a:p>
          <a:p xmlns:a="http://schemas.openxmlformats.org/drawingml/2006/main">
            <a:r>
              <a:t>النص المقترح:</a:t>
            </a:r>
          </a:p>
          <a:p xmlns:a="http://schemas.openxmlformats.org/drawingml/2006/main">
            <a:r>
              <a:t>عندنا 170 حادثة، منها 64 مصنفة preventable. DOT violations هي الأعلى في العدد، بـ39 حادثة، لكن Equipment Damage هي الأعلى في تكلفة vehicle plus cargo damage. يعني النوع الأكثر تكرارًا مش بالضرورة الأعلى في الشدة المالية. الحالات preventable مرتبطة بحوالي 904,476 دولار damage، لكن المبلغ مش توفير نقدر نحققه كله. التصنيف ما يثبتش إن برنامج واحد هيمنع كل الحالات أو تكلفتها. والـat-fault والـinjury flags ممكن يتقاطعوا؛ ما نجمعهمش كأنهم أنواع منفصلة. المقترح نراجع الحالات وأنماط المخالفة، ونختار تدريب أو تعديل إجراء حسب الدليل. بعد كده نتابع frequency بمقام تعرّض مناسب، ومعاها شدة التكلفة، من غير تقييم صناعي مش معتمد.</a:t>
            </a:r>
          </a:p>
          <a:p xmlns:a="http://schemas.openxmlformats.org/drawingml/2006/main">
            <a:r>
              <a:t/>
            </a:r>
          </a:p>
          <a:p xmlns:a="http://schemas.openxmlformats.org/drawingml/2006/main">
            <a:r>
              <a:t>منطق التحليل والمعنى التجاري:</a:t>
            </a:r>
          </a:p>
          <a:p xmlns:a="http://schemas.openxmlformats.org/drawingml/2006/main">
            <a:r>
              <a:t>نفرّق بين frequency وseverity، وبين incident damage وclaims. الإجماليان متساويان في المصدر؛ ما يتجمعوش مرة تانية.</a:t>
            </a:r>
          </a:p>
          <a:p xmlns:a="http://schemas.openxmlformats.org/drawingml/2006/main">
            <a:r>
              <a:t/>
            </a:r>
          </a:p>
          <a:p xmlns:a="http://schemas.openxmlformats.org/drawingml/2006/main">
            <a:r>
              <a:t>الأرقام الأساسية:</a:t>
            </a:r>
          </a:p>
          <a:p xmlns:a="http://schemas.openxmlformats.org/drawingml/2006/main">
            <a:r>
              <a:t>170 حادثة؛ و64 preventable؛ و39 DOT violations؛ والـdamage المرتبط بالحالات preventable يساوي $904,475.96.</a:t>
            </a:r>
          </a:p>
          <a:p xmlns:a="http://schemas.openxmlformats.org/drawingml/2006/main">
            <a:r>
              <a:t/>
            </a:r>
          </a:p>
          <a:p xmlns:a="http://schemas.openxmlformats.org/drawingml/2006/main">
            <a:r>
              <a:t>الانتقال:</a:t>
            </a:r>
          </a:p>
          <a:p xmlns:a="http://schemas.openxmlformats.org/drawingml/2006/main">
            <a:r>
              <a:t>نرجع للتكلفة الكلية، ونحدد بالضبط إيه نوع الربح اللي الموديل يقدر يقيسه.</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0:55 ضمن مسار الشرح الأساسي.</a:t>
            </a:r>
          </a:p>
          <a:p xmlns:a="http://schemas.openxmlformats.org/drawingml/2006/main">
            <a:r>
              <a:t/>
            </a:r>
          </a:p>
          <a:p xmlns:a="http://schemas.openxmlformats.org/drawingml/2006/main">
            <a:r>
              <a:t>النص المقترح:</a:t>
            </a:r>
          </a:p>
          <a:p xmlns:a="http://schemas.openxmlformats.org/drawingml/2006/main">
            <a:r>
              <a:t>الوقود 95.59 مليون دولار، والأجور المفترضة 53.41 مليون، والصيانة 5.73 مليون، والـdamage 2.65 مليون؛ بإجمالي تكلفة ممثلة 157.39 مليون. الوقود لوحده 60.74% من البنود دي، و32.01% من الإيراد. المتبقي 141.23 مليون هو modeled contribution، مش audited net income. الأجور موجودة أصلًا في الـbaseline بافتراض 25 دولار للساعة؛ إحنا ما أضفناهاش أو أصلحنا الموديل هنا. قبل ما نحكم على ربحية عميل أو مسار، نحتاج cost allocation موثق، وأجور فعلية، وoverhead وتأمين وإهلاك. فائدة التحليل هنا إننا حددنا نطاق التكلفة بوضوح، وحددنا إن الوقود موضوع كبير يستحق reconciliation؛ مش إن كِبر حصته دليل على سهولة خفضه.</a:t>
            </a:r>
          </a:p>
          <a:p xmlns:a="http://schemas.openxmlformats.org/drawingml/2006/main">
            <a:r>
              <a:t/>
            </a:r>
          </a:p>
          <a:p xmlns:a="http://schemas.openxmlformats.org/drawingml/2006/main">
            <a:r>
              <a:t>منطق التحليل والمعنى التجاري:</a:t>
            </a:r>
          </a:p>
          <a:p xmlns:a="http://schemas.openxmlformats.org/drawingml/2006/main">
            <a:r>
              <a:t>بنستخدم مصطلح modeled contribution باستمرار، وبنوضح إن واجهة PBIX بتسمي المقياس Net Profit. حجم حصة التكلفة ما يثبتش سهولة تخفيضها.</a:t>
            </a:r>
          </a:p>
          <a:p xmlns:a="http://schemas.openxmlformats.org/drawingml/2006/main">
            <a:r>
              <a:t/>
            </a:r>
          </a:p>
          <a:p xmlns:a="http://schemas.openxmlformats.org/drawingml/2006/main">
            <a:r>
              <a:t>الأرقام الأساسية:</a:t>
            </a:r>
          </a:p>
          <a:p xmlns:a="http://schemas.openxmlformats.org/drawingml/2006/main">
            <a:r>
              <a:t>Modeled cost يساوي $157.39M؛ وcontribution يساوي $141.23M؛ والهامش 47.29%؛ وافتراض الأجور $25 للساعة.</a:t>
            </a:r>
          </a:p>
          <a:p xmlns:a="http://schemas.openxmlformats.org/drawingml/2006/main">
            <a:r>
              <a:t/>
            </a:r>
          </a:p>
          <a:p xmlns:a="http://schemas.openxmlformats.org/drawingml/2006/main">
            <a:r>
              <a:t>الانتقال:</a:t>
            </a:r>
          </a:p>
          <a:p xmlns:a="http://schemas.openxmlformats.org/drawingml/2006/main">
            <a:r>
              <a:t>نفس الدقة مطلوبة لما نقارن مؤشرات السواقين بنتيجة أحداث التسليم.</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0:55 ضمن مسار الشرح الأساسي.</a:t>
            </a:r>
          </a:p>
          <a:p xmlns:a="http://schemas.openxmlformats.org/drawingml/2006/main">
            <a:r>
              <a:t/>
            </a:r>
          </a:p>
          <a:p xmlns:a="http://schemas.openxmlformats.org/drawingml/2006/main">
            <a:r>
              <a:t>النص المقترح:</a:t>
            </a:r>
          </a:p>
          <a:p xmlns:a="http://schemas.openxmlformats.org/drawingml/2006/main">
            <a:r>
              <a:t>المتوسط البسيط لمعدلات driver-month هو 44.60%، والمرجح بعدد الرحلات 44.62%. لكن Delivery OTD من الأحداث هو 33.28%. الترجيح بعدد الرحلات بيعالج اختلاف أحجام الشهور لنفس تعريف المؤشر، لكنه ما يخلّيش مصدرين مختلفين متطابقين. الفرق عن الأحداث حوالي 11.32 نقطة مئوية عند المتوسط البسيط. وفيه 1,714 رحلة مرتبطة بتسليم، ومفتاح السواق فيها مش موجود في البُعد؛ حوالي 2.01%. عشان كده، أي leaderboard لازم يستخدم نفس الفترة والمقام وقاعدة on-time، ويكشف التغطية. الفرق هنا سؤال تسوية مصادر قبل التقييم أو الـcoaching؛ مش دليل إن السواقين أفضل من نتيجة الأحداث أو إن شخص بعينه سبب المشكلة.</a:t>
            </a:r>
          </a:p>
          <a:p xmlns:a="http://schemas.openxmlformats.org/drawingml/2006/main">
            <a:r>
              <a:t/>
            </a:r>
          </a:p>
          <a:p xmlns:a="http://schemas.openxmlformats.org/drawingml/2006/main">
            <a:r>
              <a:t>منطق التحليل والمعنى التجاري:</a:t>
            </a:r>
          </a:p>
          <a:p xmlns:a="http://schemas.openxmlformats.org/drawingml/2006/main">
            <a:r>
              <a:t>الـweighted average بيعالج وزن الحجم، لكنه ما يعالجش اختلاف معنى المصدر أو الـcohort. ما نرتّبش الأفراد على متوسطات غير قابلة للمقارنة.</a:t>
            </a:r>
          </a:p>
          <a:p xmlns:a="http://schemas.openxmlformats.org/drawingml/2006/main">
            <a:r>
              <a:t/>
            </a:r>
          </a:p>
          <a:p xmlns:a="http://schemas.openxmlformats.org/drawingml/2006/main">
            <a:r>
              <a:t>الأرقام الأساسية:</a:t>
            </a:r>
          </a:p>
          <a:p xmlns:a="http://schemas.openxmlformats.org/drawingml/2006/main">
            <a:r>
              <a:t>44.60% متوسط شهري بسيط؛ و44.62% مرجح بالرحلات؛ و33.28% من أحداث التسليم؛ و1,714 صف تسليم مرتبط بمفتاح سواق غير موجود في البُعد.</a:t>
            </a:r>
          </a:p>
          <a:p xmlns:a="http://schemas.openxmlformats.org/drawingml/2006/main">
            <a:r>
              <a:t/>
            </a:r>
          </a:p>
          <a:p xmlns:a="http://schemas.openxmlformats.org/drawingml/2006/main">
            <a:r>
              <a:t>الانتقال:</a:t>
            </a:r>
          </a:p>
          <a:p xmlns:a="http://schemas.openxmlformats.org/drawingml/2006/main">
            <a:r>
              <a:t>والتحليل الجغرافي محتاج نفس الحذر وإحنا بنربط الإيراد بالمكان.</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0:40 ضمن مسار الشرح الأساسي.</a:t>
            </a:r>
          </a:p>
          <a:p xmlns:a="http://schemas.openxmlformats.org/drawingml/2006/main">
            <a:r>
              <a:t/>
            </a:r>
          </a:p>
          <a:p xmlns:a="http://schemas.openxmlformats.org/drawingml/2006/main">
            <a:r>
              <a:t>النص المقترح:</a:t>
            </a:r>
          </a:p>
          <a:p xmlns:a="http://schemas.openxmlformats.org/drawingml/2006/main">
            <a:r>
              <a:t>أوريجون وكاليفورنيا وواشنطن بيمثلوا 39.70% من الإيراد المسجل حسب destination. ده يساعدنا نختار بداية التحليل، لكنه ما يقولش إنهم الأكثر ربحية. الوقود والعمالة والصيانة محتاجين توزيع تكلفة على المسارات بنفس النطاق. ومعنى facility location كمان محتاج تحقق قبل ما ننسب اختناق لمكان معين. Maps بتدعم الاستكشاف حسب origin وdestination والفلاتر؛ لكنها هنا خريطة revenue. القرار المقترح هو matched lane analysis، مع الخدمة وتكلفة الميل، قبل تعديل سعر أو مسار.</a:t>
            </a:r>
          </a:p>
          <a:p xmlns:a="http://schemas.openxmlformats.org/drawingml/2006/main">
            <a:r>
              <a:t/>
            </a:r>
          </a:p>
          <a:p xmlns:a="http://schemas.openxmlformats.org/drawingml/2006/main">
            <a:r>
              <a:t>منطق التحليل والمعنى التجاري:</a:t>
            </a:r>
          </a:p>
          <a:p xmlns:a="http://schemas.openxmlformats.org/drawingml/2006/main">
            <a:r>
              <a:t>الولاية بُعد للتقسيم، مش قاعدة لتوزيع التكلفة. التركز في الإيراد وحده مش حكم على الربحية أو مستوى المخاطر.</a:t>
            </a:r>
          </a:p>
          <a:p xmlns:a="http://schemas.openxmlformats.org/drawingml/2006/main">
            <a:r>
              <a:t/>
            </a:r>
          </a:p>
          <a:p xmlns:a="http://schemas.openxmlformats.org/drawingml/2006/main">
            <a:r>
              <a:t>الأرقام الأساسية:</a:t>
            </a:r>
          </a:p>
          <a:p xmlns:a="http://schemas.openxmlformats.org/drawingml/2006/main">
            <a:r>
              <a:t>أعلى 3 destination states بيمثلوا 39.70% من الإيراد.</a:t>
            </a:r>
          </a:p>
          <a:p xmlns:a="http://schemas.openxmlformats.org/drawingml/2006/main">
            <a:r>
              <a:t/>
            </a:r>
          </a:p>
          <a:p xmlns:a="http://schemas.openxmlformats.org/drawingml/2006/main">
            <a:r>
              <a:t>الانتقال:</a:t>
            </a:r>
          </a:p>
          <a:p xmlns:a="http://schemas.openxmlformats.org/drawingml/2006/main">
            <a:r>
              <a:t>إزاي نحوّل الملاحظات دي لاختبار سعر ووقود على أساس مالي واحد؟</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2:00 ضمن مسار الشرح الأساسي.</a:t>
            </a:r>
          </a:p>
          <a:p xmlns:a="http://schemas.openxmlformats.org/drawingml/2006/main">
            <a:r>
              <a:t/>
            </a:r>
          </a:p>
          <a:p xmlns:a="http://schemas.openxmlformats.org/drawingml/2006/main">
            <a:r>
              <a:t>النص المقترح:</a:t>
            </a:r>
          </a:p>
          <a:p xmlns:a="http://schemas.openxmlformats.org/drawingml/2006/main">
            <a:r>
              <a:t>السؤال هنا مش بس: هل السيناريو شكله أحسن؟ السؤال الأول: هل قارناه على نفس الأساس؟ الـbaseline contribution في الموديل 141.23 مليون دولار، بعد الوقود والصيانة والحوادث، وبعد أجور مفترضة بـ25 دولار للساعة؛ إجماليها 53.41 مليون. السيناريو الأصلي كان مستبعد الأجور، فلازم نوحّد نطاق التكلفة الأول. كمان سعر الوقود الفعلي المرجح 3.8987 دولار، بينما الـdefault هو 3.25. فحوالي 15.91 مليون من التحسن الافتراضي سببه فرض سعر وقود أقل، مش نتيجة اتنفذت. اختبرنا الوقود عند 3.5 و4 و4.5 دولار، وزيادة سعر صفر و5 و10%. خُدوا مثال 4.5 دولار: لو زوّدنا كل الإيراد 5%، الناتج 141.42 مليون، أعلى من الـbaseline بحوالي 0.19 مليون. لكن لو الزيادة على freight فقط، مع ثبات surcharge وaccessorials، الناتج 139.62 مليون، أقل بحوالي 1.62 مليون. للحفاظ على الـbaseline نحتاج زيادة 5.62% على freight، أو 4.94% على كل الإيراد. كل الحسابات دي مشروطة بثبات الحجم والجالونات والأجور وباقي البنود. مفيش demand response أو تكلفة تنفيذ ممثلة. إذن ده تحليل حساسية، مش ROI محقق أو توقع مضمون، ولسه مش audited net profit لأن فيه overhead وبنود تانية خارج الموديل. وإحنا بنقرا الجدول، نثبت الأول إحنا في أي سعر وقود، وبعدين نختار زيادة السعر وعلى أي مكوّن. المقارنة المهمة مش أكبر رقم في الجدول؛ هي الفرق عن baseline بنفس البنود. ولو زيادة السعر غيّرت الطلب، الحساب الحالي مش بيمثل الأثر ده، ولازم تجربة تجارية منفصلة.</a:t>
            </a:r>
          </a:p>
          <a:p xmlns:a="http://schemas.openxmlformats.org/drawingml/2006/main">
            <a:r>
              <a:t/>
            </a:r>
          </a:p>
          <a:p xmlns:a="http://schemas.openxmlformats.org/drawingml/2006/main">
            <a:r>
              <a:t>منطق التحليل والمعنى التجاري:</a:t>
            </a:r>
          </a:p>
          <a:p xmlns:a="http://schemas.openxmlformats.org/drawingml/2006/main">
            <a:r>
              <a:t>ده reconstruction لتوحيد المقارنة، مش ادعاء إننا عدلنا PBIX. لازم نحدد الـprice lever، ونثبت cost scope، ونختبر الطلب وقبول العميل وتكلفة التنفيذ قبل تطبيق القرار.</a:t>
            </a:r>
          </a:p>
          <a:p xmlns:a="http://schemas.openxmlformats.org/drawingml/2006/main">
            <a:r>
              <a:t/>
            </a:r>
          </a:p>
          <a:p xmlns:a="http://schemas.openxmlformats.org/drawingml/2006/main">
            <a:r>
              <a:t>الأرقام الأساسية:</a:t>
            </a:r>
          </a:p>
          <a:p xmlns:a="http://schemas.openxmlformats.org/drawingml/2006/main">
            <a:r>
              <a:t>Baseline: $141.23M. عند وقود $4.50 وزيادة freight بنسبة 5%: $139.62M؛ ولو الزيادة على كل الإيراد: $141.42M. زيادة freight اللازمة للتعادل مع الـbaseline: 5.62%.</a:t>
            </a:r>
          </a:p>
          <a:p xmlns:a="http://schemas.openxmlformats.org/drawingml/2006/main">
            <a:r>
              <a:t/>
            </a:r>
          </a:p>
          <a:p xmlns:a="http://schemas.openxmlformats.org/drawingml/2006/main">
            <a:r>
              <a:t>الانتقال:</a:t>
            </a:r>
          </a:p>
          <a:p xmlns:a="http://schemas.openxmlformats.org/drawingml/2006/main">
            <a:r>
              <a:t>دلوقتي نرتب النتائج حسب أثرها على القرار، مش حسب حجم الرقم.</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0:55 ضمن مسار الشرح الأساسي.</a:t>
            </a:r>
          </a:p>
          <a:p xmlns:a="http://schemas.openxmlformats.org/drawingml/2006/main">
            <a:r>
              <a:t/>
            </a:r>
          </a:p>
          <a:p xmlns:a="http://schemas.openxmlformats.org/drawingml/2006/main">
            <a:r>
              <a:t>النص المقترح:</a:t>
            </a:r>
          </a:p>
          <a:p xmlns:a="http://schemas.openxmlformats.org/drawingml/2006/main">
            <a:r>
              <a:t>أول أولوية هي الخدمة: التأخير واسع بحسب timestamps، لكن قواعد الالتزام وتسلسل التوقيتات محتاجين تحقق. تاني أولوية سلامة القياس؛ utilization مش وقت تشغيل مثبت، وفيه إصلاحات مقترحة للـCalendar ونطاق تكلفة السيناريو. تالت نقطة الإيراد: الـmix هو العامل الأكبر في انخفاض revenue per load، فزيادة سعر عامة مش استنتاج مدعوم. ورابع نقطة الوقود: الفرق مستمر بعد truck-month matching، لكن لسه محتاج inventory reconciliation. ده ترتيب تحليلي للأهمية، مش ترتيب ROI محسوب. بيساعدنا نوجه المجهود للحاجات اللي فعلًا تغيّر القرار: إيه اللي نختبره، وإيه المقياس اللي نعتمده، وإيه البيانات الناقصة قبل ما نوعد بعائد.</a:t>
            </a:r>
          </a:p>
          <a:p xmlns:a="http://schemas.openxmlformats.org/drawingml/2006/main">
            <a:r>
              <a:t/>
            </a:r>
          </a:p>
          <a:p xmlns:a="http://schemas.openxmlformats.org/drawingml/2006/main">
            <a:r>
              <a:t>منطق التحليل والمعنى التجاري:</a:t>
            </a:r>
          </a:p>
          <a:p xmlns:a="http://schemas.openxmlformats.org/drawingml/2006/main">
            <a:r>
              <a:t>مش كل رقم كبير فرصة توفير. بعض الأولويات تخص الثقة في القياس نفسه، والترتيب هنا حكم تحليلي بنوضح منطقه.</a:t>
            </a:r>
          </a:p>
          <a:p xmlns:a="http://schemas.openxmlformats.org/drawingml/2006/main">
            <a:r>
              <a:t/>
            </a:r>
          </a:p>
          <a:p xmlns:a="http://schemas.openxmlformats.org/drawingml/2006/main">
            <a:r>
              <a:t>الأرقام الأساسية:</a:t>
            </a:r>
          </a:p>
          <a:p xmlns:a="http://schemas.openxmlformats.org/drawingml/2006/main">
            <a:r>
              <a:t>OTD بنسبة 33.28%؛ و436 utilization indices فوق 100%؛ وأثر mix قدره −$0.898M؛ وفرق وقود غير مسوّى حوالي 5.57M جالون.</a:t>
            </a:r>
          </a:p>
          <a:p xmlns:a="http://schemas.openxmlformats.org/drawingml/2006/main">
            <a:r>
              <a:t/>
            </a:r>
          </a:p>
          <a:p xmlns:a="http://schemas.openxmlformats.org/drawingml/2006/main">
            <a:r>
              <a:t>الانتقال:</a:t>
            </a:r>
          </a:p>
          <a:p xmlns:a="http://schemas.openxmlformats.org/drawingml/2006/main">
            <a:r>
              <a:t>كل توصية لازم يبقى ليها مسؤول، وخطوة تنفيذ، وKPI للمتابعة.</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1:10 ضمن مسار الشرح الأساسي.</a:t>
            </a:r>
          </a:p>
          <a:p xmlns:a="http://schemas.openxmlformats.org/drawingml/2006/main">
            <a:r>
              <a:t/>
            </a:r>
          </a:p>
          <a:p xmlns:a="http://schemas.openxmlformats.org/drawingml/2006/main">
            <a:r>
              <a:t>النص المقترح:</a:t>
            </a:r>
          </a:p>
          <a:p xmlns:a="http://schemas.openxmlformats.org/drawingml/2006/main">
            <a:r>
              <a:t>نبدأ بـP0: القياس والتسويات، لأن القرار على KPI مش موثوق ممكن يوجّه المجهود غلط. فريق BI مع Operations يراجعوا date roles، ومعنى timestamps وfacility mapping، وتعريف utilization والسيناريو. Finance وFleet يعملوا fuel balance شهرية ويحلوا unknown keys. Commercial يقارن matched yield، ويحدد أي زيادة سعر هتتطبق على إيه بالضبط. Operations يختبر تغيير جدولة أو dispatch بعد ما التحقق يدعم الاختيار. وSafety يراجع preventable cases مع شدة التكلفة. الاتجاه المتوقع هو قرار أوضح وتحكم أفضل في الخدمة والتكلفة؛ مفيش توفير محقق نعلنه. كل pilot لازم له baseline ومجموعة مقارنة وتعريف ثابت. نتابع OTD ودقائق التأخير وfuel residual والحجم اللي احتفظنا بيه، عشان التحسن في مؤشر ما يجيش على حساب مؤشر تاني.</a:t>
            </a:r>
          </a:p>
          <a:p xmlns:a="http://schemas.openxmlformats.org/drawingml/2006/main">
            <a:r>
              <a:t/>
            </a:r>
          </a:p>
          <a:p xmlns:a="http://schemas.openxmlformats.org/drawingml/2006/main">
            <a:r>
              <a:t>منطق التحليل والمعنى التجاري:</a:t>
            </a:r>
          </a:p>
          <a:p xmlns:a="http://schemas.openxmlformats.org/drawingml/2006/main">
            <a:r>
              <a:t>المصفوفة المصاحبة بتوضح الدليل والفرضية والمسؤول والمخاطر والمتطلبات ومؤشر النجاح لكل إجراء. ما بنحددش target تشغيلي من غير اعتماد.</a:t>
            </a:r>
          </a:p>
          <a:p xmlns:a="http://schemas.openxmlformats.org/drawingml/2006/main">
            <a:r>
              <a:t/>
            </a:r>
          </a:p>
          <a:p xmlns:a="http://schemas.openxmlformats.org/drawingml/2006/main">
            <a:r>
              <a:t>الأرقام الأساسية:</a:t>
            </a:r>
          </a:p>
          <a:p xmlns:a="http://schemas.openxmlformats.org/drawingml/2006/main">
            <a:r>
              <a:t>P0 للقياس والـreconciliation، وبعده P1 للـpilots. نسبة 90% تفضل model target لحد ما البزنس يعتمدها.</a:t>
            </a:r>
          </a:p>
          <a:p xmlns:a="http://schemas.openxmlformats.org/drawingml/2006/main">
            <a:r>
              <a:t/>
            </a:r>
          </a:p>
          <a:p xmlns:a="http://schemas.openxmlformats.org/drawingml/2006/main">
            <a:r>
              <a:t>الانتقال:</a:t>
            </a:r>
          </a:p>
          <a:p xmlns:a="http://schemas.openxmlformats.org/drawingml/2006/main">
            <a:r>
              <a:t>ودي خريطة تنفيذ مقترحة على المدى القصير والمتوسط والطويل.</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1:15 ضمن مسار الشرح الأساسي.</a:t>
            </a:r>
          </a:p>
          <a:p xmlns:a="http://schemas.openxmlformats.org/drawingml/2006/main">
            <a:r>
              <a:t/>
            </a:r>
          </a:p>
          <a:p xmlns:a="http://schemas.openxmlformats.org/drawingml/2006/main">
            <a:r>
              <a:t>النص المقترح:</a:t>
            </a:r>
          </a:p>
          <a:p xmlns:a="http://schemas.openxmlformats.org/drawingml/2006/main">
            <a:r>
              <a:t>على المدى القصير، أول أسبوعين مثلًا، نثبت التعريفات والمفاتيح ونطاق التواريخ، ونطلع baseline موثق. من الأسبوع التاني للسادس نكمل fuel reconciliation، ونبدأ service pilot بعد التحقق من معلومات المواعيد. وعلى مدى شهر لتلاتة، حسب الإتاحة، ندخل cost allocation وأجور فعلية، ونقارن matched segments، ونقيس النتيجة مع جودة الخدمة والحجم. بعد كده، على المدى الطويل، نربط telematics وavailability logs، ونطور semantic layer وتوثيق الـrefresh والرقابة. دي مراحل مقترحة؛ اعتماد الوقت والموارد عند صاحب البزنس. المتابعة الأسبوعية تجمع OTD مع median وP90 للتأخير، وunexplained fuel residual، وmatched yield. ونجاح P0 ممكن يتقاس بتغطية المفاتيح، واختبارات الفلترة، واختبار zero-delta لما مدخلات السيناريو تطابق الـbaseline. المراحل ممكن تتداخل حسب جاهزية البيانات، لكن اعتماد تعريف المؤشر يسبق الحكم على نجاح التجربة. اجتماع المتابعة يبدأ بالرقم وتعريفه وتغطيته، وبعدها الإجراء وصاحبه. لو مصدر أو قاعدة حساب اتغيرت، نوثق التغيير قبل ما نفسر الفرق على إنه تحسن تشغيل.</a:t>
            </a:r>
          </a:p>
          <a:p xmlns:a="http://schemas.openxmlformats.org/drawingml/2006/main">
            <a:r>
              <a:t/>
            </a:r>
          </a:p>
          <a:p xmlns:a="http://schemas.openxmlformats.org/drawingml/2006/main">
            <a:r>
              <a:t>منطق التحليل والمعنى التجاري:</a:t>
            </a:r>
          </a:p>
          <a:p xmlns:a="http://schemas.openxmlformats.org/drawingml/2006/main">
            <a:r>
              <a:t>المدد تقديرية لترتيب التنفيذ، مش وصف لمشروع اتنفذ. البزنس هو اللي يعتمد الموارد وأي target جديد.</a:t>
            </a:r>
          </a:p>
          <a:p xmlns:a="http://schemas.openxmlformats.org/drawingml/2006/main">
            <a:r>
              <a:t/>
            </a:r>
          </a:p>
          <a:p xmlns:a="http://schemas.openxmlformats.org/drawingml/2006/main">
            <a:r>
              <a:t>الأرقام الأساسية:</a:t>
            </a:r>
          </a:p>
          <a:p xmlns:a="http://schemas.openxmlformats.org/drawingml/2006/main">
            <a:r>
              <a:t>قصير: 0–2 أسبوع. متوسط: 2–6 أسابيع و1–3 شهور. وبعدها تطوير البيانات والحوكمة على المدى الطويل.</a:t>
            </a:r>
          </a:p>
          <a:p xmlns:a="http://schemas.openxmlformats.org/drawingml/2006/main">
            <a:r>
              <a:t/>
            </a:r>
          </a:p>
          <a:p xmlns:a="http://schemas.openxmlformats.org/drawingml/2006/main">
            <a:r>
              <a:t>الانتقال:</a:t>
            </a:r>
          </a:p>
          <a:p xmlns:a="http://schemas.openxmlformats.org/drawingml/2006/main">
            <a:r>
              <a:t>وقبل الخاتمة، لازم نوضح حدود اللي الداتا تسمح لنا نثبته.</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0:55 ضمن مسار الشرح الأساسي.</a:t>
            </a:r>
          </a:p>
          <a:p xmlns:a="http://schemas.openxmlformats.org/drawingml/2006/main">
            <a:r>
              <a:t/>
            </a:r>
          </a:p>
          <a:p xmlns:a="http://schemas.openxmlformats.org/drawingml/2006/main">
            <a:r>
              <a:t>النص المقترح:</a:t>
            </a:r>
          </a:p>
          <a:p xmlns:a="http://schemas.openxmlformats.org/drawingml/2006/main">
            <a:r>
              <a:t>النتائج قابلة لإعادة الحساب من الـembedded data، لكن ملفات CSV الأصلية وتنفيذ الـrefresh مش متاحين. لما نقول اتحققنا، نقصد إننا حسبنا من البيانات المحفوظة وقرأنا تعريفات M وDAX؛ مش إننا شغّلنا كل visual في جلسة حية. عندنا 1,714 صف مرتبط بمفتاح سواق غير مطابق، ومخاطرة في محاذاة facility code مع الموقع، و486 زوج timestamps عكس الترتيب المتوقع. ما حذفناش السجلات؛ عملنا sensitivity فقط. بعد استبعاد حالات actual دي حسابيًا، OTD بيبقى 32.90%، فالمشكلة المحسوبة ما بتختفيش. ولسه ناقصنا overhead للتكلفة، وأرصدة مخزون للوقود، وavailability hours للسعة. القيود دي جزء من النتيجة؛ بتحدد إيه اللي لازم نجمعه قبل التنفيذ.</a:t>
            </a:r>
          </a:p>
          <a:p xmlns:a="http://schemas.openxmlformats.org/drawingml/2006/main">
            <a:r>
              <a:t/>
            </a:r>
          </a:p>
          <a:p xmlns:a="http://schemas.openxmlformats.org/drawingml/2006/main">
            <a:r>
              <a:t>منطق التحليل والمعنى التجاري:</a:t>
            </a:r>
          </a:p>
          <a:p xmlns:a="http://schemas.openxmlformats.org/drawingml/2006/main">
            <a:r>
              <a:t>الاستبعاد اختبار حساسية، مش cleaning معتمد. والـfacility code ممكن يشير إلى hub، فاختلاف العنوان مخاطرة في المعنى، مش إثبات خطأ لوحده.</a:t>
            </a:r>
          </a:p>
          <a:p xmlns:a="http://schemas.openxmlformats.org/drawingml/2006/main">
            <a:r>
              <a:t/>
            </a:r>
          </a:p>
          <a:p xmlns:a="http://schemas.openxmlformats.org/drawingml/2006/main">
            <a:r>
              <a:t>الأرقام الأساسية:</a:t>
            </a:r>
          </a:p>
          <a:p xmlns:a="http://schemas.openxmlformats.org/drawingml/2006/main">
            <a:r>
              <a:t>1,714 صف بمفتاح سواق غير مطابق؛ و486 actual chronology flags؛ وOTD في اختبار الحساسية 32.90%.</a:t>
            </a:r>
          </a:p>
          <a:p xmlns:a="http://schemas.openxmlformats.org/drawingml/2006/main">
            <a:r>
              <a:t/>
            </a:r>
          </a:p>
          <a:p xmlns:a="http://schemas.openxmlformats.org/drawingml/2006/main">
            <a:r>
              <a:t>الانتقال:</a:t>
            </a:r>
          </a:p>
          <a:p xmlns:a="http://schemas.openxmlformats.org/drawingml/2006/main">
            <a:r>
              <a:t>إيه الدروس اللي طلعنا بيها من رحلة التحقق والتحليل؟</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0:50 ضمن مسار الشرح الأساسي.</a:t>
            </a:r>
          </a:p>
          <a:p xmlns:a="http://schemas.openxmlformats.org/drawingml/2006/main">
            <a:r>
              <a:t/>
            </a:r>
          </a:p>
          <a:p xmlns:a="http://schemas.openxmlformats.org/drawingml/2006/main">
            <a:r>
              <a:t>النص المقترح:</a:t>
            </a:r>
          </a:p>
          <a:p xmlns:a="http://schemas.openxmlformats.org/drawingml/2006/main">
            <a:r>
              <a:t>أول درس: قيمة الـKPI مش في اسمه؛ لازم تعريف ومقام وتغطية، وده ظهر في utilization وOTD. تاني درس: العلاقة بين الجداول جزء من الحساب، فـCalendar ومسارات الـfacts محتاجين validation. تالت درس: المتوسط الإجمالي ممكن يخبي أثر الـmix؛ لما فصلنا مكونات الإيراد، التفسير بقى أدق. ورابع درس: لازم نميز بين تجربة مقترحة ونتيجة اتحققت. التطوير المقترح هو certified measure واحدة لكل مفهوم، وربط date roles، وتوزيع تكلفة موثق، وsafety measures بمقامات تعرّض مناسبة، وسيناريوهات بنفس cost scope. التوثيق ده يخلي محلل تاني يراجع المشروع ويطوره من غير اعتماد على شرح شفهي بس.</a:t>
            </a:r>
          </a:p>
          <a:p xmlns:a="http://schemas.openxmlformats.org/drawingml/2006/main">
            <a:r>
              <a:t/>
            </a:r>
          </a:p>
          <a:p xmlns:a="http://schemas.openxmlformats.org/drawingml/2006/main">
            <a:r>
              <a:t>منطق التحليل والمعنى التجاري:</a:t>
            </a:r>
          </a:p>
          <a:p xmlns:a="http://schemas.openxmlformats.org/drawingml/2006/main">
            <a:r>
              <a:t>دي تحسينات مقترحة، ومفيش PBIX محدث يثبت تنفيذها. بنوضح تكرار المقاييس بدل ما ندّعي إننا حذفناه.</a:t>
            </a:r>
          </a:p>
          <a:p xmlns:a="http://schemas.openxmlformats.org/drawingml/2006/main">
            <a:r>
              <a:t/>
            </a:r>
          </a:p>
          <a:p xmlns:a="http://schemas.openxmlformats.org/drawingml/2006/main">
            <a:r>
              <a:t>الأرقام الأساسية:</a:t>
            </a:r>
          </a:p>
          <a:p xmlns:a="http://schemas.openxmlformats.org/drawingml/2006/main">
            <a:r>
              <a:t>تعريف معتمد واحد لكل KPI، مع مراعاة اختلاف fact grains وdate roles.</a:t>
            </a:r>
          </a:p>
          <a:p xmlns:a="http://schemas.openxmlformats.org/drawingml/2006/main">
            <a:r>
              <a:t/>
            </a:r>
          </a:p>
          <a:p xmlns:a="http://schemas.openxmlformats.org/drawingml/2006/main">
            <a:r>
              <a:t>الانتقال:</a:t>
            </a:r>
          </a:p>
          <a:p xmlns:a="http://schemas.openxmlformats.org/drawingml/2006/main">
            <a:r>
              <a:t>نختم بالقيمة العملية اللي المشروع بيقدمها.</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0:55 ضمن مسار الشرح الأساسي.</a:t>
            </a:r>
          </a:p>
          <a:p xmlns:a="http://schemas.openxmlformats.org/drawingml/2006/main">
            <a:r>
              <a:t/>
            </a:r>
          </a:p>
          <a:p xmlns:a="http://schemas.openxmlformats.org/drawingml/2006/main">
            <a:r>
              <a:t>النص المقترح:</a:t>
            </a:r>
          </a:p>
          <a:p xmlns:a="http://schemas.openxmlformats.org/drawingml/2006/main">
            <a:r>
              <a:t>قيمة المشروع مش مجرد تجميع أرقام في تسع صفحات. إحنا فهمنا الـgrains، وشرحنا منطق الموديل وDAX، وراجعنا التعريفات، وبعدها فسّرنا النتائج في حدود الدليل. عرفنا إن انخفاض revenue per load مرتبط بالـmix، وإن التأخير واسع بحسب التوقيتات. وعرفنا إن utilization الحالي مش قياس وقت سعة مثبت، وإن فرق الوقود محتاج reconciliation. ولما وحّدنا نطاق التكلفة، وضّحنا إزاي سعر الوقود والـprice lever يغيّروا القرار. التوصية النهائية: نثبت القياس الأول، ونختبر بتجارب صغيرة، ونتابع نتيجة البزنس من غير وعود بتوفير مش محسوب. كده بنجمع Technical Excellence وBusiness Understanding وCritical Thinking في قصة واحدة قابلة للمراجعة.</a:t>
            </a:r>
          </a:p>
          <a:p xmlns:a="http://schemas.openxmlformats.org/drawingml/2006/main">
            <a:r>
              <a:t/>
            </a:r>
          </a:p>
          <a:p xmlns:a="http://schemas.openxmlformats.org/drawingml/2006/main">
            <a:r>
              <a:t>منطق التحليل والمعنى التجاري:</a:t>
            </a:r>
          </a:p>
          <a:p xmlns:a="http://schemas.openxmlformats.org/drawingml/2006/main">
            <a:r>
              <a:t>القيمة المتوقعة هي قرار أحسن واختبار أوضح للتوصيات؛ مش نتيجة تشغيلية محققة بالفعل.</a:t>
            </a:r>
          </a:p>
          <a:p xmlns:a="http://schemas.openxmlformats.org/drawingml/2006/main">
            <a:r>
              <a:t/>
            </a:r>
          </a:p>
          <a:p xmlns:a="http://schemas.openxmlformats.org/drawingml/2006/main">
            <a:r>
              <a:t>الأرقام الأساسية:</a:t>
            </a:r>
          </a:p>
          <a:p xmlns:a="http://schemas.openxmlformats.org/drawingml/2006/main">
            <a:r>
              <a:t>محاور النتيجة: الخدمة، والـmix، وتسوية الوقود، ومعنى المؤشرات، والسيناريوهات القابلة للمقارنة.</a:t>
            </a:r>
          </a:p>
          <a:p xmlns:a="http://schemas.openxmlformats.org/drawingml/2006/main">
            <a:r>
              <a:t/>
            </a:r>
          </a:p>
          <a:p xmlns:a="http://schemas.openxmlformats.org/drawingml/2006/main">
            <a:r>
              <a:t>الانتقال:</a:t>
            </a:r>
          </a:p>
          <a:p xmlns:a="http://schemas.openxmlformats.org/drawingml/2006/main">
            <a:r>
              <a:t>شكرًا ليكم. مستعدين للأسئلة، وكل التفاصيل الأصلية موجودة في الـAppendix.</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0:15 ضمن مسار الشرح الأساسي.</a:t>
            </a:r>
          </a:p>
          <a:p xmlns:a="http://schemas.openxmlformats.org/drawingml/2006/main">
            <a:r>
              <a:t/>
            </a:r>
          </a:p>
          <a:p xmlns:a="http://schemas.openxmlformats.org/drawingml/2006/main">
            <a:r>
              <a:t>النص المقترح:</a:t>
            </a:r>
          </a:p>
          <a:p xmlns:a="http://schemas.openxmlformats.org/drawingml/2006/main">
            <a:r>
              <a:t>شكرًا ليكم. مستعدين نناقش تعريف أي KPI، أو فرضية اختبرناها، أو حدود الداتا والتوصيات. كل الشرائح الأصلية موجودة، والتفاصيل في الـAppendix نرجعلها حسب السؤال.</a:t>
            </a:r>
          </a:p>
          <a:p xmlns:a="http://schemas.openxmlformats.org/drawingml/2006/main">
            <a:r>
              <a:t/>
            </a:r>
          </a:p>
          <a:p xmlns:a="http://schemas.openxmlformats.org/drawingml/2006/main">
            <a:r>
              <a:t>منطق التحليل والمعنى التجاري:</a:t>
            </a:r>
          </a:p>
          <a:p xmlns:a="http://schemas.openxmlformats.org/drawingml/2006/main">
            <a:r>
              <a:t>الـ15 ثانية هنا لتسليم الحوار للجنة. وقت الأسئلة الفعلي خارج مدة الشرح الأساسية.</a:t>
            </a:r>
          </a:p>
          <a:p xmlns:a="http://schemas.openxmlformats.org/drawingml/2006/main">
            <a:r>
              <a:t/>
            </a:r>
          </a:p>
          <a:p xmlns:a="http://schemas.openxmlformats.org/drawingml/2006/main">
            <a:r>
              <a:t>الأرقام الأساسية:</a:t>
            </a:r>
          </a:p>
          <a:p xmlns:a="http://schemas.openxmlformats.org/drawingml/2006/main">
            <a:r>
              <a:t>29 سلايد أساسي في 30 دقيقة، و12 سلايد Appendix اختيارية.</a:t>
            </a:r>
          </a:p>
          <a:p xmlns:a="http://schemas.openxmlformats.org/drawingml/2006/main">
            <a:r>
              <a:t/>
            </a:r>
          </a:p>
          <a:p xmlns:a="http://schemas.openxmlformats.org/drawingml/2006/main">
            <a:r>
              <a:t>الانتقال:</a:t>
            </a:r>
          </a:p>
          <a:p xmlns:a="http://schemas.openxmlformats.org/drawingml/2006/main">
            <a:r>
              <a:t>نبدأ بالنقطة اللي اللجنة تحب تناقشها.</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1:00 اختياري في Appendix، خارج الثلاثين دقيقة.</a:t>
            </a:r>
          </a:p>
          <a:p xmlns:a="http://schemas.openxmlformats.org/drawingml/2006/main">
            <a:r>
              <a:t/>
            </a:r>
          </a:p>
          <a:p xmlns:a="http://schemas.openxmlformats.org/drawingml/2006/main">
            <a:r>
              <a:t>النص المقترح:</a:t>
            </a:r>
          </a:p>
          <a:p xmlns:a="http://schemas.openxmlformats.org/drawingml/2006/main">
            <a:r>
              <a:t>السلايد ده بيكمل حصر الـ14 business tables. مجموع الصفوف 549,706، وده مش عدد عمليات فريدة؛ كل جدول له grain مختلف. Fields هنا عدد أعمدة الموديل بعد التحويل، بينما تعريفات M بتحدد 150 input column إجمالًا عبر الـ14 CSV، بحسب Columns declarations؛ مش بفحص ملفات CSV الخام نفسها. وفيه 4 helper tables و6 measure containers مفيهمش صفوف بزنس. loads وtrips في كل واحد 85,410 صف، وdelivery_events فيه 170,820 صف لأن لكل رحلة Pickup وDelivery. الحصر ده يوضح إيه اللي نقدر نسأله من كل مصدر؛ البيانات تدعم وصف الخدمة والإيراد والمقارنة، لكن ربحية العميل وسعة الوقت محتاجين حقول إضافية.</a:t>
            </a:r>
          </a:p>
          <a:p xmlns:a="http://schemas.openxmlformats.org/drawingml/2006/main">
            <a:r>
              <a:t/>
            </a:r>
          </a:p>
          <a:p xmlns:a="http://schemas.openxmlformats.org/drawingml/2006/main">
            <a:r>
              <a:t>منطق التحليل والمعنى التجاري:</a:t>
            </a:r>
          </a:p>
          <a:p xmlns:a="http://schemas.openxmlformats.org/drawingml/2006/main">
            <a:r>
              <a:t>شرح اختياري للأسئلة، خارج الـ30 دقيقة. ما نجمعش صفوف الـgrains المختلفة باعتبارها عمليات مستقلة، ونفرّق بين المصدر والمقترحات.</a:t>
            </a:r>
          </a:p>
          <a:p xmlns:a="http://schemas.openxmlformats.org/drawingml/2006/main">
            <a:r>
              <a:t/>
            </a:r>
          </a:p>
          <a:p xmlns:a="http://schemas.openxmlformats.org/drawingml/2006/main">
            <a:r>
              <a:t>الأرقام الأساسية:</a:t>
            </a:r>
          </a:p>
          <a:p xmlns:a="http://schemas.openxmlformats.org/drawingml/2006/main">
            <a:r>
              <a:t>14 business tables، و549,706 صف؛ وتعريفات M بتحدد 150 input column إجمالًا عبر الـ14 CSV؛ و4 helper tables، و6 measure containers؛ و85,410 صف في loads ومثلهم في trips، و170,820 حدث.</a:t>
            </a:r>
          </a:p>
          <a:p xmlns:a="http://schemas.openxmlformats.org/drawingml/2006/main">
            <a:r>
              <a:t/>
            </a:r>
          </a:p>
          <a:p xmlns:a="http://schemas.openxmlformats.org/drawingml/2006/main">
            <a:r>
              <a:t>الانتقال:</a:t>
            </a:r>
          </a:p>
          <a:p xmlns:a="http://schemas.openxmlformats.org/drawingml/2006/main">
            <a:r>
              <a:t>لو السؤال عن الفلترة، نقدر ننتقل لتفاصيل العلاقات؛ أو نرجع للسلايد الأساسي.</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1:00 اختياري في Appendix، خارج الثلاثين دقيقة.</a:t>
            </a:r>
          </a:p>
          <a:p xmlns:a="http://schemas.openxmlformats.org/drawingml/2006/main">
            <a:r>
              <a:t/>
            </a:r>
          </a:p>
          <a:p xmlns:a="http://schemas.openxmlformats.org/drawingml/2006/main">
            <a:r>
              <a:t>النص المقترح:</a:t>
            </a:r>
          </a:p>
          <a:p xmlns:a="http://schemas.openxmlformats.org/drawingml/2006/main">
            <a:r>
              <a:t>هنا تفاصيل مسارات الفلترة. Customers وRoutes بيفلتروا Loads، والعلاقة بين Loads وTrips باتجاه Both. Drivers وTrucks وTrailers مرتبطين بالرحلات. Safety مع Trips علاقة one-to-one واتجاهها Both، وعلاقتا Safety مع driver وtruck غير نشطتين. Calendar مش مربوط بالحقائق. بالتالي وجود measure فيها DATEADD مش كفاية لإثبات إن الاتجاه الزمني شغال صح. عند الإصلاح، الاختبار المقترح إننا نختار سنة معروفة، ونقارن card برقم مستقل من الـfact. ونراجع المسارات البديلة وعدد الصفوف قبل الفلتر وبعده، عشان نكشف أي نطاق غير مقصود أو تضخيم.</a:t>
            </a:r>
          </a:p>
          <a:p xmlns:a="http://schemas.openxmlformats.org/drawingml/2006/main">
            <a:r>
              <a:t/>
            </a:r>
          </a:p>
          <a:p xmlns:a="http://schemas.openxmlformats.org/drawingml/2006/main">
            <a:r>
              <a:t>منطق التحليل والمعنى التجاري:</a:t>
            </a:r>
          </a:p>
          <a:p xmlns:a="http://schemas.openxmlformats.org/drawingml/2006/main">
            <a:r>
              <a:t>شرح اختياري للأسئلة، خارج الـ30 دقيقة. بنصف العلاقات الحالية؛ الاختبارات والإصلاحات المذكورة مقترحة، ومش منفذة في PBIX محدث هنا.</a:t>
            </a:r>
          </a:p>
          <a:p xmlns:a="http://schemas.openxmlformats.org/drawingml/2006/main">
            <a:r>
              <a:t/>
            </a:r>
          </a:p>
          <a:p xmlns:a="http://schemas.openxmlformats.org/drawingml/2006/main">
            <a:r>
              <a:t>الأرقام الأساسية:</a:t>
            </a:r>
          </a:p>
          <a:p xmlns:a="http://schemas.openxmlformats.org/drawingml/2006/main">
            <a:r>
              <a:t>علاقة Safety مع Trips هي 1:1 واتجاهها Both؛ وعلاقتان inactive مع driver وtruck. Calendar بلا relationship مع الحقائق.</a:t>
            </a:r>
          </a:p>
          <a:p xmlns:a="http://schemas.openxmlformats.org/drawingml/2006/main">
            <a:r>
              <a:t/>
            </a:r>
          </a:p>
          <a:p xmlns:a="http://schemas.openxmlformats.org/drawingml/2006/main">
            <a:r>
              <a:t>الانتقال:</a:t>
            </a:r>
          </a:p>
          <a:p xmlns:a="http://schemas.openxmlformats.org/drawingml/2006/main">
            <a:r>
              <a:t>نرجع للسؤال المطروح، أو نراجع صيغة المقياس اللي بيعتمد على المسار ده.</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1:00 اختياري في Appendix، خارج الثلاثين دقيقة.</a:t>
            </a:r>
          </a:p>
          <a:p xmlns:a="http://schemas.openxmlformats.org/drawingml/2006/main">
            <a:r>
              <a:t/>
            </a:r>
          </a:p>
          <a:p xmlns:a="http://schemas.openxmlformats.org/drawingml/2006/main">
            <a:r>
              <a:t>النص المقترح:</a:t>
            </a:r>
          </a:p>
          <a:p xmlns:a="http://schemas.openxmlformats.org/drawingml/2006/main">
            <a:r>
              <a:t>في Data Processing اشتققنا داخل Power Query حقول الإيراد، وفئات الوزن، وload density، وحقول الوقت. وبعدها DAX حوّل الحقول لمقاييس وأسئلة. مثال مهم على مدخلات السيناريو: Rate Multiplier تعريفه GENERATESERIES من 0.8 إلى 1.5 بخطوة 0.01، لكن القيم المحفوظة عددها 70 وآخرها 1.49. فلازم نراجع الـendpoint قبل ما نوصف المدى الفعلي للـslider. Scenario Fuel Price من 2 إلى 6، والـfallback هو 3.25. المدخلات دي أدوات لاختبار افتراضات؛ مش حقائق تشغيلية أو نتائج اتنفذت. والقراءة الصح للسيناريو تبدأ بتحديد المدخلات ونطاق التكلفة، وبعدها مقارنة النتيجة.</a:t>
            </a:r>
          </a:p>
          <a:p xmlns:a="http://schemas.openxmlformats.org/drawingml/2006/main">
            <a:r>
              <a:t/>
            </a:r>
          </a:p>
          <a:p xmlns:a="http://schemas.openxmlformats.org/drawingml/2006/main">
            <a:r>
              <a:t>منطق التحليل والمعنى التجاري:</a:t>
            </a:r>
          </a:p>
          <a:p xmlns:a="http://schemas.openxmlformats.org/drawingml/2006/main">
            <a:r>
              <a:t>شرح اختياري للأسئلة، خارج الـ30 دقيقة. بنفرّق بين التحويلات الموجودة ومدخلات التجربة، وبنراجع القيم المحفوظة بدل افتراض سلوك الـslider.</a:t>
            </a:r>
          </a:p>
          <a:p xmlns:a="http://schemas.openxmlformats.org/drawingml/2006/main">
            <a:r>
              <a:t/>
            </a:r>
          </a:p>
          <a:p xmlns:a="http://schemas.openxmlformats.org/drawingml/2006/main">
            <a:r>
              <a:t>الأرقام الأساسية:</a:t>
            </a:r>
          </a:p>
          <a:p xmlns:a="http://schemas.openxmlformats.org/drawingml/2006/main">
            <a:r>
              <a:t>Rate Multiplier: تعريف 0.8–1.5 بخطوة 0.01؛ والمحفوظ 70 قيمة لحد 1.49. Fuel Price: من 2 إلى 6؛ والـfallback يساوي 3.25.</a:t>
            </a:r>
          </a:p>
          <a:p xmlns:a="http://schemas.openxmlformats.org/drawingml/2006/main">
            <a:r>
              <a:t/>
            </a:r>
          </a:p>
          <a:p xmlns:a="http://schemas.openxmlformats.org/drawingml/2006/main">
            <a:r>
              <a:t>الانتقال:</a:t>
            </a:r>
          </a:p>
          <a:p xmlns:a="http://schemas.openxmlformats.org/drawingml/2006/main">
            <a:r>
              <a:t>نرجع للسؤال، أو ننتقل لمثال السيناريو لو محتاجين نفحص أثر المدخلات.</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0:45 اختياري في Appendix، خارج الثلاثين دقيقة.</a:t>
            </a:r>
          </a:p>
          <a:p xmlns:a="http://schemas.openxmlformats.org/drawingml/2006/main">
            <a:r>
              <a:t/>
            </a:r>
          </a:p>
          <a:p xmlns:a="http://schemas.openxmlformats.org/drawingml/2006/main">
            <a:r>
              <a:t>النص المقترح:</a:t>
            </a:r>
          </a:p>
          <a:p xmlns:a="http://schemas.openxmlformats.org/drawingml/2006/main">
            <a:r>
              <a:t>دي تفاصيل مكونات الإيراد ومزيج العملاء. Base freight بقيمة 262.53 مليون دولار، وfuel surcharge بقيمة 29.98 مليون، وaccessorials بقيمة 6.12 مليون. وبحسب نوع العميل: Contract بقيمة 112.40 مليون، وSpot بقيمة 94.22 مليون، وDedicated بقيمة 92.00 مليون. التقسيم بيوصف حجم النشاط التجاري، مش ترتيب ربحية، ومش دليل لوحده على قوة الشريحة أو غياب مخاطر التركز. عشان نقيس ربحية عميل، نحتاج تكلفة منسوبة له، وبنفس الفترة ونطاق القياس.</a:t>
            </a:r>
          </a:p>
          <a:p xmlns:a="http://schemas.openxmlformats.org/drawingml/2006/main">
            <a:r>
              <a:t/>
            </a:r>
          </a:p>
          <a:p xmlns:a="http://schemas.openxmlformats.org/drawingml/2006/main">
            <a:r>
              <a:t>منطق التحليل والمعنى التجاري:</a:t>
            </a:r>
          </a:p>
          <a:p xmlns:a="http://schemas.openxmlformats.org/drawingml/2006/main">
            <a:r>
              <a:t>شرح اختياري للأسئلة، خارج الـ30 دقيقة. إيراد الشريحة مختلف عن ربحيتها، وتوزيع التكلفة لسه محتاج قواعد موثقة.</a:t>
            </a:r>
          </a:p>
          <a:p xmlns:a="http://schemas.openxmlformats.org/drawingml/2006/main">
            <a:r>
              <a:t/>
            </a:r>
          </a:p>
          <a:p xmlns:a="http://schemas.openxmlformats.org/drawingml/2006/main">
            <a:r>
              <a:t>الأرقام الأساسية:</a:t>
            </a:r>
          </a:p>
          <a:p xmlns:a="http://schemas.openxmlformats.org/drawingml/2006/main">
            <a:r>
              <a:t>Base freight: $262.53M؛ وsurcharge: $29.98M؛ وaccessorials: $6.12M. Contract: $112.40M؛ وSpot: $94.22M؛ وDedicated: $92.00M.</a:t>
            </a:r>
          </a:p>
          <a:p xmlns:a="http://schemas.openxmlformats.org/drawingml/2006/main">
            <a:r>
              <a:t/>
            </a:r>
          </a:p>
          <a:p xmlns:a="http://schemas.openxmlformats.org/drawingml/2006/main">
            <a:r>
              <a:t>الانتقال:</a:t>
            </a:r>
          </a:p>
          <a:p xmlns:a="http://schemas.openxmlformats.org/drawingml/2006/main">
            <a:r>
              <a:t>نرجع للسؤال، أو نربط التقسيم ده بالـmatched yield analysis.</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0:45 اختياري في Appendix، خارج الثلاثين دقيقة.</a:t>
            </a:r>
          </a:p>
          <a:p xmlns:a="http://schemas.openxmlformats.org/drawingml/2006/main">
            <a:r>
              <a:t/>
            </a:r>
          </a:p>
          <a:p xmlns:a="http://schemas.openxmlformats.org/drawingml/2006/main">
            <a:r>
              <a:t>النص المقترح:</a:t>
            </a:r>
          </a:p>
          <a:p xmlns:a="http://schemas.openxmlformats.org/drawingml/2006/main">
            <a:r>
              <a:t>الـstatus snapshot فيه 150 سواق: 124 Active و26 Terminated. نسبة 17.33% هنا مش annual turnover؛ دي حصة من لقطة حالة. وعندنا 120 عربية: 92 Active، و15 Maintenance، و13 Inactive. إذن الـ28 غير Active ما ينفعش نسميهم كلهم idle. مصدر utilization الشهري بيغطي 92 عربية، ومتوسط source index هو 83.04%، ومعناه اتراجع في التحليل الأساسي. كمان 7.01 ساعة هي متوسط حقل average_idle_hours؛ مش إجمالي monthly idle مؤكد لكل سواق. كل رقم من دول محتاج يتقرأ مع تعريفه وتغطيته.</a:t>
            </a:r>
          </a:p>
          <a:p xmlns:a="http://schemas.openxmlformats.org/drawingml/2006/main">
            <a:r>
              <a:t/>
            </a:r>
          </a:p>
          <a:p xmlns:a="http://schemas.openxmlformats.org/drawingml/2006/main">
            <a:r>
              <a:t>منطق التحليل والمعنى التجاري:</a:t>
            </a:r>
          </a:p>
          <a:p xmlns:a="http://schemas.openxmlformats.org/drawingml/2006/main">
            <a:r>
              <a:t>شرح اختياري للأسئلة، خارج الـ30 دقيقة. حالة الأصل في snapshot مش سجل استخدام زمني، ومش مقياس دوران عمالة سنوي.</a:t>
            </a:r>
          </a:p>
          <a:p xmlns:a="http://schemas.openxmlformats.org/drawingml/2006/main">
            <a:r>
              <a:t/>
            </a:r>
          </a:p>
          <a:p xmlns:a="http://schemas.openxmlformats.org/drawingml/2006/main">
            <a:r>
              <a:t>الأرقام الأساسية:</a:t>
            </a:r>
          </a:p>
          <a:p xmlns:a="http://schemas.openxmlformats.org/drawingml/2006/main">
            <a:r>
              <a:t>150 سواق: 124 Active و26 Terminated، أي 17.33%. و120 شاحنة: 92 Active، و15 Maintenance، و13 Inactive؛ بإجمالي 28 غير Active. المصدر الشهري يغطي 92، وindex متوسطه 83.04%؛ ومتوسط average_idle_hours هو 7.01 ساعة.</a:t>
            </a:r>
          </a:p>
          <a:p xmlns:a="http://schemas.openxmlformats.org/drawingml/2006/main">
            <a:r>
              <a:t/>
            </a:r>
          </a:p>
          <a:p xmlns:a="http://schemas.openxmlformats.org/drawingml/2006/main">
            <a:r>
              <a:t>الانتقال:</a:t>
            </a:r>
          </a:p>
          <a:p xmlns:a="http://schemas.openxmlformats.org/drawingml/2006/main">
            <a:r>
              <a:t>نرجع للسؤال، أو نراجع تعريف الاستخدام قبل أي قرار سعة.</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0:45 اختياري في Appendix، خارج الثلاثين دقيقة.</a:t>
            </a:r>
          </a:p>
          <a:p xmlns:a="http://schemas.openxmlformats.org/drawingml/2006/main">
            <a:r>
              <a:t/>
            </a:r>
          </a:p>
          <a:p xmlns:a="http://schemas.openxmlformats.org/drawingml/2006/main">
            <a:r>
              <a:t>النص المقترح:</a:t>
            </a:r>
          </a:p>
          <a:p xmlns:a="http://schemas.openxmlformats.org/drawingml/2006/main">
            <a:r>
              <a:t>إجمالي السجلات 170 حادثة. فيه 64 preventable بنسبة 37.65%، و54 at-fault بنسبة 31.76%، و33 مع injury بنسبة 19.41%. التصنيفات ممكن تتقاطع، فمش نجمعها على إنها مجموعات منفصلة. الـdamage المسجل 2.65 مليون دولار، أو 0.89% من الإيراد. Claim amount له مقياس مستقل، لكن إجماليه مساوي لإجمالي damage في الملف؛ جمعهم هيكرر نفس النطاق المالي. الأرقام للفترة المجمعة. ومع غياب benchmark صناعي مناسب، نستخدمها لوصف الحالات وترتيب المراجعة، من غير حكم إن السلامة جيدة أو سيئة مقارنة بالصناعة.</a:t>
            </a:r>
          </a:p>
          <a:p xmlns:a="http://schemas.openxmlformats.org/drawingml/2006/main">
            <a:r>
              <a:t/>
            </a:r>
          </a:p>
          <a:p xmlns:a="http://schemas.openxmlformats.org/drawingml/2006/main">
            <a:r>
              <a:t>منطق التحليل والمعنى التجاري:</a:t>
            </a:r>
          </a:p>
          <a:p xmlns:a="http://schemas.openxmlformats.org/drawingml/2006/main">
            <a:r>
              <a:t>شرح اختياري للأسئلة، خارج الـ30 دقيقة. بنراعي تداخل التصنيفات، وبنفصل بين المقاييس عشان ما نكررش التكلفة.</a:t>
            </a:r>
          </a:p>
          <a:p xmlns:a="http://schemas.openxmlformats.org/drawingml/2006/main">
            <a:r>
              <a:t/>
            </a:r>
          </a:p>
          <a:p xmlns:a="http://schemas.openxmlformats.org/drawingml/2006/main">
            <a:r>
              <a:t>الأرقام الأساسية:</a:t>
            </a:r>
          </a:p>
          <a:p xmlns:a="http://schemas.openxmlformats.org/drawingml/2006/main">
            <a:r>
              <a:t>170 حادثة؛ و64 preventable بنسبة 37.65%؛ و54 at-fault بنسبة 31.76%؛ و33 injury بنسبة 19.41%. Damage بقيمة $2.65M، أي 0.89% من الإيراد.</a:t>
            </a:r>
          </a:p>
          <a:p xmlns:a="http://schemas.openxmlformats.org/drawingml/2006/main">
            <a:r>
              <a:t/>
            </a:r>
          </a:p>
          <a:p xmlns:a="http://schemas.openxmlformats.org/drawingml/2006/main">
            <a:r>
              <a:t>الانتقال:</a:t>
            </a:r>
          </a:p>
          <a:p xmlns:a="http://schemas.openxmlformats.org/drawingml/2006/main">
            <a:r>
              <a:t>نرجع للسؤال، أو نراجع إجراءات المتابعة المقترحة لكل نمط حوادث.</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1:00 اختياري في Appendix، خارج الثلاثين دقيقة.</a:t>
            </a:r>
          </a:p>
          <a:p xmlns:a="http://schemas.openxmlformats.org/drawingml/2006/main">
            <a:r>
              <a:t/>
            </a:r>
          </a:p>
          <a:p xmlns:a="http://schemas.openxmlformats.org/drawingml/2006/main">
            <a:r>
              <a:t>النص المقترح:</a:t>
            </a:r>
          </a:p>
          <a:p xmlns:a="http://schemas.openxmlformats.org/drawingml/2006/main">
            <a:r>
              <a:t>ده audit للـbranch الأصلي عند default inputs، مش سيناريو بنوصي بتنفيذه. Existing Scenario Profit بقيمة 210.55 مليون دولار بيستبعد الأجور، بينما الـbaseline بقيمة 141.23 مليون بيشملها. لما نوحد الأجور مع default fuel price بقيمة 3.25، الناتج يبقى 157.14 مليون. ولسه فيه فرق عن الـbaseline لأن سعر الوقود الافتراضي أقل من السعر الفعلي المرجح 3.8987. عشان كده اختبار zero-delta ما ينفعش يعتمد على رجوع الـdefault بس. لازم نرجع للسعر الفعلي، ونطابق كل بنود التكلفة، وبعدين نتوقع إن الفرق يبقى صفر ضمن rounding tolerance.</a:t>
            </a:r>
          </a:p>
          <a:p xmlns:a="http://schemas.openxmlformats.org/drawingml/2006/main">
            <a:r>
              <a:t/>
            </a:r>
          </a:p>
          <a:p xmlns:a="http://schemas.openxmlformats.org/drawingml/2006/main">
            <a:r>
              <a:t>منطق التحليل والمعنى التجاري:</a:t>
            </a:r>
          </a:p>
          <a:p xmlns:a="http://schemas.openxmlformats.org/drawingml/2006/main">
            <a:r>
              <a:t>شرح اختياري للأسئلة، خارج الـ30 دقيقة. ده كشف لعدم قابلية المقارنة بين فرعين مختلفين في التكلفة، مش تحسن محقق أو تعديل مثبت في PBIX.</a:t>
            </a:r>
          </a:p>
          <a:p xmlns:a="http://schemas.openxmlformats.org/drawingml/2006/main">
            <a:r>
              <a:t/>
            </a:r>
          </a:p>
          <a:p xmlns:a="http://schemas.openxmlformats.org/drawingml/2006/main">
            <a:r>
              <a:t>الأرقام الأساسية:</a:t>
            </a:r>
          </a:p>
          <a:p xmlns:a="http://schemas.openxmlformats.org/drawingml/2006/main">
            <a:r>
              <a:t>Existing Scenario Profit: $210.55M؛ وbaseline: $141.23M؛ وبعد توحيد الأجور عند سعر 3.25: $157.14M. سعر الوقود الفعلي المرجح 3.8987.</a:t>
            </a:r>
          </a:p>
          <a:p xmlns:a="http://schemas.openxmlformats.org/drawingml/2006/main">
            <a:r>
              <a:t/>
            </a:r>
          </a:p>
          <a:p xmlns:a="http://schemas.openxmlformats.org/drawingml/2006/main">
            <a:r>
              <a:t>الانتقال:</a:t>
            </a:r>
          </a:p>
          <a:p xmlns:a="http://schemas.openxmlformats.org/drawingml/2006/main">
            <a:r>
              <a:t>نرجع لسؤال السيناريو، أو نراجع مثال المقارنة الموحدة في السلايد الأساسي.</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0:45 اختياري في Appendix، خارج الثلاثين دقيقة.</a:t>
            </a:r>
          </a:p>
          <a:p xmlns:a="http://schemas.openxmlformats.org/drawingml/2006/main">
            <a:r>
              <a:t/>
            </a:r>
          </a:p>
          <a:p xmlns:a="http://schemas.openxmlformats.org/drawingml/2006/main">
            <a:r>
              <a:t>النص المقترح:</a:t>
            </a:r>
          </a:p>
          <a:p xmlns:a="http://schemas.openxmlformats.org/drawingml/2006/main">
            <a:r>
              <a:t>اكتمال الـ85,410 حمولة ورحلة بيوصف dataset مقفول من عمليات مكتملة؛ مش إثبات كفاءة التشغيل. وإيراد Contract بقيمة 112.40 مليون دولار بيوصف حجم نشاط، مش ربحية. في المقابل، نسبة 66.72% timestamp-late نتيجة حسابية ليها تعريف واضح، مع بقاء معنى الموعد محتاج اعتماد. الفرصة العملية في matched yield، ومراجعة المواعيد، وتسوية الوقود. الصياغة دي بتمنعنا نختار أكبر رقم ونسميه نقطة قوة، من غير ما البيانات تثبت المعنى التجاري ده.</a:t>
            </a:r>
          </a:p>
          <a:p xmlns:a="http://schemas.openxmlformats.org/drawingml/2006/main">
            <a:r>
              <a:t/>
            </a:r>
          </a:p>
          <a:p xmlns:a="http://schemas.openxmlformats.org/drawingml/2006/main">
            <a:r>
              <a:t>منطق التحليل والمعنى التجاري:</a:t>
            </a:r>
          </a:p>
          <a:p xmlns:a="http://schemas.openxmlformats.org/drawingml/2006/main">
            <a:r>
              <a:t>شرح اختياري للأسئلة، خارج الـ30 دقيقة. نفرّق بين وصف حجم النشاط وتقييم الأداء أو الربحية، ونحافظ على حدود الدليل.</a:t>
            </a:r>
          </a:p>
          <a:p xmlns:a="http://schemas.openxmlformats.org/drawingml/2006/main">
            <a:r>
              <a:t/>
            </a:r>
          </a:p>
          <a:p xmlns:a="http://schemas.openxmlformats.org/drawingml/2006/main">
            <a:r>
              <a:t>الأرقام الأساسية:</a:t>
            </a:r>
          </a:p>
          <a:p xmlns:a="http://schemas.openxmlformats.org/drawingml/2006/main">
            <a:r>
              <a:t>85,410 حمولة ورحلة مكتملة؛ وContract revenue بقيمة $112.40M؛ ونسبة timestamp-late تساوي 66.72%.</a:t>
            </a:r>
          </a:p>
          <a:p xmlns:a="http://schemas.openxmlformats.org/drawingml/2006/main">
            <a:r>
              <a:t/>
            </a:r>
          </a:p>
          <a:p xmlns:a="http://schemas.openxmlformats.org/drawingml/2006/main">
            <a:r>
              <a:t>الانتقال:</a:t>
            </a:r>
          </a:p>
          <a:p xmlns:a="http://schemas.openxmlformats.org/drawingml/2006/main">
            <a:r>
              <a:t>نرجع للسؤال، أو نراجع الأولويات اللي طلعت من التفسير ده.</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1:00 اختياري في Appendix، خارج الثلاثين دقيقة.</a:t>
            </a:r>
          </a:p>
          <a:p xmlns:a="http://schemas.openxmlformats.org/drawingml/2006/main">
            <a:r>
              <a:t/>
            </a:r>
          </a:p>
          <a:p xmlns:a="http://schemas.openxmlformats.org/drawingml/2006/main">
            <a:r>
              <a:t>النص المقترح:</a:t>
            </a:r>
          </a:p>
          <a:p xmlns:a="http://schemas.openxmlformats.org/drawingml/2006/main">
            <a:r>
              <a:t>الجدول بيفصل الأفعال المقترحة، والمسؤولين، ومقاييس المتابعة. Weekly late-case review يبدأ بعد اعتماد الـmapping وتعريف الالتزام. أي pilot يغيّر الجدولة أو dispatch لازم يتقارن بـbaseline ومجموعة مشابهة، وبنفس تعريف OTD. ومعاه نتابع median وP90 للتأخير، والـdetention، بدل التركيز على نسبة واحدة بس. وفي السلامة، مراجعة الـ64 preventable cases تساعد نختار training أو controls حسب كل حالة. المتابعة تكون incident frequency بمقام تعرّض مناسب ومعاها severity. دي طريقة لاختبار التحسن، مش وعد بمنع كل الحوادث أو اعتبار كل التكلفة قابلة للتوفير.</a:t>
            </a:r>
          </a:p>
          <a:p xmlns:a="http://schemas.openxmlformats.org/drawingml/2006/main">
            <a:r>
              <a:t/>
            </a:r>
          </a:p>
          <a:p xmlns:a="http://schemas.openxmlformats.org/drawingml/2006/main">
            <a:r>
              <a:t>منطق التحليل والمعنى التجاري:</a:t>
            </a:r>
          </a:p>
          <a:p xmlns:a="http://schemas.openxmlformats.org/drawingml/2006/main">
            <a:r>
              <a:t>شرح اختياري للأسئلة، خارج الـ30 دقيقة. الإجراءات مقترحة، ولازم اختبار ومقارنة قبل نسبة أي تحسن للتدخل.</a:t>
            </a:r>
          </a:p>
          <a:p xmlns:a="http://schemas.openxmlformats.org/drawingml/2006/main">
            <a:r>
              <a:t/>
            </a:r>
          </a:p>
          <a:p xmlns:a="http://schemas.openxmlformats.org/drawingml/2006/main">
            <a:r>
              <a:t>الأرقام الأساسية:</a:t>
            </a:r>
          </a:p>
          <a:p xmlns:a="http://schemas.openxmlformats.org/drawingml/2006/main">
            <a:r>
              <a:t>64 preventable cases للمراجعة؛ والمتابعة تجمع OTD مع median/P90 للتأخير، وdetention، وincident frequency وseverity.</a:t>
            </a:r>
          </a:p>
          <a:p xmlns:a="http://schemas.openxmlformats.org/drawingml/2006/main">
            <a:r>
              <a:t/>
            </a:r>
          </a:p>
          <a:p xmlns:a="http://schemas.openxmlformats.org/drawingml/2006/main">
            <a:r>
              <a:t>الانتقال:</a:t>
            </a:r>
          </a:p>
          <a:p xmlns:a="http://schemas.openxmlformats.org/drawingml/2006/main">
            <a:r>
              <a:t>نرجع للسؤال، أو نحدد الـowner ومؤشر النجاح للإجراء اللي بنتناقش فيه.</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1:00 اختياري في Appendix، خارج الثلاثين دقيقة.</a:t>
            </a:r>
          </a:p>
          <a:p xmlns:a="http://schemas.openxmlformats.org/drawingml/2006/main">
            <a:r>
              <a:t/>
            </a:r>
          </a:p>
          <a:p xmlns:a="http://schemas.openxmlformats.org/drawingml/2006/main">
            <a:r>
              <a:t>النص المقترح:</a:t>
            </a:r>
          </a:p>
          <a:p xmlns:a="http://schemas.openxmlformats.org/drawingml/2006/main">
            <a:r>
              <a:t>Fuel reconciliation مسؤولية مشتركة بين Finance وFleet. نحتاج مخزون أول وآخر الفترة، والمشتريات، والتحويلات، واستخدام الرحلات وغير الرحلات. حل unknown IDs يكون مع أصحاب الداتا وفريق BI، ونقيس unmatched rate بالصفوف وبالقيمة، مش بالعدد بس. وفي الإيراد، Commercial وBI يقارنوا الـyield داخل matched lane and distance groups. وبعد أي تغيير، نراجع realized price والحجم وجودة الخدمة مع بعض، عشان ما نسميش زيادة السعر نجاح لو صاحبها فقد عملاء أو تراجع في الخدمة. كل ده مقترح للمتابعة، ومحتاج بيانات وتسوية قبل حساب أثر مالي فعلي.</a:t>
            </a:r>
          </a:p>
          <a:p xmlns:a="http://schemas.openxmlformats.org/drawingml/2006/main">
            <a:r>
              <a:t/>
            </a:r>
          </a:p>
          <a:p xmlns:a="http://schemas.openxmlformats.org/drawingml/2006/main">
            <a:r>
              <a:t>منطق التحليل والمعنى التجاري:</a:t>
            </a:r>
          </a:p>
          <a:p xmlns:a="http://schemas.openxmlformats.org/drawingml/2006/main">
            <a:r>
              <a:t>شرح اختياري للأسئلة، خارج الـ30 دقيقة. المقارنة المطابقة والتسوية شرط قبل ادعاء توفير أو تحسن في التسعير.</a:t>
            </a:r>
          </a:p>
          <a:p xmlns:a="http://schemas.openxmlformats.org/drawingml/2006/main">
            <a:r>
              <a:t/>
            </a:r>
          </a:p>
          <a:p xmlns:a="http://schemas.openxmlformats.org/drawingml/2006/main">
            <a:r>
              <a:t>الأرقام الأساسية:</a:t>
            </a:r>
          </a:p>
          <a:p xmlns:a="http://schemas.openxmlformats.org/drawingml/2006/main">
            <a:r>
              <a:t>المقامات المطلوبة: unmatched rate بالصفوف وبالقيمة، وfuel residual بعد التسويات، وmatched yield مع الحجم والخدمة.</a:t>
            </a:r>
          </a:p>
          <a:p xmlns:a="http://schemas.openxmlformats.org/drawingml/2006/main">
            <a:r>
              <a:t/>
            </a:r>
          </a:p>
          <a:p xmlns:a="http://schemas.openxmlformats.org/drawingml/2006/main">
            <a:r>
              <a:t>الانتقال:</a:t>
            </a:r>
          </a:p>
          <a:p xmlns:a="http://schemas.openxmlformats.org/drawingml/2006/main">
            <a:r>
              <a:t>نرجع للسؤال، أو نراجع متطلبات الداتا الناقصة لتنفيذ الإجراء.</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1:15 اختياري في Appendix، خارج الثلاثين دقيقة.</a:t>
            </a:r>
          </a:p>
          <a:p xmlns:a="http://schemas.openxmlformats.org/drawingml/2006/main">
            <a:r>
              <a:t/>
            </a:r>
          </a:p>
          <a:p xmlns:a="http://schemas.openxmlformats.org/drawingml/2006/main">
            <a:r>
              <a:t>النص المقترح:</a:t>
            </a:r>
          </a:p>
          <a:p xmlns:a="http://schemas.openxmlformats.org/drawingml/2006/main">
            <a:r>
              <a:t>دي الصيغ القصيرة للرجوع ليها أثناء المناقشة. SUMX بيحسب مكونات الإيراد لكل load وبعدين يجمعها، بدل ما نخلط grain الإيراد بجدول تاني. Net Profit في اسم الموديل بيطرح Total Cost، لكن المعنى اللي بنعرضه هو modeled contribution في نطاق البنود الموجودة. MPG هو مجموع الأميال مقسوم على burned gallons، وCost Per Mile هو التكلفة الممثلة مقسومة على الأميال. لازم الوحدات والمقامات تفضل واضحة. وكل measure بيتأثر بالـfilter context حسب مسارات الموديل؛ فقبل ربط أرقام Finance بعميل أو route، نراجع مسار الفلتر والتغطية، ونقارن برقم مستقل من الـfact. القيم المعروضة هنا إعادة حساب مستقلة من البيانات المحفوظة، مش live DAX run. لو السؤال عن صيغة محددة، نبدأ بتعريف البسط والمقام، وبعدها نشوف سياق الفلترة.</a:t>
            </a:r>
          </a:p>
          <a:p xmlns:a="http://schemas.openxmlformats.org/drawingml/2006/main">
            <a:r>
              <a:t/>
            </a:r>
          </a:p>
          <a:p xmlns:a="http://schemas.openxmlformats.org/drawingml/2006/main">
            <a:r>
              <a:t>منطق التحليل والمعنى التجاري:</a:t>
            </a:r>
          </a:p>
          <a:p xmlns:a="http://schemas.openxmlformats.org/drawingml/2006/main">
            <a:r>
              <a:t>شرح اختياري للأسئلة، خارج الـ30 دقيقة. الصيغة وحدها مش كفاية؛ المعنى بيتحدد كمان بالوحدة والـgrain ومسارات الفلترة.</a:t>
            </a:r>
          </a:p>
          <a:p xmlns:a="http://schemas.openxmlformats.org/drawingml/2006/main">
            <a:r>
              <a:t/>
            </a:r>
          </a:p>
          <a:p xmlns:a="http://schemas.openxmlformats.org/drawingml/2006/main">
            <a:r>
              <a:t>الأرقام الأساسية:</a:t>
            </a:r>
          </a:p>
          <a:p xmlns:a="http://schemas.openxmlformats.org/drawingml/2006/main">
            <a:r>
              <a:t>Revenue وcost بالقيمة المالية؛ وMPG بالأميال لكل جالون مستخدم؛ وCost Per Mile بالتكلفة الممثلة لكل ميل. راجع المقامات والصيغ المعروضة.</a:t>
            </a:r>
          </a:p>
          <a:p xmlns:a="http://schemas.openxmlformats.org/drawingml/2006/main">
            <a:r>
              <a:t/>
            </a:r>
          </a:p>
          <a:p xmlns:a="http://schemas.openxmlformats.org/drawingml/2006/main">
            <a:r>
              <a:t>الانتقال:</a:t>
            </a:r>
          </a:p>
          <a:p xmlns:a="http://schemas.openxmlformats.org/drawingml/2006/main">
            <a:r>
              <a:t>لو السؤال عن اختلاف السياق أو السيناريو، نكمل بالسلايد اللي بعده؛ أو نرجع للمناقشة.</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المدة المقترحة: 1:15 اختياري في Appendix، خارج الثلاثين دقيقة.</a:t>
            </a:r>
          </a:p>
          <a:p xmlns:a="http://schemas.openxmlformats.org/drawingml/2006/main">
            <a:r>
              <a:t/>
            </a:r>
          </a:p>
          <a:p xmlns:a="http://schemas.openxmlformats.org/drawingml/2006/main">
            <a:r>
              <a:t>النص المقترح:</a:t>
            </a:r>
          </a:p>
          <a:p xmlns:a="http://schemas.openxmlformats.org/drawingml/2006/main">
            <a:r>
              <a:t>صيغة OTD بتضيف فلتر Delivery في البسط والمقام، ومعاه real_on_time_flag في البسط. كده المقام يبقى كل التسليمات، مش كل الأحداث بما فيها Pickup. المتوسط الشهري والمرجح بالرحلات تعريفات تانية، حتى لو الأسماء متشابهة. وفي الـscenario، عرضنا المنطق الموجود، ومعاه اقتراح إضافة wages عشان المقارنة تبقى على نفس cost scope. الاقتراح ما اتنفذش في PBIX في التاسك ده. لتأكيد filter context بعد الإصلاح، نختبر سنوات وعملاء معروفين، ونراجع fact counts والنتائج مع حساب مستقل. وبنفس baseline inputs لازم الـdelta يساوي صفر ضمن rounding tolerance. لو ظهر فرق، نراجع السعر الفعلي المرجح، ونطاق الأجور، وباقي بنود التكلفة قبل تفسيره كمكسب من السيناريو. الهدف إن أي تغيّر نشوفه يبقى راجع للمدخل اللي اخترناه، مش لاختلاف خفي في التعريف.</a:t>
            </a:r>
          </a:p>
          <a:p xmlns:a="http://schemas.openxmlformats.org/drawingml/2006/main">
            <a:r>
              <a:t/>
            </a:r>
          </a:p>
          <a:p xmlns:a="http://schemas.openxmlformats.org/drawingml/2006/main">
            <a:r>
              <a:t>منطق التحليل والمعنى التجاري:</a:t>
            </a:r>
          </a:p>
          <a:p xmlns:a="http://schemas.openxmlformats.org/drawingml/2006/main">
            <a:r>
              <a:t>شرح اختياري للأسئلة، خارج الـ30 دقيقة. بنفصل منطق المقياس الحالي عن الإصلاح المقترح، ونثبت أساس المقارنة قبل تفسير نتيجة السيناريو.</a:t>
            </a:r>
          </a:p>
          <a:p xmlns:a="http://schemas.openxmlformats.org/drawingml/2006/main">
            <a:r>
              <a:t/>
            </a:r>
          </a:p>
          <a:p xmlns:a="http://schemas.openxmlformats.org/drawingml/2006/main">
            <a:r>
              <a:t>الأرقام الأساسية:</a:t>
            </a:r>
          </a:p>
          <a:p xmlns:a="http://schemas.openxmlformats.org/drawingml/2006/main">
            <a:r>
              <a:t>اختبار المقارنة: مدخلات baseline مطابقة ونفس cost scope، وبالتالي delta يساوي 0 ضمن rounding tolerance.</a:t>
            </a:r>
          </a:p>
          <a:p xmlns:a="http://schemas.openxmlformats.org/drawingml/2006/main">
            <a:r>
              <a:t/>
            </a:r>
          </a:p>
          <a:p xmlns:a="http://schemas.openxmlformats.org/drawingml/2006/main">
            <a:r>
              <a:t>الانتقال:</a:t>
            </a:r>
          </a:p>
          <a:p xmlns:a="http://schemas.openxmlformats.org/drawingml/2006/main">
            <a:r>
              <a:t>نرجع لسؤال اللجنة أو للسلايد الأساسي اللي بنناقشه.</a:t>
            </a:r>
          </a:p>
          <a:p xmlns:a="http://schemas.openxmlformats.org/drawingml/2006/main">
            <a:r>
              <a:t/>
            </a:r>
          </a:p>
          <a:p xmlns:a="http://schemas.openxmlformats.org/drawingml/2006/main">
            <a:r>
              <a:t>Evidence: supplied LOGISTICS VISION-.pbix.zip, embedded tables, Power Query M, DAX and report definitions. New segmentation, mix decomposition, truck-month and sensitivity calculations are independent reconstructions. Original CSV refresh and live visual filter evaluation were not available. Suggested fixes and pilots have not been implemented by this presentation task. Team credits from the supplied reference presentation. The 90% OTD is a saved model target, not an independently approved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24ec1f7f094b5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83afb7033b43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0b6cb656e4469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144913e0b742e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cc37c0c1fd48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b5ca620b1f41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A426A3-F482-4D17-AF6C-E8EBD2C9BF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003A8B-529E-4DBC-B187-2DA3ACD718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986F62E-9CD1-4315-8BB1-0A28732F52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4DF21D-1678-41C5-B2DB-6D03FA477D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4BEFB8-CEF7-4E99-8827-47D4324FDE5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215367-CCA9-47F5-8AEE-A6C0E3D041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E45FDB-CA9D-46FE-BDBA-D7F7452ECE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0432503-D8C0-4D64-947F-A4044D4ABBF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59B16E-C3B1-4F44-BDC4-28EB00039C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3C7572-C5CB-4519-977B-0192D3309F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eef19af01849c3" /><Relationship Type="http://schemas.openxmlformats.org/officeDocument/2006/relationships/slideLayout" Target="/ppt/slideLayouts/slideLayout1.xml" Id="R86a279b42c5c43ba" /><Relationship Type="http://schemas.openxmlformats.org/officeDocument/2006/relationships/slideLayout" Target="/ppt/slideLayouts/slideLayout2.xml" Id="R7eb62bbf347e4c23" /><Relationship Type="http://schemas.openxmlformats.org/officeDocument/2006/relationships/slideLayout" Target="/ppt/slideLayouts/slideLayout3.xml" Id="R1809519f19f248e2" /><Relationship Type="http://schemas.openxmlformats.org/officeDocument/2006/relationships/slideLayout" Target="/ppt/slideLayouts/slideLayout4.xml" Id="R02e7fe30712d4bd6" /><Relationship Type="http://schemas.openxmlformats.org/officeDocument/2006/relationships/slideLayout" Target="/ppt/slideLayouts/slideLayout5.xml" Id="R9c7ba41f363e473d" /><Relationship Type="http://schemas.openxmlformats.org/officeDocument/2006/relationships/slideLayout" Target="/ppt/slideLayouts/slideLayout6.xml" Id="Rea70630dc2ca4a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a279b42c5c43ba"/>
    <p:sldLayoutId xmlns:r="http://schemas.openxmlformats.org/officeDocument/2006/relationships" id="2147483650" r:id="R7eb62bbf347e4c23"/>
    <p:sldLayoutId xmlns:r="http://schemas.openxmlformats.org/officeDocument/2006/relationships" id="2147483651" r:id="R1809519f19f248e2"/>
    <p:sldLayoutId xmlns:r="http://schemas.openxmlformats.org/officeDocument/2006/relationships" id="2147483652" r:id="R02e7fe30712d4bd6"/>
    <p:sldLayoutId xmlns:r="http://schemas.openxmlformats.org/officeDocument/2006/relationships" id="2147483653" r:id="R9c7ba41f363e473d"/>
    <p:sldLayoutId xmlns:r="http://schemas.openxmlformats.org/officeDocument/2006/relationships" id="2147483654" r:id="Rea70630dc2ca4a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68dcb4032e400f" /><Relationship Type="http://schemas.openxmlformats.org/officeDocument/2006/relationships/image" Target="/ppt/media/image.png" Id="R5284cc47354a4d28" /><Relationship Type="http://schemas.openxmlformats.org/officeDocument/2006/relationships/image" Target="/ppt/media/image2.png" Id="R67b860f422ca4569" /><Relationship Type="http://schemas.openxmlformats.org/officeDocument/2006/relationships/notesSlide" Target="/ppt/notesSlides/notesSlide1.xml" Id="Rb5d6c42868184f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cf2abadd632453b" /><Relationship Type="http://schemas.openxmlformats.org/officeDocument/2006/relationships/notesSlide" Target="/ppt/notesSlides/notesSlide2.xml" Id="R033fbd11ff7f4f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bb3d2fe1e242d1" /><Relationship Type="http://schemas.openxmlformats.org/officeDocument/2006/relationships/image" Target="/ppt/media/image3.png" Id="Rf427f4e474194990" /><Relationship Type="http://schemas.openxmlformats.org/officeDocument/2006/relationships/notesSlide" Target="/ppt/notesSlides/notesSlide3.xml" Id="R65544ffdc2f54b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fe564afa20e48ad" /><Relationship Type="http://schemas.openxmlformats.org/officeDocument/2006/relationships/notesSlide" Target="/ppt/notesSlides/notesSlide4.xml" Id="R474e815602af45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df9b27841f4157" /><Relationship Type="http://schemas.openxmlformats.org/officeDocument/2006/relationships/notesSlide" Target="/ppt/notesSlides/notesSlide5.xml" Id="Rb7011e6bcbf64e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600dad140c475e" /><Relationship Type="http://schemas.openxmlformats.org/officeDocument/2006/relationships/notesSlide" Target="/ppt/notesSlides/notesSlide6.xml" Id="R9f2f3f5fc1b849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8e2d31b1dab4a2b" /><Relationship Type="http://schemas.openxmlformats.org/officeDocument/2006/relationships/notesSlide" Target="/ppt/notesSlides/notesSlide7.xml" Id="Re9268aeff12c43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11d96b67c5449f2" /><Relationship Type="http://schemas.openxmlformats.org/officeDocument/2006/relationships/notesSlide" Target="/ppt/notesSlides/notesSlide8.xml" Id="R34bfbc35bb8147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0c9ca51aa9249fb" /><Relationship Type="http://schemas.openxmlformats.org/officeDocument/2006/relationships/notesSlide" Target="/ppt/notesSlides/notesSlide9.xml" Id="R301ec9c3f01143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58ae8d3cd9f48fa" /><Relationship Type="http://schemas.openxmlformats.org/officeDocument/2006/relationships/notesSlide" Target="/ppt/notesSlides/notesSlide10.xml" Id="R9411739ccc3943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e6886eac8934f8f" /><Relationship Type="http://schemas.openxmlformats.org/officeDocument/2006/relationships/chart" Target="/ppt/slides/charts/chart1.xml" Id="Ra066342584da47d6" /><Relationship Type="http://schemas.openxmlformats.org/officeDocument/2006/relationships/notesSlide" Target="/ppt/notesSlides/notesSlide11.xml" Id="R44e08997a4fa4a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0fc97d7e8e74512" /><Relationship Type="http://schemas.openxmlformats.org/officeDocument/2006/relationships/chart" Target="/ppt/slides/charts/chart2.xml" Id="R13c4e89b519f450b" /><Relationship Type="http://schemas.openxmlformats.org/officeDocument/2006/relationships/notesSlide" Target="/ppt/notesSlides/notesSlide12.xml" Id="R3fa869567489489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941c9c46d8949a4" /><Relationship Type="http://schemas.openxmlformats.org/officeDocument/2006/relationships/chart" Target="/ppt/slides/charts/chart3.xml" Id="R404b4605837c4429" /><Relationship Type="http://schemas.openxmlformats.org/officeDocument/2006/relationships/notesSlide" Target="/ppt/notesSlides/notesSlide13.xml" Id="R4a2045ad4dff48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f90d827f6474b66" /><Relationship Type="http://schemas.openxmlformats.org/officeDocument/2006/relationships/chart" Target="/ppt/slides/charts/chart4.xml" Id="Ra78df22d9d254717" /><Relationship Type="http://schemas.openxmlformats.org/officeDocument/2006/relationships/notesSlide" Target="/ppt/notesSlides/notesSlide14.xml" Id="R8933822de20142f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dc91e3a23d0479b" /><Relationship Type="http://schemas.openxmlformats.org/officeDocument/2006/relationships/chart" Target="/ppt/slides/charts/chart5.xml" Id="R6a3afb433785459d" /><Relationship Type="http://schemas.openxmlformats.org/officeDocument/2006/relationships/notesSlide" Target="/ppt/notesSlides/notesSlide15.xml" Id="R440f10985760486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c55d94a04c04b9f" /><Relationship Type="http://schemas.openxmlformats.org/officeDocument/2006/relationships/notesSlide" Target="/ppt/notesSlides/notesSlide16.xml" Id="Re04c9c9e9c9940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58ee88088944b4c" /><Relationship Type="http://schemas.openxmlformats.org/officeDocument/2006/relationships/chart" Target="/ppt/slides/charts/chart6.xml" Id="Rbada84008d054d3d" /><Relationship Type="http://schemas.openxmlformats.org/officeDocument/2006/relationships/notesSlide" Target="/ppt/notesSlides/notesSlide17.xml" Id="R7a323b5fe7414fb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a1c07930ec34814" /><Relationship Type="http://schemas.openxmlformats.org/officeDocument/2006/relationships/chart" Target="/ppt/slides/charts/chart7.xml" Id="Rfb89be4679f3489c" /><Relationship Type="http://schemas.openxmlformats.org/officeDocument/2006/relationships/notesSlide" Target="/ppt/notesSlides/notesSlide18.xml" Id="R1a560047345f4b2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27afe8d948f4ef7" /><Relationship Type="http://schemas.openxmlformats.org/officeDocument/2006/relationships/chart" Target="/ppt/slides/charts/chart8.xml" Id="R32c3257cb2ee496d" /><Relationship Type="http://schemas.openxmlformats.org/officeDocument/2006/relationships/notesSlide" Target="/ppt/notesSlides/notesSlide19.xml" Id="Ra7fdbdb107244d6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8d33e83d58340f5" /><Relationship Type="http://schemas.openxmlformats.org/officeDocument/2006/relationships/chart" Target="/ppt/slides/charts/chart9.xml" Id="Rb5490853e12e41fd" /><Relationship Type="http://schemas.openxmlformats.org/officeDocument/2006/relationships/notesSlide" Target="/ppt/notesSlides/notesSlide20.xml" Id="R910a0b1b0e5945d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b83a364cba24a41" /><Relationship Type="http://schemas.openxmlformats.org/officeDocument/2006/relationships/chart" Target="/ppt/slides/charts/chart10.xml" Id="Ra0cc6183b06d4d20" /><Relationship Type="http://schemas.openxmlformats.org/officeDocument/2006/relationships/notesSlide" Target="/ppt/notesSlides/notesSlide21.xml" Id="R7e1fa7c3d40745c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d10bf30a99d4261" /><Relationship Type="http://schemas.openxmlformats.org/officeDocument/2006/relationships/notesSlide" Target="/ppt/notesSlides/notesSlide22.xml" Id="Rac8b8ce6789e4e4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c7b37f544b74dce" /><Relationship Type="http://schemas.openxmlformats.org/officeDocument/2006/relationships/image" Target="/ppt/media/image4.png" Id="R644a57f77e6344b4" /><Relationship Type="http://schemas.openxmlformats.org/officeDocument/2006/relationships/notesSlide" Target="/ppt/notesSlides/notesSlide23.xml" Id="R51f0ba1b5b3142e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4fb4c9209d84440" /><Relationship Type="http://schemas.openxmlformats.org/officeDocument/2006/relationships/notesSlide" Target="/ppt/notesSlides/notesSlide24.xml" Id="R9da2daca2b03417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2f5b3fb301049e0" /><Relationship Type="http://schemas.openxmlformats.org/officeDocument/2006/relationships/notesSlide" Target="/ppt/notesSlides/notesSlide25.xml" Id="R28628d07a76b441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97d138572a14b65" /><Relationship Type="http://schemas.openxmlformats.org/officeDocument/2006/relationships/notesSlide" Target="/ppt/notesSlides/notesSlide26.xml" Id="R6c79cab50a7a4dc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1d3be02a49546a6" /><Relationship Type="http://schemas.openxmlformats.org/officeDocument/2006/relationships/image" Target="/ppt/media/image5.png" Id="R9c7ccb852f864b1e" /><Relationship Type="http://schemas.openxmlformats.org/officeDocument/2006/relationships/notesSlide" Target="/ppt/notesSlides/notesSlide27.xml" Id="R01bb4ac9d2fa445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1ab8ee9cfe0454c" /><Relationship Type="http://schemas.openxmlformats.org/officeDocument/2006/relationships/image" Target="/ppt/media/image6.png" Id="Raa49ed1f44134154" /><Relationship Type="http://schemas.openxmlformats.org/officeDocument/2006/relationships/notesSlide" Target="/ppt/notesSlides/notesSlide28.xml" Id="R24532f5f0d31461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90b97a845b449ab" /><Relationship Type="http://schemas.openxmlformats.org/officeDocument/2006/relationships/image" Target="/ppt/media/image7.png" Id="R6ba87432c3364933" /><Relationship Type="http://schemas.openxmlformats.org/officeDocument/2006/relationships/notesSlide" Target="/ppt/notesSlides/notesSlide29.xml" Id="R523d810ca60e4f0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b42c059e0a04ffb" /><Relationship Type="http://schemas.openxmlformats.org/officeDocument/2006/relationships/notesSlide" Target="/ppt/notesSlides/notesSlide30.xml" Id="Rca1bc5ec5d7947c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e4bf551920e490d" /><Relationship Type="http://schemas.openxmlformats.org/officeDocument/2006/relationships/notesSlide" Target="/ppt/notesSlides/notesSlide31.xml" Id="Ra2887c7159ba49a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0a42511dd03452a" /><Relationship Type="http://schemas.openxmlformats.org/officeDocument/2006/relationships/notesSlide" Target="/ppt/notesSlides/notesSlide32.xml" Id="Rc61ae111dc71452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391a0c85e5d4d83" /><Relationship Type="http://schemas.openxmlformats.org/officeDocument/2006/relationships/notesSlide" Target="/ppt/notesSlides/notesSlide33.xml" Id="R811d9e194dc8444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76ef9e26acf452d" /><Relationship Type="http://schemas.openxmlformats.org/officeDocument/2006/relationships/notesSlide" Target="/ppt/notesSlides/notesSlide34.xml" Id="R8e206a12973f44d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c742297ea5e42c3" /><Relationship Type="http://schemas.openxmlformats.org/officeDocument/2006/relationships/notesSlide" Target="/ppt/notesSlides/notesSlide35.xml" Id="R4189e0eed14b493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0b8a39c8d004275" /><Relationship Type="http://schemas.openxmlformats.org/officeDocument/2006/relationships/chart" Target="/ppt/slides/charts/chart11.xml" Id="R229a59f76743434e" /><Relationship Type="http://schemas.openxmlformats.org/officeDocument/2006/relationships/notesSlide" Target="/ppt/notesSlides/notesSlide36.xml" Id="Rd8fa9d2fbe49443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7b44610e6f645dc" /><Relationship Type="http://schemas.openxmlformats.org/officeDocument/2006/relationships/notesSlide" Target="/ppt/notesSlides/notesSlide37.xml" Id="R989d983ce006468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c08bcc67e674049" /><Relationship Type="http://schemas.openxmlformats.org/officeDocument/2006/relationships/notesSlide" Target="/ppt/notesSlides/notesSlide38.xml" Id="R6b256079ef994ee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3c569c98e2874ba9" /><Relationship Type="http://schemas.openxmlformats.org/officeDocument/2006/relationships/notesSlide" Target="/ppt/notesSlides/notesSlide39.xml" Id="R753586602f5c461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6ee4474be214363" /><Relationship Type="http://schemas.openxmlformats.org/officeDocument/2006/relationships/notesSlide" Target="/ppt/notesSlides/notesSlide40.xml" Id="Rb5533f89ad3541f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a71679af02c4fb7" /><Relationship Type="http://schemas.openxmlformats.org/officeDocument/2006/relationships/notesSlide" Target="/ppt/notesSlides/notesSlide41.xml" Id="R857e7a982af24241" /></Relationships>
</file>

<file path=ppt/slides/charts/chart1.xml><?xml version="1.0" encoding="utf-8"?>
<c:chartSpace xmlns:c="http://schemas.openxmlformats.org/drawingml/2006/chart">
  <c:lang val="en-US"/>
  <c:chart>
    <c:plotArea>
      <c:barChart>
        <c:barDir val="col"/>
        <c:grouping val="clustered"/>
        <c:varyColors val="0"/>
        <c:ser>
          <c:idx val="0"/>
          <c:order val="0"/>
          <c:tx>
            <c:strRef>
              <c:f>'Data'!$B$1</c:f>
              <c:strCache>
                <c:ptCount val="1"/>
                <c:pt idx="0">
                  <c:v>Revenue, $M</c:v>
                </c:pt>
              </c:strCache>
            </c:strRef>
          </c:tx>
          <c:spPr>
            <a:solidFill xmlns:a="http://schemas.openxmlformats.org/drawingml/2006/main">
              <a:srgbClr val="3DDCF5"/>
            </a:solidFill>
          </c:spPr>
          <c:invertIfNegative val="0"/>
          <c:cat>
            <c:numRef>
              <c:f>'Data'!$A$2:$A$4</c:f>
              <c:numCache>
                <c:formatCode>General</c:formatCode>
                <c:ptCount val="3"/>
                <c:pt idx="0">
                  <c:v>2022</c:v>
                </c:pt>
                <c:pt idx="1">
                  <c:v>2023</c:v>
                </c:pt>
                <c:pt idx="2">
                  <c:v>2024</c:v>
                </c:pt>
              </c:numCache>
            </c:numRef>
          </c:cat>
          <c:val>
            <c:numRef>
              <c:f>'Data'!$B$2:$B$4</c:f>
              <c:numCache>
                <c:formatCode>0.00</c:formatCode>
                <c:ptCount val="3"/>
                <c:pt idx="0">
                  <c:v>99.92231892</c:v>
                </c:pt>
                <c:pt idx="1">
                  <c:v>98.9082378</c:v>
                </c:pt>
                <c:pt idx="2">
                  <c:v>99.79087222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b="1">
                  <a:solidFill>
                    <a:srgbClr val="F2F6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24354A"/>
            </a:solidFill>
          </a:ln>
        </c:spPr>
        <c:txPr>
          <a:bodyPr xmlns:a="http://schemas.openxmlformats.org/drawingml/2006/main" anchorCtr="1"/>
          <a:lstStyle xmlns:a="http://schemas.openxmlformats.org/drawingml/2006/main"/>
          <a:p xmlns:a="http://schemas.openxmlformats.org/drawingml/2006/main">
            <a:pPr>
              <a:defRPr sz="1575">
                <a:solidFill>
                  <a:srgbClr val="A8BDD4"/>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6668">
              <a:solidFill>
                <a:srgbClr val="24354A"/>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strRef>
              <c:f>'Data'!$B$1</c:f>
              <c:strCache>
                <c:ptCount val="1"/>
                <c:pt idx="0">
                  <c:v>2023–2024 revenue bridge, $M</c:v>
                </c:pt>
              </c:strCache>
            </c:strRef>
          </c:tx>
          <c:spPr>
            <a:solidFill xmlns:a="http://schemas.openxmlformats.org/drawingml/2006/main">
              <a:srgbClr val="3DDCF5"/>
            </a:solidFill>
          </c:spPr>
          <c:invertIfNegative val="0"/>
          <c:cat>
            <c:strRef>
              <c:f>'Data'!$A$2:$A$5</c:f>
              <c:strCache>
                <c:ptCount val="4"/>
                <c:pt idx="0">
                  <c:v>Volume</c:v>
                </c:pt>
                <c:pt idx="1">
                  <c:v>Mix</c:v>
                </c:pt>
                <c:pt idx="2">
                  <c:v>Within-group yield</c:v>
                </c:pt>
                <c:pt idx="3">
                  <c:v>Net change</c:v>
                </c:pt>
              </c:strCache>
            </c:strRef>
          </c:cat>
          <c:val>
            <c:numRef>
              <c:f>'Data'!$B$2:$B$5</c:f>
              <c:numCache>
                <c:formatCode>+0.00;-0.00;0.00</c:formatCode>
                <c:ptCount val="4"/>
                <c:pt idx="0">
                  <c:v>1.71705537237436</c:v>
                </c:pt>
                <c:pt idx="1">
                  <c:v>-0.8975214468396872</c:v>
                </c:pt>
                <c:pt idx="2">
                  <c:v>0.06310049446532713</c:v>
                </c:pt>
                <c:pt idx="3">
                  <c:v>0.8826344199999869</c:v>
                </c:pt>
              </c:numCache>
            </c:numRef>
          </c:val>
        </c:ser>
        <c:dLbls>
          <c:numFmt formatCode="+0.00;-0.00;0.00" sourceLinked="0"/>
          <c:txPr>
            <a:bodyPr xmlns:a="http://schemas.openxmlformats.org/drawingml/2006/main" anchorCtr="1"/>
            <a:lstStyle xmlns:a="http://schemas.openxmlformats.org/drawingml/2006/main"/>
            <a:p xmlns:a="http://schemas.openxmlformats.org/drawingml/2006/main">
              <a:pPr>
                <a:defRPr sz="2025" b="1">
                  <a:solidFill>
                    <a:srgbClr val="F2F6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24354A"/>
            </a:solid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72768"/>
      </c:catAx>
      <c:valAx>
        <c:axId val="48672768"/>
        <c:scaling>
          <c:orientation val="minMax"/>
          <c:max val="2"/>
          <c:min val="-1.2"/>
        </c:scaling>
        <c:delete val="0"/>
        <c:axPos val="l"/>
        <c:majorGridlines>
          <c:spPr>
            <a:ln xmlns:a="http://schemas.openxmlformats.org/drawingml/2006/main" w="6668">
              <a:solidFill>
                <a:srgbClr val="24354A"/>
              </a:solidFill>
            </a:ln>
          </c:spPr>
        </c:majorGridlines>
        <c:numFmt formatCode="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50112"/>
        <c:crossBetween val="between"/>
        <c:majorUnit val="0.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strRef>
              <c:f>'Data'!$B$1</c:f>
              <c:strCache>
                <c:ptCount val="1"/>
                <c:pt idx="0">
                  <c:v>Percent of deliveries</c:v>
                </c:pt>
              </c:strCache>
            </c:strRef>
          </c:tx>
          <c:spPr>
            <a:solidFill xmlns:a="http://schemas.openxmlformats.org/drawingml/2006/main">
              <a:srgbClr val="3DDCF5"/>
            </a:solidFill>
          </c:spPr>
          <c:invertIfNegative val="0"/>
          <c:cat>
            <c:strRef>
              <c:f>'Data'!$A$2:$A$3</c:f>
              <c:strCache>
                <c:ptCount val="2"/>
                <c:pt idx="0">
                  <c:v>Actual OTD</c:v>
                </c:pt>
                <c:pt idx="1">
                  <c:v>Model target</c:v>
                </c:pt>
              </c:strCache>
            </c:strRef>
          </c:cat>
          <c:val>
            <c:numRef>
              <c:f>'Data'!$B$2:$B$3</c:f>
              <c:numCache>
                <c:formatCode>0.0</c:formatCode>
                <c:ptCount val="2"/>
                <c:pt idx="0">
                  <c:v>33.2771338251</c:v>
                </c:pt>
                <c:pt idx="1">
                  <c:v>90</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F2F6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24354A"/>
            </a:solidFill>
          </a:ln>
        </c:spPr>
        <c:txPr>
          <a:bodyPr xmlns:a="http://schemas.openxmlformats.org/drawingml/2006/main" anchorCtr="1"/>
          <a:lstStyle xmlns:a="http://schemas.openxmlformats.org/drawingml/2006/main"/>
          <a:p xmlns:a="http://schemas.openxmlformats.org/drawingml/2006/main">
            <a:pPr>
              <a:defRPr sz="1575">
                <a:solidFill>
                  <a:srgbClr val="A8BDD4"/>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6668">
              <a:solidFill>
                <a:srgbClr val="24354A"/>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strRef>
              <c:f>'Data'!$B$1</c:f>
              <c:strCache>
                <c:ptCount val="1"/>
                <c:pt idx="0">
                  <c:v>Share in the same top five late-count routes</c:v>
                </c:pt>
              </c:strCache>
            </c:strRef>
          </c:tx>
          <c:spPr>
            <a:solidFill xmlns:a="http://schemas.openxmlformats.org/drawingml/2006/main">
              <a:srgbClr val="3DDCF5"/>
            </a:solidFill>
          </c:spPr>
          <c:invertIfNegative val="0"/>
          <c:cat>
            <c:strRef>
              <c:f>'Data'!$A$2:$A$3</c:f>
              <c:strCache>
                <c:ptCount val="2"/>
                <c:pt idx="0">
                  <c:v>Late deliveries</c:v>
                </c:pt>
                <c:pt idx="1">
                  <c:v>All deliveries</c:v>
                </c:pt>
              </c:strCache>
            </c:strRef>
          </c:cat>
          <c:val>
            <c:numRef>
              <c:f>'Data'!$B$2:$B$3</c:f>
              <c:numCache>
                <c:formatCode>0.00%</c:formatCode>
                <c:ptCount val="2"/>
                <c:pt idx="0">
                  <c:v>0.09203692005334457</c:v>
                </c:pt>
                <c:pt idx="1">
                  <c:v>0.08989579674511182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b="1">
                  <a:solidFill>
                    <a:srgbClr val="F2F6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24354A"/>
            </a:solid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72768"/>
      </c:catAx>
      <c:valAx>
        <c:axId val="48672768"/>
        <c:scaling>
          <c:orientation val="minMax"/>
          <c:max val="0.12"/>
          <c:min val="0"/>
        </c:scaling>
        <c:delete val="0"/>
        <c:axPos val="b"/>
        <c:majorGridlines>
          <c:spPr>
            <a:ln xmlns:a="http://schemas.openxmlformats.org/drawingml/2006/main" w="6668">
              <a:solidFill>
                <a:srgbClr val="24354A"/>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50112"/>
        <c:crossBetween val="between"/>
        <c:majorUnit val="0.0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strRef>
              <c:f>'Data'!$B$1</c:f>
              <c:strCache>
                <c:ptCount val="1"/>
                <c:pt idx="0">
                  <c:v>Fuel, million gallons</c:v>
                </c:pt>
              </c:strCache>
            </c:strRef>
          </c:tx>
          <c:spPr>
            <a:solidFill xmlns:a="http://schemas.openxmlformats.org/drawingml/2006/main">
              <a:srgbClr val="3DDCF5"/>
            </a:solidFill>
          </c:spPr>
          <c:invertIfNegative val="0"/>
          <c:cat>
            <c:strRef>
              <c:f>'Data'!$A$2:$A$3</c:f>
              <c:strCache>
                <c:ptCount val="2"/>
                <c:pt idx="0">
                  <c:v>Purchased</c:v>
                </c:pt>
                <c:pt idx="1">
                  <c:v>Burned</c:v>
                </c:pt>
              </c:strCache>
            </c:strRef>
          </c:cat>
          <c:val>
            <c:numRef>
              <c:f>'Data'!$B$2:$B$3</c:f>
              <c:numCache>
                <c:formatCode>0.00</c:formatCode>
                <c:ptCount val="2"/>
                <c:pt idx="0">
                  <c:v>24.5190378</c:v>
                </c:pt>
                <c:pt idx="1">
                  <c:v>18.9462801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b="1">
                  <a:solidFill>
                    <a:srgbClr val="F2F6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24354A"/>
            </a:solidFill>
          </a:ln>
        </c:spPr>
        <c:txPr>
          <a:bodyPr xmlns:a="http://schemas.openxmlformats.org/drawingml/2006/main" anchorCtr="1"/>
          <a:lstStyle xmlns:a="http://schemas.openxmlformats.org/drawingml/2006/main"/>
          <a:p xmlns:a="http://schemas.openxmlformats.org/drawingml/2006/main">
            <a:pPr>
              <a:defRPr sz="1575">
                <a:solidFill>
                  <a:srgbClr val="A8BDD4"/>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6668">
              <a:solidFill>
                <a:srgbClr val="24354A"/>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6.xml><?xml version="1.0" encoding="utf-8"?>
<c:chartSpace xmlns:c="http://schemas.openxmlformats.org/drawingml/2006/chart">
  <c:lang val="en-US"/>
  <c:chart>
    <c:plotArea>
      <c:barChart>
        <c:barDir val="bar"/>
        <c:grouping val="clustered"/>
        <c:varyColors val="0"/>
        <c:ser>
          <c:idx val="0"/>
          <c:order val="0"/>
          <c:tx>
            <c:strRef>
              <c:f>'Data'!$B$1</c:f>
              <c:strCache>
                <c:ptCount val="1"/>
                <c:pt idx="0">
                  <c:v>Source utilization-index records</c:v>
                </c:pt>
              </c:strCache>
            </c:strRef>
          </c:tx>
          <c:spPr>
            <a:solidFill xmlns:a="http://schemas.openxmlformats.org/drawingml/2006/main">
              <a:srgbClr val="3DDCF5"/>
            </a:solidFill>
          </c:spPr>
          <c:invertIfNegative val="0"/>
          <c:cat>
            <c:strRef>
              <c:f>'Data'!$A$2:$A$3</c:f>
              <c:strCache>
                <c:ptCount val="2"/>
                <c:pt idx="0">
                  <c:v>At or below 100%</c:v>
                </c:pt>
                <c:pt idx="1">
                  <c:v>Above 100%</c:v>
                </c:pt>
              </c:strCache>
            </c:strRef>
          </c:cat>
          <c:val>
            <c:numRef>
              <c:f>'Data'!$B$2:$B$3</c:f>
              <c:numCache>
                <c:formatCode>#,##0</c:formatCode>
                <c:ptCount val="2"/>
                <c:pt idx="0">
                  <c:v>2876</c:v>
                </c:pt>
                <c:pt idx="1">
                  <c:v>436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025" b="1">
                  <a:solidFill>
                    <a:srgbClr val="F2F6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24354A"/>
            </a:solid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72768"/>
      </c:catAx>
      <c:valAx>
        <c:axId val="48672768"/>
        <c:scaling>
          <c:orientation val="minMax"/>
          <c:max val="3500"/>
          <c:min val="0"/>
        </c:scaling>
        <c:delete val="0"/>
        <c:axPos val="b"/>
        <c:majorGridlines>
          <c:spPr>
            <a:ln xmlns:a="http://schemas.openxmlformats.org/drawingml/2006/main" w="6668">
              <a:solidFill>
                <a:srgbClr val="24354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50112"/>
        <c:crossBetween val="between"/>
        <c:majorUnit val="100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7.xml><?xml version="1.0" encoding="utf-8"?>
<c:chartSpace xmlns:c="http://schemas.openxmlformats.org/drawingml/2006/chart">
  <c:lang val="en-US"/>
  <c:chart>
    <c:plotArea>
      <c:barChart>
        <c:barDir val="bar"/>
        <c:grouping val="clustered"/>
        <c:varyColors val="0"/>
        <c:ser>
          <c:idx val="0"/>
          <c:order val="0"/>
          <c:tx>
            <c:strRef>
              <c:f>'Data'!$B$1</c:f>
              <c:strCache>
                <c:ptCount val="1"/>
                <c:pt idx="0">
                  <c:v>Recorded incidents</c:v>
                </c:pt>
              </c:strCache>
            </c:strRef>
          </c:tx>
          <c:spPr>
            <a:solidFill xmlns:a="http://schemas.openxmlformats.org/drawingml/2006/main">
              <a:srgbClr val="3DDCF5"/>
            </a:solidFill>
          </c:spPr>
          <c:invertIfNegative val="0"/>
          <c:cat>
            <c:strRef>
              <c:f>'Data'!$A$2:$A$6</c:f>
              <c:strCache>
                <c:ptCount val="5"/>
                <c:pt idx="0">
                  <c:v>DOT Violation</c:v>
                </c:pt>
                <c:pt idx="1">
                  <c:v>Accident</c:v>
                </c:pt>
                <c:pt idx="2">
                  <c:v>Equipment Damage</c:v>
                </c:pt>
                <c:pt idx="3">
                  <c:v>Customer Complaint</c:v>
                </c:pt>
                <c:pt idx="4">
                  <c:v>Moving Violation</c:v>
                </c:pt>
              </c:strCache>
            </c:strRef>
          </c:cat>
          <c:val>
            <c:numRef>
              <c:f>'Data'!$B$2:$B$6</c:f>
              <c:numCache>
                <c:formatCode>0</c:formatCode>
                <c:ptCount val="5"/>
                <c:pt idx="0">
                  <c:v>39</c:v>
                </c:pt>
                <c:pt idx="1">
                  <c:v>35</c:v>
                </c:pt>
                <c:pt idx="2">
                  <c:v>35</c:v>
                </c:pt>
                <c:pt idx="3">
                  <c:v>34</c:v>
                </c:pt>
                <c:pt idx="4">
                  <c:v>27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025" b="1">
                  <a:solidFill>
                    <a:srgbClr val="F2F6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24354A"/>
            </a:solidFill>
          </a:ln>
        </c:spPr>
        <c:txPr>
          <a:bodyPr xmlns:a="http://schemas.openxmlformats.org/drawingml/2006/main" anchorCtr="1"/>
          <a:lstStyle xmlns:a="http://schemas.openxmlformats.org/drawingml/2006/main"/>
          <a:p xmlns:a="http://schemas.openxmlformats.org/drawingml/2006/main">
            <a:pPr>
              <a:defRPr sz="1575">
                <a:solidFill>
                  <a:srgbClr val="A8BDD4"/>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6668">
              <a:solidFill>
                <a:srgbClr val="24354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50112"/>
        <c:crossBetween val="between"/>
        <c:majorUnit val="1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8.xml><?xml version="1.0" encoding="utf-8"?>
<c:chartSpace xmlns:c="http://schemas.openxmlformats.org/drawingml/2006/chart">
  <c:lang val="en-US"/>
  <c:chart>
    <c:plotArea>
      <c:barChart>
        <c:barDir val="bar"/>
        <c:grouping val="clustered"/>
        <c:varyColors val="0"/>
        <c:ser>
          <c:idx val="0"/>
          <c:order val="0"/>
          <c:tx>
            <c:strRef>
              <c:f>'Data'!$B$1</c:f>
              <c:strCache>
                <c:ptCount val="1"/>
                <c:pt idx="0">
                  <c:v>Modeled cost, $M</c:v>
                </c:pt>
              </c:strCache>
            </c:strRef>
          </c:tx>
          <c:spPr>
            <a:solidFill xmlns:a="http://schemas.openxmlformats.org/drawingml/2006/main">
              <a:srgbClr val="3DDCF5"/>
            </a:solidFill>
          </c:spPr>
          <c:invertIfNegative val="0"/>
          <c:cat>
            <c:strRef>
              <c:f>'Data'!$A$2:$A$5</c:f>
              <c:strCache>
                <c:ptCount val="4"/>
                <c:pt idx="0">
                  <c:v>Fuel</c:v>
                </c:pt>
                <c:pt idx="1">
                  <c:v>Assumed wages</c:v>
                </c:pt>
                <c:pt idx="2">
                  <c:v>Maintenance</c:v>
                </c:pt>
                <c:pt idx="3">
                  <c:v>Incident damage</c:v>
                </c:pt>
              </c:strCache>
            </c:strRef>
          </c:cat>
          <c:val>
            <c:numRef>
              <c:f>'Data'!$B$2:$B$5</c:f>
              <c:numCache>
                <c:formatCode>0.00</c:formatCode>
                <c:ptCount val="4"/>
                <c:pt idx="0">
                  <c:v>95.59299204</c:v>
                </c:pt>
                <c:pt idx="1">
                  <c:v>53.4125825</c:v>
                </c:pt>
                <c:pt idx="2">
                  <c:v>5.73057328</c:v>
                </c:pt>
                <c:pt idx="3">
                  <c:v>2.65317182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b="1">
                  <a:solidFill>
                    <a:srgbClr val="F2F6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24354A"/>
            </a:solidFill>
          </a:ln>
        </c:spPr>
        <c:txPr>
          <a:bodyPr xmlns:a="http://schemas.openxmlformats.org/drawingml/2006/main" anchorCtr="1"/>
          <a:lstStyle xmlns:a="http://schemas.openxmlformats.org/drawingml/2006/main"/>
          <a:p xmlns:a="http://schemas.openxmlformats.org/drawingml/2006/main">
            <a:pPr>
              <a:defRPr sz="1575">
                <a:solidFill>
                  <a:srgbClr val="A8BDD4"/>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6668">
              <a:solidFill>
                <a:srgbClr val="24354A"/>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9.xml><?xml version="1.0" encoding="utf-8"?>
<c:chartSpace xmlns:c="http://schemas.openxmlformats.org/drawingml/2006/chart">
  <c:lang val="en-US"/>
  <c:chart>
    <c:plotArea>
      <c:barChart>
        <c:barDir val="bar"/>
        <c:grouping val="clustered"/>
        <c:varyColors val="0"/>
        <c:ser>
          <c:idx val="0"/>
          <c:order val="0"/>
          <c:tx>
            <c:strRef>
              <c:f>'Data'!$B$1</c:f>
              <c:strCache>
                <c:ptCount val="1"/>
                <c:pt idx="0">
                  <c:v>On-time rate, %</c:v>
                </c:pt>
              </c:strCache>
            </c:strRef>
          </c:tx>
          <c:spPr>
            <a:solidFill xmlns:a="http://schemas.openxmlformats.org/drawingml/2006/main">
              <a:srgbClr val="3DDCF5"/>
            </a:solidFill>
          </c:spPr>
          <c:invertIfNegative val="0"/>
          <c:cat>
            <c:strRef>
              <c:f>'Data'!$A$2:$A$4</c:f>
              <c:strCache>
                <c:ptCount val="3"/>
                <c:pt idx="0">
                  <c:v>Delivery events</c:v>
                </c:pt>
                <c:pt idx="1">
                  <c:v>Monthly mean</c:v>
                </c:pt>
                <c:pt idx="2">
                  <c:v>Monthly weighted</c:v>
                </c:pt>
              </c:strCache>
            </c:strRef>
          </c:cat>
          <c:val>
            <c:numRef>
              <c:f>'Data'!$B$2:$B$4</c:f>
              <c:numCache>
                <c:formatCode>0.00</c:formatCode>
                <c:ptCount val="3"/>
                <c:pt idx="0">
                  <c:v>33.2771338251</c:v>
                </c:pt>
                <c:pt idx="1">
                  <c:v>44.5995743728</c:v>
                </c:pt>
                <c:pt idx="2">
                  <c:v>44.6205326419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b="1">
                  <a:solidFill>
                    <a:srgbClr val="F2F6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24354A"/>
            </a:solidFill>
          </a:ln>
        </c:spPr>
        <c:txPr>
          <a:bodyPr xmlns:a="http://schemas.openxmlformats.org/drawingml/2006/main" anchorCtr="1"/>
          <a:lstStyle xmlns:a="http://schemas.openxmlformats.org/drawingml/2006/main"/>
          <a:p xmlns:a="http://schemas.openxmlformats.org/drawingml/2006/main">
            <a:pPr>
              <a:defRPr sz="1575">
                <a:solidFill>
                  <a:srgbClr val="A8BDD4"/>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6668">
              <a:solidFill>
                <a:srgbClr val="24354A"/>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10.xml><?xml version="1.0" encoding="utf-8"?>
<c:chartSpace xmlns:c="http://schemas.openxmlformats.org/drawingml/2006/chart">
  <c:lang val="en-US"/>
  <c:chart>
    <c:plotArea>
      <c:barChart>
        <c:barDir val="bar"/>
        <c:grouping val="clustered"/>
        <c:varyColors val="0"/>
        <c:ser>
          <c:idx val="0"/>
          <c:order val="0"/>
          <c:tx>
            <c:strRef>
              <c:f>'Data'!$B$1</c:f>
              <c:strCache>
                <c:ptCount val="1"/>
                <c:pt idx="0">
                  <c:v>Destination revenue, $M</c:v>
                </c:pt>
              </c:strCache>
            </c:strRef>
          </c:tx>
          <c:spPr>
            <a:solidFill xmlns:a="http://schemas.openxmlformats.org/drawingml/2006/main">
              <a:srgbClr val="3DDCF5"/>
            </a:solidFill>
          </c:spPr>
          <c:invertIfNegative val="0"/>
          <c:cat>
            <c:strRef>
              <c:f>'Data'!$A$2:$A$6</c:f>
              <c:strCache>
                <c:ptCount val="5"/>
                <c:pt idx="0">
                  <c:v>Oregon</c:v>
                </c:pt>
                <c:pt idx="1">
                  <c:v>California</c:v>
                </c:pt>
                <c:pt idx="2">
                  <c:v>Washington</c:v>
                </c:pt>
                <c:pt idx="3">
                  <c:v>Texas</c:v>
                </c:pt>
                <c:pt idx="4">
                  <c:v>Pennsylvania</c:v>
                </c:pt>
              </c:strCache>
            </c:strRef>
          </c:cat>
          <c:val>
            <c:numRef>
              <c:f>'Data'!$B$2:$B$6</c:f>
              <c:numCache>
                <c:formatCode>0.00</c:formatCode>
                <c:ptCount val="5"/>
                <c:pt idx="0">
                  <c:v>43.5899626</c:v>
                </c:pt>
                <c:pt idx="1">
                  <c:v>38.12379347</c:v>
                </c:pt>
                <c:pt idx="2">
                  <c:v>36.85186856</c:v>
                </c:pt>
                <c:pt idx="3">
                  <c:v>25.1584117</c:v>
                </c:pt>
                <c:pt idx="4">
                  <c:v>17.76997181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b="1">
                  <a:solidFill>
                    <a:srgbClr val="F2F6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24354A"/>
            </a:solidFill>
          </a:ln>
        </c:spPr>
        <c:txPr>
          <a:bodyPr xmlns:a="http://schemas.openxmlformats.org/drawingml/2006/main" anchorCtr="1"/>
          <a:lstStyle xmlns:a="http://schemas.openxmlformats.org/drawingml/2006/main"/>
          <a:p xmlns:a="http://schemas.openxmlformats.org/drawingml/2006/main">
            <a:pPr>
              <a:defRPr sz="1575">
                <a:solidFill>
                  <a:srgbClr val="A8BDD4"/>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6668">
              <a:solidFill>
                <a:srgbClr val="24354A"/>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50112"/>
        <c:crossBetween val="between"/>
        <c:majorUnit val="1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11.xml><?xml version="1.0" encoding="utf-8"?>
<c:chartSpace xmlns:c="http://schemas.openxmlformats.org/drawingml/2006/chart">
  <c:lang val="en-US"/>
  <c:chart>
    <c:plotArea>
      <c:barChart>
        <c:barDir val="col"/>
        <c:grouping val="clustered"/>
        <c:varyColors val="0"/>
        <c:ser>
          <c:idx val="0"/>
          <c:order val="0"/>
          <c:tx>
            <c:strRef>
              <c:f>'Data'!$B$1</c:f>
              <c:strCache>
                <c:ptCount val="1"/>
                <c:pt idx="0">
                  <c:v>Profit at fallback inputs, $M</c:v>
                </c:pt>
              </c:strCache>
            </c:strRef>
          </c:tx>
          <c:spPr>
            <a:solidFill xmlns:a="http://schemas.openxmlformats.org/drawingml/2006/main">
              <a:srgbClr val="A381FF"/>
            </a:solidFill>
          </c:spPr>
          <c:invertIfNegative val="0"/>
          <c:cat>
            <c:strRef>
              <c:f>'Data'!$A$2:$A$4</c:f>
              <c:strCache>
                <c:ptCount val="3"/>
                <c:pt idx="0">
                  <c:v>Baseline modeled</c:v>
                </c:pt>
                <c:pt idx="1">
                  <c:v>Existing scenario</c:v>
                </c:pt>
                <c:pt idx="2">
                  <c:v>Comparable scenario</c:v>
                </c:pt>
              </c:strCache>
            </c:strRef>
          </c:cat>
          <c:val>
            <c:numRef>
              <c:f>'Data'!$B$2:$B$4</c:f>
              <c:numCache>
                <c:formatCode>0.00</c:formatCode>
                <c:ptCount val="3"/>
                <c:pt idx="0">
                  <c:v>141.2321093</c:v>
                </c:pt>
                <c:pt idx="1">
                  <c:v>210.55081099</c:v>
                </c:pt>
                <c:pt idx="2">
                  <c:v>157.13822849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b="1">
                  <a:solidFill>
                    <a:srgbClr val="F2F6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24354A"/>
            </a:solidFill>
          </a:ln>
        </c:spPr>
        <c:txPr>
          <a:bodyPr xmlns:a="http://schemas.openxmlformats.org/drawingml/2006/main" anchorCtr="1"/>
          <a:lstStyle xmlns:a="http://schemas.openxmlformats.org/drawingml/2006/main"/>
          <a:p xmlns:a="http://schemas.openxmlformats.org/drawingml/2006/main">
            <a:pPr>
              <a:defRPr sz="1575">
                <a:solidFill>
                  <a:srgbClr val="A8BDD4"/>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6668">
              <a:solidFill>
                <a:srgbClr val="24354A"/>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A8BDD4"/>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284cc47354a4d2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3A3F379-1093-499E-AEC7-F8CE9683CAA2}"/>
              </a:ext>
            </a:extLst>
          </p:cNvPr>
          <p:cNvSpPr>
            <a:spLocks xmlns:a="http://schemas.openxmlformats.org/drawingml/2006/main" noGrp="1"/>
          </p:cNvSpPr>
          <p:nvPr/>
        </p:nvSpPr>
        <p:spPr>
          <a:xfrm xmlns:a="http://schemas.openxmlformats.org/drawingml/2006/main">
            <a:off x="571500" y="6096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1">
                <a:solidFill>
                  <a:srgbClr val="074E8C"/>
                </a:solidFill>
                <a:latin typeface="Arial"/>
                <a:ea typeface="Arial"/>
                <a:cs typeface="Arial"/>
              </a:defRPr>
            </a:lvl1pPr>
            <a:lvl2pPr>
              <a:buNone/>
              <a:defRPr sz="1650" b="1">
                <a:solidFill>
                  <a:srgbClr val="074E8C"/>
                </a:solidFill>
                <a:latin typeface="Arial"/>
                <a:ea typeface="Arial"/>
                <a:cs typeface="Arial"/>
              </a:defRPr>
            </a:lvl2pPr>
            <a:lvl3pPr>
              <a:buNone/>
              <a:defRPr sz="1650" b="1">
                <a:solidFill>
                  <a:srgbClr val="074E8C"/>
                </a:solidFill>
                <a:latin typeface="Arial"/>
                <a:ea typeface="Arial"/>
                <a:cs typeface="Arial"/>
              </a:defRPr>
            </a:lvl3pPr>
            <a:lvl4pPr>
              <a:buNone/>
              <a:defRPr sz="1650" b="1">
                <a:solidFill>
                  <a:srgbClr val="074E8C"/>
                </a:solidFill>
                <a:latin typeface="Arial"/>
                <a:ea typeface="Arial"/>
                <a:cs typeface="Arial"/>
              </a:defRPr>
            </a:lvl4pPr>
            <a:lvl5pPr>
              <a:buNone/>
              <a:defRPr sz="1650" b="1">
                <a:solidFill>
                  <a:srgbClr val="074E8C"/>
                </a:solidFill>
                <a:latin typeface="Arial"/>
                <a:ea typeface="Arial"/>
                <a:cs typeface="Arial"/>
              </a:defRPr>
            </a:lvl5pPr>
            <a:lvl6pPr>
              <a:buNone/>
              <a:defRPr sz="1650" b="1">
                <a:solidFill>
                  <a:srgbClr val="074E8C"/>
                </a:solidFill>
                <a:latin typeface="Arial"/>
                <a:ea typeface="Arial"/>
                <a:cs typeface="Arial"/>
              </a:defRPr>
            </a:lvl6pPr>
            <a:lvl7pPr>
              <a:buNone/>
              <a:defRPr sz="1650" b="1">
                <a:solidFill>
                  <a:srgbClr val="074E8C"/>
                </a:solidFill>
                <a:latin typeface="Arial"/>
                <a:ea typeface="Arial"/>
                <a:cs typeface="Arial"/>
              </a:defRPr>
            </a:lvl7pPr>
            <a:lvl8pPr>
              <a:buNone/>
              <a:defRPr sz="1650" b="1">
                <a:solidFill>
                  <a:srgbClr val="074E8C"/>
                </a:solidFill>
                <a:latin typeface="Arial"/>
                <a:ea typeface="Arial"/>
                <a:cs typeface="Arial"/>
              </a:defRPr>
            </a:lvl8pPr>
            <a:lvl9pPr>
              <a:buNone/>
              <a:defRPr sz="1650" b="1">
                <a:solidFill>
                  <a:srgbClr val="074E8C"/>
                </a:solidFill>
                <a:latin typeface="Arial"/>
                <a:ea typeface="Arial"/>
                <a:cs typeface="Arial"/>
              </a:defRPr>
            </a:lvl9pPr>
          </a:lstStyle>
          <a:p xmlns:a="http://schemas.openxmlformats.org/drawingml/2006/main">
            <a:pPr>
              <a:buNone/>
              <a:defRPr sz="1575" b="1">
                <a:solidFill>
                  <a:srgbClr val="3DDCF5"/>
                </a:solidFill>
                <a:latin typeface="Arial"/>
                <a:ea typeface="Arial"/>
                <a:cs typeface="Arial"/>
              </a:defRPr>
            </a:pPr>
            <a:r>
              <a:rPr sz="1575" b="1">
                <a:solidFill>
                  <a:srgbClr val="3DDCF5"/>
                </a:solidFill>
                <a:latin typeface="Arial"/>
                <a:ea typeface="Arial"/>
                <a:cs typeface="Arial"/>
              </a:rPr>
              <a:t>POWER BI DATA ANALYTICS PROJECT</a:t>
            </a:r>
          </a:p>
        </p:txBody>
      </p:sp>
      <p:sp>
        <p:nvSpPr>
          <p:cNvPr id="2" name="">
            <a:extLst xmlns:a="http://schemas.openxmlformats.org/drawingml/2006/main">
              <a:ext uri="{FF2B5EF4-FFF2-40B4-BE49-F238E27FC236}">
                <a16:creationId xmlns:a16="http://schemas.microsoft.com/office/drawing/2014/main" id="{64A535EF-9B87-413E-BE5C-2D3ED2201E24}"/>
              </a:ext>
            </a:extLst>
          </p:cNvPr>
          <p:cNvSpPr>
            <a:spLocks xmlns:a="http://schemas.openxmlformats.org/drawingml/2006/main" noGrp="1"/>
          </p:cNvSpPr>
          <p:nvPr/>
        </p:nvSpPr>
        <p:spPr>
          <a:xfrm xmlns:a="http://schemas.openxmlformats.org/drawingml/2006/main">
            <a:off x="571500" y="1857375"/>
            <a:ext cx="762000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5250" b="1">
                <a:solidFill>
                  <a:srgbClr val="053259"/>
                </a:solidFill>
                <a:latin typeface="Arial"/>
                <a:ea typeface="Arial"/>
                <a:cs typeface="Arial"/>
              </a:defRPr>
            </a:lvl1pPr>
            <a:lvl2pPr>
              <a:buNone/>
              <a:defRPr sz="5250" b="1">
                <a:solidFill>
                  <a:srgbClr val="053259"/>
                </a:solidFill>
                <a:latin typeface="Arial"/>
                <a:ea typeface="Arial"/>
                <a:cs typeface="Arial"/>
              </a:defRPr>
            </a:lvl2pPr>
            <a:lvl3pPr>
              <a:buNone/>
              <a:defRPr sz="5250" b="1">
                <a:solidFill>
                  <a:srgbClr val="053259"/>
                </a:solidFill>
                <a:latin typeface="Arial"/>
                <a:ea typeface="Arial"/>
                <a:cs typeface="Arial"/>
              </a:defRPr>
            </a:lvl3pPr>
            <a:lvl4pPr>
              <a:buNone/>
              <a:defRPr sz="5250" b="1">
                <a:solidFill>
                  <a:srgbClr val="053259"/>
                </a:solidFill>
                <a:latin typeface="Arial"/>
                <a:ea typeface="Arial"/>
                <a:cs typeface="Arial"/>
              </a:defRPr>
            </a:lvl4pPr>
            <a:lvl5pPr>
              <a:buNone/>
              <a:defRPr sz="5250" b="1">
                <a:solidFill>
                  <a:srgbClr val="053259"/>
                </a:solidFill>
                <a:latin typeface="Arial"/>
                <a:ea typeface="Arial"/>
                <a:cs typeface="Arial"/>
              </a:defRPr>
            </a:lvl5pPr>
            <a:lvl6pPr>
              <a:buNone/>
              <a:defRPr sz="5250" b="1">
                <a:solidFill>
                  <a:srgbClr val="053259"/>
                </a:solidFill>
                <a:latin typeface="Arial"/>
                <a:ea typeface="Arial"/>
                <a:cs typeface="Arial"/>
              </a:defRPr>
            </a:lvl6pPr>
            <a:lvl7pPr>
              <a:buNone/>
              <a:defRPr sz="5250" b="1">
                <a:solidFill>
                  <a:srgbClr val="053259"/>
                </a:solidFill>
                <a:latin typeface="Arial"/>
                <a:ea typeface="Arial"/>
                <a:cs typeface="Arial"/>
              </a:defRPr>
            </a:lvl7pPr>
            <a:lvl8pPr>
              <a:buNone/>
              <a:defRPr sz="5250" b="1">
                <a:solidFill>
                  <a:srgbClr val="053259"/>
                </a:solidFill>
                <a:latin typeface="Arial"/>
                <a:ea typeface="Arial"/>
                <a:cs typeface="Arial"/>
              </a:defRPr>
            </a:lvl8pPr>
            <a:lvl9pPr>
              <a:buNone/>
              <a:defRPr sz="5250" b="1">
                <a:solidFill>
                  <a:srgbClr val="053259"/>
                </a:solidFill>
                <a:latin typeface="Arial"/>
                <a:ea typeface="Arial"/>
                <a:cs typeface="Arial"/>
              </a:defRPr>
            </a:lvl9pPr>
          </a:lstStyle>
          <a:p xmlns:a="http://schemas.openxmlformats.org/drawingml/2006/main">
            <a:pPr>
              <a:buNone/>
              <a:defRPr sz="8100" b="1">
                <a:solidFill>
                  <a:srgbClr val="F2F6FF"/>
                </a:solidFill>
                <a:latin typeface="Arial"/>
                <a:ea typeface="Arial"/>
                <a:cs typeface="Arial"/>
              </a:defRPr>
            </a:pPr>
            <a:r>
              <a:rPr sz="8100" b="1">
                <a:solidFill>
                  <a:srgbClr val="F2F6FF"/>
                </a:solidFill>
                <a:latin typeface="Arial"/>
                <a:ea typeface="Arial"/>
                <a:cs typeface="Arial"/>
              </a:rPr>
              <a:t>LOGISTICS</a:t>
            </a:r>
          </a:p>
          <a:p xmlns:a="http://schemas.openxmlformats.org/drawingml/2006/main">
            <a:pPr>
              <a:buNone/>
              <a:defRPr sz="8100" b="1">
                <a:solidFill>
                  <a:srgbClr val="F2F6FF"/>
                </a:solidFill>
                <a:latin typeface="Arial"/>
                <a:ea typeface="Arial"/>
                <a:cs typeface="Arial"/>
              </a:defRPr>
            </a:pPr>
            <a:r>
              <a:rPr sz="8100" b="1">
                <a:solidFill>
                  <a:srgbClr val="F2F6FF"/>
                </a:solidFill>
                <a:latin typeface="Arial"/>
                <a:ea typeface="Arial"/>
                <a:cs typeface="Arial"/>
              </a:rPr>
              <a:t>VISION</a:t>
            </a:r>
          </a:p>
        </p:txBody>
      </p:sp>
      <p:sp>
        <p:nvSpPr>
          <p:cNvPr id="3" name="">
            <a:extLst xmlns:a="http://schemas.openxmlformats.org/drawingml/2006/main">
              <a:ext uri="{FF2B5EF4-FFF2-40B4-BE49-F238E27FC236}">
                <a16:creationId xmlns:a16="http://schemas.microsoft.com/office/drawing/2014/main" id="{41A638A9-DF95-40FD-8790-2D2272794EC3}"/>
              </a:ext>
            </a:extLst>
          </p:cNvPr>
          <p:cNvSpPr>
            <a:spLocks xmlns:a="http://schemas.openxmlformats.org/drawingml/2006/main" noGrp="1"/>
          </p:cNvSpPr>
          <p:nvPr/>
        </p:nvSpPr>
        <p:spPr>
          <a:xfrm xmlns:a="http://schemas.openxmlformats.org/drawingml/2006/main">
            <a:off x="628650" y="4629150"/>
            <a:ext cx="704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250" b="0">
                <a:solidFill>
                  <a:srgbClr val="546B7C"/>
                </a:solidFill>
                <a:latin typeface="Arial"/>
                <a:ea typeface="Arial"/>
                <a:cs typeface="Arial"/>
              </a:defRPr>
            </a:lvl1pPr>
            <a:lvl2pPr>
              <a:buNone/>
              <a:defRPr sz="2250" b="0">
                <a:solidFill>
                  <a:srgbClr val="546B7C"/>
                </a:solidFill>
                <a:latin typeface="Arial"/>
                <a:ea typeface="Arial"/>
                <a:cs typeface="Arial"/>
              </a:defRPr>
            </a:lvl2pPr>
            <a:lvl3pPr>
              <a:buNone/>
              <a:defRPr sz="2250" b="0">
                <a:solidFill>
                  <a:srgbClr val="546B7C"/>
                </a:solidFill>
                <a:latin typeface="Arial"/>
                <a:ea typeface="Arial"/>
                <a:cs typeface="Arial"/>
              </a:defRPr>
            </a:lvl3pPr>
            <a:lvl4pPr>
              <a:buNone/>
              <a:defRPr sz="2250" b="0">
                <a:solidFill>
                  <a:srgbClr val="546B7C"/>
                </a:solidFill>
                <a:latin typeface="Arial"/>
                <a:ea typeface="Arial"/>
                <a:cs typeface="Arial"/>
              </a:defRPr>
            </a:lvl4pPr>
            <a:lvl5pPr>
              <a:buNone/>
              <a:defRPr sz="2250" b="0">
                <a:solidFill>
                  <a:srgbClr val="546B7C"/>
                </a:solidFill>
                <a:latin typeface="Arial"/>
                <a:ea typeface="Arial"/>
                <a:cs typeface="Arial"/>
              </a:defRPr>
            </a:lvl5pPr>
            <a:lvl6pPr>
              <a:buNone/>
              <a:defRPr sz="2250" b="0">
                <a:solidFill>
                  <a:srgbClr val="546B7C"/>
                </a:solidFill>
                <a:latin typeface="Arial"/>
                <a:ea typeface="Arial"/>
                <a:cs typeface="Arial"/>
              </a:defRPr>
            </a:lvl6pPr>
            <a:lvl7pPr>
              <a:buNone/>
              <a:defRPr sz="2250" b="0">
                <a:solidFill>
                  <a:srgbClr val="546B7C"/>
                </a:solidFill>
                <a:latin typeface="Arial"/>
                <a:ea typeface="Arial"/>
                <a:cs typeface="Arial"/>
              </a:defRPr>
            </a:lvl7pPr>
            <a:lvl8pPr>
              <a:buNone/>
              <a:defRPr sz="2250" b="0">
                <a:solidFill>
                  <a:srgbClr val="546B7C"/>
                </a:solidFill>
                <a:latin typeface="Arial"/>
                <a:ea typeface="Arial"/>
                <a:cs typeface="Arial"/>
              </a:defRPr>
            </a:lvl8pPr>
            <a:lvl9pPr>
              <a:buNone/>
              <a:defRPr sz="2250" b="0">
                <a:solidFill>
                  <a:srgbClr val="546B7C"/>
                </a:solidFill>
                <a:latin typeface="Arial"/>
                <a:ea typeface="Arial"/>
                <a:cs typeface="Arial"/>
              </a:defRPr>
            </a:lvl9pPr>
          </a:lstStyle>
          <a:p xmlns:a="http://schemas.openxmlformats.org/drawingml/2006/main">
            <a:pPr>
              <a:buNone/>
              <a:defRPr sz="2250" b="0">
                <a:solidFill>
                  <a:srgbClr val="F2F6FF"/>
                </a:solidFill>
                <a:latin typeface="Arial"/>
                <a:ea typeface="Arial"/>
                <a:cs typeface="Arial"/>
              </a:defRPr>
            </a:pPr>
            <a:r>
              <a:rPr sz="2250" b="0">
                <a:solidFill>
                  <a:srgbClr val="F2F6FF"/>
                </a:solidFill>
                <a:latin typeface="Arial"/>
                <a:ea typeface="Arial"/>
                <a:cs typeface="Arial"/>
              </a:rPr>
              <a:t>Operations &amp; performance analysis</a:t>
            </a:r>
          </a:p>
        </p:txBody>
      </p:sp>
      <p:sp>
        <p:nvSpPr>
          <p:cNvPr id="4" name="">
            <a:extLst xmlns:a="http://schemas.openxmlformats.org/drawingml/2006/main">
              <a:ext uri="{FF2B5EF4-FFF2-40B4-BE49-F238E27FC236}">
                <a16:creationId xmlns:a16="http://schemas.microsoft.com/office/drawing/2014/main" id="{881BDDED-3131-47D9-8187-F98EBD02C5D5}"/>
              </a:ext>
            </a:extLst>
          </p:cNvPr>
          <p:cNvSpPr>
            <a:spLocks xmlns:a="http://schemas.openxmlformats.org/drawingml/2006/main" noGrp="1"/>
          </p:cNvSpPr>
          <p:nvPr/>
        </p:nvSpPr>
        <p:spPr>
          <a:xfrm xmlns:a="http://schemas.openxmlformats.org/drawingml/2006/main">
            <a:off x="628650" y="5410200"/>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00" b="0">
                <a:solidFill>
                  <a:srgbClr val="074E8C"/>
                </a:solidFill>
                <a:latin typeface="Arial"/>
                <a:ea typeface="Arial"/>
                <a:cs typeface="Arial"/>
              </a:defRPr>
            </a:lvl1pPr>
            <a:lvl2pPr>
              <a:buNone/>
              <a:defRPr sz="1800" b="0">
                <a:solidFill>
                  <a:srgbClr val="074E8C"/>
                </a:solidFill>
                <a:latin typeface="Arial"/>
                <a:ea typeface="Arial"/>
                <a:cs typeface="Arial"/>
              </a:defRPr>
            </a:lvl2pPr>
            <a:lvl3pPr>
              <a:buNone/>
              <a:defRPr sz="1800" b="0">
                <a:solidFill>
                  <a:srgbClr val="074E8C"/>
                </a:solidFill>
                <a:latin typeface="Arial"/>
                <a:ea typeface="Arial"/>
                <a:cs typeface="Arial"/>
              </a:defRPr>
            </a:lvl3pPr>
            <a:lvl4pPr>
              <a:buNone/>
              <a:defRPr sz="1800" b="0">
                <a:solidFill>
                  <a:srgbClr val="074E8C"/>
                </a:solidFill>
                <a:latin typeface="Arial"/>
                <a:ea typeface="Arial"/>
                <a:cs typeface="Arial"/>
              </a:defRPr>
            </a:lvl4pPr>
            <a:lvl5pPr>
              <a:buNone/>
              <a:defRPr sz="1800" b="0">
                <a:solidFill>
                  <a:srgbClr val="074E8C"/>
                </a:solidFill>
                <a:latin typeface="Arial"/>
                <a:ea typeface="Arial"/>
                <a:cs typeface="Arial"/>
              </a:defRPr>
            </a:lvl5pPr>
            <a:lvl6pPr>
              <a:buNone/>
              <a:defRPr sz="1800" b="0">
                <a:solidFill>
                  <a:srgbClr val="074E8C"/>
                </a:solidFill>
                <a:latin typeface="Arial"/>
                <a:ea typeface="Arial"/>
                <a:cs typeface="Arial"/>
              </a:defRPr>
            </a:lvl6pPr>
            <a:lvl7pPr>
              <a:buNone/>
              <a:defRPr sz="1800" b="0">
                <a:solidFill>
                  <a:srgbClr val="074E8C"/>
                </a:solidFill>
                <a:latin typeface="Arial"/>
                <a:ea typeface="Arial"/>
                <a:cs typeface="Arial"/>
              </a:defRPr>
            </a:lvl7pPr>
            <a:lvl8pPr>
              <a:buNone/>
              <a:defRPr sz="1800" b="0">
                <a:solidFill>
                  <a:srgbClr val="074E8C"/>
                </a:solidFill>
                <a:latin typeface="Arial"/>
                <a:ea typeface="Arial"/>
                <a:cs typeface="Arial"/>
              </a:defRPr>
            </a:lvl8pPr>
            <a:lvl9pPr>
              <a:buNone/>
              <a:defRPr sz="1800" b="0">
                <a:solidFill>
                  <a:srgbClr val="074E8C"/>
                </a:solidFill>
                <a:latin typeface="Arial"/>
                <a:ea typeface="Arial"/>
                <a:cs typeface="Arial"/>
              </a:defRPr>
            </a:lvl9pPr>
          </a:lstStyle>
          <a:p xmlns:a="http://schemas.openxmlformats.org/drawingml/2006/main">
            <a:pPr>
              <a:buNone/>
              <a:defRPr sz="1800" b="0">
                <a:solidFill>
                  <a:srgbClr val="A8BDD4"/>
                </a:solidFill>
                <a:latin typeface="Arial"/>
                <a:ea typeface="Arial"/>
                <a:cs typeface="Arial"/>
              </a:defRPr>
            </a:pPr>
            <a:r>
              <a:rPr sz="1800" b="0">
                <a:solidFill>
                  <a:srgbClr val="A8BDD4"/>
                </a:solidFill>
                <a:latin typeface="Arial"/>
                <a:ea typeface="Arial"/>
                <a:cs typeface="Arial"/>
              </a:rPr>
              <a:t>Load/trip dates: Jan 2022–Dec 2024</a:t>
            </a:r>
          </a:p>
        </p:txBody>
      </p:sp>
      <p:sp>
        <p:nvSpPr>
          <p:cNvPr id="6" name="">
            <a:extLst xmlns:a="http://schemas.openxmlformats.org/drawingml/2006/main">
              <a:ext uri="{FF2B5EF4-FFF2-40B4-BE49-F238E27FC236}">
                <a16:creationId xmlns:a16="http://schemas.microsoft.com/office/drawing/2014/main" id="{A2E29CCC-4CED-4C37-A425-5A308367BC20}"/>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01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7b860f422ca4569"/>
          <a:stretch xmlns:a="http://schemas.openxmlformats.org/drawingml/2006/main"/>
        </p:blipFill>
        <p:spPr>
          <a:xfrm xmlns:a="http://schemas.openxmlformats.org/drawingml/2006/main">
            <a:off x="9906000" y="495300"/>
            <a:ext cx="1714500" cy="1714500"/>
          </a:xfrm>
          <a:prstGeom xmlns:a="http://schemas.openxmlformats.org/drawingml/2006/main" prst="rect">
            <a:avLst/>
          </a:prstGeom>
        </p:spPr>
      </p:pic>
      <p:sp>
        <p:nvSpPr>
          <p:cNvPr id="9" name="design-1">
            <a:extLst xmlns:a="http://schemas.openxmlformats.org/drawingml/2006/main">
              <a:ext uri="{FF2B5EF4-FFF2-40B4-BE49-F238E27FC236}">
                <a16:creationId xmlns:a16="http://schemas.microsoft.com/office/drawing/2014/main" id="{D4244738-4919-44F4-83E0-F6689F5BFA37}"/>
              </a:ext>
            </a:extLst>
          </p:cNvPr>
          <p:cNvSpPr>
            <a:spLocks xmlns:a="http://schemas.openxmlformats.org/drawingml/2006/main" noGrp="1"/>
          </p:cNvSpPr>
          <p:nvPr/>
        </p:nvSpPr>
        <p:spPr>
          <a:xfrm xmlns:a="http://schemas.openxmlformats.org/drawingml/2006/main">
            <a:off x="628650" y="4391025"/>
            <a:ext cx="106680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Tree>
    <p:extLst>
      <p:ext uri="{BB962C8B-B14F-4D97-AF65-F5344CB8AC3E}">
        <p14:creationId xmlns:p14="http://schemas.microsoft.com/office/powerpoint/2010/main" val="383328085"/>
      </p:ext>
    </p:extLst>
  </p:cSld>
</p:sld>
</file>

<file path=ppt/slides/slide2.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6" name="integration-1">
            <a:extLst xmlns:a="http://schemas.openxmlformats.org/drawingml/2006/main">
              <a:ext uri="{FF2B5EF4-FFF2-40B4-BE49-F238E27FC236}">
                <a16:creationId xmlns:a16="http://schemas.microsoft.com/office/drawing/2014/main" id="{3DFB1A81-BD5E-4043-969A-D89540B53F00}"/>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PROJECT TEAM</a:t>
            </a:r>
          </a:p>
        </p:txBody>
      </p:sp>
      <p:sp>
        <p:nvSpPr>
          <p:cNvPr id="2" name="integration-2">
            <a:extLst xmlns:a="http://schemas.openxmlformats.org/drawingml/2006/main">
              <a:ext uri="{FF2B5EF4-FFF2-40B4-BE49-F238E27FC236}">
                <a16:creationId xmlns:a16="http://schemas.microsoft.com/office/drawing/2014/main" id="{ECCA563D-C32D-4F1E-AAEE-4565018011F1}"/>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225" b="1">
                <a:solidFill>
                  <a:srgbClr val="F2F6FF"/>
                </a:solidFill>
                <a:latin typeface="Arial"/>
                <a:ea typeface="Arial"/>
                <a:cs typeface="Arial"/>
              </a:defRPr>
            </a:lvl1pPr>
            <a:lvl2pPr>
              <a:buNone/>
              <a:defRPr sz="3225" b="1">
                <a:solidFill>
                  <a:srgbClr val="F2F6FF"/>
                </a:solidFill>
                <a:latin typeface="Arial"/>
                <a:ea typeface="Arial"/>
                <a:cs typeface="Arial"/>
              </a:defRPr>
            </a:lvl2pPr>
            <a:lvl3pPr>
              <a:buNone/>
              <a:defRPr sz="3225" b="1">
                <a:solidFill>
                  <a:srgbClr val="F2F6FF"/>
                </a:solidFill>
                <a:latin typeface="Arial"/>
                <a:ea typeface="Arial"/>
                <a:cs typeface="Arial"/>
              </a:defRPr>
            </a:lvl3pPr>
            <a:lvl4pPr>
              <a:buNone/>
              <a:defRPr sz="3225" b="1">
                <a:solidFill>
                  <a:srgbClr val="F2F6FF"/>
                </a:solidFill>
                <a:latin typeface="Arial"/>
                <a:ea typeface="Arial"/>
                <a:cs typeface="Arial"/>
              </a:defRPr>
            </a:lvl4pPr>
            <a:lvl5pPr>
              <a:buNone/>
              <a:defRPr sz="3225" b="1">
                <a:solidFill>
                  <a:srgbClr val="F2F6FF"/>
                </a:solidFill>
                <a:latin typeface="Arial"/>
                <a:ea typeface="Arial"/>
                <a:cs typeface="Arial"/>
              </a:defRPr>
            </a:lvl5pPr>
            <a:lvl6pPr>
              <a:buNone/>
              <a:defRPr sz="3225" b="1">
                <a:solidFill>
                  <a:srgbClr val="F2F6FF"/>
                </a:solidFill>
                <a:latin typeface="Arial"/>
                <a:ea typeface="Arial"/>
                <a:cs typeface="Arial"/>
              </a:defRPr>
            </a:lvl6pPr>
            <a:lvl7pPr>
              <a:buNone/>
              <a:defRPr sz="3225" b="1">
                <a:solidFill>
                  <a:srgbClr val="F2F6FF"/>
                </a:solidFill>
                <a:latin typeface="Arial"/>
                <a:ea typeface="Arial"/>
                <a:cs typeface="Arial"/>
              </a:defRPr>
            </a:lvl7pPr>
            <a:lvl8pPr>
              <a:buNone/>
              <a:defRPr sz="3225" b="1">
                <a:solidFill>
                  <a:srgbClr val="F2F6FF"/>
                </a:solidFill>
                <a:latin typeface="Arial"/>
                <a:ea typeface="Arial"/>
                <a:cs typeface="Arial"/>
              </a:defRPr>
            </a:lvl8pPr>
            <a:lvl9pPr>
              <a:buNone/>
              <a:defRPr sz="3225" b="1">
                <a:solidFill>
                  <a:srgbClr val="F2F6FF"/>
                </a:solidFill>
                <a:latin typeface="Arial"/>
                <a:ea typeface="Arial"/>
                <a:cs typeface="Arial"/>
              </a:defRPr>
            </a:lvl9pPr>
          </a:lstStyle>
          <a:p xmlns:a="http://schemas.openxmlformats.org/drawingml/2006/main">
            <a:pPr>
              <a:buNone/>
              <a:defRPr sz="3225" b="1">
                <a:solidFill>
                  <a:srgbClr val="F2F6FF"/>
                </a:solidFill>
                <a:latin typeface="Arial"/>
                <a:ea typeface="Arial"/>
                <a:cs typeface="Arial"/>
              </a:defRPr>
            </a:pPr>
            <a:r>
              <a:rPr sz="3225" b="1">
                <a:solidFill>
                  <a:srgbClr val="F2F6FF"/>
                </a:solidFill>
                <a:latin typeface="Arial"/>
                <a:ea typeface="Arial"/>
                <a:cs typeface="Arial"/>
              </a:rPr>
              <a:t>The team behind Logistics Vision</a:t>
            </a:r>
          </a:p>
        </p:txBody>
      </p:sp>
      <p:sp>
        <p:nvSpPr>
          <p:cNvPr id="3" name="integration-3">
            <a:extLst xmlns:a="http://schemas.openxmlformats.org/drawingml/2006/main">
              <a:ext uri="{FF2B5EF4-FFF2-40B4-BE49-F238E27FC236}">
                <a16:creationId xmlns:a16="http://schemas.microsoft.com/office/drawing/2014/main" id="{59D0FF4D-4CD4-4D2A-B177-83D174043F45}"/>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Instant Diploma, Data Analytics Track</a:t>
            </a:r>
          </a:p>
        </p:txBody>
      </p:sp>
      <p:sp>
        <p:nvSpPr>
          <p:cNvPr id="4" name="integration-4">
            <a:extLst xmlns:a="http://schemas.openxmlformats.org/drawingml/2006/main">
              <a:ext uri="{FF2B5EF4-FFF2-40B4-BE49-F238E27FC236}">
                <a16:creationId xmlns:a16="http://schemas.microsoft.com/office/drawing/2014/main" id="{FE93A677-CB46-4D87-86DF-F1E0199F3274}"/>
              </a:ext>
            </a:extLst>
          </p:cNvPr>
          <p:cNvSpPr>
            <a:spLocks xmlns:a="http://schemas.openxmlformats.org/drawingml/2006/main" noGrp="1"/>
          </p:cNvSpPr>
          <p:nvPr/>
        </p:nvSpPr>
        <p:spPr>
          <a:xfrm xmlns:a="http://schemas.openxmlformats.org/drawingml/2006/main">
            <a:off x="571500" y="2047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00" b="1">
                <a:solidFill>
                  <a:srgbClr val="3DDCF5"/>
                </a:solidFill>
                <a:latin typeface="Arial"/>
                <a:ea typeface="Arial"/>
                <a:cs typeface="Arial"/>
              </a:defRPr>
            </a:lvl1pPr>
            <a:lvl2pPr>
              <a:buNone/>
              <a:defRPr sz="1500" b="1">
                <a:solidFill>
                  <a:srgbClr val="3DDCF5"/>
                </a:solidFill>
                <a:latin typeface="Arial"/>
                <a:ea typeface="Arial"/>
                <a:cs typeface="Arial"/>
              </a:defRPr>
            </a:lvl2pPr>
            <a:lvl3pPr>
              <a:buNone/>
              <a:defRPr sz="1500" b="1">
                <a:solidFill>
                  <a:srgbClr val="3DDCF5"/>
                </a:solidFill>
                <a:latin typeface="Arial"/>
                <a:ea typeface="Arial"/>
                <a:cs typeface="Arial"/>
              </a:defRPr>
            </a:lvl3pPr>
            <a:lvl4pPr>
              <a:buNone/>
              <a:defRPr sz="1500" b="1">
                <a:solidFill>
                  <a:srgbClr val="3DDCF5"/>
                </a:solidFill>
                <a:latin typeface="Arial"/>
                <a:ea typeface="Arial"/>
                <a:cs typeface="Arial"/>
              </a:defRPr>
            </a:lvl4pPr>
            <a:lvl5pPr>
              <a:buNone/>
              <a:defRPr sz="1500" b="1">
                <a:solidFill>
                  <a:srgbClr val="3DDCF5"/>
                </a:solidFill>
                <a:latin typeface="Arial"/>
                <a:ea typeface="Arial"/>
                <a:cs typeface="Arial"/>
              </a:defRPr>
            </a:lvl5pPr>
            <a:lvl6pPr>
              <a:buNone/>
              <a:defRPr sz="1500" b="1">
                <a:solidFill>
                  <a:srgbClr val="3DDCF5"/>
                </a:solidFill>
                <a:latin typeface="Arial"/>
                <a:ea typeface="Arial"/>
                <a:cs typeface="Arial"/>
              </a:defRPr>
            </a:lvl6pPr>
            <a:lvl7pPr>
              <a:buNone/>
              <a:defRPr sz="1500" b="1">
                <a:solidFill>
                  <a:srgbClr val="3DDCF5"/>
                </a:solidFill>
                <a:latin typeface="Arial"/>
                <a:ea typeface="Arial"/>
                <a:cs typeface="Arial"/>
              </a:defRPr>
            </a:lvl7pPr>
            <a:lvl8pPr>
              <a:buNone/>
              <a:defRPr sz="1500" b="1">
                <a:solidFill>
                  <a:srgbClr val="3DDCF5"/>
                </a:solidFill>
                <a:latin typeface="Arial"/>
                <a:ea typeface="Arial"/>
                <a:cs typeface="Arial"/>
              </a:defRPr>
            </a:lvl8pPr>
            <a:lvl9pPr>
              <a:buNone/>
              <a:defRPr sz="1500" b="1">
                <a:solidFill>
                  <a:srgbClr val="3DDCF5"/>
                </a:solidFill>
                <a:latin typeface="Arial"/>
                <a:ea typeface="Arial"/>
                <a:cs typeface="Arial"/>
              </a:defRPr>
            </a:lvl9pPr>
          </a:lstStyle>
          <a:p xmlns:a="http://schemas.openxmlformats.org/drawingml/2006/main">
            <a:pPr>
              <a:buNone/>
              <a:defRPr sz="1500" b="1">
                <a:solidFill>
                  <a:srgbClr val="3DDCF5"/>
                </a:solidFill>
                <a:latin typeface="Arial"/>
                <a:ea typeface="Arial"/>
                <a:cs typeface="Arial"/>
              </a:defRPr>
            </a:pPr>
            <a:r>
              <a:rPr sz="1500" b="1">
                <a:solidFill>
                  <a:srgbClr val="3DDCF5"/>
                </a:solidFill>
                <a:latin typeface="Arial"/>
                <a:ea typeface="Arial"/>
                <a:cs typeface="Arial"/>
              </a:rPr>
              <a:t>PRESENTED BY</a:t>
            </a:r>
          </a:p>
        </p:txBody>
      </p:sp>
      <p:sp>
        <p:nvSpPr>
          <p:cNvPr id="5" name="integration-5">
            <a:extLst xmlns:a="http://schemas.openxmlformats.org/drawingml/2006/main">
              <a:ext uri="{FF2B5EF4-FFF2-40B4-BE49-F238E27FC236}">
                <a16:creationId xmlns:a16="http://schemas.microsoft.com/office/drawing/2014/main" id="{A31DFF9E-2180-49E8-B577-1791228707CF}"/>
              </a:ext>
            </a:extLst>
          </p:cNvPr>
          <p:cNvSpPr>
            <a:spLocks xmlns:a="http://schemas.openxmlformats.org/drawingml/2006/main" noGrp="1"/>
          </p:cNvSpPr>
          <p:nvPr/>
        </p:nvSpPr>
        <p:spPr>
          <a:xfrm xmlns:a="http://schemas.openxmlformats.org/drawingml/2006/main">
            <a:off x="571500" y="2571750"/>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550" b="1">
                <a:solidFill>
                  <a:srgbClr val="F2F6FF"/>
                </a:solidFill>
                <a:latin typeface="Arial"/>
                <a:ea typeface="Arial"/>
                <a:cs typeface="Arial"/>
              </a:defRPr>
            </a:lvl1pPr>
            <a:lvl2pPr>
              <a:buNone/>
              <a:defRPr sz="2550" b="1">
                <a:solidFill>
                  <a:srgbClr val="F2F6FF"/>
                </a:solidFill>
                <a:latin typeface="Arial"/>
                <a:ea typeface="Arial"/>
                <a:cs typeface="Arial"/>
              </a:defRPr>
            </a:lvl2pPr>
            <a:lvl3pPr>
              <a:buNone/>
              <a:defRPr sz="2550" b="1">
                <a:solidFill>
                  <a:srgbClr val="F2F6FF"/>
                </a:solidFill>
                <a:latin typeface="Arial"/>
                <a:ea typeface="Arial"/>
                <a:cs typeface="Arial"/>
              </a:defRPr>
            </a:lvl3pPr>
            <a:lvl4pPr>
              <a:buNone/>
              <a:defRPr sz="2550" b="1">
                <a:solidFill>
                  <a:srgbClr val="F2F6FF"/>
                </a:solidFill>
                <a:latin typeface="Arial"/>
                <a:ea typeface="Arial"/>
                <a:cs typeface="Arial"/>
              </a:defRPr>
            </a:lvl4pPr>
            <a:lvl5pPr>
              <a:buNone/>
              <a:defRPr sz="2550" b="1">
                <a:solidFill>
                  <a:srgbClr val="F2F6FF"/>
                </a:solidFill>
                <a:latin typeface="Arial"/>
                <a:ea typeface="Arial"/>
                <a:cs typeface="Arial"/>
              </a:defRPr>
            </a:lvl5pPr>
            <a:lvl6pPr>
              <a:buNone/>
              <a:defRPr sz="2550" b="1">
                <a:solidFill>
                  <a:srgbClr val="F2F6FF"/>
                </a:solidFill>
                <a:latin typeface="Arial"/>
                <a:ea typeface="Arial"/>
                <a:cs typeface="Arial"/>
              </a:defRPr>
            </a:lvl6pPr>
            <a:lvl7pPr>
              <a:buNone/>
              <a:defRPr sz="2550" b="1">
                <a:solidFill>
                  <a:srgbClr val="F2F6FF"/>
                </a:solidFill>
                <a:latin typeface="Arial"/>
                <a:ea typeface="Arial"/>
                <a:cs typeface="Arial"/>
              </a:defRPr>
            </a:lvl7pPr>
            <a:lvl8pPr>
              <a:buNone/>
              <a:defRPr sz="2550" b="1">
                <a:solidFill>
                  <a:srgbClr val="F2F6FF"/>
                </a:solidFill>
                <a:latin typeface="Arial"/>
                <a:ea typeface="Arial"/>
                <a:cs typeface="Arial"/>
              </a:defRPr>
            </a:lvl8pPr>
            <a:lvl9pPr>
              <a:buNone/>
              <a:defRPr sz="2550" b="1">
                <a:solidFill>
                  <a:srgbClr val="F2F6FF"/>
                </a:solidFill>
                <a:latin typeface="Arial"/>
                <a:ea typeface="Arial"/>
                <a:cs typeface="Arial"/>
              </a:defRPr>
            </a:lvl9pPr>
          </a:lstStyle>
          <a:p xmlns:a="http://schemas.openxmlformats.org/drawingml/2006/main">
            <a:pPr>
              <a:buNone/>
              <a:defRPr sz="2550" b="1">
                <a:solidFill>
                  <a:srgbClr val="F2F6FF"/>
                </a:solidFill>
                <a:latin typeface="Arial"/>
                <a:ea typeface="Arial"/>
                <a:cs typeface="Arial"/>
              </a:defRPr>
            </a:pPr>
            <a:r>
              <a:rPr sz="2550" b="1">
                <a:solidFill>
                  <a:srgbClr val="F2F6FF"/>
                </a:solidFill>
                <a:latin typeface="Arial"/>
                <a:ea typeface="Arial"/>
                <a:cs typeface="Arial"/>
              </a:rPr>
              <a:t>Eng. Abdelwahab Abdallah</a:t>
            </a:r>
          </a:p>
        </p:txBody>
      </p:sp>
      <p:sp>
        <p:nvSpPr>
          <p:cNvPr id="6" name="integration-6">
            <a:extLst xmlns:a="http://schemas.openxmlformats.org/drawingml/2006/main">
              <a:ext uri="{FF2B5EF4-FFF2-40B4-BE49-F238E27FC236}">
                <a16:creationId xmlns:a16="http://schemas.microsoft.com/office/drawing/2014/main" id="{CC4F4788-A34E-4338-83A6-058A36D7A11B}"/>
              </a:ext>
            </a:extLst>
          </p:cNvPr>
          <p:cNvSpPr>
            <a:spLocks xmlns:a="http://schemas.openxmlformats.org/drawingml/2006/main" noGrp="1"/>
          </p:cNvSpPr>
          <p:nvPr/>
        </p:nvSpPr>
        <p:spPr>
          <a:xfrm xmlns:a="http://schemas.openxmlformats.org/drawingml/2006/main">
            <a:off x="571500" y="3305175"/>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550" b="1">
                <a:solidFill>
                  <a:srgbClr val="F2F6FF"/>
                </a:solidFill>
                <a:latin typeface="Arial"/>
                <a:ea typeface="Arial"/>
                <a:cs typeface="Arial"/>
              </a:defRPr>
            </a:lvl1pPr>
            <a:lvl2pPr>
              <a:buNone/>
              <a:defRPr sz="2550" b="1">
                <a:solidFill>
                  <a:srgbClr val="F2F6FF"/>
                </a:solidFill>
                <a:latin typeface="Arial"/>
                <a:ea typeface="Arial"/>
                <a:cs typeface="Arial"/>
              </a:defRPr>
            </a:lvl2pPr>
            <a:lvl3pPr>
              <a:buNone/>
              <a:defRPr sz="2550" b="1">
                <a:solidFill>
                  <a:srgbClr val="F2F6FF"/>
                </a:solidFill>
                <a:latin typeface="Arial"/>
                <a:ea typeface="Arial"/>
                <a:cs typeface="Arial"/>
              </a:defRPr>
            </a:lvl3pPr>
            <a:lvl4pPr>
              <a:buNone/>
              <a:defRPr sz="2550" b="1">
                <a:solidFill>
                  <a:srgbClr val="F2F6FF"/>
                </a:solidFill>
                <a:latin typeface="Arial"/>
                <a:ea typeface="Arial"/>
                <a:cs typeface="Arial"/>
              </a:defRPr>
            </a:lvl4pPr>
            <a:lvl5pPr>
              <a:buNone/>
              <a:defRPr sz="2550" b="1">
                <a:solidFill>
                  <a:srgbClr val="F2F6FF"/>
                </a:solidFill>
                <a:latin typeface="Arial"/>
                <a:ea typeface="Arial"/>
                <a:cs typeface="Arial"/>
              </a:defRPr>
            </a:lvl5pPr>
            <a:lvl6pPr>
              <a:buNone/>
              <a:defRPr sz="2550" b="1">
                <a:solidFill>
                  <a:srgbClr val="F2F6FF"/>
                </a:solidFill>
                <a:latin typeface="Arial"/>
                <a:ea typeface="Arial"/>
                <a:cs typeface="Arial"/>
              </a:defRPr>
            </a:lvl6pPr>
            <a:lvl7pPr>
              <a:buNone/>
              <a:defRPr sz="2550" b="1">
                <a:solidFill>
                  <a:srgbClr val="F2F6FF"/>
                </a:solidFill>
                <a:latin typeface="Arial"/>
                <a:ea typeface="Arial"/>
                <a:cs typeface="Arial"/>
              </a:defRPr>
            </a:lvl7pPr>
            <a:lvl8pPr>
              <a:buNone/>
              <a:defRPr sz="2550" b="1">
                <a:solidFill>
                  <a:srgbClr val="F2F6FF"/>
                </a:solidFill>
                <a:latin typeface="Arial"/>
                <a:ea typeface="Arial"/>
                <a:cs typeface="Arial"/>
              </a:defRPr>
            </a:lvl8pPr>
            <a:lvl9pPr>
              <a:buNone/>
              <a:defRPr sz="2550" b="1">
                <a:solidFill>
                  <a:srgbClr val="F2F6FF"/>
                </a:solidFill>
                <a:latin typeface="Arial"/>
                <a:ea typeface="Arial"/>
                <a:cs typeface="Arial"/>
              </a:defRPr>
            </a:lvl9pPr>
          </a:lstStyle>
          <a:p xmlns:a="http://schemas.openxmlformats.org/drawingml/2006/main">
            <a:pPr>
              <a:buNone/>
              <a:defRPr sz="2550" b="1">
                <a:solidFill>
                  <a:srgbClr val="F2F6FF"/>
                </a:solidFill>
                <a:latin typeface="Arial"/>
                <a:ea typeface="Arial"/>
                <a:cs typeface="Arial"/>
              </a:defRPr>
            </a:pPr>
            <a:r>
              <a:rPr sz="2550" b="1">
                <a:solidFill>
                  <a:srgbClr val="F2F6FF"/>
                </a:solidFill>
                <a:latin typeface="Arial"/>
                <a:ea typeface="Arial"/>
                <a:cs typeface="Arial"/>
              </a:rPr>
              <a:t>Eng. Eslam Yasser</a:t>
            </a:r>
          </a:p>
        </p:txBody>
      </p:sp>
      <p:sp>
        <p:nvSpPr>
          <p:cNvPr id="7" name="integration-7">
            <a:extLst xmlns:a="http://schemas.openxmlformats.org/drawingml/2006/main">
              <a:ext uri="{FF2B5EF4-FFF2-40B4-BE49-F238E27FC236}">
                <a16:creationId xmlns:a16="http://schemas.microsoft.com/office/drawing/2014/main" id="{65A371D1-6B34-4038-8C7E-88BEC36823D2}"/>
              </a:ext>
            </a:extLst>
          </p:cNvPr>
          <p:cNvSpPr>
            <a:spLocks xmlns:a="http://schemas.openxmlformats.org/drawingml/2006/main" noGrp="1"/>
          </p:cNvSpPr>
          <p:nvPr/>
        </p:nvSpPr>
        <p:spPr>
          <a:xfrm xmlns:a="http://schemas.openxmlformats.org/drawingml/2006/main">
            <a:off x="571500" y="4038600"/>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550" b="1">
                <a:solidFill>
                  <a:srgbClr val="F2F6FF"/>
                </a:solidFill>
                <a:latin typeface="Arial"/>
                <a:ea typeface="Arial"/>
                <a:cs typeface="Arial"/>
              </a:defRPr>
            </a:lvl1pPr>
            <a:lvl2pPr>
              <a:buNone/>
              <a:defRPr sz="2550" b="1">
                <a:solidFill>
                  <a:srgbClr val="F2F6FF"/>
                </a:solidFill>
                <a:latin typeface="Arial"/>
                <a:ea typeface="Arial"/>
                <a:cs typeface="Arial"/>
              </a:defRPr>
            </a:lvl2pPr>
            <a:lvl3pPr>
              <a:buNone/>
              <a:defRPr sz="2550" b="1">
                <a:solidFill>
                  <a:srgbClr val="F2F6FF"/>
                </a:solidFill>
                <a:latin typeface="Arial"/>
                <a:ea typeface="Arial"/>
                <a:cs typeface="Arial"/>
              </a:defRPr>
            </a:lvl3pPr>
            <a:lvl4pPr>
              <a:buNone/>
              <a:defRPr sz="2550" b="1">
                <a:solidFill>
                  <a:srgbClr val="F2F6FF"/>
                </a:solidFill>
                <a:latin typeface="Arial"/>
                <a:ea typeface="Arial"/>
                <a:cs typeface="Arial"/>
              </a:defRPr>
            </a:lvl4pPr>
            <a:lvl5pPr>
              <a:buNone/>
              <a:defRPr sz="2550" b="1">
                <a:solidFill>
                  <a:srgbClr val="F2F6FF"/>
                </a:solidFill>
                <a:latin typeface="Arial"/>
                <a:ea typeface="Arial"/>
                <a:cs typeface="Arial"/>
              </a:defRPr>
            </a:lvl5pPr>
            <a:lvl6pPr>
              <a:buNone/>
              <a:defRPr sz="2550" b="1">
                <a:solidFill>
                  <a:srgbClr val="F2F6FF"/>
                </a:solidFill>
                <a:latin typeface="Arial"/>
                <a:ea typeface="Arial"/>
                <a:cs typeface="Arial"/>
              </a:defRPr>
            </a:lvl6pPr>
            <a:lvl7pPr>
              <a:buNone/>
              <a:defRPr sz="2550" b="1">
                <a:solidFill>
                  <a:srgbClr val="F2F6FF"/>
                </a:solidFill>
                <a:latin typeface="Arial"/>
                <a:ea typeface="Arial"/>
                <a:cs typeface="Arial"/>
              </a:defRPr>
            </a:lvl7pPr>
            <a:lvl8pPr>
              <a:buNone/>
              <a:defRPr sz="2550" b="1">
                <a:solidFill>
                  <a:srgbClr val="F2F6FF"/>
                </a:solidFill>
                <a:latin typeface="Arial"/>
                <a:ea typeface="Arial"/>
                <a:cs typeface="Arial"/>
              </a:defRPr>
            </a:lvl8pPr>
            <a:lvl9pPr>
              <a:buNone/>
              <a:defRPr sz="2550" b="1">
                <a:solidFill>
                  <a:srgbClr val="F2F6FF"/>
                </a:solidFill>
                <a:latin typeface="Arial"/>
                <a:ea typeface="Arial"/>
                <a:cs typeface="Arial"/>
              </a:defRPr>
            </a:lvl9pPr>
          </a:lstStyle>
          <a:p xmlns:a="http://schemas.openxmlformats.org/drawingml/2006/main">
            <a:pPr>
              <a:buNone/>
              <a:defRPr sz="2550" b="1">
                <a:solidFill>
                  <a:srgbClr val="F2F6FF"/>
                </a:solidFill>
                <a:latin typeface="Arial"/>
                <a:ea typeface="Arial"/>
                <a:cs typeface="Arial"/>
              </a:defRPr>
            </a:pPr>
            <a:r>
              <a:rPr sz="2550" b="1">
                <a:solidFill>
                  <a:srgbClr val="F2F6FF"/>
                </a:solidFill>
                <a:latin typeface="Arial"/>
                <a:ea typeface="Arial"/>
                <a:cs typeface="Arial"/>
              </a:rPr>
              <a:t>Eng. Youssef Hany</a:t>
            </a:r>
          </a:p>
        </p:txBody>
      </p:sp>
      <p:sp>
        <p:nvSpPr>
          <p:cNvPr id="8" name="integration-8">
            <a:extLst xmlns:a="http://schemas.openxmlformats.org/drawingml/2006/main">
              <a:ext uri="{FF2B5EF4-FFF2-40B4-BE49-F238E27FC236}">
                <a16:creationId xmlns:a16="http://schemas.microsoft.com/office/drawing/2014/main" id="{483E1F09-03B2-41CF-BAD5-59C209D51F4B}"/>
              </a:ext>
            </a:extLst>
          </p:cNvPr>
          <p:cNvSpPr>
            <a:spLocks xmlns:a="http://schemas.openxmlformats.org/drawingml/2006/main" noGrp="1"/>
          </p:cNvSpPr>
          <p:nvPr/>
        </p:nvSpPr>
        <p:spPr>
          <a:xfrm xmlns:a="http://schemas.openxmlformats.org/drawingml/2006/main">
            <a:off x="571500" y="4772025"/>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550" b="1">
                <a:solidFill>
                  <a:srgbClr val="F2F6FF"/>
                </a:solidFill>
                <a:latin typeface="Arial"/>
                <a:ea typeface="Arial"/>
                <a:cs typeface="Arial"/>
              </a:defRPr>
            </a:lvl1pPr>
            <a:lvl2pPr>
              <a:buNone/>
              <a:defRPr sz="2550" b="1">
                <a:solidFill>
                  <a:srgbClr val="F2F6FF"/>
                </a:solidFill>
                <a:latin typeface="Arial"/>
                <a:ea typeface="Arial"/>
                <a:cs typeface="Arial"/>
              </a:defRPr>
            </a:lvl2pPr>
            <a:lvl3pPr>
              <a:buNone/>
              <a:defRPr sz="2550" b="1">
                <a:solidFill>
                  <a:srgbClr val="F2F6FF"/>
                </a:solidFill>
                <a:latin typeface="Arial"/>
                <a:ea typeface="Arial"/>
                <a:cs typeface="Arial"/>
              </a:defRPr>
            </a:lvl3pPr>
            <a:lvl4pPr>
              <a:buNone/>
              <a:defRPr sz="2550" b="1">
                <a:solidFill>
                  <a:srgbClr val="F2F6FF"/>
                </a:solidFill>
                <a:latin typeface="Arial"/>
                <a:ea typeface="Arial"/>
                <a:cs typeface="Arial"/>
              </a:defRPr>
            </a:lvl4pPr>
            <a:lvl5pPr>
              <a:buNone/>
              <a:defRPr sz="2550" b="1">
                <a:solidFill>
                  <a:srgbClr val="F2F6FF"/>
                </a:solidFill>
                <a:latin typeface="Arial"/>
                <a:ea typeface="Arial"/>
                <a:cs typeface="Arial"/>
              </a:defRPr>
            </a:lvl5pPr>
            <a:lvl6pPr>
              <a:buNone/>
              <a:defRPr sz="2550" b="1">
                <a:solidFill>
                  <a:srgbClr val="F2F6FF"/>
                </a:solidFill>
                <a:latin typeface="Arial"/>
                <a:ea typeface="Arial"/>
                <a:cs typeface="Arial"/>
              </a:defRPr>
            </a:lvl6pPr>
            <a:lvl7pPr>
              <a:buNone/>
              <a:defRPr sz="2550" b="1">
                <a:solidFill>
                  <a:srgbClr val="F2F6FF"/>
                </a:solidFill>
                <a:latin typeface="Arial"/>
                <a:ea typeface="Arial"/>
                <a:cs typeface="Arial"/>
              </a:defRPr>
            </a:lvl7pPr>
            <a:lvl8pPr>
              <a:buNone/>
              <a:defRPr sz="2550" b="1">
                <a:solidFill>
                  <a:srgbClr val="F2F6FF"/>
                </a:solidFill>
                <a:latin typeface="Arial"/>
                <a:ea typeface="Arial"/>
                <a:cs typeface="Arial"/>
              </a:defRPr>
            </a:lvl8pPr>
            <a:lvl9pPr>
              <a:buNone/>
              <a:defRPr sz="2550" b="1">
                <a:solidFill>
                  <a:srgbClr val="F2F6FF"/>
                </a:solidFill>
                <a:latin typeface="Arial"/>
                <a:ea typeface="Arial"/>
                <a:cs typeface="Arial"/>
              </a:defRPr>
            </a:lvl9pPr>
          </a:lstStyle>
          <a:p xmlns:a="http://schemas.openxmlformats.org/drawingml/2006/main">
            <a:pPr>
              <a:buNone/>
              <a:defRPr sz="2550" b="1">
                <a:solidFill>
                  <a:srgbClr val="F2F6FF"/>
                </a:solidFill>
                <a:latin typeface="Arial"/>
                <a:ea typeface="Arial"/>
                <a:cs typeface="Arial"/>
              </a:defRPr>
            </a:pPr>
            <a:r>
              <a:rPr sz="2550" b="1">
                <a:solidFill>
                  <a:srgbClr val="F2F6FF"/>
                </a:solidFill>
                <a:latin typeface="Arial"/>
                <a:ea typeface="Arial"/>
                <a:cs typeface="Arial"/>
              </a:rPr>
              <a:t>Eng. Mohamed Sami</a:t>
            </a:r>
          </a:p>
        </p:txBody>
      </p:sp>
      <p:sp>
        <p:nvSpPr>
          <p:cNvPr id="9" name="integration-9">
            <a:extLst xmlns:a="http://schemas.openxmlformats.org/drawingml/2006/main">
              <a:ext uri="{FF2B5EF4-FFF2-40B4-BE49-F238E27FC236}">
                <a16:creationId xmlns:a16="http://schemas.microsoft.com/office/drawing/2014/main" id="{A91F0A5D-1FA0-47F4-A9EE-58A6F0268647}"/>
              </a:ext>
            </a:extLst>
          </p:cNvPr>
          <p:cNvSpPr>
            <a:spLocks xmlns:a="http://schemas.openxmlformats.org/drawingml/2006/main" noGrp="1"/>
          </p:cNvSpPr>
          <p:nvPr/>
        </p:nvSpPr>
        <p:spPr>
          <a:xfrm xmlns:a="http://schemas.openxmlformats.org/drawingml/2006/main">
            <a:off x="7810500" y="20764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3DDCF5"/>
                </a:solidFill>
                <a:latin typeface="Arial"/>
                <a:ea typeface="Arial"/>
                <a:cs typeface="Arial"/>
              </a:defRPr>
            </a:lvl1pPr>
            <a:lvl2pPr>
              <a:buNone/>
              <a:defRPr sz="1350" b="1">
                <a:solidFill>
                  <a:srgbClr val="3DDCF5"/>
                </a:solidFill>
                <a:latin typeface="Arial"/>
                <a:ea typeface="Arial"/>
                <a:cs typeface="Arial"/>
              </a:defRPr>
            </a:lvl2pPr>
            <a:lvl3pPr>
              <a:buNone/>
              <a:defRPr sz="1350" b="1">
                <a:solidFill>
                  <a:srgbClr val="3DDCF5"/>
                </a:solidFill>
                <a:latin typeface="Arial"/>
                <a:ea typeface="Arial"/>
                <a:cs typeface="Arial"/>
              </a:defRPr>
            </a:lvl3pPr>
            <a:lvl4pPr>
              <a:buNone/>
              <a:defRPr sz="1350" b="1">
                <a:solidFill>
                  <a:srgbClr val="3DDCF5"/>
                </a:solidFill>
                <a:latin typeface="Arial"/>
                <a:ea typeface="Arial"/>
                <a:cs typeface="Arial"/>
              </a:defRPr>
            </a:lvl4pPr>
            <a:lvl5pPr>
              <a:buNone/>
              <a:defRPr sz="1350" b="1">
                <a:solidFill>
                  <a:srgbClr val="3DDCF5"/>
                </a:solidFill>
                <a:latin typeface="Arial"/>
                <a:ea typeface="Arial"/>
                <a:cs typeface="Arial"/>
              </a:defRPr>
            </a:lvl5pPr>
            <a:lvl6pPr>
              <a:buNone/>
              <a:defRPr sz="1350" b="1">
                <a:solidFill>
                  <a:srgbClr val="3DDCF5"/>
                </a:solidFill>
                <a:latin typeface="Arial"/>
                <a:ea typeface="Arial"/>
                <a:cs typeface="Arial"/>
              </a:defRPr>
            </a:lvl6pPr>
            <a:lvl7pPr>
              <a:buNone/>
              <a:defRPr sz="1350" b="1">
                <a:solidFill>
                  <a:srgbClr val="3DDCF5"/>
                </a:solidFill>
                <a:latin typeface="Arial"/>
                <a:ea typeface="Arial"/>
                <a:cs typeface="Arial"/>
              </a:defRPr>
            </a:lvl7pPr>
            <a:lvl8pPr>
              <a:buNone/>
              <a:defRPr sz="1350" b="1">
                <a:solidFill>
                  <a:srgbClr val="3DDCF5"/>
                </a:solidFill>
                <a:latin typeface="Arial"/>
                <a:ea typeface="Arial"/>
                <a:cs typeface="Arial"/>
              </a:defRPr>
            </a:lvl8pPr>
            <a:lvl9pPr>
              <a:buNone/>
              <a:defRPr sz="1350" b="1">
                <a:solidFill>
                  <a:srgbClr val="3DDCF5"/>
                </a:solidFill>
                <a:latin typeface="Arial"/>
                <a:ea typeface="Arial"/>
                <a:cs typeface="Arial"/>
              </a:defRPr>
            </a:lvl9pPr>
          </a:lstStyle>
          <a:p xmlns:a="http://schemas.openxmlformats.org/drawingml/2006/main">
            <a:pPr>
              <a:buNone/>
              <a:defRPr sz="1350" b="1">
                <a:solidFill>
                  <a:srgbClr val="3DDCF5"/>
                </a:solidFill>
                <a:latin typeface="Arial"/>
                <a:ea typeface="Arial"/>
                <a:cs typeface="Arial"/>
              </a:defRPr>
            </a:pPr>
            <a:r>
              <a:rPr sz="1350" b="1">
                <a:solidFill>
                  <a:srgbClr val="3DDCF5"/>
                </a:solidFill>
                <a:latin typeface="Arial"/>
                <a:ea typeface="Arial"/>
                <a:cs typeface="Arial"/>
              </a:rPr>
              <a:t>INSTRUCTOR</a:t>
            </a:r>
          </a:p>
        </p:txBody>
      </p:sp>
      <p:sp>
        <p:nvSpPr>
          <p:cNvPr id="10" name="integration-10">
            <a:extLst xmlns:a="http://schemas.openxmlformats.org/drawingml/2006/main">
              <a:ext uri="{FF2B5EF4-FFF2-40B4-BE49-F238E27FC236}">
                <a16:creationId xmlns:a16="http://schemas.microsoft.com/office/drawing/2014/main" id="{9E12F5FF-7329-47DB-86B9-DDC2572867C5}"/>
              </a:ext>
            </a:extLst>
          </p:cNvPr>
          <p:cNvSpPr>
            <a:spLocks xmlns:a="http://schemas.openxmlformats.org/drawingml/2006/main" noGrp="1"/>
          </p:cNvSpPr>
          <p:nvPr/>
        </p:nvSpPr>
        <p:spPr>
          <a:xfrm xmlns:a="http://schemas.openxmlformats.org/drawingml/2006/main">
            <a:off x="7810500" y="249555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F2F6FF"/>
                </a:solidFill>
                <a:latin typeface="Arial"/>
                <a:ea typeface="Arial"/>
                <a:cs typeface="Arial"/>
              </a:defRPr>
            </a:lvl1pPr>
            <a:lvl2pPr>
              <a:buNone/>
              <a:defRPr sz="2100" b="0">
                <a:solidFill>
                  <a:srgbClr val="F2F6FF"/>
                </a:solidFill>
                <a:latin typeface="Arial"/>
                <a:ea typeface="Arial"/>
                <a:cs typeface="Arial"/>
              </a:defRPr>
            </a:lvl2pPr>
            <a:lvl3pPr>
              <a:buNone/>
              <a:defRPr sz="2100" b="0">
                <a:solidFill>
                  <a:srgbClr val="F2F6FF"/>
                </a:solidFill>
                <a:latin typeface="Arial"/>
                <a:ea typeface="Arial"/>
                <a:cs typeface="Arial"/>
              </a:defRPr>
            </a:lvl3pPr>
            <a:lvl4pPr>
              <a:buNone/>
              <a:defRPr sz="2100" b="0">
                <a:solidFill>
                  <a:srgbClr val="F2F6FF"/>
                </a:solidFill>
                <a:latin typeface="Arial"/>
                <a:ea typeface="Arial"/>
                <a:cs typeface="Arial"/>
              </a:defRPr>
            </a:lvl4pPr>
            <a:lvl5pPr>
              <a:buNone/>
              <a:defRPr sz="2100" b="0">
                <a:solidFill>
                  <a:srgbClr val="F2F6FF"/>
                </a:solidFill>
                <a:latin typeface="Arial"/>
                <a:ea typeface="Arial"/>
                <a:cs typeface="Arial"/>
              </a:defRPr>
            </a:lvl5pPr>
            <a:lvl6pPr>
              <a:buNone/>
              <a:defRPr sz="2100" b="0">
                <a:solidFill>
                  <a:srgbClr val="F2F6FF"/>
                </a:solidFill>
                <a:latin typeface="Arial"/>
                <a:ea typeface="Arial"/>
                <a:cs typeface="Arial"/>
              </a:defRPr>
            </a:lvl6pPr>
            <a:lvl7pPr>
              <a:buNone/>
              <a:defRPr sz="2100" b="0">
                <a:solidFill>
                  <a:srgbClr val="F2F6FF"/>
                </a:solidFill>
                <a:latin typeface="Arial"/>
                <a:ea typeface="Arial"/>
                <a:cs typeface="Arial"/>
              </a:defRPr>
            </a:lvl7pPr>
            <a:lvl8pPr>
              <a:buNone/>
              <a:defRPr sz="2100" b="0">
                <a:solidFill>
                  <a:srgbClr val="F2F6FF"/>
                </a:solidFill>
                <a:latin typeface="Arial"/>
                <a:ea typeface="Arial"/>
                <a:cs typeface="Arial"/>
              </a:defRPr>
            </a:lvl8pPr>
            <a:lvl9pPr>
              <a:buNone/>
              <a:defRPr sz="2100" b="0">
                <a:solidFill>
                  <a:srgbClr val="F2F6FF"/>
                </a:solidFill>
                <a:latin typeface="Arial"/>
                <a:ea typeface="Arial"/>
                <a:cs typeface="Arial"/>
              </a:defRPr>
            </a:lvl9pPr>
          </a:lstStyle>
          <a:p xmlns:a="http://schemas.openxmlformats.org/drawingml/2006/main">
            <a:pPr>
              <a:buNone/>
              <a:defRPr sz="2100" b="0">
                <a:solidFill>
                  <a:srgbClr val="F2F6FF"/>
                </a:solidFill>
                <a:latin typeface="Arial"/>
                <a:ea typeface="Arial"/>
                <a:cs typeface="Arial"/>
              </a:defRPr>
            </a:pPr>
            <a:r>
              <a:rPr sz="2100" b="0">
                <a:solidFill>
                  <a:srgbClr val="F2F6FF"/>
                </a:solidFill>
                <a:latin typeface="Arial"/>
                <a:ea typeface="Arial"/>
                <a:cs typeface="Arial"/>
              </a:rPr>
              <a:t>Eng. Abdelrahman Faraag</a:t>
            </a:r>
          </a:p>
        </p:txBody>
      </p:sp>
      <p:sp>
        <p:nvSpPr>
          <p:cNvPr id="11" name="integration-11">
            <a:extLst xmlns:a="http://schemas.openxmlformats.org/drawingml/2006/main">
              <a:ext uri="{FF2B5EF4-FFF2-40B4-BE49-F238E27FC236}">
                <a16:creationId xmlns:a16="http://schemas.microsoft.com/office/drawing/2014/main" id="{172FBCC0-7D6E-4F96-AC77-7836086FBE7B}"/>
              </a:ext>
            </a:extLst>
          </p:cNvPr>
          <p:cNvSpPr>
            <a:spLocks xmlns:a="http://schemas.openxmlformats.org/drawingml/2006/main" noGrp="1"/>
          </p:cNvSpPr>
          <p:nvPr/>
        </p:nvSpPr>
        <p:spPr>
          <a:xfrm xmlns:a="http://schemas.openxmlformats.org/drawingml/2006/main">
            <a:off x="7810500" y="32766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3DDCF5"/>
                </a:solidFill>
                <a:latin typeface="Arial"/>
                <a:ea typeface="Arial"/>
                <a:cs typeface="Arial"/>
              </a:defRPr>
            </a:lvl1pPr>
            <a:lvl2pPr>
              <a:buNone/>
              <a:defRPr sz="1350" b="1">
                <a:solidFill>
                  <a:srgbClr val="3DDCF5"/>
                </a:solidFill>
                <a:latin typeface="Arial"/>
                <a:ea typeface="Arial"/>
                <a:cs typeface="Arial"/>
              </a:defRPr>
            </a:lvl2pPr>
            <a:lvl3pPr>
              <a:buNone/>
              <a:defRPr sz="1350" b="1">
                <a:solidFill>
                  <a:srgbClr val="3DDCF5"/>
                </a:solidFill>
                <a:latin typeface="Arial"/>
                <a:ea typeface="Arial"/>
                <a:cs typeface="Arial"/>
              </a:defRPr>
            </a:lvl3pPr>
            <a:lvl4pPr>
              <a:buNone/>
              <a:defRPr sz="1350" b="1">
                <a:solidFill>
                  <a:srgbClr val="3DDCF5"/>
                </a:solidFill>
                <a:latin typeface="Arial"/>
                <a:ea typeface="Arial"/>
                <a:cs typeface="Arial"/>
              </a:defRPr>
            </a:lvl4pPr>
            <a:lvl5pPr>
              <a:buNone/>
              <a:defRPr sz="1350" b="1">
                <a:solidFill>
                  <a:srgbClr val="3DDCF5"/>
                </a:solidFill>
                <a:latin typeface="Arial"/>
                <a:ea typeface="Arial"/>
                <a:cs typeface="Arial"/>
              </a:defRPr>
            </a:lvl5pPr>
            <a:lvl6pPr>
              <a:buNone/>
              <a:defRPr sz="1350" b="1">
                <a:solidFill>
                  <a:srgbClr val="3DDCF5"/>
                </a:solidFill>
                <a:latin typeface="Arial"/>
                <a:ea typeface="Arial"/>
                <a:cs typeface="Arial"/>
              </a:defRPr>
            </a:lvl6pPr>
            <a:lvl7pPr>
              <a:buNone/>
              <a:defRPr sz="1350" b="1">
                <a:solidFill>
                  <a:srgbClr val="3DDCF5"/>
                </a:solidFill>
                <a:latin typeface="Arial"/>
                <a:ea typeface="Arial"/>
                <a:cs typeface="Arial"/>
              </a:defRPr>
            </a:lvl7pPr>
            <a:lvl8pPr>
              <a:buNone/>
              <a:defRPr sz="1350" b="1">
                <a:solidFill>
                  <a:srgbClr val="3DDCF5"/>
                </a:solidFill>
                <a:latin typeface="Arial"/>
                <a:ea typeface="Arial"/>
                <a:cs typeface="Arial"/>
              </a:defRPr>
            </a:lvl8pPr>
            <a:lvl9pPr>
              <a:buNone/>
              <a:defRPr sz="1350" b="1">
                <a:solidFill>
                  <a:srgbClr val="3DDCF5"/>
                </a:solidFill>
                <a:latin typeface="Arial"/>
                <a:ea typeface="Arial"/>
                <a:cs typeface="Arial"/>
              </a:defRPr>
            </a:lvl9pPr>
          </a:lstStyle>
          <a:p xmlns:a="http://schemas.openxmlformats.org/drawingml/2006/main">
            <a:pPr>
              <a:buNone/>
              <a:defRPr sz="1350" b="1">
                <a:solidFill>
                  <a:srgbClr val="3DDCF5"/>
                </a:solidFill>
                <a:latin typeface="Arial"/>
                <a:ea typeface="Arial"/>
                <a:cs typeface="Arial"/>
              </a:defRPr>
            </a:pPr>
            <a:r>
              <a:rPr sz="1350" b="1">
                <a:solidFill>
                  <a:srgbClr val="3DDCF5"/>
                </a:solidFill>
                <a:latin typeface="Arial"/>
                <a:ea typeface="Arial"/>
                <a:cs typeface="Arial"/>
              </a:rPr>
              <a:t>MENTOR</a:t>
            </a:r>
          </a:p>
        </p:txBody>
      </p:sp>
      <p:sp>
        <p:nvSpPr>
          <p:cNvPr id="12" name="integration-12">
            <a:extLst xmlns:a="http://schemas.openxmlformats.org/drawingml/2006/main">
              <a:ext uri="{FF2B5EF4-FFF2-40B4-BE49-F238E27FC236}">
                <a16:creationId xmlns:a16="http://schemas.microsoft.com/office/drawing/2014/main" id="{A452E50D-75A3-430E-80AB-C3F2BC10A574}"/>
              </a:ext>
            </a:extLst>
          </p:cNvPr>
          <p:cNvSpPr>
            <a:spLocks xmlns:a="http://schemas.openxmlformats.org/drawingml/2006/main" noGrp="1"/>
          </p:cNvSpPr>
          <p:nvPr/>
        </p:nvSpPr>
        <p:spPr>
          <a:xfrm xmlns:a="http://schemas.openxmlformats.org/drawingml/2006/main">
            <a:off x="7810500" y="369570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F2F6FF"/>
                </a:solidFill>
                <a:latin typeface="Arial"/>
                <a:ea typeface="Arial"/>
                <a:cs typeface="Arial"/>
              </a:defRPr>
            </a:lvl1pPr>
            <a:lvl2pPr>
              <a:buNone/>
              <a:defRPr sz="2100" b="0">
                <a:solidFill>
                  <a:srgbClr val="F2F6FF"/>
                </a:solidFill>
                <a:latin typeface="Arial"/>
                <a:ea typeface="Arial"/>
                <a:cs typeface="Arial"/>
              </a:defRPr>
            </a:lvl2pPr>
            <a:lvl3pPr>
              <a:buNone/>
              <a:defRPr sz="2100" b="0">
                <a:solidFill>
                  <a:srgbClr val="F2F6FF"/>
                </a:solidFill>
                <a:latin typeface="Arial"/>
                <a:ea typeface="Arial"/>
                <a:cs typeface="Arial"/>
              </a:defRPr>
            </a:lvl3pPr>
            <a:lvl4pPr>
              <a:buNone/>
              <a:defRPr sz="2100" b="0">
                <a:solidFill>
                  <a:srgbClr val="F2F6FF"/>
                </a:solidFill>
                <a:latin typeface="Arial"/>
                <a:ea typeface="Arial"/>
                <a:cs typeface="Arial"/>
              </a:defRPr>
            </a:lvl4pPr>
            <a:lvl5pPr>
              <a:buNone/>
              <a:defRPr sz="2100" b="0">
                <a:solidFill>
                  <a:srgbClr val="F2F6FF"/>
                </a:solidFill>
                <a:latin typeface="Arial"/>
                <a:ea typeface="Arial"/>
                <a:cs typeface="Arial"/>
              </a:defRPr>
            </a:lvl5pPr>
            <a:lvl6pPr>
              <a:buNone/>
              <a:defRPr sz="2100" b="0">
                <a:solidFill>
                  <a:srgbClr val="F2F6FF"/>
                </a:solidFill>
                <a:latin typeface="Arial"/>
                <a:ea typeface="Arial"/>
                <a:cs typeface="Arial"/>
              </a:defRPr>
            </a:lvl6pPr>
            <a:lvl7pPr>
              <a:buNone/>
              <a:defRPr sz="2100" b="0">
                <a:solidFill>
                  <a:srgbClr val="F2F6FF"/>
                </a:solidFill>
                <a:latin typeface="Arial"/>
                <a:ea typeface="Arial"/>
                <a:cs typeface="Arial"/>
              </a:defRPr>
            </a:lvl7pPr>
            <a:lvl8pPr>
              <a:buNone/>
              <a:defRPr sz="2100" b="0">
                <a:solidFill>
                  <a:srgbClr val="F2F6FF"/>
                </a:solidFill>
                <a:latin typeface="Arial"/>
                <a:ea typeface="Arial"/>
                <a:cs typeface="Arial"/>
              </a:defRPr>
            </a:lvl8pPr>
            <a:lvl9pPr>
              <a:buNone/>
              <a:defRPr sz="2100" b="0">
                <a:solidFill>
                  <a:srgbClr val="F2F6FF"/>
                </a:solidFill>
                <a:latin typeface="Arial"/>
                <a:ea typeface="Arial"/>
                <a:cs typeface="Arial"/>
              </a:defRPr>
            </a:lvl9pPr>
          </a:lstStyle>
          <a:p xmlns:a="http://schemas.openxmlformats.org/drawingml/2006/main">
            <a:pPr>
              <a:buNone/>
              <a:defRPr sz="2100" b="0">
                <a:solidFill>
                  <a:srgbClr val="F2F6FF"/>
                </a:solidFill>
                <a:latin typeface="Arial"/>
                <a:ea typeface="Arial"/>
                <a:cs typeface="Arial"/>
              </a:defRPr>
            </a:pPr>
            <a:r>
              <a:rPr sz="2100" b="0">
                <a:solidFill>
                  <a:srgbClr val="F2F6FF"/>
                </a:solidFill>
                <a:latin typeface="Arial"/>
                <a:ea typeface="Arial"/>
                <a:cs typeface="Arial"/>
              </a:rPr>
              <a:t>Eng. Ismail Moustafa</a:t>
            </a:r>
          </a:p>
        </p:txBody>
      </p:sp>
      <p:sp>
        <p:nvSpPr>
          <p:cNvPr id="13" name="integration-13">
            <a:extLst xmlns:a="http://schemas.openxmlformats.org/drawingml/2006/main">
              <a:ext uri="{FF2B5EF4-FFF2-40B4-BE49-F238E27FC236}">
                <a16:creationId xmlns:a16="http://schemas.microsoft.com/office/drawing/2014/main" id="{ECE702E4-DF2B-4DC8-834E-702843E87A65}"/>
              </a:ext>
            </a:extLst>
          </p:cNvPr>
          <p:cNvSpPr>
            <a:spLocks xmlns:a="http://schemas.openxmlformats.org/drawingml/2006/main" noGrp="1"/>
          </p:cNvSpPr>
          <p:nvPr/>
        </p:nvSpPr>
        <p:spPr>
          <a:xfrm xmlns:a="http://schemas.openxmlformats.org/drawingml/2006/main">
            <a:off x="7810500" y="44767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3DDCF5"/>
                </a:solidFill>
                <a:latin typeface="Arial"/>
                <a:ea typeface="Arial"/>
                <a:cs typeface="Arial"/>
              </a:defRPr>
            </a:lvl1pPr>
            <a:lvl2pPr>
              <a:buNone/>
              <a:defRPr sz="1350" b="1">
                <a:solidFill>
                  <a:srgbClr val="3DDCF5"/>
                </a:solidFill>
                <a:latin typeface="Arial"/>
                <a:ea typeface="Arial"/>
                <a:cs typeface="Arial"/>
              </a:defRPr>
            </a:lvl2pPr>
            <a:lvl3pPr>
              <a:buNone/>
              <a:defRPr sz="1350" b="1">
                <a:solidFill>
                  <a:srgbClr val="3DDCF5"/>
                </a:solidFill>
                <a:latin typeface="Arial"/>
                <a:ea typeface="Arial"/>
                <a:cs typeface="Arial"/>
              </a:defRPr>
            </a:lvl3pPr>
            <a:lvl4pPr>
              <a:buNone/>
              <a:defRPr sz="1350" b="1">
                <a:solidFill>
                  <a:srgbClr val="3DDCF5"/>
                </a:solidFill>
                <a:latin typeface="Arial"/>
                <a:ea typeface="Arial"/>
                <a:cs typeface="Arial"/>
              </a:defRPr>
            </a:lvl4pPr>
            <a:lvl5pPr>
              <a:buNone/>
              <a:defRPr sz="1350" b="1">
                <a:solidFill>
                  <a:srgbClr val="3DDCF5"/>
                </a:solidFill>
                <a:latin typeface="Arial"/>
                <a:ea typeface="Arial"/>
                <a:cs typeface="Arial"/>
              </a:defRPr>
            </a:lvl5pPr>
            <a:lvl6pPr>
              <a:buNone/>
              <a:defRPr sz="1350" b="1">
                <a:solidFill>
                  <a:srgbClr val="3DDCF5"/>
                </a:solidFill>
                <a:latin typeface="Arial"/>
                <a:ea typeface="Arial"/>
                <a:cs typeface="Arial"/>
              </a:defRPr>
            </a:lvl6pPr>
            <a:lvl7pPr>
              <a:buNone/>
              <a:defRPr sz="1350" b="1">
                <a:solidFill>
                  <a:srgbClr val="3DDCF5"/>
                </a:solidFill>
                <a:latin typeface="Arial"/>
                <a:ea typeface="Arial"/>
                <a:cs typeface="Arial"/>
              </a:defRPr>
            </a:lvl7pPr>
            <a:lvl8pPr>
              <a:buNone/>
              <a:defRPr sz="1350" b="1">
                <a:solidFill>
                  <a:srgbClr val="3DDCF5"/>
                </a:solidFill>
                <a:latin typeface="Arial"/>
                <a:ea typeface="Arial"/>
                <a:cs typeface="Arial"/>
              </a:defRPr>
            </a:lvl8pPr>
            <a:lvl9pPr>
              <a:buNone/>
              <a:defRPr sz="1350" b="1">
                <a:solidFill>
                  <a:srgbClr val="3DDCF5"/>
                </a:solidFill>
                <a:latin typeface="Arial"/>
                <a:ea typeface="Arial"/>
                <a:cs typeface="Arial"/>
              </a:defRPr>
            </a:lvl9pPr>
          </a:lstStyle>
          <a:p xmlns:a="http://schemas.openxmlformats.org/drawingml/2006/main">
            <a:pPr>
              <a:buNone/>
              <a:defRPr sz="1350" b="1">
                <a:solidFill>
                  <a:srgbClr val="3DDCF5"/>
                </a:solidFill>
                <a:latin typeface="Arial"/>
                <a:ea typeface="Arial"/>
                <a:cs typeface="Arial"/>
              </a:defRPr>
            </a:pPr>
            <a:r>
              <a:rPr sz="1350" b="1">
                <a:solidFill>
                  <a:srgbClr val="3DDCF5"/>
                </a:solidFill>
                <a:latin typeface="Arial"/>
                <a:ea typeface="Arial"/>
                <a:cs typeface="Arial"/>
              </a:rPr>
              <a:t>COMPANY</a:t>
            </a:r>
          </a:p>
        </p:txBody>
      </p:sp>
      <p:sp>
        <p:nvSpPr>
          <p:cNvPr id="14" name="integration-14">
            <a:extLst xmlns:a="http://schemas.openxmlformats.org/drawingml/2006/main">
              <a:ext uri="{FF2B5EF4-FFF2-40B4-BE49-F238E27FC236}">
                <a16:creationId xmlns:a16="http://schemas.microsoft.com/office/drawing/2014/main" id="{CD9BBF29-6DA2-445F-997B-0EC8B62E48D7}"/>
              </a:ext>
            </a:extLst>
          </p:cNvPr>
          <p:cNvSpPr>
            <a:spLocks xmlns:a="http://schemas.openxmlformats.org/drawingml/2006/main" noGrp="1"/>
          </p:cNvSpPr>
          <p:nvPr/>
        </p:nvSpPr>
        <p:spPr>
          <a:xfrm xmlns:a="http://schemas.openxmlformats.org/drawingml/2006/main">
            <a:off x="7810500" y="489585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F2F6FF"/>
                </a:solidFill>
                <a:latin typeface="Arial"/>
                <a:ea typeface="Arial"/>
                <a:cs typeface="Arial"/>
              </a:defRPr>
            </a:lvl1pPr>
            <a:lvl2pPr>
              <a:buNone/>
              <a:defRPr sz="2100" b="0">
                <a:solidFill>
                  <a:srgbClr val="F2F6FF"/>
                </a:solidFill>
                <a:latin typeface="Arial"/>
                <a:ea typeface="Arial"/>
                <a:cs typeface="Arial"/>
              </a:defRPr>
            </a:lvl2pPr>
            <a:lvl3pPr>
              <a:buNone/>
              <a:defRPr sz="2100" b="0">
                <a:solidFill>
                  <a:srgbClr val="F2F6FF"/>
                </a:solidFill>
                <a:latin typeface="Arial"/>
                <a:ea typeface="Arial"/>
                <a:cs typeface="Arial"/>
              </a:defRPr>
            </a:lvl3pPr>
            <a:lvl4pPr>
              <a:buNone/>
              <a:defRPr sz="2100" b="0">
                <a:solidFill>
                  <a:srgbClr val="F2F6FF"/>
                </a:solidFill>
                <a:latin typeface="Arial"/>
                <a:ea typeface="Arial"/>
                <a:cs typeface="Arial"/>
              </a:defRPr>
            </a:lvl4pPr>
            <a:lvl5pPr>
              <a:buNone/>
              <a:defRPr sz="2100" b="0">
                <a:solidFill>
                  <a:srgbClr val="F2F6FF"/>
                </a:solidFill>
                <a:latin typeface="Arial"/>
                <a:ea typeface="Arial"/>
                <a:cs typeface="Arial"/>
              </a:defRPr>
            </a:lvl5pPr>
            <a:lvl6pPr>
              <a:buNone/>
              <a:defRPr sz="2100" b="0">
                <a:solidFill>
                  <a:srgbClr val="F2F6FF"/>
                </a:solidFill>
                <a:latin typeface="Arial"/>
                <a:ea typeface="Arial"/>
                <a:cs typeface="Arial"/>
              </a:defRPr>
            </a:lvl6pPr>
            <a:lvl7pPr>
              <a:buNone/>
              <a:defRPr sz="2100" b="0">
                <a:solidFill>
                  <a:srgbClr val="F2F6FF"/>
                </a:solidFill>
                <a:latin typeface="Arial"/>
                <a:ea typeface="Arial"/>
                <a:cs typeface="Arial"/>
              </a:defRPr>
            </a:lvl7pPr>
            <a:lvl8pPr>
              <a:buNone/>
              <a:defRPr sz="2100" b="0">
                <a:solidFill>
                  <a:srgbClr val="F2F6FF"/>
                </a:solidFill>
                <a:latin typeface="Arial"/>
                <a:ea typeface="Arial"/>
                <a:cs typeface="Arial"/>
              </a:defRPr>
            </a:lvl8pPr>
            <a:lvl9pPr>
              <a:buNone/>
              <a:defRPr sz="2100" b="0">
                <a:solidFill>
                  <a:srgbClr val="F2F6FF"/>
                </a:solidFill>
                <a:latin typeface="Arial"/>
                <a:ea typeface="Arial"/>
                <a:cs typeface="Arial"/>
              </a:defRPr>
            </a:lvl9pPr>
          </a:lstStyle>
          <a:p xmlns:a="http://schemas.openxmlformats.org/drawingml/2006/main">
            <a:pPr>
              <a:buNone/>
              <a:defRPr sz="2100" b="0">
                <a:solidFill>
                  <a:srgbClr val="F2F6FF"/>
                </a:solidFill>
                <a:latin typeface="Arial"/>
                <a:ea typeface="Arial"/>
                <a:cs typeface="Arial"/>
              </a:defRPr>
            </a:pPr>
            <a:r>
              <a:rPr sz="2100" b="0">
                <a:solidFill>
                  <a:srgbClr val="F2F6FF"/>
                </a:solidFill>
                <a:latin typeface="Arial"/>
                <a:ea typeface="Arial"/>
                <a:cs typeface="Arial"/>
              </a:rPr>
              <a:t>Instant</a:t>
            </a:r>
          </a:p>
        </p:txBody>
      </p:sp>
      <p:sp>
        <p:nvSpPr>
          <p:cNvPr id="15" name="integration-123">
            <a:extLst xmlns:a="http://schemas.openxmlformats.org/drawingml/2006/main">
              <a:ext uri="{FF2B5EF4-FFF2-40B4-BE49-F238E27FC236}">
                <a16:creationId xmlns:a16="http://schemas.microsoft.com/office/drawing/2014/main" id="{FAA72602-90D9-4993-BDF1-5704D2BC1818}"/>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02</a:t>
            </a:r>
          </a:p>
        </p:txBody>
      </p:sp>
    </p:spTree>
    <p:extLst>
      <p:ext uri="{BB962C8B-B14F-4D97-AF65-F5344CB8AC3E}">
        <p14:creationId xmlns:p14="http://schemas.microsoft.com/office/powerpoint/2010/main" val="1101689743"/>
      </p:ext>
    </p:extLst>
  </p:cSld>
</p:sld>
</file>

<file path=ppt/slides/slide3.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427f4e47419499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278A687-36CF-4EF7-B8D9-656601722748}"/>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BUSINESS PROBLEM AND OBJECTIVES</a:t>
            </a:r>
          </a:p>
        </p:txBody>
      </p:sp>
      <p:sp>
        <p:nvSpPr>
          <p:cNvPr id="12" name="">
            <a:extLst xmlns:a="http://schemas.openxmlformats.org/drawingml/2006/main">
              <a:ext uri="{FF2B5EF4-FFF2-40B4-BE49-F238E27FC236}">
                <a16:creationId xmlns:a16="http://schemas.microsoft.com/office/drawing/2014/main" id="{E9C6B9FD-FD36-48FA-93BF-1706F4C44C2D}"/>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D6C0D1F-7C81-4792-8FC0-C9DA547D04A2}"/>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Validate service, cost and capacity measures before committing resources</a:t>
            </a:r>
          </a:p>
        </p:txBody>
      </p:sp>
      <p:sp>
        <p:nvSpPr>
          <p:cNvPr id="2" name="">
            <a:extLst xmlns:a="http://schemas.openxmlformats.org/drawingml/2006/main">
              <a:ext uri="{FF2B5EF4-FFF2-40B4-BE49-F238E27FC236}">
                <a16:creationId xmlns:a16="http://schemas.microsoft.com/office/drawing/2014/main" id="{1385CCB5-13D5-4D31-96D0-FC36575EF94C}"/>
              </a:ext>
            </a:extLst>
          </p:cNvPr>
          <p:cNvSpPr>
            <a:spLocks xmlns:a="http://schemas.openxmlformats.org/drawingml/2006/main" noGrp="1"/>
          </p:cNvSpPr>
          <p:nvPr/>
        </p:nvSpPr>
        <p:spPr>
          <a:xfrm xmlns:a="http://schemas.openxmlformats.org/drawingml/2006/main">
            <a:off x="571500" y="828675"/>
            <a:ext cx="10858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225" b="1">
                <a:solidFill>
                  <a:srgbClr val="0A2B43"/>
                </a:solidFill>
                <a:latin typeface="Arial"/>
                <a:ea typeface="Arial"/>
                <a:cs typeface="Arial"/>
              </a:defRPr>
            </a:lvl1pPr>
            <a:lvl2pPr>
              <a:buNone/>
              <a:defRPr sz="3225" b="1">
                <a:solidFill>
                  <a:srgbClr val="0A2B43"/>
                </a:solidFill>
                <a:latin typeface="Arial"/>
                <a:ea typeface="Arial"/>
                <a:cs typeface="Arial"/>
              </a:defRPr>
            </a:lvl2pPr>
            <a:lvl3pPr>
              <a:buNone/>
              <a:defRPr sz="3225" b="1">
                <a:solidFill>
                  <a:srgbClr val="0A2B43"/>
                </a:solidFill>
                <a:latin typeface="Arial"/>
                <a:ea typeface="Arial"/>
                <a:cs typeface="Arial"/>
              </a:defRPr>
            </a:lvl3pPr>
            <a:lvl4pPr>
              <a:buNone/>
              <a:defRPr sz="3225" b="1">
                <a:solidFill>
                  <a:srgbClr val="0A2B43"/>
                </a:solidFill>
                <a:latin typeface="Arial"/>
                <a:ea typeface="Arial"/>
                <a:cs typeface="Arial"/>
              </a:defRPr>
            </a:lvl4pPr>
            <a:lvl5pPr>
              <a:buNone/>
              <a:defRPr sz="3225" b="1">
                <a:solidFill>
                  <a:srgbClr val="0A2B43"/>
                </a:solidFill>
                <a:latin typeface="Arial"/>
                <a:ea typeface="Arial"/>
                <a:cs typeface="Arial"/>
              </a:defRPr>
            </a:lvl5pPr>
            <a:lvl6pPr>
              <a:buNone/>
              <a:defRPr sz="3225" b="1">
                <a:solidFill>
                  <a:srgbClr val="0A2B43"/>
                </a:solidFill>
                <a:latin typeface="Arial"/>
                <a:ea typeface="Arial"/>
                <a:cs typeface="Arial"/>
              </a:defRPr>
            </a:lvl6pPr>
            <a:lvl7pPr>
              <a:buNone/>
              <a:defRPr sz="3225" b="1">
                <a:solidFill>
                  <a:srgbClr val="0A2B43"/>
                </a:solidFill>
                <a:latin typeface="Arial"/>
                <a:ea typeface="Arial"/>
                <a:cs typeface="Arial"/>
              </a:defRPr>
            </a:lvl7pPr>
            <a:lvl8pPr>
              <a:buNone/>
              <a:defRPr sz="3225" b="1">
                <a:solidFill>
                  <a:srgbClr val="0A2B43"/>
                </a:solidFill>
                <a:latin typeface="Arial"/>
                <a:ea typeface="Arial"/>
                <a:cs typeface="Arial"/>
              </a:defRPr>
            </a:lvl8pPr>
            <a:lvl9pPr>
              <a:buNone/>
              <a:defRPr sz="3225" b="1">
                <a:solidFill>
                  <a:srgbClr val="0A2B43"/>
                </a:solidFill>
                <a:latin typeface="Arial"/>
                <a:ea typeface="Arial"/>
                <a:cs typeface="Arial"/>
              </a:defRPr>
            </a:lvl9pPr>
          </a:lstStyle>
          <a:p xmlns:a="http://schemas.openxmlformats.org/drawingml/2006/main">
            <a:pPr>
              <a:buNone/>
              <a:defRPr sz="4050" b="1">
                <a:solidFill>
                  <a:srgbClr val="F2F6FF"/>
                </a:solidFill>
                <a:latin typeface="Arial"/>
                <a:ea typeface="Arial"/>
                <a:cs typeface="Arial"/>
              </a:defRPr>
            </a:pPr>
            <a:r>
              <a:rPr sz="4050" b="1">
                <a:solidFill>
                  <a:srgbClr val="F2F6FF"/>
                </a:solidFill>
                <a:latin typeface="Arial"/>
                <a:ea typeface="Arial"/>
                <a:cs typeface="Arial"/>
              </a:rPr>
              <a:t>Which decisions can our logistics data reliably support?</a:t>
            </a:r>
          </a:p>
        </p:txBody>
      </p:sp>
      <p:sp>
        <p:nvSpPr>
          <p:cNvPr id="3" name="">
            <a:extLst xmlns:a="http://schemas.openxmlformats.org/drawingml/2006/main">
              <a:ext uri="{FF2B5EF4-FFF2-40B4-BE49-F238E27FC236}">
                <a16:creationId xmlns:a16="http://schemas.microsoft.com/office/drawing/2014/main" id="{69683052-33EF-4F21-AC2F-C44C019147CF}"/>
              </a:ext>
            </a:extLst>
          </p:cNvPr>
          <p:cNvSpPr>
            <a:spLocks xmlns:a="http://schemas.openxmlformats.org/drawingml/2006/main" noGrp="1"/>
          </p:cNvSpPr>
          <p:nvPr/>
        </p:nvSpPr>
        <p:spPr>
          <a:xfrm xmlns:a="http://schemas.openxmlformats.org/drawingml/2006/main">
            <a:off x="571500" y="26670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400" b="1">
                <a:solidFill>
                  <a:srgbClr val="074E8C"/>
                </a:solidFill>
                <a:latin typeface="Arial"/>
                <a:ea typeface="Arial"/>
                <a:cs typeface="Arial"/>
              </a:defRPr>
            </a:lvl1pPr>
            <a:lvl2pPr>
              <a:buNone/>
              <a:defRPr sz="2400" b="1">
                <a:solidFill>
                  <a:srgbClr val="074E8C"/>
                </a:solidFill>
                <a:latin typeface="Arial"/>
                <a:ea typeface="Arial"/>
                <a:cs typeface="Arial"/>
              </a:defRPr>
            </a:lvl2pPr>
            <a:lvl3pPr>
              <a:buNone/>
              <a:defRPr sz="2400" b="1">
                <a:solidFill>
                  <a:srgbClr val="074E8C"/>
                </a:solidFill>
                <a:latin typeface="Arial"/>
                <a:ea typeface="Arial"/>
                <a:cs typeface="Arial"/>
              </a:defRPr>
            </a:lvl3pPr>
            <a:lvl4pPr>
              <a:buNone/>
              <a:defRPr sz="2400" b="1">
                <a:solidFill>
                  <a:srgbClr val="074E8C"/>
                </a:solidFill>
                <a:latin typeface="Arial"/>
                <a:ea typeface="Arial"/>
                <a:cs typeface="Arial"/>
              </a:defRPr>
            </a:lvl4pPr>
            <a:lvl5pPr>
              <a:buNone/>
              <a:defRPr sz="2400" b="1">
                <a:solidFill>
                  <a:srgbClr val="074E8C"/>
                </a:solidFill>
                <a:latin typeface="Arial"/>
                <a:ea typeface="Arial"/>
                <a:cs typeface="Arial"/>
              </a:defRPr>
            </a:lvl5pPr>
            <a:lvl6pPr>
              <a:buNone/>
              <a:defRPr sz="2400" b="1">
                <a:solidFill>
                  <a:srgbClr val="074E8C"/>
                </a:solidFill>
                <a:latin typeface="Arial"/>
                <a:ea typeface="Arial"/>
                <a:cs typeface="Arial"/>
              </a:defRPr>
            </a:lvl6pPr>
            <a:lvl7pPr>
              <a:buNone/>
              <a:defRPr sz="2400" b="1">
                <a:solidFill>
                  <a:srgbClr val="074E8C"/>
                </a:solidFill>
                <a:latin typeface="Arial"/>
                <a:ea typeface="Arial"/>
                <a:cs typeface="Arial"/>
              </a:defRPr>
            </a:lvl7pPr>
            <a:lvl8pPr>
              <a:buNone/>
              <a:defRPr sz="2400" b="1">
                <a:solidFill>
                  <a:srgbClr val="074E8C"/>
                </a:solidFill>
                <a:latin typeface="Arial"/>
                <a:ea typeface="Arial"/>
                <a:cs typeface="Arial"/>
              </a:defRPr>
            </a:lvl8pPr>
            <a:lvl9pPr>
              <a:buNone/>
              <a:defRPr sz="2400" b="1">
                <a:solidFill>
                  <a:srgbClr val="074E8C"/>
                </a:solidFill>
                <a:latin typeface="Arial"/>
                <a:ea typeface="Arial"/>
                <a:cs typeface="Arial"/>
              </a:defRPr>
            </a:lvl9pPr>
          </a:lstStyle>
          <a:p xmlns:a="http://schemas.openxmlformats.org/drawingml/2006/main">
            <a:pPr>
              <a:buNone/>
              <a:defRPr sz="2550" b="1">
                <a:solidFill>
                  <a:srgbClr val="3DDCF5"/>
                </a:solidFill>
                <a:latin typeface="Arial"/>
                <a:ea typeface="Arial"/>
                <a:cs typeface="Arial"/>
              </a:defRPr>
            </a:pPr>
            <a:r>
              <a:rPr sz="2550" b="1">
                <a:solidFill>
                  <a:srgbClr val="3DDCF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0D812E7-D0CA-4AC3-A4FE-B39B81507FEF}"/>
              </a:ext>
            </a:extLst>
          </p:cNvPr>
          <p:cNvSpPr>
            <a:spLocks xmlns:a="http://schemas.openxmlformats.org/drawingml/2006/main" noGrp="1"/>
          </p:cNvSpPr>
          <p:nvPr/>
        </p:nvSpPr>
        <p:spPr>
          <a:xfrm xmlns:a="http://schemas.openxmlformats.org/drawingml/2006/main">
            <a:off x="1447800" y="2695575"/>
            <a:ext cx="4191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025" b="0">
                <a:solidFill>
                  <a:srgbClr val="0A2B43"/>
                </a:solidFill>
                <a:latin typeface="Arial"/>
                <a:ea typeface="Arial"/>
                <a:cs typeface="Arial"/>
              </a:defRPr>
            </a:lvl1pPr>
            <a:lvl2pPr>
              <a:buNone/>
              <a:defRPr sz="2025" b="0">
                <a:solidFill>
                  <a:srgbClr val="0A2B43"/>
                </a:solidFill>
                <a:latin typeface="Arial"/>
                <a:ea typeface="Arial"/>
                <a:cs typeface="Arial"/>
              </a:defRPr>
            </a:lvl2pPr>
            <a:lvl3pPr>
              <a:buNone/>
              <a:defRPr sz="2025" b="0">
                <a:solidFill>
                  <a:srgbClr val="0A2B43"/>
                </a:solidFill>
                <a:latin typeface="Arial"/>
                <a:ea typeface="Arial"/>
                <a:cs typeface="Arial"/>
              </a:defRPr>
            </a:lvl3pPr>
            <a:lvl4pPr>
              <a:buNone/>
              <a:defRPr sz="2025" b="0">
                <a:solidFill>
                  <a:srgbClr val="0A2B43"/>
                </a:solidFill>
                <a:latin typeface="Arial"/>
                <a:ea typeface="Arial"/>
                <a:cs typeface="Arial"/>
              </a:defRPr>
            </a:lvl4pPr>
            <a:lvl5pPr>
              <a:buNone/>
              <a:defRPr sz="2025" b="0">
                <a:solidFill>
                  <a:srgbClr val="0A2B43"/>
                </a:solidFill>
                <a:latin typeface="Arial"/>
                <a:ea typeface="Arial"/>
                <a:cs typeface="Arial"/>
              </a:defRPr>
            </a:lvl5pPr>
            <a:lvl6pPr>
              <a:buNone/>
              <a:defRPr sz="2025" b="0">
                <a:solidFill>
                  <a:srgbClr val="0A2B43"/>
                </a:solidFill>
                <a:latin typeface="Arial"/>
                <a:ea typeface="Arial"/>
                <a:cs typeface="Arial"/>
              </a:defRPr>
            </a:lvl6pPr>
            <a:lvl7pPr>
              <a:buNone/>
              <a:defRPr sz="2025" b="0">
                <a:solidFill>
                  <a:srgbClr val="0A2B43"/>
                </a:solidFill>
                <a:latin typeface="Arial"/>
                <a:ea typeface="Arial"/>
                <a:cs typeface="Arial"/>
              </a:defRPr>
            </a:lvl7pPr>
            <a:lvl8pPr>
              <a:buNone/>
              <a:defRPr sz="2025" b="0">
                <a:solidFill>
                  <a:srgbClr val="0A2B43"/>
                </a:solidFill>
                <a:latin typeface="Arial"/>
                <a:ea typeface="Arial"/>
                <a:cs typeface="Arial"/>
              </a:defRPr>
            </a:lvl8pPr>
            <a:lvl9pPr>
              <a:buNone/>
              <a:defRPr sz="2025" b="0">
                <a:solidFill>
                  <a:srgbClr val="0A2B43"/>
                </a:solidFill>
                <a:latin typeface="Arial"/>
                <a:ea typeface="Arial"/>
                <a:cs typeface="Arial"/>
              </a:defRPr>
            </a:lvl9pPr>
          </a:lstStyle>
          <a:p xmlns:a="http://schemas.openxmlformats.org/drawingml/2006/main">
            <a:pPr>
              <a:buNone/>
              <a:defRPr sz="2100" b="0">
                <a:solidFill>
                  <a:srgbClr val="F2F6FF"/>
                </a:solidFill>
                <a:latin typeface="Arial"/>
                <a:ea typeface="Arial"/>
                <a:cs typeface="Arial"/>
              </a:defRPr>
            </a:pPr>
            <a:r>
              <a:rPr sz="2100" b="0">
                <a:solidFill>
                  <a:srgbClr val="F2F6FF"/>
                </a:solidFill>
                <a:latin typeface="Arial"/>
                <a:ea typeface="Arial"/>
                <a:cs typeface="Arial"/>
              </a:rPr>
              <a:t>Are deliveries meeting scheduled commitments?</a:t>
            </a:r>
          </a:p>
        </p:txBody>
      </p:sp>
      <p:sp>
        <p:nvSpPr>
          <p:cNvPr id="5" name="">
            <a:extLst xmlns:a="http://schemas.openxmlformats.org/drawingml/2006/main">
              <a:ext uri="{FF2B5EF4-FFF2-40B4-BE49-F238E27FC236}">
                <a16:creationId xmlns:a16="http://schemas.microsoft.com/office/drawing/2014/main" id="{81C21843-D270-4E78-B1EE-73281D269953}"/>
              </a:ext>
            </a:extLst>
          </p:cNvPr>
          <p:cNvSpPr>
            <a:spLocks xmlns:a="http://schemas.openxmlformats.org/drawingml/2006/main" noGrp="1"/>
          </p:cNvSpPr>
          <p:nvPr/>
        </p:nvSpPr>
        <p:spPr>
          <a:xfrm xmlns:a="http://schemas.openxmlformats.org/drawingml/2006/main">
            <a:off x="6381750" y="26670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400" b="1">
                <a:solidFill>
                  <a:srgbClr val="074E8C"/>
                </a:solidFill>
                <a:latin typeface="Arial"/>
                <a:ea typeface="Arial"/>
                <a:cs typeface="Arial"/>
              </a:defRPr>
            </a:lvl1pPr>
            <a:lvl2pPr>
              <a:buNone/>
              <a:defRPr sz="2400" b="1">
                <a:solidFill>
                  <a:srgbClr val="074E8C"/>
                </a:solidFill>
                <a:latin typeface="Arial"/>
                <a:ea typeface="Arial"/>
                <a:cs typeface="Arial"/>
              </a:defRPr>
            </a:lvl2pPr>
            <a:lvl3pPr>
              <a:buNone/>
              <a:defRPr sz="2400" b="1">
                <a:solidFill>
                  <a:srgbClr val="074E8C"/>
                </a:solidFill>
                <a:latin typeface="Arial"/>
                <a:ea typeface="Arial"/>
                <a:cs typeface="Arial"/>
              </a:defRPr>
            </a:lvl3pPr>
            <a:lvl4pPr>
              <a:buNone/>
              <a:defRPr sz="2400" b="1">
                <a:solidFill>
                  <a:srgbClr val="074E8C"/>
                </a:solidFill>
                <a:latin typeface="Arial"/>
                <a:ea typeface="Arial"/>
                <a:cs typeface="Arial"/>
              </a:defRPr>
            </a:lvl4pPr>
            <a:lvl5pPr>
              <a:buNone/>
              <a:defRPr sz="2400" b="1">
                <a:solidFill>
                  <a:srgbClr val="074E8C"/>
                </a:solidFill>
                <a:latin typeface="Arial"/>
                <a:ea typeface="Arial"/>
                <a:cs typeface="Arial"/>
              </a:defRPr>
            </a:lvl5pPr>
            <a:lvl6pPr>
              <a:buNone/>
              <a:defRPr sz="2400" b="1">
                <a:solidFill>
                  <a:srgbClr val="074E8C"/>
                </a:solidFill>
                <a:latin typeface="Arial"/>
                <a:ea typeface="Arial"/>
                <a:cs typeface="Arial"/>
              </a:defRPr>
            </a:lvl6pPr>
            <a:lvl7pPr>
              <a:buNone/>
              <a:defRPr sz="2400" b="1">
                <a:solidFill>
                  <a:srgbClr val="074E8C"/>
                </a:solidFill>
                <a:latin typeface="Arial"/>
                <a:ea typeface="Arial"/>
                <a:cs typeface="Arial"/>
              </a:defRPr>
            </a:lvl7pPr>
            <a:lvl8pPr>
              <a:buNone/>
              <a:defRPr sz="2400" b="1">
                <a:solidFill>
                  <a:srgbClr val="074E8C"/>
                </a:solidFill>
                <a:latin typeface="Arial"/>
                <a:ea typeface="Arial"/>
                <a:cs typeface="Arial"/>
              </a:defRPr>
            </a:lvl8pPr>
            <a:lvl9pPr>
              <a:buNone/>
              <a:defRPr sz="2400" b="1">
                <a:solidFill>
                  <a:srgbClr val="074E8C"/>
                </a:solidFill>
                <a:latin typeface="Arial"/>
                <a:ea typeface="Arial"/>
                <a:cs typeface="Arial"/>
              </a:defRPr>
            </a:lvl9pPr>
          </a:lstStyle>
          <a:p xmlns:a="http://schemas.openxmlformats.org/drawingml/2006/main">
            <a:pPr>
              <a:buNone/>
              <a:defRPr sz="2550" b="1">
                <a:solidFill>
                  <a:srgbClr val="3DDCF5"/>
                </a:solidFill>
                <a:latin typeface="Arial"/>
                <a:ea typeface="Arial"/>
                <a:cs typeface="Arial"/>
              </a:defRPr>
            </a:pPr>
            <a:r>
              <a:rPr sz="2550" b="1">
                <a:solidFill>
                  <a:srgbClr val="3DDCF5"/>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9CA84CDF-27F1-4A81-8608-BA159E0D2B0E}"/>
              </a:ext>
            </a:extLst>
          </p:cNvPr>
          <p:cNvSpPr>
            <a:spLocks xmlns:a="http://schemas.openxmlformats.org/drawingml/2006/main" noGrp="1"/>
          </p:cNvSpPr>
          <p:nvPr/>
        </p:nvSpPr>
        <p:spPr>
          <a:xfrm xmlns:a="http://schemas.openxmlformats.org/drawingml/2006/main">
            <a:off x="7258050" y="2695575"/>
            <a:ext cx="4191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025" b="0">
                <a:solidFill>
                  <a:srgbClr val="0A2B43"/>
                </a:solidFill>
                <a:latin typeface="Arial"/>
                <a:ea typeface="Arial"/>
                <a:cs typeface="Arial"/>
              </a:defRPr>
            </a:lvl1pPr>
            <a:lvl2pPr>
              <a:buNone/>
              <a:defRPr sz="2025" b="0">
                <a:solidFill>
                  <a:srgbClr val="0A2B43"/>
                </a:solidFill>
                <a:latin typeface="Arial"/>
                <a:ea typeface="Arial"/>
                <a:cs typeface="Arial"/>
              </a:defRPr>
            </a:lvl2pPr>
            <a:lvl3pPr>
              <a:buNone/>
              <a:defRPr sz="2025" b="0">
                <a:solidFill>
                  <a:srgbClr val="0A2B43"/>
                </a:solidFill>
                <a:latin typeface="Arial"/>
                <a:ea typeface="Arial"/>
                <a:cs typeface="Arial"/>
              </a:defRPr>
            </a:lvl3pPr>
            <a:lvl4pPr>
              <a:buNone/>
              <a:defRPr sz="2025" b="0">
                <a:solidFill>
                  <a:srgbClr val="0A2B43"/>
                </a:solidFill>
                <a:latin typeface="Arial"/>
                <a:ea typeface="Arial"/>
                <a:cs typeface="Arial"/>
              </a:defRPr>
            </a:lvl4pPr>
            <a:lvl5pPr>
              <a:buNone/>
              <a:defRPr sz="2025" b="0">
                <a:solidFill>
                  <a:srgbClr val="0A2B43"/>
                </a:solidFill>
                <a:latin typeface="Arial"/>
                <a:ea typeface="Arial"/>
                <a:cs typeface="Arial"/>
              </a:defRPr>
            </a:lvl5pPr>
            <a:lvl6pPr>
              <a:buNone/>
              <a:defRPr sz="2025" b="0">
                <a:solidFill>
                  <a:srgbClr val="0A2B43"/>
                </a:solidFill>
                <a:latin typeface="Arial"/>
                <a:ea typeface="Arial"/>
                <a:cs typeface="Arial"/>
              </a:defRPr>
            </a:lvl6pPr>
            <a:lvl7pPr>
              <a:buNone/>
              <a:defRPr sz="2025" b="0">
                <a:solidFill>
                  <a:srgbClr val="0A2B43"/>
                </a:solidFill>
                <a:latin typeface="Arial"/>
                <a:ea typeface="Arial"/>
                <a:cs typeface="Arial"/>
              </a:defRPr>
            </a:lvl7pPr>
            <a:lvl8pPr>
              <a:buNone/>
              <a:defRPr sz="2025" b="0">
                <a:solidFill>
                  <a:srgbClr val="0A2B43"/>
                </a:solidFill>
                <a:latin typeface="Arial"/>
                <a:ea typeface="Arial"/>
                <a:cs typeface="Arial"/>
              </a:defRPr>
            </a:lvl8pPr>
            <a:lvl9pPr>
              <a:buNone/>
              <a:defRPr sz="2025" b="0">
                <a:solidFill>
                  <a:srgbClr val="0A2B43"/>
                </a:solidFill>
                <a:latin typeface="Arial"/>
                <a:ea typeface="Arial"/>
                <a:cs typeface="Arial"/>
              </a:defRPr>
            </a:lvl9pPr>
          </a:lstStyle>
          <a:p xmlns:a="http://schemas.openxmlformats.org/drawingml/2006/main">
            <a:pPr>
              <a:buNone/>
              <a:defRPr sz="2100" b="0">
                <a:solidFill>
                  <a:srgbClr val="F2F6FF"/>
                </a:solidFill>
                <a:latin typeface="Arial"/>
                <a:ea typeface="Arial"/>
                <a:cs typeface="Arial"/>
              </a:defRPr>
            </a:pPr>
            <a:r>
              <a:rPr sz="2100" b="0">
                <a:solidFill>
                  <a:srgbClr val="F2F6FF"/>
                </a:solidFill>
                <a:latin typeface="Arial"/>
                <a:ea typeface="Arial"/>
                <a:cs typeface="Arial"/>
              </a:rPr>
              <a:t>Which costs and fuel balances need attention?</a:t>
            </a:r>
          </a:p>
        </p:txBody>
      </p:sp>
      <p:sp>
        <p:nvSpPr>
          <p:cNvPr id="7" name="">
            <a:extLst xmlns:a="http://schemas.openxmlformats.org/drawingml/2006/main">
              <a:ext uri="{FF2B5EF4-FFF2-40B4-BE49-F238E27FC236}">
                <a16:creationId xmlns:a16="http://schemas.microsoft.com/office/drawing/2014/main" id="{919D8EFF-F3FA-4DD1-AD65-200C2C77C977}"/>
              </a:ext>
            </a:extLst>
          </p:cNvPr>
          <p:cNvSpPr>
            <a:spLocks xmlns:a="http://schemas.openxmlformats.org/drawingml/2006/main" noGrp="1"/>
          </p:cNvSpPr>
          <p:nvPr/>
        </p:nvSpPr>
        <p:spPr>
          <a:xfrm xmlns:a="http://schemas.openxmlformats.org/drawingml/2006/main">
            <a:off x="571500" y="424815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400" b="1">
                <a:solidFill>
                  <a:srgbClr val="074E8C"/>
                </a:solidFill>
                <a:latin typeface="Arial"/>
                <a:ea typeface="Arial"/>
                <a:cs typeface="Arial"/>
              </a:defRPr>
            </a:lvl1pPr>
            <a:lvl2pPr>
              <a:buNone/>
              <a:defRPr sz="2400" b="1">
                <a:solidFill>
                  <a:srgbClr val="074E8C"/>
                </a:solidFill>
                <a:latin typeface="Arial"/>
                <a:ea typeface="Arial"/>
                <a:cs typeface="Arial"/>
              </a:defRPr>
            </a:lvl2pPr>
            <a:lvl3pPr>
              <a:buNone/>
              <a:defRPr sz="2400" b="1">
                <a:solidFill>
                  <a:srgbClr val="074E8C"/>
                </a:solidFill>
                <a:latin typeface="Arial"/>
                <a:ea typeface="Arial"/>
                <a:cs typeface="Arial"/>
              </a:defRPr>
            </a:lvl3pPr>
            <a:lvl4pPr>
              <a:buNone/>
              <a:defRPr sz="2400" b="1">
                <a:solidFill>
                  <a:srgbClr val="074E8C"/>
                </a:solidFill>
                <a:latin typeface="Arial"/>
                <a:ea typeface="Arial"/>
                <a:cs typeface="Arial"/>
              </a:defRPr>
            </a:lvl4pPr>
            <a:lvl5pPr>
              <a:buNone/>
              <a:defRPr sz="2400" b="1">
                <a:solidFill>
                  <a:srgbClr val="074E8C"/>
                </a:solidFill>
                <a:latin typeface="Arial"/>
                <a:ea typeface="Arial"/>
                <a:cs typeface="Arial"/>
              </a:defRPr>
            </a:lvl5pPr>
            <a:lvl6pPr>
              <a:buNone/>
              <a:defRPr sz="2400" b="1">
                <a:solidFill>
                  <a:srgbClr val="074E8C"/>
                </a:solidFill>
                <a:latin typeface="Arial"/>
                <a:ea typeface="Arial"/>
                <a:cs typeface="Arial"/>
              </a:defRPr>
            </a:lvl6pPr>
            <a:lvl7pPr>
              <a:buNone/>
              <a:defRPr sz="2400" b="1">
                <a:solidFill>
                  <a:srgbClr val="074E8C"/>
                </a:solidFill>
                <a:latin typeface="Arial"/>
                <a:ea typeface="Arial"/>
                <a:cs typeface="Arial"/>
              </a:defRPr>
            </a:lvl7pPr>
            <a:lvl8pPr>
              <a:buNone/>
              <a:defRPr sz="2400" b="1">
                <a:solidFill>
                  <a:srgbClr val="074E8C"/>
                </a:solidFill>
                <a:latin typeface="Arial"/>
                <a:ea typeface="Arial"/>
                <a:cs typeface="Arial"/>
              </a:defRPr>
            </a:lvl8pPr>
            <a:lvl9pPr>
              <a:buNone/>
              <a:defRPr sz="2400" b="1">
                <a:solidFill>
                  <a:srgbClr val="074E8C"/>
                </a:solidFill>
                <a:latin typeface="Arial"/>
                <a:ea typeface="Arial"/>
                <a:cs typeface="Arial"/>
              </a:defRPr>
            </a:lvl9pPr>
          </a:lstStyle>
          <a:p xmlns:a="http://schemas.openxmlformats.org/drawingml/2006/main">
            <a:pPr>
              <a:buNone/>
              <a:defRPr sz="2550" b="1">
                <a:solidFill>
                  <a:srgbClr val="3DDCF5"/>
                </a:solidFill>
                <a:latin typeface="Arial"/>
                <a:ea typeface="Arial"/>
                <a:cs typeface="Arial"/>
              </a:defRPr>
            </a:pPr>
            <a:r>
              <a:rPr sz="2550" b="1">
                <a:solidFill>
                  <a:srgbClr val="3DDCF5"/>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6972CD67-E89F-40B1-9C2E-9B7B5AAA8888}"/>
              </a:ext>
            </a:extLst>
          </p:cNvPr>
          <p:cNvSpPr>
            <a:spLocks xmlns:a="http://schemas.openxmlformats.org/drawingml/2006/main" noGrp="1"/>
          </p:cNvSpPr>
          <p:nvPr/>
        </p:nvSpPr>
        <p:spPr>
          <a:xfrm xmlns:a="http://schemas.openxmlformats.org/drawingml/2006/main">
            <a:off x="1447800" y="4276725"/>
            <a:ext cx="4191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025" b="0">
                <a:solidFill>
                  <a:srgbClr val="0A2B43"/>
                </a:solidFill>
                <a:latin typeface="Arial"/>
                <a:ea typeface="Arial"/>
                <a:cs typeface="Arial"/>
              </a:defRPr>
            </a:lvl1pPr>
            <a:lvl2pPr>
              <a:buNone/>
              <a:defRPr sz="2025" b="0">
                <a:solidFill>
                  <a:srgbClr val="0A2B43"/>
                </a:solidFill>
                <a:latin typeface="Arial"/>
                <a:ea typeface="Arial"/>
                <a:cs typeface="Arial"/>
              </a:defRPr>
            </a:lvl2pPr>
            <a:lvl3pPr>
              <a:buNone/>
              <a:defRPr sz="2025" b="0">
                <a:solidFill>
                  <a:srgbClr val="0A2B43"/>
                </a:solidFill>
                <a:latin typeface="Arial"/>
                <a:ea typeface="Arial"/>
                <a:cs typeface="Arial"/>
              </a:defRPr>
            </a:lvl3pPr>
            <a:lvl4pPr>
              <a:buNone/>
              <a:defRPr sz="2025" b="0">
                <a:solidFill>
                  <a:srgbClr val="0A2B43"/>
                </a:solidFill>
                <a:latin typeface="Arial"/>
                <a:ea typeface="Arial"/>
                <a:cs typeface="Arial"/>
              </a:defRPr>
            </a:lvl4pPr>
            <a:lvl5pPr>
              <a:buNone/>
              <a:defRPr sz="2025" b="0">
                <a:solidFill>
                  <a:srgbClr val="0A2B43"/>
                </a:solidFill>
                <a:latin typeface="Arial"/>
                <a:ea typeface="Arial"/>
                <a:cs typeface="Arial"/>
              </a:defRPr>
            </a:lvl5pPr>
            <a:lvl6pPr>
              <a:buNone/>
              <a:defRPr sz="2025" b="0">
                <a:solidFill>
                  <a:srgbClr val="0A2B43"/>
                </a:solidFill>
                <a:latin typeface="Arial"/>
                <a:ea typeface="Arial"/>
                <a:cs typeface="Arial"/>
              </a:defRPr>
            </a:lvl6pPr>
            <a:lvl7pPr>
              <a:buNone/>
              <a:defRPr sz="2025" b="0">
                <a:solidFill>
                  <a:srgbClr val="0A2B43"/>
                </a:solidFill>
                <a:latin typeface="Arial"/>
                <a:ea typeface="Arial"/>
                <a:cs typeface="Arial"/>
              </a:defRPr>
            </a:lvl7pPr>
            <a:lvl8pPr>
              <a:buNone/>
              <a:defRPr sz="2025" b="0">
                <a:solidFill>
                  <a:srgbClr val="0A2B43"/>
                </a:solidFill>
                <a:latin typeface="Arial"/>
                <a:ea typeface="Arial"/>
                <a:cs typeface="Arial"/>
              </a:defRPr>
            </a:lvl8pPr>
            <a:lvl9pPr>
              <a:buNone/>
              <a:defRPr sz="2025" b="0">
                <a:solidFill>
                  <a:srgbClr val="0A2B43"/>
                </a:solidFill>
                <a:latin typeface="Arial"/>
                <a:ea typeface="Arial"/>
                <a:cs typeface="Arial"/>
              </a:defRPr>
            </a:lvl9pPr>
          </a:lstStyle>
          <a:p xmlns:a="http://schemas.openxmlformats.org/drawingml/2006/main">
            <a:pPr>
              <a:buNone/>
              <a:defRPr sz="2100" b="0">
                <a:solidFill>
                  <a:srgbClr val="F2F6FF"/>
                </a:solidFill>
                <a:latin typeface="Arial"/>
                <a:ea typeface="Arial"/>
                <a:cs typeface="Arial"/>
              </a:defRPr>
            </a:pPr>
            <a:r>
              <a:rPr sz="2100" b="0">
                <a:solidFill>
                  <a:srgbClr val="F2F6FF"/>
                </a:solidFill>
                <a:latin typeface="Arial"/>
                <a:ea typeface="Arial"/>
                <a:cs typeface="Arial"/>
              </a:rPr>
              <a:t>Does asset data measure usable capacity?</a:t>
            </a:r>
          </a:p>
        </p:txBody>
      </p:sp>
      <p:sp>
        <p:nvSpPr>
          <p:cNvPr id="9" name="">
            <a:extLst xmlns:a="http://schemas.openxmlformats.org/drawingml/2006/main">
              <a:ext uri="{FF2B5EF4-FFF2-40B4-BE49-F238E27FC236}">
                <a16:creationId xmlns:a16="http://schemas.microsoft.com/office/drawing/2014/main" id="{E8ED3764-789B-4550-A7AF-C4D2F1B1FF88}"/>
              </a:ext>
            </a:extLst>
          </p:cNvPr>
          <p:cNvSpPr>
            <a:spLocks xmlns:a="http://schemas.openxmlformats.org/drawingml/2006/main" noGrp="1"/>
          </p:cNvSpPr>
          <p:nvPr/>
        </p:nvSpPr>
        <p:spPr>
          <a:xfrm xmlns:a="http://schemas.openxmlformats.org/drawingml/2006/main">
            <a:off x="6381750" y="424815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400" b="1">
                <a:solidFill>
                  <a:srgbClr val="074E8C"/>
                </a:solidFill>
                <a:latin typeface="Arial"/>
                <a:ea typeface="Arial"/>
                <a:cs typeface="Arial"/>
              </a:defRPr>
            </a:lvl1pPr>
            <a:lvl2pPr>
              <a:buNone/>
              <a:defRPr sz="2400" b="1">
                <a:solidFill>
                  <a:srgbClr val="074E8C"/>
                </a:solidFill>
                <a:latin typeface="Arial"/>
                <a:ea typeface="Arial"/>
                <a:cs typeface="Arial"/>
              </a:defRPr>
            </a:lvl2pPr>
            <a:lvl3pPr>
              <a:buNone/>
              <a:defRPr sz="2400" b="1">
                <a:solidFill>
                  <a:srgbClr val="074E8C"/>
                </a:solidFill>
                <a:latin typeface="Arial"/>
                <a:ea typeface="Arial"/>
                <a:cs typeface="Arial"/>
              </a:defRPr>
            </a:lvl3pPr>
            <a:lvl4pPr>
              <a:buNone/>
              <a:defRPr sz="2400" b="1">
                <a:solidFill>
                  <a:srgbClr val="074E8C"/>
                </a:solidFill>
                <a:latin typeface="Arial"/>
                <a:ea typeface="Arial"/>
                <a:cs typeface="Arial"/>
              </a:defRPr>
            </a:lvl4pPr>
            <a:lvl5pPr>
              <a:buNone/>
              <a:defRPr sz="2400" b="1">
                <a:solidFill>
                  <a:srgbClr val="074E8C"/>
                </a:solidFill>
                <a:latin typeface="Arial"/>
                <a:ea typeface="Arial"/>
                <a:cs typeface="Arial"/>
              </a:defRPr>
            </a:lvl5pPr>
            <a:lvl6pPr>
              <a:buNone/>
              <a:defRPr sz="2400" b="1">
                <a:solidFill>
                  <a:srgbClr val="074E8C"/>
                </a:solidFill>
                <a:latin typeface="Arial"/>
                <a:ea typeface="Arial"/>
                <a:cs typeface="Arial"/>
              </a:defRPr>
            </a:lvl6pPr>
            <a:lvl7pPr>
              <a:buNone/>
              <a:defRPr sz="2400" b="1">
                <a:solidFill>
                  <a:srgbClr val="074E8C"/>
                </a:solidFill>
                <a:latin typeface="Arial"/>
                <a:ea typeface="Arial"/>
                <a:cs typeface="Arial"/>
              </a:defRPr>
            </a:lvl7pPr>
            <a:lvl8pPr>
              <a:buNone/>
              <a:defRPr sz="2400" b="1">
                <a:solidFill>
                  <a:srgbClr val="074E8C"/>
                </a:solidFill>
                <a:latin typeface="Arial"/>
                <a:ea typeface="Arial"/>
                <a:cs typeface="Arial"/>
              </a:defRPr>
            </a:lvl8pPr>
            <a:lvl9pPr>
              <a:buNone/>
              <a:defRPr sz="2400" b="1">
                <a:solidFill>
                  <a:srgbClr val="074E8C"/>
                </a:solidFill>
                <a:latin typeface="Arial"/>
                <a:ea typeface="Arial"/>
                <a:cs typeface="Arial"/>
              </a:defRPr>
            </a:lvl9pPr>
          </a:lstStyle>
          <a:p xmlns:a="http://schemas.openxmlformats.org/drawingml/2006/main">
            <a:pPr>
              <a:buNone/>
              <a:defRPr sz="2550" b="1">
                <a:solidFill>
                  <a:srgbClr val="3DDCF5"/>
                </a:solidFill>
                <a:latin typeface="Arial"/>
                <a:ea typeface="Arial"/>
                <a:cs typeface="Arial"/>
              </a:defRPr>
            </a:pPr>
            <a:r>
              <a:rPr sz="2550" b="1">
                <a:solidFill>
                  <a:srgbClr val="3DDCF5"/>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C5F6113E-057A-4D12-8B9D-020955C6A964}"/>
              </a:ext>
            </a:extLst>
          </p:cNvPr>
          <p:cNvSpPr>
            <a:spLocks xmlns:a="http://schemas.openxmlformats.org/drawingml/2006/main" noGrp="1"/>
          </p:cNvSpPr>
          <p:nvPr/>
        </p:nvSpPr>
        <p:spPr>
          <a:xfrm xmlns:a="http://schemas.openxmlformats.org/drawingml/2006/main">
            <a:off x="7258050" y="4276725"/>
            <a:ext cx="4191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025" b="0">
                <a:solidFill>
                  <a:srgbClr val="0A2B43"/>
                </a:solidFill>
                <a:latin typeface="Arial"/>
                <a:ea typeface="Arial"/>
                <a:cs typeface="Arial"/>
              </a:defRPr>
            </a:lvl1pPr>
            <a:lvl2pPr>
              <a:buNone/>
              <a:defRPr sz="2025" b="0">
                <a:solidFill>
                  <a:srgbClr val="0A2B43"/>
                </a:solidFill>
                <a:latin typeface="Arial"/>
                <a:ea typeface="Arial"/>
                <a:cs typeface="Arial"/>
              </a:defRPr>
            </a:lvl2pPr>
            <a:lvl3pPr>
              <a:buNone/>
              <a:defRPr sz="2025" b="0">
                <a:solidFill>
                  <a:srgbClr val="0A2B43"/>
                </a:solidFill>
                <a:latin typeface="Arial"/>
                <a:ea typeface="Arial"/>
                <a:cs typeface="Arial"/>
              </a:defRPr>
            </a:lvl3pPr>
            <a:lvl4pPr>
              <a:buNone/>
              <a:defRPr sz="2025" b="0">
                <a:solidFill>
                  <a:srgbClr val="0A2B43"/>
                </a:solidFill>
                <a:latin typeface="Arial"/>
                <a:ea typeface="Arial"/>
                <a:cs typeface="Arial"/>
              </a:defRPr>
            </a:lvl4pPr>
            <a:lvl5pPr>
              <a:buNone/>
              <a:defRPr sz="2025" b="0">
                <a:solidFill>
                  <a:srgbClr val="0A2B43"/>
                </a:solidFill>
                <a:latin typeface="Arial"/>
                <a:ea typeface="Arial"/>
                <a:cs typeface="Arial"/>
              </a:defRPr>
            </a:lvl5pPr>
            <a:lvl6pPr>
              <a:buNone/>
              <a:defRPr sz="2025" b="0">
                <a:solidFill>
                  <a:srgbClr val="0A2B43"/>
                </a:solidFill>
                <a:latin typeface="Arial"/>
                <a:ea typeface="Arial"/>
                <a:cs typeface="Arial"/>
              </a:defRPr>
            </a:lvl6pPr>
            <a:lvl7pPr>
              <a:buNone/>
              <a:defRPr sz="2025" b="0">
                <a:solidFill>
                  <a:srgbClr val="0A2B43"/>
                </a:solidFill>
                <a:latin typeface="Arial"/>
                <a:ea typeface="Arial"/>
                <a:cs typeface="Arial"/>
              </a:defRPr>
            </a:lvl7pPr>
            <a:lvl8pPr>
              <a:buNone/>
              <a:defRPr sz="2025" b="0">
                <a:solidFill>
                  <a:srgbClr val="0A2B43"/>
                </a:solidFill>
                <a:latin typeface="Arial"/>
                <a:ea typeface="Arial"/>
                <a:cs typeface="Arial"/>
              </a:defRPr>
            </a:lvl8pPr>
            <a:lvl9pPr>
              <a:buNone/>
              <a:defRPr sz="2025" b="0">
                <a:solidFill>
                  <a:srgbClr val="0A2B43"/>
                </a:solidFill>
                <a:latin typeface="Arial"/>
                <a:ea typeface="Arial"/>
                <a:cs typeface="Arial"/>
              </a:defRPr>
            </a:lvl9pPr>
          </a:lstStyle>
          <a:p xmlns:a="http://schemas.openxmlformats.org/drawingml/2006/main">
            <a:pPr>
              <a:buNone/>
              <a:defRPr sz="2100" b="0">
                <a:solidFill>
                  <a:srgbClr val="F2F6FF"/>
                </a:solidFill>
                <a:latin typeface="Arial"/>
                <a:ea typeface="Arial"/>
                <a:cs typeface="Arial"/>
              </a:defRPr>
            </a:pPr>
            <a:r>
              <a:rPr sz="2100" b="0">
                <a:solidFill>
                  <a:srgbClr val="F2F6FF"/>
                </a:solidFill>
                <a:latin typeface="Arial"/>
                <a:ea typeface="Arial"/>
                <a:cs typeface="Arial"/>
              </a:rPr>
              <a:t>How do price and fuel changes affect contribution?</a:t>
            </a:r>
          </a:p>
        </p:txBody>
      </p:sp>
      <p:sp>
        <p:nvSpPr>
          <p:cNvPr id="15" name="design-2">
            <a:extLst xmlns:a="http://schemas.openxmlformats.org/drawingml/2006/main">
              <a:ext uri="{FF2B5EF4-FFF2-40B4-BE49-F238E27FC236}">
                <a16:creationId xmlns:a16="http://schemas.microsoft.com/office/drawing/2014/main" id="{DD439DED-E100-4974-A2B7-02A2218D06ED}"/>
              </a:ext>
            </a:extLst>
          </p:cNvPr>
          <p:cNvSpPr>
            <a:spLocks xmlns:a="http://schemas.openxmlformats.org/drawingml/2006/main" noGrp="1"/>
          </p:cNvSpPr>
          <p:nvPr/>
        </p:nvSpPr>
        <p:spPr>
          <a:xfrm xmlns:a="http://schemas.openxmlformats.org/drawingml/2006/main">
            <a:off x="571500" y="2324100"/>
            <a:ext cx="10953750" cy="19050"/>
          </a:xfrm>
          <a:prstGeom xmlns:a="http://schemas.openxmlformats.org/drawingml/2006/main" prst="rect">
            <a:avLst/>
          </a:prstGeom>
          <a:solidFill xmlns:a="http://schemas.openxmlformats.org/drawingml/2006/main">
            <a:srgbClr val="284765"/>
          </a:solidFill>
          <a:ln xmlns:a="http://schemas.openxmlformats.org/drawingml/2006/main" w="0">
            <a:noFill/>
          </a:ln>
        </p:spPr>
      </p:sp>
    </p:spTree>
    <p:extLst>
      <p:ext uri="{BB962C8B-B14F-4D97-AF65-F5344CB8AC3E}">
        <p14:creationId xmlns:p14="http://schemas.microsoft.com/office/powerpoint/2010/main" val="1307711659"/>
      </p:ext>
    </p:extLst>
  </p:cSld>
</p:sld>
</file>

<file path=ppt/slides/slide4.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3FDEF9-F536-4BBF-BCC1-2F828354EF43}"/>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UNDERSTANDING THE BUSINESS BEFORE ANALYZING RESULTS</a:t>
            </a:r>
          </a:p>
        </p:txBody>
      </p:sp>
      <p:sp>
        <p:nvSpPr>
          <p:cNvPr id="2" name="">
            <a:extLst xmlns:a="http://schemas.openxmlformats.org/drawingml/2006/main">
              <a:ext uri="{FF2B5EF4-FFF2-40B4-BE49-F238E27FC236}">
                <a16:creationId xmlns:a16="http://schemas.microsoft.com/office/drawing/2014/main" id="{6675C016-2FB6-4E84-B9E1-3E7DD159B13B}"/>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First, we organized the data into five groups</a:t>
            </a:r>
          </a:p>
        </p:txBody>
      </p:sp>
      <p:sp>
        <p:nvSpPr>
          <p:cNvPr id="5" name="">
            <a:extLst xmlns:a="http://schemas.openxmlformats.org/drawingml/2006/main">
              <a:ext uri="{FF2B5EF4-FFF2-40B4-BE49-F238E27FC236}">
                <a16:creationId xmlns:a16="http://schemas.microsoft.com/office/drawing/2014/main" id="{0A33F428-519A-4C88-ADDA-CFC1E5F0A49B}"/>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BFA12C55-0A07-4335-A067-5DBFF9A420C9}"/>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The five groups helped us connect resources, activity, cost and outcomes</a:t>
            </a:r>
          </a:p>
        </p:txBody>
      </p:sp>
      <p:graphicFrame>
        <p:nvGraphicFramePr>
          <p:cNvPr id="12" name=""/>
          <p:cNvGraphicFramePr/>
          <p:nvPr/>
        </p:nvGraphicFramePr>
        <p:xfrm>
          <a:off xmlns:a="http://schemas.openxmlformats.org/drawingml/2006/main" x="523875" y="2209800"/>
          <a:ext xmlns:a="http://schemas.openxmlformats.org/drawingml/2006/main" cx="11144250" cy="3267075"/>
        </p:xfrm>
        <a:graphic xmlns:a="http://schemas.openxmlformats.org/drawingml/2006/main">
          <a:graphicData uri="http://schemas.openxmlformats.org/drawingml/2006/table">
            <a:tbl>
              <a:tblPr/>
              <a:tblGrid>
                <a:gridCol w="1762125"/>
                <a:gridCol w="1762125"/>
                <a:gridCol w="2428875"/>
                <a:gridCol w="3143250"/>
                <a:gridCol w="2047875"/>
              </a:tblGrid>
              <a:tr h="466725">
                <a:tc>
                  <a:txBody>
                    <a:bodyPr/>
                    <a:lstStyle/>
                    <a:p>
                      <a:r>
                        <a:rPr sz="1725" b="1">
                          <a:solidFill>
                            <a:srgbClr val="3DDCF5"/>
                          </a:solidFill>
                          <a:latin typeface="Arial"/>
                          <a:ea typeface="Arial"/>
                          <a:cs typeface="Arial"/>
                        </a:rPr>
                        <a:t>1. Master Data</a:t>
                      </a:r>
                    </a:p>
                  </a:txBody>
                  <a:tcPr marL="91440" marR="91440" marT="45720" marB="45720">
                    <a:lnL w="6191">
                      <a:solidFill>
                        <a:srgbClr val="20364D"/>
                      </a:solidFill>
                      <a:prstDash val="solid"/>
                    </a:lnL>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725" b="1">
                          <a:solidFill>
                            <a:srgbClr val="3DDCF5"/>
                          </a:solidFill>
                          <a:latin typeface="Arial"/>
                          <a:ea typeface="Arial"/>
                          <a:cs typeface="Arial"/>
                        </a:rPr>
                        <a:t>2. Operations</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725" b="1">
                          <a:solidFill>
                            <a:srgbClr val="3DDCF5"/>
                          </a:solidFill>
                          <a:latin typeface="Arial"/>
                          <a:ea typeface="Arial"/>
                          <a:cs typeface="Arial"/>
                        </a:rPr>
                        <a:t>3. Costs</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725" b="1">
                          <a:solidFill>
                            <a:srgbClr val="3DDCF5"/>
                          </a:solidFill>
                          <a:latin typeface="Arial"/>
                          <a:ea typeface="Arial"/>
                          <a:cs typeface="Arial"/>
                        </a:rPr>
                        <a:t>4. Performance</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725" b="1">
                          <a:solidFill>
                            <a:srgbClr val="3DDCF5"/>
                          </a:solidFill>
                          <a:latin typeface="Arial"/>
                          <a:ea typeface="Arial"/>
                          <a:cs typeface="Arial"/>
                        </a:rPr>
                        <a:t>5. Safety</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r>
              <a:tr h="466725">
                <a:tc>
                  <a:txBody>
                    <a:bodyPr/>
                    <a:lstStyle/>
                    <a:p>
                      <a:r>
                        <a:rPr sz="1725" b="0">
                          <a:solidFill>
                            <a:srgbClr val="F2F6FF"/>
                          </a:solidFill>
                          <a:latin typeface="Arial"/>
                          <a:ea typeface="Arial"/>
                          <a:cs typeface="Arial"/>
                        </a:rPr>
                        <a:t>drivers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725" b="0">
                          <a:solidFill>
                            <a:srgbClr val="F2F6FF"/>
                          </a:solidFill>
                          <a:latin typeface="Arial"/>
                          <a:ea typeface="Arial"/>
                          <a:cs typeface="Arial"/>
                        </a:rPr>
                        <a:t>loads</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725" b="0">
                          <a:solidFill>
                            <a:srgbClr val="F2F6FF"/>
                          </a:solidFill>
                          <a:latin typeface="Arial"/>
                          <a:ea typeface="Arial"/>
                          <a:cs typeface="Arial"/>
                        </a:rPr>
                        <a:t>fuel_purchases</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725" b="0">
                          <a:solidFill>
                            <a:srgbClr val="F2F6FF"/>
                          </a:solidFill>
                          <a:latin typeface="Arial"/>
                          <a:ea typeface="Arial"/>
                          <a:cs typeface="Arial"/>
                        </a:rPr>
                        <a:t>delivery_events</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725" b="0">
                          <a:solidFill>
                            <a:srgbClr val="F2F6FF"/>
                          </a:solidFill>
                          <a:latin typeface="Arial"/>
                          <a:ea typeface="Arial"/>
                          <a:cs typeface="Arial"/>
                        </a:rPr>
                        <a:t>safety_incidents</a:t>
                      </a:r>
                    </a:p>
                  </a:txBody>
                  <a:tcPr marL="91440" marR="91440" marT="45720" marB="45720">
                    <a:lnR w="6191">
                      <a:solidFill>
                        <a:srgbClr val="20364D"/>
                      </a:solidFill>
                      <a:prstDash val="solid"/>
                    </a:lnR>
                    <a:lnB w="6191">
                      <a:solidFill>
                        <a:srgbClr val="20364D"/>
                      </a:solidFill>
                      <a:prstDash val="solid"/>
                    </a:lnB>
                    <a:solidFill>
                      <a:srgbClr val="0B1728"/>
                    </a:solidFill>
                  </a:tcPr>
                </a:tc>
              </a:tr>
              <a:tr h="466725">
                <a:tc>
                  <a:txBody>
                    <a:bodyPr/>
                    <a:lstStyle/>
                    <a:p>
                      <a:r>
                        <a:rPr sz="1725" b="0">
                          <a:solidFill>
                            <a:srgbClr val="F2F6FF"/>
                          </a:solidFill>
                          <a:latin typeface="Arial"/>
                          <a:ea typeface="Arial"/>
                          <a:cs typeface="Arial"/>
                        </a:rPr>
                        <a:t>trucks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725" b="0">
                          <a:solidFill>
                            <a:srgbClr val="F2F6FF"/>
                          </a:solidFill>
                          <a:latin typeface="Arial"/>
                          <a:ea typeface="Arial"/>
                          <a:cs typeface="Arial"/>
                        </a:rPr>
                        <a:t>trips</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725" b="0">
                          <a:solidFill>
                            <a:srgbClr val="F2F6FF"/>
                          </a:solidFill>
                          <a:latin typeface="Arial"/>
                          <a:ea typeface="Arial"/>
                          <a:cs typeface="Arial"/>
                        </a:rPr>
                        <a:t>maintenance_records</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725" b="0">
                          <a:solidFill>
                            <a:srgbClr val="F2F6FF"/>
                          </a:solidFill>
                          <a:latin typeface="Arial"/>
                          <a:ea typeface="Arial"/>
                          <a:cs typeface="Arial"/>
                        </a:rPr>
                        <a:t>driver_monthly_metrics</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D1B2E"/>
                    </a:solidFill>
                  </a:tcPr>
                </a:tc>
              </a:tr>
              <a:tr h="466725">
                <a:tc>
                  <a:txBody>
                    <a:bodyPr/>
                    <a:lstStyle/>
                    <a:p>
                      <a:r>
                        <a:rPr sz="1725" b="0">
                          <a:solidFill>
                            <a:srgbClr val="F2F6FF"/>
                          </a:solidFill>
                          <a:latin typeface="Arial"/>
                          <a:ea typeface="Arial"/>
                          <a:cs typeface="Arial"/>
                        </a:rPr>
                        <a:t>trailers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725" b="0">
                          <a:solidFill>
                            <a:srgbClr val="F2F6FF"/>
                          </a:solidFill>
                          <a:latin typeface="Arial"/>
                          <a:ea typeface="Arial"/>
                          <a:cs typeface="Arial"/>
                        </a:rPr>
                        <a:t>truck_utilization_metrics</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B1728"/>
                    </a:solidFill>
                  </a:tcPr>
                </a:tc>
              </a:tr>
              <a:tr h="466725">
                <a:tc>
                  <a:txBody>
                    <a:bodyPr/>
                    <a:lstStyle/>
                    <a:p>
                      <a:r>
                        <a:rPr sz="1725" b="0">
                          <a:solidFill>
                            <a:srgbClr val="F2F6FF"/>
                          </a:solidFill>
                          <a:latin typeface="Arial"/>
                          <a:ea typeface="Arial"/>
                          <a:cs typeface="Arial"/>
                        </a:rPr>
                        <a:t>customers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D1B2E"/>
                    </a:solidFill>
                  </a:tcPr>
                </a:tc>
              </a:tr>
              <a:tr h="466725">
                <a:tc>
                  <a:txBody>
                    <a:bodyPr/>
                    <a:lstStyle/>
                    <a:p>
                      <a:r>
                        <a:rPr sz="1725" b="0">
                          <a:solidFill>
                            <a:srgbClr val="F2F6FF"/>
                          </a:solidFill>
                          <a:latin typeface="Arial"/>
                          <a:ea typeface="Arial"/>
                          <a:cs typeface="Arial"/>
                        </a:rPr>
                        <a:t>facilities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B1728"/>
                    </a:solidFill>
                  </a:tcPr>
                </a:tc>
              </a:tr>
              <a:tr h="466725">
                <a:tc>
                  <a:txBody>
                    <a:bodyPr/>
                    <a:lstStyle/>
                    <a:p>
                      <a:r>
                        <a:rPr sz="1725" b="0">
                          <a:solidFill>
                            <a:srgbClr val="F2F6FF"/>
                          </a:solidFill>
                          <a:latin typeface="Arial"/>
                          <a:ea typeface="Arial"/>
                          <a:cs typeface="Arial"/>
                        </a:rPr>
                        <a:t>routes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0A2B43"/>
                          </a:solidFill>
                          <a:latin typeface="Arial"/>
                          <a:ea typeface="Arial"/>
                          <a:cs typeface="Arial"/>
                        </a:rPr>
                        <a:t/>
                      </a:r>
                    </a:p>
                  </a:txBody>
                  <a:tcPr marL="91440" marR="91440" marT="45720" marB="45720">
                    <a:lnR w="6191">
                      <a:solidFill>
                        <a:srgbClr val="20364D"/>
                      </a:solidFill>
                      <a:prstDash val="solid"/>
                    </a:lnR>
                    <a:lnB w="6191">
                      <a:solidFill>
                        <a:srgbClr val="20364D"/>
                      </a:solidFill>
                      <a:prstDash val="solid"/>
                    </a:lnB>
                    <a:solidFill>
                      <a:srgbClr val="0D1B2E"/>
                    </a:solidFill>
                  </a:tcPr>
                </a:tc>
              </a:tr>
            </a:tbl>
          </a:graphicData>
        </a:graphic>
      </p:graphicFrame>
    </p:spTree>
    <p:extLst>
      <p:ext uri="{BB962C8B-B14F-4D97-AF65-F5344CB8AC3E}">
        <p14:creationId xmlns:p14="http://schemas.microsoft.com/office/powerpoint/2010/main" val="867184592"/>
      </p:ext>
    </p:extLst>
  </p:cSld>
</p:sld>
</file>

<file path=ppt/slides/slide5.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29" name="integration-15">
            <a:extLst xmlns:a="http://schemas.openxmlformats.org/drawingml/2006/main">
              <a:ext uri="{FF2B5EF4-FFF2-40B4-BE49-F238E27FC236}">
                <a16:creationId xmlns:a16="http://schemas.microsoft.com/office/drawing/2014/main" id="{BDEEADB1-EE93-426B-A150-FEE4754B8FEF}"/>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OUR ANALYTICAL APPROACH</a:t>
            </a:r>
          </a:p>
        </p:txBody>
      </p:sp>
      <p:sp>
        <p:nvSpPr>
          <p:cNvPr id="2" name="integration-16">
            <a:extLst xmlns:a="http://schemas.openxmlformats.org/drawingml/2006/main">
              <a:ext uri="{FF2B5EF4-FFF2-40B4-BE49-F238E27FC236}">
                <a16:creationId xmlns:a16="http://schemas.microsoft.com/office/drawing/2014/main" id="{76CC162E-616E-4A51-92A8-DE2AEFFD4877}"/>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225" b="1">
                <a:solidFill>
                  <a:srgbClr val="F2F6FF"/>
                </a:solidFill>
                <a:latin typeface="Arial"/>
                <a:ea typeface="Arial"/>
                <a:cs typeface="Arial"/>
              </a:defRPr>
            </a:lvl1pPr>
            <a:lvl2pPr>
              <a:buNone/>
              <a:defRPr sz="3225" b="1">
                <a:solidFill>
                  <a:srgbClr val="F2F6FF"/>
                </a:solidFill>
                <a:latin typeface="Arial"/>
                <a:ea typeface="Arial"/>
                <a:cs typeface="Arial"/>
              </a:defRPr>
            </a:lvl2pPr>
            <a:lvl3pPr>
              <a:buNone/>
              <a:defRPr sz="3225" b="1">
                <a:solidFill>
                  <a:srgbClr val="F2F6FF"/>
                </a:solidFill>
                <a:latin typeface="Arial"/>
                <a:ea typeface="Arial"/>
                <a:cs typeface="Arial"/>
              </a:defRPr>
            </a:lvl3pPr>
            <a:lvl4pPr>
              <a:buNone/>
              <a:defRPr sz="3225" b="1">
                <a:solidFill>
                  <a:srgbClr val="F2F6FF"/>
                </a:solidFill>
                <a:latin typeface="Arial"/>
                <a:ea typeface="Arial"/>
                <a:cs typeface="Arial"/>
              </a:defRPr>
            </a:lvl4pPr>
            <a:lvl5pPr>
              <a:buNone/>
              <a:defRPr sz="3225" b="1">
                <a:solidFill>
                  <a:srgbClr val="F2F6FF"/>
                </a:solidFill>
                <a:latin typeface="Arial"/>
                <a:ea typeface="Arial"/>
                <a:cs typeface="Arial"/>
              </a:defRPr>
            </a:lvl5pPr>
            <a:lvl6pPr>
              <a:buNone/>
              <a:defRPr sz="3225" b="1">
                <a:solidFill>
                  <a:srgbClr val="F2F6FF"/>
                </a:solidFill>
                <a:latin typeface="Arial"/>
                <a:ea typeface="Arial"/>
                <a:cs typeface="Arial"/>
              </a:defRPr>
            </a:lvl6pPr>
            <a:lvl7pPr>
              <a:buNone/>
              <a:defRPr sz="3225" b="1">
                <a:solidFill>
                  <a:srgbClr val="F2F6FF"/>
                </a:solidFill>
                <a:latin typeface="Arial"/>
                <a:ea typeface="Arial"/>
                <a:cs typeface="Arial"/>
              </a:defRPr>
            </a:lvl7pPr>
            <a:lvl8pPr>
              <a:buNone/>
              <a:defRPr sz="3225" b="1">
                <a:solidFill>
                  <a:srgbClr val="F2F6FF"/>
                </a:solidFill>
                <a:latin typeface="Arial"/>
                <a:ea typeface="Arial"/>
                <a:cs typeface="Arial"/>
              </a:defRPr>
            </a:lvl8pPr>
            <a:lvl9pPr>
              <a:buNone/>
              <a:defRPr sz="3225" b="1">
                <a:solidFill>
                  <a:srgbClr val="F2F6FF"/>
                </a:solidFill>
                <a:latin typeface="Arial"/>
                <a:ea typeface="Arial"/>
                <a:cs typeface="Arial"/>
              </a:defRPr>
            </a:lvl9pPr>
          </a:lstStyle>
          <a:p xmlns:a="http://schemas.openxmlformats.org/drawingml/2006/main">
            <a:pPr>
              <a:buNone/>
              <a:defRPr sz="3225" b="1">
                <a:solidFill>
                  <a:srgbClr val="F2F6FF"/>
                </a:solidFill>
                <a:latin typeface="Arial"/>
                <a:ea typeface="Arial"/>
                <a:cs typeface="Arial"/>
              </a:defRPr>
            </a:pPr>
            <a:r>
              <a:rPr sz="3225" b="1">
                <a:solidFill>
                  <a:srgbClr val="F2F6FF"/>
                </a:solidFill>
                <a:latin typeface="Arial"/>
                <a:ea typeface="Arial"/>
                <a:cs typeface="Arial"/>
              </a:rPr>
              <a:t>Our analysis journey</a:t>
            </a:r>
          </a:p>
        </p:txBody>
      </p:sp>
      <p:sp>
        <p:nvSpPr>
          <p:cNvPr id="3" name="integration-17">
            <a:extLst xmlns:a="http://schemas.openxmlformats.org/drawingml/2006/main">
              <a:ext uri="{FF2B5EF4-FFF2-40B4-BE49-F238E27FC236}">
                <a16:creationId xmlns:a16="http://schemas.microsoft.com/office/drawing/2014/main" id="{DC214307-F07B-48D8-AECA-4F75B7174633}"/>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Each stage connected a business question to evidence and an action</a:t>
            </a:r>
          </a:p>
        </p:txBody>
      </p:sp>
      <p:sp>
        <p:nvSpPr>
          <p:cNvPr id="4" name="integration-18">
            <a:extLst xmlns:a="http://schemas.openxmlformats.org/drawingml/2006/main">
              <a:ext uri="{FF2B5EF4-FFF2-40B4-BE49-F238E27FC236}">
                <a16:creationId xmlns:a16="http://schemas.microsoft.com/office/drawing/2014/main" id="{F612D7A6-0335-474E-9451-65BE67860648}"/>
              </a:ext>
            </a:extLst>
          </p:cNvPr>
          <p:cNvSpPr>
            <a:spLocks xmlns:a="http://schemas.openxmlformats.org/drawingml/2006/main" noGrp="1"/>
          </p:cNvSpPr>
          <p:nvPr/>
        </p:nvSpPr>
        <p:spPr>
          <a:xfrm xmlns:a="http://schemas.openxmlformats.org/drawingml/2006/main">
            <a:off x="571500" y="2076450"/>
            <a:ext cx="51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550" b="1">
                <a:solidFill>
                  <a:srgbClr val="3DDCF5"/>
                </a:solidFill>
                <a:latin typeface="Arial"/>
                <a:ea typeface="Arial"/>
                <a:cs typeface="Arial"/>
              </a:defRPr>
            </a:lvl1pPr>
            <a:lvl2pPr>
              <a:buNone/>
              <a:defRPr sz="2550" b="1">
                <a:solidFill>
                  <a:srgbClr val="3DDCF5"/>
                </a:solidFill>
                <a:latin typeface="Arial"/>
                <a:ea typeface="Arial"/>
                <a:cs typeface="Arial"/>
              </a:defRPr>
            </a:lvl2pPr>
            <a:lvl3pPr>
              <a:buNone/>
              <a:defRPr sz="2550" b="1">
                <a:solidFill>
                  <a:srgbClr val="3DDCF5"/>
                </a:solidFill>
                <a:latin typeface="Arial"/>
                <a:ea typeface="Arial"/>
                <a:cs typeface="Arial"/>
              </a:defRPr>
            </a:lvl3pPr>
            <a:lvl4pPr>
              <a:buNone/>
              <a:defRPr sz="2550" b="1">
                <a:solidFill>
                  <a:srgbClr val="3DDCF5"/>
                </a:solidFill>
                <a:latin typeface="Arial"/>
                <a:ea typeface="Arial"/>
                <a:cs typeface="Arial"/>
              </a:defRPr>
            </a:lvl4pPr>
            <a:lvl5pPr>
              <a:buNone/>
              <a:defRPr sz="2550" b="1">
                <a:solidFill>
                  <a:srgbClr val="3DDCF5"/>
                </a:solidFill>
                <a:latin typeface="Arial"/>
                <a:ea typeface="Arial"/>
                <a:cs typeface="Arial"/>
              </a:defRPr>
            </a:lvl5pPr>
            <a:lvl6pPr>
              <a:buNone/>
              <a:defRPr sz="2550" b="1">
                <a:solidFill>
                  <a:srgbClr val="3DDCF5"/>
                </a:solidFill>
                <a:latin typeface="Arial"/>
                <a:ea typeface="Arial"/>
                <a:cs typeface="Arial"/>
              </a:defRPr>
            </a:lvl6pPr>
            <a:lvl7pPr>
              <a:buNone/>
              <a:defRPr sz="2550" b="1">
                <a:solidFill>
                  <a:srgbClr val="3DDCF5"/>
                </a:solidFill>
                <a:latin typeface="Arial"/>
                <a:ea typeface="Arial"/>
                <a:cs typeface="Arial"/>
              </a:defRPr>
            </a:lvl7pPr>
            <a:lvl8pPr>
              <a:buNone/>
              <a:defRPr sz="2550" b="1">
                <a:solidFill>
                  <a:srgbClr val="3DDCF5"/>
                </a:solidFill>
                <a:latin typeface="Arial"/>
                <a:ea typeface="Arial"/>
                <a:cs typeface="Arial"/>
              </a:defRPr>
            </a:lvl8pPr>
            <a:lvl9pPr>
              <a:buNone/>
              <a:defRPr sz="2550" b="1">
                <a:solidFill>
                  <a:srgbClr val="3DDCF5"/>
                </a:solidFill>
                <a:latin typeface="Arial"/>
                <a:ea typeface="Arial"/>
                <a:cs typeface="Arial"/>
              </a:defRPr>
            </a:lvl9pPr>
          </a:lstStyle>
          <a:p xmlns:a="http://schemas.openxmlformats.org/drawingml/2006/main">
            <a:pPr>
              <a:buNone/>
              <a:defRPr sz="2550" b="1">
                <a:solidFill>
                  <a:srgbClr val="3DDCF5"/>
                </a:solidFill>
                <a:latin typeface="Arial"/>
                <a:ea typeface="Arial"/>
                <a:cs typeface="Arial"/>
              </a:defRPr>
            </a:pPr>
            <a:r>
              <a:rPr sz="2550" b="1">
                <a:solidFill>
                  <a:srgbClr val="3DDCF5"/>
                </a:solidFill>
                <a:latin typeface="Arial"/>
                <a:ea typeface="Arial"/>
                <a:cs typeface="Arial"/>
              </a:rPr>
              <a:t>01</a:t>
            </a:r>
          </a:p>
        </p:txBody>
      </p:sp>
      <p:sp>
        <p:nvSpPr>
          <p:cNvPr id="5" name="integration-19">
            <a:extLst xmlns:a="http://schemas.openxmlformats.org/drawingml/2006/main">
              <a:ext uri="{FF2B5EF4-FFF2-40B4-BE49-F238E27FC236}">
                <a16:creationId xmlns:a16="http://schemas.microsoft.com/office/drawing/2014/main" id="{B3FBEEC1-94D6-43B6-AECC-0ABCE75B7016}"/>
              </a:ext>
            </a:extLst>
          </p:cNvPr>
          <p:cNvSpPr>
            <a:spLocks xmlns:a="http://schemas.openxmlformats.org/drawingml/2006/main" noGrp="1"/>
          </p:cNvSpPr>
          <p:nvPr/>
        </p:nvSpPr>
        <p:spPr>
          <a:xfrm xmlns:a="http://schemas.openxmlformats.org/drawingml/2006/main">
            <a:off x="1200150" y="20764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1">
                <a:solidFill>
                  <a:srgbClr val="F2F6FF"/>
                </a:solidFill>
                <a:latin typeface="Arial"/>
                <a:ea typeface="Arial"/>
                <a:cs typeface="Arial"/>
              </a:defRPr>
            </a:lvl1pPr>
            <a:lvl2pPr>
              <a:buNone/>
              <a:defRPr sz="1950" b="1">
                <a:solidFill>
                  <a:srgbClr val="F2F6FF"/>
                </a:solidFill>
                <a:latin typeface="Arial"/>
                <a:ea typeface="Arial"/>
                <a:cs typeface="Arial"/>
              </a:defRPr>
            </a:lvl2pPr>
            <a:lvl3pPr>
              <a:buNone/>
              <a:defRPr sz="1950" b="1">
                <a:solidFill>
                  <a:srgbClr val="F2F6FF"/>
                </a:solidFill>
                <a:latin typeface="Arial"/>
                <a:ea typeface="Arial"/>
                <a:cs typeface="Arial"/>
              </a:defRPr>
            </a:lvl3pPr>
            <a:lvl4pPr>
              <a:buNone/>
              <a:defRPr sz="1950" b="1">
                <a:solidFill>
                  <a:srgbClr val="F2F6FF"/>
                </a:solidFill>
                <a:latin typeface="Arial"/>
                <a:ea typeface="Arial"/>
                <a:cs typeface="Arial"/>
              </a:defRPr>
            </a:lvl4pPr>
            <a:lvl5pPr>
              <a:buNone/>
              <a:defRPr sz="1950" b="1">
                <a:solidFill>
                  <a:srgbClr val="F2F6FF"/>
                </a:solidFill>
                <a:latin typeface="Arial"/>
                <a:ea typeface="Arial"/>
                <a:cs typeface="Arial"/>
              </a:defRPr>
            </a:lvl5pPr>
            <a:lvl6pPr>
              <a:buNone/>
              <a:defRPr sz="1950" b="1">
                <a:solidFill>
                  <a:srgbClr val="F2F6FF"/>
                </a:solidFill>
                <a:latin typeface="Arial"/>
                <a:ea typeface="Arial"/>
                <a:cs typeface="Arial"/>
              </a:defRPr>
            </a:lvl6pPr>
            <a:lvl7pPr>
              <a:buNone/>
              <a:defRPr sz="1950" b="1">
                <a:solidFill>
                  <a:srgbClr val="F2F6FF"/>
                </a:solidFill>
                <a:latin typeface="Arial"/>
                <a:ea typeface="Arial"/>
                <a:cs typeface="Arial"/>
              </a:defRPr>
            </a:lvl7pPr>
            <a:lvl8pPr>
              <a:buNone/>
              <a:defRPr sz="1950" b="1">
                <a:solidFill>
                  <a:srgbClr val="F2F6FF"/>
                </a:solidFill>
                <a:latin typeface="Arial"/>
                <a:ea typeface="Arial"/>
                <a:cs typeface="Arial"/>
              </a:defRPr>
            </a:lvl8pPr>
            <a:lvl9pPr>
              <a:buNone/>
              <a:defRPr sz="1950" b="1">
                <a:solidFill>
                  <a:srgbClr val="F2F6FF"/>
                </a:solidFill>
                <a:latin typeface="Arial"/>
                <a:ea typeface="Arial"/>
                <a:cs typeface="Arial"/>
              </a:defRPr>
            </a:lvl9pPr>
          </a:lstStyle>
          <a:p xmlns:a="http://schemas.openxmlformats.org/drawingml/2006/main">
            <a:pPr>
              <a:buNone/>
              <a:defRPr sz="1950" b="1">
                <a:solidFill>
                  <a:srgbClr val="F2F6FF"/>
                </a:solidFill>
                <a:latin typeface="Arial"/>
                <a:ea typeface="Arial"/>
                <a:cs typeface="Arial"/>
              </a:defRPr>
            </a:pPr>
            <a:r>
              <a:rPr sz="1950" b="1">
                <a:solidFill>
                  <a:srgbClr val="F2F6FF"/>
                </a:solidFill>
                <a:latin typeface="Arial"/>
                <a:ea typeface="Arial"/>
                <a:cs typeface="Arial"/>
              </a:rPr>
              <a:t>Understand the Data</a:t>
            </a:r>
          </a:p>
        </p:txBody>
      </p:sp>
      <p:sp>
        <p:nvSpPr>
          <p:cNvPr id="6" name="integration-20">
            <a:extLst xmlns:a="http://schemas.openxmlformats.org/drawingml/2006/main">
              <a:ext uri="{FF2B5EF4-FFF2-40B4-BE49-F238E27FC236}">
                <a16:creationId xmlns:a16="http://schemas.microsoft.com/office/drawing/2014/main" id="{DB031C46-8FD9-441C-866E-C0BB3265E473}"/>
              </a:ext>
            </a:extLst>
          </p:cNvPr>
          <p:cNvSpPr>
            <a:spLocks xmlns:a="http://schemas.openxmlformats.org/drawingml/2006/main" noGrp="1"/>
          </p:cNvSpPr>
          <p:nvPr/>
        </p:nvSpPr>
        <p:spPr>
          <a:xfrm xmlns:a="http://schemas.openxmlformats.org/drawingml/2006/main">
            <a:off x="1200150" y="2486025"/>
            <a:ext cx="466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0">
                <a:solidFill>
                  <a:srgbClr val="A8BDD4"/>
                </a:solidFill>
                <a:latin typeface="Arial"/>
                <a:ea typeface="Arial"/>
                <a:cs typeface="Arial"/>
              </a:defRPr>
            </a:lvl1pPr>
            <a:lvl2pPr>
              <a:buNone/>
              <a:defRPr sz="1575" b="0">
                <a:solidFill>
                  <a:srgbClr val="A8BDD4"/>
                </a:solidFill>
                <a:latin typeface="Arial"/>
                <a:ea typeface="Arial"/>
                <a:cs typeface="Arial"/>
              </a:defRPr>
            </a:lvl2pPr>
            <a:lvl3pPr>
              <a:buNone/>
              <a:defRPr sz="1575" b="0">
                <a:solidFill>
                  <a:srgbClr val="A8BDD4"/>
                </a:solidFill>
                <a:latin typeface="Arial"/>
                <a:ea typeface="Arial"/>
                <a:cs typeface="Arial"/>
              </a:defRPr>
            </a:lvl3pPr>
            <a:lvl4pPr>
              <a:buNone/>
              <a:defRPr sz="1575" b="0">
                <a:solidFill>
                  <a:srgbClr val="A8BDD4"/>
                </a:solidFill>
                <a:latin typeface="Arial"/>
                <a:ea typeface="Arial"/>
                <a:cs typeface="Arial"/>
              </a:defRPr>
            </a:lvl4pPr>
            <a:lvl5pPr>
              <a:buNone/>
              <a:defRPr sz="1575" b="0">
                <a:solidFill>
                  <a:srgbClr val="A8BDD4"/>
                </a:solidFill>
                <a:latin typeface="Arial"/>
                <a:ea typeface="Arial"/>
                <a:cs typeface="Arial"/>
              </a:defRPr>
            </a:lvl5pPr>
            <a:lvl6pPr>
              <a:buNone/>
              <a:defRPr sz="1575" b="0">
                <a:solidFill>
                  <a:srgbClr val="A8BDD4"/>
                </a:solidFill>
                <a:latin typeface="Arial"/>
                <a:ea typeface="Arial"/>
                <a:cs typeface="Arial"/>
              </a:defRPr>
            </a:lvl6pPr>
            <a:lvl7pPr>
              <a:buNone/>
              <a:defRPr sz="1575" b="0">
                <a:solidFill>
                  <a:srgbClr val="A8BDD4"/>
                </a:solidFill>
                <a:latin typeface="Arial"/>
                <a:ea typeface="Arial"/>
                <a:cs typeface="Arial"/>
              </a:defRPr>
            </a:lvl7pPr>
            <a:lvl8pPr>
              <a:buNone/>
              <a:defRPr sz="1575" b="0">
                <a:solidFill>
                  <a:srgbClr val="A8BDD4"/>
                </a:solidFill>
                <a:latin typeface="Arial"/>
                <a:ea typeface="Arial"/>
                <a:cs typeface="Arial"/>
              </a:defRPr>
            </a:lvl8pPr>
            <a:lvl9pPr>
              <a:buNone/>
              <a:defRPr sz="1575" b="0">
                <a:solidFill>
                  <a:srgbClr val="A8BDD4"/>
                </a:solidFill>
                <a:latin typeface="Arial"/>
                <a:ea typeface="Arial"/>
                <a:cs typeface="Arial"/>
              </a:defRPr>
            </a:lvl9pPr>
          </a:lstStyle>
          <a:p xmlns:a="http://schemas.openxmlformats.org/drawingml/2006/main">
            <a:pPr>
              <a:buNone/>
              <a:defRPr sz="1575" b="0">
                <a:solidFill>
                  <a:srgbClr val="A8BDD4"/>
                </a:solidFill>
                <a:latin typeface="Arial"/>
                <a:ea typeface="Arial"/>
                <a:cs typeface="Arial"/>
              </a:defRPr>
            </a:pPr>
            <a:r>
              <a:rPr sz="1575" b="0">
                <a:solidFill>
                  <a:srgbClr val="A8BDD4"/>
                </a:solidFill>
                <a:latin typeface="Arial"/>
                <a:ea typeface="Arial"/>
                <a:cs typeface="Arial"/>
              </a:rPr>
              <a:t>Mapped tables, field meanings and the grain of each dataset.</a:t>
            </a:r>
          </a:p>
        </p:txBody>
      </p:sp>
      <p:sp>
        <p:nvSpPr>
          <p:cNvPr id="7" name="integration-21">
            <a:extLst xmlns:a="http://schemas.openxmlformats.org/drawingml/2006/main">
              <a:ext uri="{FF2B5EF4-FFF2-40B4-BE49-F238E27FC236}">
                <a16:creationId xmlns:a16="http://schemas.microsoft.com/office/drawing/2014/main" id="{A73247D0-678B-43F3-BD7B-E0C4851AF7CD}"/>
              </a:ext>
            </a:extLst>
          </p:cNvPr>
          <p:cNvSpPr>
            <a:spLocks xmlns:a="http://schemas.openxmlformats.org/drawingml/2006/main" noGrp="1"/>
          </p:cNvSpPr>
          <p:nvPr/>
        </p:nvSpPr>
        <p:spPr>
          <a:xfrm xmlns:a="http://schemas.openxmlformats.org/drawingml/2006/main">
            <a:off x="571500" y="2990850"/>
            <a:ext cx="51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550" b="1">
                <a:solidFill>
                  <a:srgbClr val="3DDCF5"/>
                </a:solidFill>
                <a:latin typeface="Arial"/>
                <a:ea typeface="Arial"/>
                <a:cs typeface="Arial"/>
              </a:defRPr>
            </a:lvl1pPr>
            <a:lvl2pPr>
              <a:buNone/>
              <a:defRPr sz="2550" b="1">
                <a:solidFill>
                  <a:srgbClr val="3DDCF5"/>
                </a:solidFill>
                <a:latin typeface="Arial"/>
                <a:ea typeface="Arial"/>
                <a:cs typeface="Arial"/>
              </a:defRPr>
            </a:lvl2pPr>
            <a:lvl3pPr>
              <a:buNone/>
              <a:defRPr sz="2550" b="1">
                <a:solidFill>
                  <a:srgbClr val="3DDCF5"/>
                </a:solidFill>
                <a:latin typeface="Arial"/>
                <a:ea typeface="Arial"/>
                <a:cs typeface="Arial"/>
              </a:defRPr>
            </a:lvl3pPr>
            <a:lvl4pPr>
              <a:buNone/>
              <a:defRPr sz="2550" b="1">
                <a:solidFill>
                  <a:srgbClr val="3DDCF5"/>
                </a:solidFill>
                <a:latin typeface="Arial"/>
                <a:ea typeface="Arial"/>
                <a:cs typeface="Arial"/>
              </a:defRPr>
            </a:lvl4pPr>
            <a:lvl5pPr>
              <a:buNone/>
              <a:defRPr sz="2550" b="1">
                <a:solidFill>
                  <a:srgbClr val="3DDCF5"/>
                </a:solidFill>
                <a:latin typeface="Arial"/>
                <a:ea typeface="Arial"/>
                <a:cs typeface="Arial"/>
              </a:defRPr>
            </a:lvl5pPr>
            <a:lvl6pPr>
              <a:buNone/>
              <a:defRPr sz="2550" b="1">
                <a:solidFill>
                  <a:srgbClr val="3DDCF5"/>
                </a:solidFill>
                <a:latin typeface="Arial"/>
                <a:ea typeface="Arial"/>
                <a:cs typeface="Arial"/>
              </a:defRPr>
            </a:lvl6pPr>
            <a:lvl7pPr>
              <a:buNone/>
              <a:defRPr sz="2550" b="1">
                <a:solidFill>
                  <a:srgbClr val="3DDCF5"/>
                </a:solidFill>
                <a:latin typeface="Arial"/>
                <a:ea typeface="Arial"/>
                <a:cs typeface="Arial"/>
              </a:defRPr>
            </a:lvl7pPr>
            <a:lvl8pPr>
              <a:buNone/>
              <a:defRPr sz="2550" b="1">
                <a:solidFill>
                  <a:srgbClr val="3DDCF5"/>
                </a:solidFill>
                <a:latin typeface="Arial"/>
                <a:ea typeface="Arial"/>
                <a:cs typeface="Arial"/>
              </a:defRPr>
            </a:lvl8pPr>
            <a:lvl9pPr>
              <a:buNone/>
              <a:defRPr sz="2550" b="1">
                <a:solidFill>
                  <a:srgbClr val="3DDCF5"/>
                </a:solidFill>
                <a:latin typeface="Arial"/>
                <a:ea typeface="Arial"/>
                <a:cs typeface="Arial"/>
              </a:defRPr>
            </a:lvl9pPr>
          </a:lstStyle>
          <a:p xmlns:a="http://schemas.openxmlformats.org/drawingml/2006/main">
            <a:pPr>
              <a:buNone/>
              <a:defRPr sz="2550" b="1">
                <a:solidFill>
                  <a:srgbClr val="3DDCF5"/>
                </a:solidFill>
                <a:latin typeface="Arial"/>
                <a:ea typeface="Arial"/>
                <a:cs typeface="Arial"/>
              </a:defRPr>
            </a:pPr>
            <a:r>
              <a:rPr sz="2550" b="1">
                <a:solidFill>
                  <a:srgbClr val="3DDCF5"/>
                </a:solidFill>
                <a:latin typeface="Arial"/>
                <a:ea typeface="Arial"/>
                <a:cs typeface="Arial"/>
              </a:rPr>
              <a:t>02</a:t>
            </a:r>
          </a:p>
        </p:txBody>
      </p:sp>
      <p:sp>
        <p:nvSpPr>
          <p:cNvPr id="8" name="integration-22">
            <a:extLst xmlns:a="http://schemas.openxmlformats.org/drawingml/2006/main">
              <a:ext uri="{FF2B5EF4-FFF2-40B4-BE49-F238E27FC236}">
                <a16:creationId xmlns:a16="http://schemas.microsoft.com/office/drawing/2014/main" id="{1458D01E-6DE7-472F-B322-A28F33AFF484}"/>
              </a:ext>
            </a:extLst>
          </p:cNvPr>
          <p:cNvSpPr>
            <a:spLocks xmlns:a="http://schemas.openxmlformats.org/drawingml/2006/main" noGrp="1"/>
          </p:cNvSpPr>
          <p:nvPr/>
        </p:nvSpPr>
        <p:spPr>
          <a:xfrm xmlns:a="http://schemas.openxmlformats.org/drawingml/2006/main">
            <a:off x="1200150" y="29908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1">
                <a:solidFill>
                  <a:srgbClr val="F2F6FF"/>
                </a:solidFill>
                <a:latin typeface="Arial"/>
                <a:ea typeface="Arial"/>
                <a:cs typeface="Arial"/>
              </a:defRPr>
            </a:lvl1pPr>
            <a:lvl2pPr>
              <a:buNone/>
              <a:defRPr sz="1950" b="1">
                <a:solidFill>
                  <a:srgbClr val="F2F6FF"/>
                </a:solidFill>
                <a:latin typeface="Arial"/>
                <a:ea typeface="Arial"/>
                <a:cs typeface="Arial"/>
              </a:defRPr>
            </a:lvl2pPr>
            <a:lvl3pPr>
              <a:buNone/>
              <a:defRPr sz="1950" b="1">
                <a:solidFill>
                  <a:srgbClr val="F2F6FF"/>
                </a:solidFill>
                <a:latin typeface="Arial"/>
                <a:ea typeface="Arial"/>
                <a:cs typeface="Arial"/>
              </a:defRPr>
            </a:lvl3pPr>
            <a:lvl4pPr>
              <a:buNone/>
              <a:defRPr sz="1950" b="1">
                <a:solidFill>
                  <a:srgbClr val="F2F6FF"/>
                </a:solidFill>
                <a:latin typeface="Arial"/>
                <a:ea typeface="Arial"/>
                <a:cs typeface="Arial"/>
              </a:defRPr>
            </a:lvl4pPr>
            <a:lvl5pPr>
              <a:buNone/>
              <a:defRPr sz="1950" b="1">
                <a:solidFill>
                  <a:srgbClr val="F2F6FF"/>
                </a:solidFill>
                <a:latin typeface="Arial"/>
                <a:ea typeface="Arial"/>
                <a:cs typeface="Arial"/>
              </a:defRPr>
            </a:lvl5pPr>
            <a:lvl6pPr>
              <a:buNone/>
              <a:defRPr sz="1950" b="1">
                <a:solidFill>
                  <a:srgbClr val="F2F6FF"/>
                </a:solidFill>
                <a:latin typeface="Arial"/>
                <a:ea typeface="Arial"/>
                <a:cs typeface="Arial"/>
              </a:defRPr>
            </a:lvl6pPr>
            <a:lvl7pPr>
              <a:buNone/>
              <a:defRPr sz="1950" b="1">
                <a:solidFill>
                  <a:srgbClr val="F2F6FF"/>
                </a:solidFill>
                <a:latin typeface="Arial"/>
                <a:ea typeface="Arial"/>
                <a:cs typeface="Arial"/>
              </a:defRPr>
            </a:lvl7pPr>
            <a:lvl8pPr>
              <a:buNone/>
              <a:defRPr sz="1950" b="1">
                <a:solidFill>
                  <a:srgbClr val="F2F6FF"/>
                </a:solidFill>
                <a:latin typeface="Arial"/>
                <a:ea typeface="Arial"/>
                <a:cs typeface="Arial"/>
              </a:defRPr>
            </a:lvl8pPr>
            <a:lvl9pPr>
              <a:buNone/>
              <a:defRPr sz="1950" b="1">
                <a:solidFill>
                  <a:srgbClr val="F2F6FF"/>
                </a:solidFill>
                <a:latin typeface="Arial"/>
                <a:ea typeface="Arial"/>
                <a:cs typeface="Arial"/>
              </a:defRPr>
            </a:lvl9pPr>
          </a:lstStyle>
          <a:p xmlns:a="http://schemas.openxmlformats.org/drawingml/2006/main">
            <a:pPr>
              <a:buNone/>
              <a:defRPr sz="1950" b="1">
                <a:solidFill>
                  <a:srgbClr val="F2F6FF"/>
                </a:solidFill>
                <a:latin typeface="Arial"/>
                <a:ea typeface="Arial"/>
                <a:cs typeface="Arial"/>
              </a:defRPr>
            </a:pPr>
            <a:r>
              <a:rPr sz="1950" b="1">
                <a:solidFill>
                  <a:srgbClr val="F2F6FF"/>
                </a:solidFill>
                <a:latin typeface="Arial"/>
                <a:ea typeface="Arial"/>
                <a:cs typeface="Arial"/>
              </a:rPr>
              <a:t>Define the Problem</a:t>
            </a:r>
          </a:p>
        </p:txBody>
      </p:sp>
      <p:sp>
        <p:nvSpPr>
          <p:cNvPr id="9" name="integration-23">
            <a:extLst xmlns:a="http://schemas.openxmlformats.org/drawingml/2006/main">
              <a:ext uri="{FF2B5EF4-FFF2-40B4-BE49-F238E27FC236}">
                <a16:creationId xmlns:a16="http://schemas.microsoft.com/office/drawing/2014/main" id="{07955F07-B6D8-4359-B0C5-F4A64E4AA818}"/>
              </a:ext>
            </a:extLst>
          </p:cNvPr>
          <p:cNvSpPr>
            <a:spLocks xmlns:a="http://schemas.openxmlformats.org/drawingml/2006/main" noGrp="1"/>
          </p:cNvSpPr>
          <p:nvPr/>
        </p:nvSpPr>
        <p:spPr>
          <a:xfrm xmlns:a="http://schemas.openxmlformats.org/drawingml/2006/main">
            <a:off x="1200150" y="3400425"/>
            <a:ext cx="466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0">
                <a:solidFill>
                  <a:srgbClr val="A8BDD4"/>
                </a:solidFill>
                <a:latin typeface="Arial"/>
                <a:ea typeface="Arial"/>
                <a:cs typeface="Arial"/>
              </a:defRPr>
            </a:lvl1pPr>
            <a:lvl2pPr>
              <a:buNone/>
              <a:defRPr sz="1575" b="0">
                <a:solidFill>
                  <a:srgbClr val="A8BDD4"/>
                </a:solidFill>
                <a:latin typeface="Arial"/>
                <a:ea typeface="Arial"/>
                <a:cs typeface="Arial"/>
              </a:defRPr>
            </a:lvl2pPr>
            <a:lvl3pPr>
              <a:buNone/>
              <a:defRPr sz="1575" b="0">
                <a:solidFill>
                  <a:srgbClr val="A8BDD4"/>
                </a:solidFill>
                <a:latin typeface="Arial"/>
                <a:ea typeface="Arial"/>
                <a:cs typeface="Arial"/>
              </a:defRPr>
            </a:lvl3pPr>
            <a:lvl4pPr>
              <a:buNone/>
              <a:defRPr sz="1575" b="0">
                <a:solidFill>
                  <a:srgbClr val="A8BDD4"/>
                </a:solidFill>
                <a:latin typeface="Arial"/>
                <a:ea typeface="Arial"/>
                <a:cs typeface="Arial"/>
              </a:defRPr>
            </a:lvl4pPr>
            <a:lvl5pPr>
              <a:buNone/>
              <a:defRPr sz="1575" b="0">
                <a:solidFill>
                  <a:srgbClr val="A8BDD4"/>
                </a:solidFill>
                <a:latin typeface="Arial"/>
                <a:ea typeface="Arial"/>
                <a:cs typeface="Arial"/>
              </a:defRPr>
            </a:lvl5pPr>
            <a:lvl6pPr>
              <a:buNone/>
              <a:defRPr sz="1575" b="0">
                <a:solidFill>
                  <a:srgbClr val="A8BDD4"/>
                </a:solidFill>
                <a:latin typeface="Arial"/>
                <a:ea typeface="Arial"/>
                <a:cs typeface="Arial"/>
              </a:defRPr>
            </a:lvl6pPr>
            <a:lvl7pPr>
              <a:buNone/>
              <a:defRPr sz="1575" b="0">
                <a:solidFill>
                  <a:srgbClr val="A8BDD4"/>
                </a:solidFill>
                <a:latin typeface="Arial"/>
                <a:ea typeface="Arial"/>
                <a:cs typeface="Arial"/>
              </a:defRPr>
            </a:lvl7pPr>
            <a:lvl8pPr>
              <a:buNone/>
              <a:defRPr sz="1575" b="0">
                <a:solidFill>
                  <a:srgbClr val="A8BDD4"/>
                </a:solidFill>
                <a:latin typeface="Arial"/>
                <a:ea typeface="Arial"/>
                <a:cs typeface="Arial"/>
              </a:defRPr>
            </a:lvl8pPr>
            <a:lvl9pPr>
              <a:buNone/>
              <a:defRPr sz="1575" b="0">
                <a:solidFill>
                  <a:srgbClr val="A8BDD4"/>
                </a:solidFill>
                <a:latin typeface="Arial"/>
                <a:ea typeface="Arial"/>
                <a:cs typeface="Arial"/>
              </a:defRPr>
            </a:lvl9pPr>
          </a:lstStyle>
          <a:p xmlns:a="http://schemas.openxmlformats.org/drawingml/2006/main">
            <a:pPr>
              <a:buNone/>
              <a:defRPr sz="1575" b="0">
                <a:solidFill>
                  <a:srgbClr val="A8BDD4"/>
                </a:solidFill>
                <a:latin typeface="Arial"/>
                <a:ea typeface="Arial"/>
                <a:cs typeface="Arial"/>
              </a:defRPr>
            </a:pPr>
            <a:r>
              <a:rPr sz="1575" b="0">
                <a:solidFill>
                  <a:srgbClr val="A8BDD4"/>
                </a:solidFill>
                <a:latin typeface="Arial"/>
                <a:ea typeface="Arial"/>
                <a:cs typeface="Arial"/>
              </a:rPr>
              <a:t>Framed questions on service, cost, utilisation and safety.</a:t>
            </a:r>
          </a:p>
        </p:txBody>
      </p:sp>
      <p:sp>
        <p:nvSpPr>
          <p:cNvPr id="10" name="integration-24">
            <a:extLst xmlns:a="http://schemas.openxmlformats.org/drawingml/2006/main">
              <a:ext uri="{FF2B5EF4-FFF2-40B4-BE49-F238E27FC236}">
                <a16:creationId xmlns:a16="http://schemas.microsoft.com/office/drawing/2014/main" id="{4657596A-B57F-45FE-9CED-2A8ACD7396FC}"/>
              </a:ext>
            </a:extLst>
          </p:cNvPr>
          <p:cNvSpPr>
            <a:spLocks xmlns:a="http://schemas.openxmlformats.org/drawingml/2006/main" noGrp="1"/>
          </p:cNvSpPr>
          <p:nvPr/>
        </p:nvSpPr>
        <p:spPr>
          <a:xfrm xmlns:a="http://schemas.openxmlformats.org/drawingml/2006/main">
            <a:off x="571500" y="3905250"/>
            <a:ext cx="51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550" b="1">
                <a:solidFill>
                  <a:srgbClr val="3DDCF5"/>
                </a:solidFill>
                <a:latin typeface="Arial"/>
                <a:ea typeface="Arial"/>
                <a:cs typeface="Arial"/>
              </a:defRPr>
            </a:lvl1pPr>
            <a:lvl2pPr>
              <a:buNone/>
              <a:defRPr sz="2550" b="1">
                <a:solidFill>
                  <a:srgbClr val="3DDCF5"/>
                </a:solidFill>
                <a:latin typeface="Arial"/>
                <a:ea typeface="Arial"/>
                <a:cs typeface="Arial"/>
              </a:defRPr>
            </a:lvl2pPr>
            <a:lvl3pPr>
              <a:buNone/>
              <a:defRPr sz="2550" b="1">
                <a:solidFill>
                  <a:srgbClr val="3DDCF5"/>
                </a:solidFill>
                <a:latin typeface="Arial"/>
                <a:ea typeface="Arial"/>
                <a:cs typeface="Arial"/>
              </a:defRPr>
            </a:lvl3pPr>
            <a:lvl4pPr>
              <a:buNone/>
              <a:defRPr sz="2550" b="1">
                <a:solidFill>
                  <a:srgbClr val="3DDCF5"/>
                </a:solidFill>
                <a:latin typeface="Arial"/>
                <a:ea typeface="Arial"/>
                <a:cs typeface="Arial"/>
              </a:defRPr>
            </a:lvl4pPr>
            <a:lvl5pPr>
              <a:buNone/>
              <a:defRPr sz="2550" b="1">
                <a:solidFill>
                  <a:srgbClr val="3DDCF5"/>
                </a:solidFill>
                <a:latin typeface="Arial"/>
                <a:ea typeface="Arial"/>
                <a:cs typeface="Arial"/>
              </a:defRPr>
            </a:lvl5pPr>
            <a:lvl6pPr>
              <a:buNone/>
              <a:defRPr sz="2550" b="1">
                <a:solidFill>
                  <a:srgbClr val="3DDCF5"/>
                </a:solidFill>
                <a:latin typeface="Arial"/>
                <a:ea typeface="Arial"/>
                <a:cs typeface="Arial"/>
              </a:defRPr>
            </a:lvl6pPr>
            <a:lvl7pPr>
              <a:buNone/>
              <a:defRPr sz="2550" b="1">
                <a:solidFill>
                  <a:srgbClr val="3DDCF5"/>
                </a:solidFill>
                <a:latin typeface="Arial"/>
                <a:ea typeface="Arial"/>
                <a:cs typeface="Arial"/>
              </a:defRPr>
            </a:lvl7pPr>
            <a:lvl8pPr>
              <a:buNone/>
              <a:defRPr sz="2550" b="1">
                <a:solidFill>
                  <a:srgbClr val="3DDCF5"/>
                </a:solidFill>
                <a:latin typeface="Arial"/>
                <a:ea typeface="Arial"/>
                <a:cs typeface="Arial"/>
              </a:defRPr>
            </a:lvl8pPr>
            <a:lvl9pPr>
              <a:buNone/>
              <a:defRPr sz="2550" b="1">
                <a:solidFill>
                  <a:srgbClr val="3DDCF5"/>
                </a:solidFill>
                <a:latin typeface="Arial"/>
                <a:ea typeface="Arial"/>
                <a:cs typeface="Arial"/>
              </a:defRPr>
            </a:lvl9pPr>
          </a:lstStyle>
          <a:p xmlns:a="http://schemas.openxmlformats.org/drawingml/2006/main">
            <a:pPr>
              <a:buNone/>
              <a:defRPr sz="2550" b="1">
                <a:solidFill>
                  <a:srgbClr val="3DDCF5"/>
                </a:solidFill>
                <a:latin typeface="Arial"/>
                <a:ea typeface="Arial"/>
                <a:cs typeface="Arial"/>
              </a:defRPr>
            </a:pPr>
            <a:r>
              <a:rPr sz="2550" b="1">
                <a:solidFill>
                  <a:srgbClr val="3DDCF5"/>
                </a:solidFill>
                <a:latin typeface="Arial"/>
                <a:ea typeface="Arial"/>
                <a:cs typeface="Arial"/>
              </a:rPr>
              <a:t>03</a:t>
            </a:r>
          </a:p>
        </p:txBody>
      </p:sp>
      <p:sp>
        <p:nvSpPr>
          <p:cNvPr id="11" name="integration-25">
            <a:extLst xmlns:a="http://schemas.openxmlformats.org/drawingml/2006/main">
              <a:ext uri="{FF2B5EF4-FFF2-40B4-BE49-F238E27FC236}">
                <a16:creationId xmlns:a16="http://schemas.microsoft.com/office/drawing/2014/main" id="{62308AC1-8252-487B-9D55-AA4F8A053B2C}"/>
              </a:ext>
            </a:extLst>
          </p:cNvPr>
          <p:cNvSpPr>
            <a:spLocks xmlns:a="http://schemas.openxmlformats.org/drawingml/2006/main" noGrp="1"/>
          </p:cNvSpPr>
          <p:nvPr/>
        </p:nvSpPr>
        <p:spPr>
          <a:xfrm xmlns:a="http://schemas.openxmlformats.org/drawingml/2006/main">
            <a:off x="1200150" y="39052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1">
                <a:solidFill>
                  <a:srgbClr val="F2F6FF"/>
                </a:solidFill>
                <a:latin typeface="Arial"/>
                <a:ea typeface="Arial"/>
                <a:cs typeface="Arial"/>
              </a:defRPr>
            </a:lvl1pPr>
            <a:lvl2pPr>
              <a:buNone/>
              <a:defRPr sz="1950" b="1">
                <a:solidFill>
                  <a:srgbClr val="F2F6FF"/>
                </a:solidFill>
                <a:latin typeface="Arial"/>
                <a:ea typeface="Arial"/>
                <a:cs typeface="Arial"/>
              </a:defRPr>
            </a:lvl2pPr>
            <a:lvl3pPr>
              <a:buNone/>
              <a:defRPr sz="1950" b="1">
                <a:solidFill>
                  <a:srgbClr val="F2F6FF"/>
                </a:solidFill>
                <a:latin typeface="Arial"/>
                <a:ea typeface="Arial"/>
                <a:cs typeface="Arial"/>
              </a:defRPr>
            </a:lvl3pPr>
            <a:lvl4pPr>
              <a:buNone/>
              <a:defRPr sz="1950" b="1">
                <a:solidFill>
                  <a:srgbClr val="F2F6FF"/>
                </a:solidFill>
                <a:latin typeface="Arial"/>
                <a:ea typeface="Arial"/>
                <a:cs typeface="Arial"/>
              </a:defRPr>
            </a:lvl4pPr>
            <a:lvl5pPr>
              <a:buNone/>
              <a:defRPr sz="1950" b="1">
                <a:solidFill>
                  <a:srgbClr val="F2F6FF"/>
                </a:solidFill>
                <a:latin typeface="Arial"/>
                <a:ea typeface="Arial"/>
                <a:cs typeface="Arial"/>
              </a:defRPr>
            </a:lvl5pPr>
            <a:lvl6pPr>
              <a:buNone/>
              <a:defRPr sz="1950" b="1">
                <a:solidFill>
                  <a:srgbClr val="F2F6FF"/>
                </a:solidFill>
                <a:latin typeface="Arial"/>
                <a:ea typeface="Arial"/>
                <a:cs typeface="Arial"/>
              </a:defRPr>
            </a:lvl6pPr>
            <a:lvl7pPr>
              <a:buNone/>
              <a:defRPr sz="1950" b="1">
                <a:solidFill>
                  <a:srgbClr val="F2F6FF"/>
                </a:solidFill>
                <a:latin typeface="Arial"/>
                <a:ea typeface="Arial"/>
                <a:cs typeface="Arial"/>
              </a:defRPr>
            </a:lvl7pPr>
            <a:lvl8pPr>
              <a:buNone/>
              <a:defRPr sz="1950" b="1">
                <a:solidFill>
                  <a:srgbClr val="F2F6FF"/>
                </a:solidFill>
                <a:latin typeface="Arial"/>
                <a:ea typeface="Arial"/>
                <a:cs typeface="Arial"/>
              </a:defRPr>
            </a:lvl8pPr>
            <a:lvl9pPr>
              <a:buNone/>
              <a:defRPr sz="1950" b="1">
                <a:solidFill>
                  <a:srgbClr val="F2F6FF"/>
                </a:solidFill>
                <a:latin typeface="Arial"/>
                <a:ea typeface="Arial"/>
                <a:cs typeface="Arial"/>
              </a:defRPr>
            </a:lvl9pPr>
          </a:lstStyle>
          <a:p xmlns:a="http://schemas.openxmlformats.org/drawingml/2006/main">
            <a:pPr>
              <a:buNone/>
              <a:defRPr sz="1950" b="1">
                <a:solidFill>
                  <a:srgbClr val="F2F6FF"/>
                </a:solidFill>
                <a:latin typeface="Arial"/>
                <a:ea typeface="Arial"/>
                <a:cs typeface="Arial"/>
              </a:defRPr>
            </a:pPr>
            <a:r>
              <a:rPr sz="1950" b="1">
                <a:solidFill>
                  <a:srgbClr val="F2F6FF"/>
                </a:solidFill>
                <a:latin typeface="Arial"/>
                <a:ea typeface="Arial"/>
                <a:cs typeface="Arial"/>
              </a:rPr>
              <a:t>Collect the Data</a:t>
            </a:r>
          </a:p>
        </p:txBody>
      </p:sp>
      <p:sp>
        <p:nvSpPr>
          <p:cNvPr id="12" name="integration-26">
            <a:extLst xmlns:a="http://schemas.openxmlformats.org/drawingml/2006/main">
              <a:ext uri="{FF2B5EF4-FFF2-40B4-BE49-F238E27FC236}">
                <a16:creationId xmlns:a16="http://schemas.microsoft.com/office/drawing/2014/main" id="{B1D4D796-164D-425E-8021-7A9716BA7B02}"/>
              </a:ext>
            </a:extLst>
          </p:cNvPr>
          <p:cNvSpPr>
            <a:spLocks xmlns:a="http://schemas.openxmlformats.org/drawingml/2006/main" noGrp="1"/>
          </p:cNvSpPr>
          <p:nvPr/>
        </p:nvSpPr>
        <p:spPr>
          <a:xfrm xmlns:a="http://schemas.openxmlformats.org/drawingml/2006/main">
            <a:off x="1200150" y="4314825"/>
            <a:ext cx="466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0">
                <a:solidFill>
                  <a:srgbClr val="A8BDD4"/>
                </a:solidFill>
                <a:latin typeface="Arial"/>
                <a:ea typeface="Arial"/>
                <a:cs typeface="Arial"/>
              </a:defRPr>
            </a:lvl1pPr>
            <a:lvl2pPr>
              <a:buNone/>
              <a:defRPr sz="1575" b="0">
                <a:solidFill>
                  <a:srgbClr val="A8BDD4"/>
                </a:solidFill>
                <a:latin typeface="Arial"/>
                <a:ea typeface="Arial"/>
                <a:cs typeface="Arial"/>
              </a:defRPr>
            </a:lvl2pPr>
            <a:lvl3pPr>
              <a:buNone/>
              <a:defRPr sz="1575" b="0">
                <a:solidFill>
                  <a:srgbClr val="A8BDD4"/>
                </a:solidFill>
                <a:latin typeface="Arial"/>
                <a:ea typeface="Arial"/>
                <a:cs typeface="Arial"/>
              </a:defRPr>
            </a:lvl3pPr>
            <a:lvl4pPr>
              <a:buNone/>
              <a:defRPr sz="1575" b="0">
                <a:solidFill>
                  <a:srgbClr val="A8BDD4"/>
                </a:solidFill>
                <a:latin typeface="Arial"/>
                <a:ea typeface="Arial"/>
                <a:cs typeface="Arial"/>
              </a:defRPr>
            </a:lvl4pPr>
            <a:lvl5pPr>
              <a:buNone/>
              <a:defRPr sz="1575" b="0">
                <a:solidFill>
                  <a:srgbClr val="A8BDD4"/>
                </a:solidFill>
                <a:latin typeface="Arial"/>
                <a:ea typeface="Arial"/>
                <a:cs typeface="Arial"/>
              </a:defRPr>
            </a:lvl5pPr>
            <a:lvl6pPr>
              <a:buNone/>
              <a:defRPr sz="1575" b="0">
                <a:solidFill>
                  <a:srgbClr val="A8BDD4"/>
                </a:solidFill>
                <a:latin typeface="Arial"/>
                <a:ea typeface="Arial"/>
                <a:cs typeface="Arial"/>
              </a:defRPr>
            </a:lvl6pPr>
            <a:lvl7pPr>
              <a:buNone/>
              <a:defRPr sz="1575" b="0">
                <a:solidFill>
                  <a:srgbClr val="A8BDD4"/>
                </a:solidFill>
                <a:latin typeface="Arial"/>
                <a:ea typeface="Arial"/>
                <a:cs typeface="Arial"/>
              </a:defRPr>
            </a:lvl7pPr>
            <a:lvl8pPr>
              <a:buNone/>
              <a:defRPr sz="1575" b="0">
                <a:solidFill>
                  <a:srgbClr val="A8BDD4"/>
                </a:solidFill>
                <a:latin typeface="Arial"/>
                <a:ea typeface="Arial"/>
                <a:cs typeface="Arial"/>
              </a:defRPr>
            </a:lvl8pPr>
            <a:lvl9pPr>
              <a:buNone/>
              <a:defRPr sz="1575" b="0">
                <a:solidFill>
                  <a:srgbClr val="A8BDD4"/>
                </a:solidFill>
                <a:latin typeface="Arial"/>
                <a:ea typeface="Arial"/>
                <a:cs typeface="Arial"/>
              </a:defRPr>
            </a:lvl9pPr>
          </a:lstStyle>
          <a:p xmlns:a="http://schemas.openxmlformats.org/drawingml/2006/main">
            <a:pPr>
              <a:buNone/>
              <a:defRPr sz="1575" b="0">
                <a:solidFill>
                  <a:srgbClr val="A8BDD4"/>
                </a:solidFill>
                <a:latin typeface="Arial"/>
                <a:ea typeface="Arial"/>
                <a:cs typeface="Arial"/>
              </a:defRPr>
            </a:pPr>
            <a:r>
              <a:rPr sz="1575" b="0">
                <a:solidFill>
                  <a:srgbClr val="A8BDD4"/>
                </a:solidFill>
                <a:latin typeface="Arial"/>
                <a:ea typeface="Arial"/>
                <a:cs typeface="Arial"/>
              </a:rPr>
              <a:t>Imported 14 source CSV extracts into Power BI.</a:t>
            </a:r>
          </a:p>
        </p:txBody>
      </p:sp>
      <p:sp>
        <p:nvSpPr>
          <p:cNvPr id="13" name="integration-27">
            <a:extLst xmlns:a="http://schemas.openxmlformats.org/drawingml/2006/main">
              <a:ext uri="{FF2B5EF4-FFF2-40B4-BE49-F238E27FC236}">
                <a16:creationId xmlns:a16="http://schemas.microsoft.com/office/drawing/2014/main" id="{360A048F-70B9-450A-91E0-7BFE0B822141}"/>
              </a:ext>
            </a:extLst>
          </p:cNvPr>
          <p:cNvSpPr>
            <a:spLocks xmlns:a="http://schemas.openxmlformats.org/drawingml/2006/main" noGrp="1"/>
          </p:cNvSpPr>
          <p:nvPr/>
        </p:nvSpPr>
        <p:spPr>
          <a:xfrm xmlns:a="http://schemas.openxmlformats.org/drawingml/2006/main">
            <a:off x="571500" y="4819650"/>
            <a:ext cx="51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550" b="1">
                <a:solidFill>
                  <a:srgbClr val="3DDCF5"/>
                </a:solidFill>
                <a:latin typeface="Arial"/>
                <a:ea typeface="Arial"/>
                <a:cs typeface="Arial"/>
              </a:defRPr>
            </a:lvl1pPr>
            <a:lvl2pPr>
              <a:buNone/>
              <a:defRPr sz="2550" b="1">
                <a:solidFill>
                  <a:srgbClr val="3DDCF5"/>
                </a:solidFill>
                <a:latin typeface="Arial"/>
                <a:ea typeface="Arial"/>
                <a:cs typeface="Arial"/>
              </a:defRPr>
            </a:lvl2pPr>
            <a:lvl3pPr>
              <a:buNone/>
              <a:defRPr sz="2550" b="1">
                <a:solidFill>
                  <a:srgbClr val="3DDCF5"/>
                </a:solidFill>
                <a:latin typeface="Arial"/>
                <a:ea typeface="Arial"/>
                <a:cs typeface="Arial"/>
              </a:defRPr>
            </a:lvl3pPr>
            <a:lvl4pPr>
              <a:buNone/>
              <a:defRPr sz="2550" b="1">
                <a:solidFill>
                  <a:srgbClr val="3DDCF5"/>
                </a:solidFill>
                <a:latin typeface="Arial"/>
                <a:ea typeface="Arial"/>
                <a:cs typeface="Arial"/>
              </a:defRPr>
            </a:lvl4pPr>
            <a:lvl5pPr>
              <a:buNone/>
              <a:defRPr sz="2550" b="1">
                <a:solidFill>
                  <a:srgbClr val="3DDCF5"/>
                </a:solidFill>
                <a:latin typeface="Arial"/>
                <a:ea typeface="Arial"/>
                <a:cs typeface="Arial"/>
              </a:defRPr>
            </a:lvl5pPr>
            <a:lvl6pPr>
              <a:buNone/>
              <a:defRPr sz="2550" b="1">
                <a:solidFill>
                  <a:srgbClr val="3DDCF5"/>
                </a:solidFill>
                <a:latin typeface="Arial"/>
                <a:ea typeface="Arial"/>
                <a:cs typeface="Arial"/>
              </a:defRPr>
            </a:lvl6pPr>
            <a:lvl7pPr>
              <a:buNone/>
              <a:defRPr sz="2550" b="1">
                <a:solidFill>
                  <a:srgbClr val="3DDCF5"/>
                </a:solidFill>
                <a:latin typeface="Arial"/>
                <a:ea typeface="Arial"/>
                <a:cs typeface="Arial"/>
              </a:defRPr>
            </a:lvl7pPr>
            <a:lvl8pPr>
              <a:buNone/>
              <a:defRPr sz="2550" b="1">
                <a:solidFill>
                  <a:srgbClr val="3DDCF5"/>
                </a:solidFill>
                <a:latin typeface="Arial"/>
                <a:ea typeface="Arial"/>
                <a:cs typeface="Arial"/>
              </a:defRPr>
            </a:lvl8pPr>
            <a:lvl9pPr>
              <a:buNone/>
              <a:defRPr sz="2550" b="1">
                <a:solidFill>
                  <a:srgbClr val="3DDCF5"/>
                </a:solidFill>
                <a:latin typeface="Arial"/>
                <a:ea typeface="Arial"/>
                <a:cs typeface="Arial"/>
              </a:defRPr>
            </a:lvl9pPr>
          </a:lstStyle>
          <a:p xmlns:a="http://schemas.openxmlformats.org/drawingml/2006/main">
            <a:pPr>
              <a:buNone/>
              <a:defRPr sz="2550" b="1">
                <a:solidFill>
                  <a:srgbClr val="3DDCF5"/>
                </a:solidFill>
                <a:latin typeface="Arial"/>
                <a:ea typeface="Arial"/>
                <a:cs typeface="Arial"/>
              </a:defRPr>
            </a:pPr>
            <a:r>
              <a:rPr sz="2550" b="1">
                <a:solidFill>
                  <a:srgbClr val="3DDCF5"/>
                </a:solidFill>
                <a:latin typeface="Arial"/>
                <a:ea typeface="Arial"/>
                <a:cs typeface="Arial"/>
              </a:rPr>
              <a:t>04</a:t>
            </a:r>
          </a:p>
        </p:txBody>
      </p:sp>
      <p:sp>
        <p:nvSpPr>
          <p:cNvPr id="14" name="integration-28">
            <a:extLst xmlns:a="http://schemas.openxmlformats.org/drawingml/2006/main">
              <a:ext uri="{FF2B5EF4-FFF2-40B4-BE49-F238E27FC236}">
                <a16:creationId xmlns:a16="http://schemas.microsoft.com/office/drawing/2014/main" id="{61F4BCB2-191B-47D6-A83F-37C6C3733FFB}"/>
              </a:ext>
            </a:extLst>
          </p:cNvPr>
          <p:cNvSpPr>
            <a:spLocks xmlns:a="http://schemas.openxmlformats.org/drawingml/2006/main" noGrp="1"/>
          </p:cNvSpPr>
          <p:nvPr/>
        </p:nvSpPr>
        <p:spPr>
          <a:xfrm xmlns:a="http://schemas.openxmlformats.org/drawingml/2006/main">
            <a:off x="1200150" y="48196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1">
                <a:solidFill>
                  <a:srgbClr val="F2F6FF"/>
                </a:solidFill>
                <a:latin typeface="Arial"/>
                <a:ea typeface="Arial"/>
                <a:cs typeface="Arial"/>
              </a:defRPr>
            </a:lvl1pPr>
            <a:lvl2pPr>
              <a:buNone/>
              <a:defRPr sz="1950" b="1">
                <a:solidFill>
                  <a:srgbClr val="F2F6FF"/>
                </a:solidFill>
                <a:latin typeface="Arial"/>
                <a:ea typeface="Arial"/>
                <a:cs typeface="Arial"/>
              </a:defRPr>
            </a:lvl2pPr>
            <a:lvl3pPr>
              <a:buNone/>
              <a:defRPr sz="1950" b="1">
                <a:solidFill>
                  <a:srgbClr val="F2F6FF"/>
                </a:solidFill>
                <a:latin typeface="Arial"/>
                <a:ea typeface="Arial"/>
                <a:cs typeface="Arial"/>
              </a:defRPr>
            </a:lvl3pPr>
            <a:lvl4pPr>
              <a:buNone/>
              <a:defRPr sz="1950" b="1">
                <a:solidFill>
                  <a:srgbClr val="F2F6FF"/>
                </a:solidFill>
                <a:latin typeface="Arial"/>
                <a:ea typeface="Arial"/>
                <a:cs typeface="Arial"/>
              </a:defRPr>
            </a:lvl4pPr>
            <a:lvl5pPr>
              <a:buNone/>
              <a:defRPr sz="1950" b="1">
                <a:solidFill>
                  <a:srgbClr val="F2F6FF"/>
                </a:solidFill>
                <a:latin typeface="Arial"/>
                <a:ea typeface="Arial"/>
                <a:cs typeface="Arial"/>
              </a:defRPr>
            </a:lvl5pPr>
            <a:lvl6pPr>
              <a:buNone/>
              <a:defRPr sz="1950" b="1">
                <a:solidFill>
                  <a:srgbClr val="F2F6FF"/>
                </a:solidFill>
                <a:latin typeface="Arial"/>
                <a:ea typeface="Arial"/>
                <a:cs typeface="Arial"/>
              </a:defRPr>
            </a:lvl6pPr>
            <a:lvl7pPr>
              <a:buNone/>
              <a:defRPr sz="1950" b="1">
                <a:solidFill>
                  <a:srgbClr val="F2F6FF"/>
                </a:solidFill>
                <a:latin typeface="Arial"/>
                <a:ea typeface="Arial"/>
                <a:cs typeface="Arial"/>
              </a:defRPr>
            </a:lvl7pPr>
            <a:lvl8pPr>
              <a:buNone/>
              <a:defRPr sz="1950" b="1">
                <a:solidFill>
                  <a:srgbClr val="F2F6FF"/>
                </a:solidFill>
                <a:latin typeface="Arial"/>
                <a:ea typeface="Arial"/>
                <a:cs typeface="Arial"/>
              </a:defRPr>
            </a:lvl8pPr>
            <a:lvl9pPr>
              <a:buNone/>
              <a:defRPr sz="1950" b="1">
                <a:solidFill>
                  <a:srgbClr val="F2F6FF"/>
                </a:solidFill>
                <a:latin typeface="Arial"/>
                <a:ea typeface="Arial"/>
                <a:cs typeface="Arial"/>
              </a:defRPr>
            </a:lvl9pPr>
          </a:lstStyle>
          <a:p xmlns:a="http://schemas.openxmlformats.org/drawingml/2006/main">
            <a:pPr>
              <a:buNone/>
              <a:defRPr sz="1950" b="1">
                <a:solidFill>
                  <a:srgbClr val="F2F6FF"/>
                </a:solidFill>
                <a:latin typeface="Arial"/>
                <a:ea typeface="Arial"/>
                <a:cs typeface="Arial"/>
              </a:defRPr>
            </a:pPr>
            <a:r>
              <a:rPr sz="1950" b="1">
                <a:solidFill>
                  <a:srgbClr val="F2F6FF"/>
                </a:solidFill>
                <a:latin typeface="Arial"/>
                <a:ea typeface="Arial"/>
                <a:cs typeface="Arial"/>
              </a:rPr>
              <a:t>Clean in Power Query (M)</a:t>
            </a:r>
          </a:p>
        </p:txBody>
      </p:sp>
      <p:sp>
        <p:nvSpPr>
          <p:cNvPr id="15" name="integration-29">
            <a:extLst xmlns:a="http://schemas.openxmlformats.org/drawingml/2006/main">
              <a:ext uri="{FF2B5EF4-FFF2-40B4-BE49-F238E27FC236}">
                <a16:creationId xmlns:a16="http://schemas.microsoft.com/office/drawing/2014/main" id="{5655B2FB-52CE-48C1-878A-1B6E3A6BCB39}"/>
              </a:ext>
            </a:extLst>
          </p:cNvPr>
          <p:cNvSpPr>
            <a:spLocks xmlns:a="http://schemas.openxmlformats.org/drawingml/2006/main" noGrp="1"/>
          </p:cNvSpPr>
          <p:nvPr/>
        </p:nvSpPr>
        <p:spPr>
          <a:xfrm xmlns:a="http://schemas.openxmlformats.org/drawingml/2006/main">
            <a:off x="1200150" y="5229225"/>
            <a:ext cx="466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0">
                <a:solidFill>
                  <a:srgbClr val="A8BDD4"/>
                </a:solidFill>
                <a:latin typeface="Arial"/>
                <a:ea typeface="Arial"/>
                <a:cs typeface="Arial"/>
              </a:defRPr>
            </a:lvl1pPr>
            <a:lvl2pPr>
              <a:buNone/>
              <a:defRPr sz="1575" b="0">
                <a:solidFill>
                  <a:srgbClr val="A8BDD4"/>
                </a:solidFill>
                <a:latin typeface="Arial"/>
                <a:ea typeface="Arial"/>
                <a:cs typeface="Arial"/>
              </a:defRPr>
            </a:lvl2pPr>
            <a:lvl3pPr>
              <a:buNone/>
              <a:defRPr sz="1575" b="0">
                <a:solidFill>
                  <a:srgbClr val="A8BDD4"/>
                </a:solidFill>
                <a:latin typeface="Arial"/>
                <a:ea typeface="Arial"/>
                <a:cs typeface="Arial"/>
              </a:defRPr>
            </a:lvl3pPr>
            <a:lvl4pPr>
              <a:buNone/>
              <a:defRPr sz="1575" b="0">
                <a:solidFill>
                  <a:srgbClr val="A8BDD4"/>
                </a:solidFill>
                <a:latin typeface="Arial"/>
                <a:ea typeface="Arial"/>
                <a:cs typeface="Arial"/>
              </a:defRPr>
            </a:lvl4pPr>
            <a:lvl5pPr>
              <a:buNone/>
              <a:defRPr sz="1575" b="0">
                <a:solidFill>
                  <a:srgbClr val="A8BDD4"/>
                </a:solidFill>
                <a:latin typeface="Arial"/>
                <a:ea typeface="Arial"/>
                <a:cs typeface="Arial"/>
              </a:defRPr>
            </a:lvl5pPr>
            <a:lvl6pPr>
              <a:buNone/>
              <a:defRPr sz="1575" b="0">
                <a:solidFill>
                  <a:srgbClr val="A8BDD4"/>
                </a:solidFill>
                <a:latin typeface="Arial"/>
                <a:ea typeface="Arial"/>
                <a:cs typeface="Arial"/>
              </a:defRPr>
            </a:lvl6pPr>
            <a:lvl7pPr>
              <a:buNone/>
              <a:defRPr sz="1575" b="0">
                <a:solidFill>
                  <a:srgbClr val="A8BDD4"/>
                </a:solidFill>
                <a:latin typeface="Arial"/>
                <a:ea typeface="Arial"/>
                <a:cs typeface="Arial"/>
              </a:defRPr>
            </a:lvl7pPr>
            <a:lvl8pPr>
              <a:buNone/>
              <a:defRPr sz="1575" b="0">
                <a:solidFill>
                  <a:srgbClr val="A8BDD4"/>
                </a:solidFill>
                <a:latin typeface="Arial"/>
                <a:ea typeface="Arial"/>
                <a:cs typeface="Arial"/>
              </a:defRPr>
            </a:lvl8pPr>
            <a:lvl9pPr>
              <a:buNone/>
              <a:defRPr sz="1575" b="0">
                <a:solidFill>
                  <a:srgbClr val="A8BDD4"/>
                </a:solidFill>
                <a:latin typeface="Arial"/>
                <a:ea typeface="Arial"/>
                <a:cs typeface="Arial"/>
              </a:defRPr>
            </a:lvl9pPr>
          </a:lstStyle>
          <a:p xmlns:a="http://schemas.openxmlformats.org/drawingml/2006/main">
            <a:pPr>
              <a:buNone/>
              <a:defRPr sz="1575" b="0">
                <a:solidFill>
                  <a:srgbClr val="A8BDD4"/>
                </a:solidFill>
                <a:latin typeface="Arial"/>
                <a:ea typeface="Arial"/>
                <a:cs typeface="Arial"/>
              </a:defRPr>
            </a:pPr>
            <a:r>
              <a:rPr sz="1575" b="0">
                <a:solidFill>
                  <a:srgbClr val="A8BDD4"/>
                </a:solidFill>
                <a:latin typeface="Arial"/>
                <a:ea typeface="Arial"/>
                <a:cs typeface="Arial"/>
              </a:rPr>
              <a:t>Set data types, cleaned names and keys, and derived time and service fields.</a:t>
            </a:r>
          </a:p>
        </p:txBody>
      </p:sp>
      <p:sp>
        <p:nvSpPr>
          <p:cNvPr id="16" name="integration-30">
            <a:extLst xmlns:a="http://schemas.openxmlformats.org/drawingml/2006/main">
              <a:ext uri="{FF2B5EF4-FFF2-40B4-BE49-F238E27FC236}">
                <a16:creationId xmlns:a16="http://schemas.microsoft.com/office/drawing/2014/main" id="{F757E296-7C30-4E5C-AF4C-87955A504AAB}"/>
              </a:ext>
            </a:extLst>
          </p:cNvPr>
          <p:cNvSpPr>
            <a:spLocks xmlns:a="http://schemas.openxmlformats.org/drawingml/2006/main" noGrp="1"/>
          </p:cNvSpPr>
          <p:nvPr/>
        </p:nvSpPr>
        <p:spPr>
          <a:xfrm xmlns:a="http://schemas.openxmlformats.org/drawingml/2006/main">
            <a:off x="6381750" y="2076450"/>
            <a:ext cx="51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550" b="1">
                <a:solidFill>
                  <a:srgbClr val="A381FF"/>
                </a:solidFill>
                <a:latin typeface="Arial"/>
                <a:ea typeface="Arial"/>
                <a:cs typeface="Arial"/>
              </a:defRPr>
            </a:lvl1pPr>
            <a:lvl2pPr>
              <a:buNone/>
              <a:defRPr sz="2550" b="1">
                <a:solidFill>
                  <a:srgbClr val="A381FF"/>
                </a:solidFill>
                <a:latin typeface="Arial"/>
                <a:ea typeface="Arial"/>
                <a:cs typeface="Arial"/>
              </a:defRPr>
            </a:lvl2pPr>
            <a:lvl3pPr>
              <a:buNone/>
              <a:defRPr sz="2550" b="1">
                <a:solidFill>
                  <a:srgbClr val="A381FF"/>
                </a:solidFill>
                <a:latin typeface="Arial"/>
                <a:ea typeface="Arial"/>
                <a:cs typeface="Arial"/>
              </a:defRPr>
            </a:lvl3pPr>
            <a:lvl4pPr>
              <a:buNone/>
              <a:defRPr sz="2550" b="1">
                <a:solidFill>
                  <a:srgbClr val="A381FF"/>
                </a:solidFill>
                <a:latin typeface="Arial"/>
                <a:ea typeface="Arial"/>
                <a:cs typeface="Arial"/>
              </a:defRPr>
            </a:lvl4pPr>
            <a:lvl5pPr>
              <a:buNone/>
              <a:defRPr sz="2550" b="1">
                <a:solidFill>
                  <a:srgbClr val="A381FF"/>
                </a:solidFill>
                <a:latin typeface="Arial"/>
                <a:ea typeface="Arial"/>
                <a:cs typeface="Arial"/>
              </a:defRPr>
            </a:lvl5pPr>
            <a:lvl6pPr>
              <a:buNone/>
              <a:defRPr sz="2550" b="1">
                <a:solidFill>
                  <a:srgbClr val="A381FF"/>
                </a:solidFill>
                <a:latin typeface="Arial"/>
                <a:ea typeface="Arial"/>
                <a:cs typeface="Arial"/>
              </a:defRPr>
            </a:lvl6pPr>
            <a:lvl7pPr>
              <a:buNone/>
              <a:defRPr sz="2550" b="1">
                <a:solidFill>
                  <a:srgbClr val="A381FF"/>
                </a:solidFill>
                <a:latin typeface="Arial"/>
                <a:ea typeface="Arial"/>
                <a:cs typeface="Arial"/>
              </a:defRPr>
            </a:lvl7pPr>
            <a:lvl8pPr>
              <a:buNone/>
              <a:defRPr sz="2550" b="1">
                <a:solidFill>
                  <a:srgbClr val="A381FF"/>
                </a:solidFill>
                <a:latin typeface="Arial"/>
                <a:ea typeface="Arial"/>
                <a:cs typeface="Arial"/>
              </a:defRPr>
            </a:lvl8pPr>
            <a:lvl9pPr>
              <a:buNone/>
              <a:defRPr sz="2550" b="1">
                <a:solidFill>
                  <a:srgbClr val="A381FF"/>
                </a:solidFill>
                <a:latin typeface="Arial"/>
                <a:ea typeface="Arial"/>
                <a:cs typeface="Arial"/>
              </a:defRPr>
            </a:lvl9pPr>
          </a:lstStyle>
          <a:p xmlns:a="http://schemas.openxmlformats.org/drawingml/2006/main">
            <a:pPr>
              <a:buNone/>
              <a:defRPr sz="2550" b="1">
                <a:solidFill>
                  <a:srgbClr val="A381FF"/>
                </a:solidFill>
                <a:latin typeface="Arial"/>
                <a:ea typeface="Arial"/>
                <a:cs typeface="Arial"/>
              </a:defRPr>
            </a:pPr>
            <a:r>
              <a:rPr sz="2550" b="1">
                <a:solidFill>
                  <a:srgbClr val="A381FF"/>
                </a:solidFill>
                <a:latin typeface="Arial"/>
                <a:ea typeface="Arial"/>
                <a:cs typeface="Arial"/>
              </a:rPr>
              <a:t>05</a:t>
            </a:r>
          </a:p>
        </p:txBody>
      </p:sp>
      <p:sp>
        <p:nvSpPr>
          <p:cNvPr id="17" name="integration-31">
            <a:extLst xmlns:a="http://schemas.openxmlformats.org/drawingml/2006/main">
              <a:ext uri="{FF2B5EF4-FFF2-40B4-BE49-F238E27FC236}">
                <a16:creationId xmlns:a16="http://schemas.microsoft.com/office/drawing/2014/main" id="{92CE7C38-D9A6-4826-BA16-E9994C2ECEB4}"/>
              </a:ext>
            </a:extLst>
          </p:cNvPr>
          <p:cNvSpPr>
            <a:spLocks xmlns:a="http://schemas.openxmlformats.org/drawingml/2006/main" noGrp="1"/>
          </p:cNvSpPr>
          <p:nvPr/>
        </p:nvSpPr>
        <p:spPr>
          <a:xfrm xmlns:a="http://schemas.openxmlformats.org/drawingml/2006/main">
            <a:off x="7010400" y="20764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1">
                <a:solidFill>
                  <a:srgbClr val="F2F6FF"/>
                </a:solidFill>
                <a:latin typeface="Arial"/>
                <a:ea typeface="Arial"/>
                <a:cs typeface="Arial"/>
              </a:defRPr>
            </a:lvl1pPr>
            <a:lvl2pPr>
              <a:buNone/>
              <a:defRPr sz="1950" b="1">
                <a:solidFill>
                  <a:srgbClr val="F2F6FF"/>
                </a:solidFill>
                <a:latin typeface="Arial"/>
                <a:ea typeface="Arial"/>
                <a:cs typeface="Arial"/>
              </a:defRPr>
            </a:lvl2pPr>
            <a:lvl3pPr>
              <a:buNone/>
              <a:defRPr sz="1950" b="1">
                <a:solidFill>
                  <a:srgbClr val="F2F6FF"/>
                </a:solidFill>
                <a:latin typeface="Arial"/>
                <a:ea typeface="Arial"/>
                <a:cs typeface="Arial"/>
              </a:defRPr>
            </a:lvl3pPr>
            <a:lvl4pPr>
              <a:buNone/>
              <a:defRPr sz="1950" b="1">
                <a:solidFill>
                  <a:srgbClr val="F2F6FF"/>
                </a:solidFill>
                <a:latin typeface="Arial"/>
                <a:ea typeface="Arial"/>
                <a:cs typeface="Arial"/>
              </a:defRPr>
            </a:lvl4pPr>
            <a:lvl5pPr>
              <a:buNone/>
              <a:defRPr sz="1950" b="1">
                <a:solidFill>
                  <a:srgbClr val="F2F6FF"/>
                </a:solidFill>
                <a:latin typeface="Arial"/>
                <a:ea typeface="Arial"/>
                <a:cs typeface="Arial"/>
              </a:defRPr>
            </a:lvl5pPr>
            <a:lvl6pPr>
              <a:buNone/>
              <a:defRPr sz="1950" b="1">
                <a:solidFill>
                  <a:srgbClr val="F2F6FF"/>
                </a:solidFill>
                <a:latin typeface="Arial"/>
                <a:ea typeface="Arial"/>
                <a:cs typeface="Arial"/>
              </a:defRPr>
            </a:lvl6pPr>
            <a:lvl7pPr>
              <a:buNone/>
              <a:defRPr sz="1950" b="1">
                <a:solidFill>
                  <a:srgbClr val="F2F6FF"/>
                </a:solidFill>
                <a:latin typeface="Arial"/>
                <a:ea typeface="Arial"/>
                <a:cs typeface="Arial"/>
              </a:defRPr>
            </a:lvl7pPr>
            <a:lvl8pPr>
              <a:buNone/>
              <a:defRPr sz="1950" b="1">
                <a:solidFill>
                  <a:srgbClr val="F2F6FF"/>
                </a:solidFill>
                <a:latin typeface="Arial"/>
                <a:ea typeface="Arial"/>
                <a:cs typeface="Arial"/>
              </a:defRPr>
            </a:lvl8pPr>
            <a:lvl9pPr>
              <a:buNone/>
              <a:defRPr sz="1950" b="1">
                <a:solidFill>
                  <a:srgbClr val="F2F6FF"/>
                </a:solidFill>
                <a:latin typeface="Arial"/>
                <a:ea typeface="Arial"/>
                <a:cs typeface="Arial"/>
              </a:defRPr>
            </a:lvl9pPr>
          </a:lstStyle>
          <a:p xmlns:a="http://schemas.openxmlformats.org/drawingml/2006/main">
            <a:pPr>
              <a:buNone/>
              <a:defRPr sz="1950" b="1">
                <a:solidFill>
                  <a:srgbClr val="F2F6FF"/>
                </a:solidFill>
                <a:latin typeface="Arial"/>
                <a:ea typeface="Arial"/>
                <a:cs typeface="Arial"/>
              </a:defRPr>
            </a:pPr>
            <a:r>
              <a:rPr sz="1950" b="1">
                <a:solidFill>
                  <a:srgbClr val="F2F6FF"/>
                </a:solidFill>
                <a:latin typeface="Arial"/>
                <a:ea typeface="Arial"/>
                <a:cs typeface="Arial"/>
              </a:rPr>
              <a:t>Data Modeling: Star Schema</a:t>
            </a:r>
          </a:p>
        </p:txBody>
      </p:sp>
      <p:sp>
        <p:nvSpPr>
          <p:cNvPr id="18" name="integration-32">
            <a:extLst xmlns:a="http://schemas.openxmlformats.org/drawingml/2006/main">
              <a:ext uri="{FF2B5EF4-FFF2-40B4-BE49-F238E27FC236}">
                <a16:creationId xmlns:a16="http://schemas.microsoft.com/office/drawing/2014/main" id="{81210CDB-A648-4EC1-9C6A-5C2F77C83C98}"/>
              </a:ext>
            </a:extLst>
          </p:cNvPr>
          <p:cNvSpPr>
            <a:spLocks xmlns:a="http://schemas.openxmlformats.org/drawingml/2006/main" noGrp="1"/>
          </p:cNvSpPr>
          <p:nvPr/>
        </p:nvSpPr>
        <p:spPr>
          <a:xfrm xmlns:a="http://schemas.openxmlformats.org/drawingml/2006/main">
            <a:off x="7010400" y="2486025"/>
            <a:ext cx="466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0">
                <a:solidFill>
                  <a:srgbClr val="A8BDD4"/>
                </a:solidFill>
                <a:latin typeface="Arial"/>
                <a:ea typeface="Arial"/>
                <a:cs typeface="Arial"/>
              </a:defRPr>
            </a:lvl1pPr>
            <a:lvl2pPr>
              <a:buNone/>
              <a:defRPr sz="1575" b="0">
                <a:solidFill>
                  <a:srgbClr val="A8BDD4"/>
                </a:solidFill>
                <a:latin typeface="Arial"/>
                <a:ea typeface="Arial"/>
                <a:cs typeface="Arial"/>
              </a:defRPr>
            </a:lvl2pPr>
            <a:lvl3pPr>
              <a:buNone/>
              <a:defRPr sz="1575" b="0">
                <a:solidFill>
                  <a:srgbClr val="A8BDD4"/>
                </a:solidFill>
                <a:latin typeface="Arial"/>
                <a:ea typeface="Arial"/>
                <a:cs typeface="Arial"/>
              </a:defRPr>
            </a:lvl3pPr>
            <a:lvl4pPr>
              <a:buNone/>
              <a:defRPr sz="1575" b="0">
                <a:solidFill>
                  <a:srgbClr val="A8BDD4"/>
                </a:solidFill>
                <a:latin typeface="Arial"/>
                <a:ea typeface="Arial"/>
                <a:cs typeface="Arial"/>
              </a:defRPr>
            </a:lvl4pPr>
            <a:lvl5pPr>
              <a:buNone/>
              <a:defRPr sz="1575" b="0">
                <a:solidFill>
                  <a:srgbClr val="A8BDD4"/>
                </a:solidFill>
                <a:latin typeface="Arial"/>
                <a:ea typeface="Arial"/>
                <a:cs typeface="Arial"/>
              </a:defRPr>
            </a:lvl5pPr>
            <a:lvl6pPr>
              <a:buNone/>
              <a:defRPr sz="1575" b="0">
                <a:solidFill>
                  <a:srgbClr val="A8BDD4"/>
                </a:solidFill>
                <a:latin typeface="Arial"/>
                <a:ea typeface="Arial"/>
                <a:cs typeface="Arial"/>
              </a:defRPr>
            </a:lvl6pPr>
            <a:lvl7pPr>
              <a:buNone/>
              <a:defRPr sz="1575" b="0">
                <a:solidFill>
                  <a:srgbClr val="A8BDD4"/>
                </a:solidFill>
                <a:latin typeface="Arial"/>
                <a:ea typeface="Arial"/>
                <a:cs typeface="Arial"/>
              </a:defRPr>
            </a:lvl7pPr>
            <a:lvl8pPr>
              <a:buNone/>
              <a:defRPr sz="1575" b="0">
                <a:solidFill>
                  <a:srgbClr val="A8BDD4"/>
                </a:solidFill>
                <a:latin typeface="Arial"/>
                <a:ea typeface="Arial"/>
                <a:cs typeface="Arial"/>
              </a:defRPr>
            </a:lvl8pPr>
            <a:lvl9pPr>
              <a:buNone/>
              <a:defRPr sz="1575" b="0">
                <a:solidFill>
                  <a:srgbClr val="A8BDD4"/>
                </a:solidFill>
                <a:latin typeface="Arial"/>
                <a:ea typeface="Arial"/>
                <a:cs typeface="Arial"/>
              </a:defRPr>
            </a:lvl9pPr>
          </a:lstStyle>
          <a:p xmlns:a="http://schemas.openxmlformats.org/drawingml/2006/main">
            <a:pPr>
              <a:buNone/>
              <a:defRPr sz="1575" b="0">
                <a:solidFill>
                  <a:srgbClr val="A8BDD4"/>
                </a:solidFill>
                <a:latin typeface="Arial"/>
                <a:ea typeface="Arial"/>
                <a:cs typeface="Arial"/>
              </a:defRPr>
            </a:pPr>
            <a:r>
              <a:rPr sz="1575" b="0">
                <a:solidFill>
                  <a:srgbClr val="A8BDD4"/>
                </a:solidFill>
                <a:latin typeface="Arial"/>
                <a:ea typeface="Arial"/>
                <a:cs typeface="Arial"/>
              </a:rPr>
              <a:t>Connected operational facts with shared business dimensions.</a:t>
            </a:r>
          </a:p>
        </p:txBody>
      </p:sp>
      <p:sp>
        <p:nvSpPr>
          <p:cNvPr id="19" name="integration-33">
            <a:extLst xmlns:a="http://schemas.openxmlformats.org/drawingml/2006/main">
              <a:ext uri="{FF2B5EF4-FFF2-40B4-BE49-F238E27FC236}">
                <a16:creationId xmlns:a16="http://schemas.microsoft.com/office/drawing/2014/main" id="{68F74B2D-CCD1-4959-85EF-DD55C05ABFB6}"/>
              </a:ext>
            </a:extLst>
          </p:cNvPr>
          <p:cNvSpPr>
            <a:spLocks xmlns:a="http://schemas.openxmlformats.org/drawingml/2006/main" noGrp="1"/>
          </p:cNvSpPr>
          <p:nvPr/>
        </p:nvSpPr>
        <p:spPr>
          <a:xfrm xmlns:a="http://schemas.openxmlformats.org/drawingml/2006/main">
            <a:off x="6381750" y="2990850"/>
            <a:ext cx="51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550" b="1">
                <a:solidFill>
                  <a:srgbClr val="3DDCF5"/>
                </a:solidFill>
                <a:latin typeface="Arial"/>
                <a:ea typeface="Arial"/>
                <a:cs typeface="Arial"/>
              </a:defRPr>
            </a:lvl1pPr>
            <a:lvl2pPr>
              <a:buNone/>
              <a:defRPr sz="2550" b="1">
                <a:solidFill>
                  <a:srgbClr val="3DDCF5"/>
                </a:solidFill>
                <a:latin typeface="Arial"/>
                <a:ea typeface="Arial"/>
                <a:cs typeface="Arial"/>
              </a:defRPr>
            </a:lvl2pPr>
            <a:lvl3pPr>
              <a:buNone/>
              <a:defRPr sz="2550" b="1">
                <a:solidFill>
                  <a:srgbClr val="3DDCF5"/>
                </a:solidFill>
                <a:latin typeface="Arial"/>
                <a:ea typeface="Arial"/>
                <a:cs typeface="Arial"/>
              </a:defRPr>
            </a:lvl3pPr>
            <a:lvl4pPr>
              <a:buNone/>
              <a:defRPr sz="2550" b="1">
                <a:solidFill>
                  <a:srgbClr val="3DDCF5"/>
                </a:solidFill>
                <a:latin typeface="Arial"/>
                <a:ea typeface="Arial"/>
                <a:cs typeface="Arial"/>
              </a:defRPr>
            </a:lvl4pPr>
            <a:lvl5pPr>
              <a:buNone/>
              <a:defRPr sz="2550" b="1">
                <a:solidFill>
                  <a:srgbClr val="3DDCF5"/>
                </a:solidFill>
                <a:latin typeface="Arial"/>
                <a:ea typeface="Arial"/>
                <a:cs typeface="Arial"/>
              </a:defRPr>
            </a:lvl5pPr>
            <a:lvl6pPr>
              <a:buNone/>
              <a:defRPr sz="2550" b="1">
                <a:solidFill>
                  <a:srgbClr val="3DDCF5"/>
                </a:solidFill>
                <a:latin typeface="Arial"/>
                <a:ea typeface="Arial"/>
                <a:cs typeface="Arial"/>
              </a:defRPr>
            </a:lvl6pPr>
            <a:lvl7pPr>
              <a:buNone/>
              <a:defRPr sz="2550" b="1">
                <a:solidFill>
                  <a:srgbClr val="3DDCF5"/>
                </a:solidFill>
                <a:latin typeface="Arial"/>
                <a:ea typeface="Arial"/>
                <a:cs typeface="Arial"/>
              </a:defRPr>
            </a:lvl7pPr>
            <a:lvl8pPr>
              <a:buNone/>
              <a:defRPr sz="2550" b="1">
                <a:solidFill>
                  <a:srgbClr val="3DDCF5"/>
                </a:solidFill>
                <a:latin typeface="Arial"/>
                <a:ea typeface="Arial"/>
                <a:cs typeface="Arial"/>
              </a:defRPr>
            </a:lvl8pPr>
            <a:lvl9pPr>
              <a:buNone/>
              <a:defRPr sz="2550" b="1">
                <a:solidFill>
                  <a:srgbClr val="3DDCF5"/>
                </a:solidFill>
                <a:latin typeface="Arial"/>
                <a:ea typeface="Arial"/>
                <a:cs typeface="Arial"/>
              </a:defRPr>
            </a:lvl9pPr>
          </a:lstStyle>
          <a:p xmlns:a="http://schemas.openxmlformats.org/drawingml/2006/main">
            <a:pPr>
              <a:buNone/>
              <a:defRPr sz="2550" b="1">
                <a:solidFill>
                  <a:srgbClr val="3DDCF5"/>
                </a:solidFill>
                <a:latin typeface="Arial"/>
                <a:ea typeface="Arial"/>
                <a:cs typeface="Arial"/>
              </a:defRPr>
            </a:pPr>
            <a:r>
              <a:rPr sz="2550" b="1">
                <a:solidFill>
                  <a:srgbClr val="3DDCF5"/>
                </a:solidFill>
                <a:latin typeface="Arial"/>
                <a:ea typeface="Arial"/>
                <a:cs typeface="Arial"/>
              </a:rPr>
              <a:t>06</a:t>
            </a:r>
          </a:p>
        </p:txBody>
      </p:sp>
      <p:sp>
        <p:nvSpPr>
          <p:cNvPr id="20" name="integration-34">
            <a:extLst xmlns:a="http://schemas.openxmlformats.org/drawingml/2006/main">
              <a:ext uri="{FF2B5EF4-FFF2-40B4-BE49-F238E27FC236}">
                <a16:creationId xmlns:a16="http://schemas.microsoft.com/office/drawing/2014/main" id="{B91DB5D1-4258-4090-B9C2-ACDBDB8176A0}"/>
              </a:ext>
            </a:extLst>
          </p:cNvPr>
          <p:cNvSpPr>
            <a:spLocks xmlns:a="http://schemas.openxmlformats.org/drawingml/2006/main" noGrp="1"/>
          </p:cNvSpPr>
          <p:nvPr/>
        </p:nvSpPr>
        <p:spPr>
          <a:xfrm xmlns:a="http://schemas.openxmlformats.org/drawingml/2006/main">
            <a:off x="7010400" y="29908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1">
                <a:solidFill>
                  <a:srgbClr val="F2F6FF"/>
                </a:solidFill>
                <a:latin typeface="Arial"/>
                <a:ea typeface="Arial"/>
                <a:cs typeface="Arial"/>
              </a:defRPr>
            </a:lvl1pPr>
            <a:lvl2pPr>
              <a:buNone/>
              <a:defRPr sz="1950" b="1">
                <a:solidFill>
                  <a:srgbClr val="F2F6FF"/>
                </a:solidFill>
                <a:latin typeface="Arial"/>
                <a:ea typeface="Arial"/>
                <a:cs typeface="Arial"/>
              </a:defRPr>
            </a:lvl2pPr>
            <a:lvl3pPr>
              <a:buNone/>
              <a:defRPr sz="1950" b="1">
                <a:solidFill>
                  <a:srgbClr val="F2F6FF"/>
                </a:solidFill>
                <a:latin typeface="Arial"/>
                <a:ea typeface="Arial"/>
                <a:cs typeface="Arial"/>
              </a:defRPr>
            </a:lvl3pPr>
            <a:lvl4pPr>
              <a:buNone/>
              <a:defRPr sz="1950" b="1">
                <a:solidFill>
                  <a:srgbClr val="F2F6FF"/>
                </a:solidFill>
                <a:latin typeface="Arial"/>
                <a:ea typeface="Arial"/>
                <a:cs typeface="Arial"/>
              </a:defRPr>
            </a:lvl4pPr>
            <a:lvl5pPr>
              <a:buNone/>
              <a:defRPr sz="1950" b="1">
                <a:solidFill>
                  <a:srgbClr val="F2F6FF"/>
                </a:solidFill>
                <a:latin typeface="Arial"/>
                <a:ea typeface="Arial"/>
                <a:cs typeface="Arial"/>
              </a:defRPr>
            </a:lvl5pPr>
            <a:lvl6pPr>
              <a:buNone/>
              <a:defRPr sz="1950" b="1">
                <a:solidFill>
                  <a:srgbClr val="F2F6FF"/>
                </a:solidFill>
                <a:latin typeface="Arial"/>
                <a:ea typeface="Arial"/>
                <a:cs typeface="Arial"/>
              </a:defRPr>
            </a:lvl6pPr>
            <a:lvl7pPr>
              <a:buNone/>
              <a:defRPr sz="1950" b="1">
                <a:solidFill>
                  <a:srgbClr val="F2F6FF"/>
                </a:solidFill>
                <a:latin typeface="Arial"/>
                <a:ea typeface="Arial"/>
                <a:cs typeface="Arial"/>
              </a:defRPr>
            </a:lvl7pPr>
            <a:lvl8pPr>
              <a:buNone/>
              <a:defRPr sz="1950" b="1">
                <a:solidFill>
                  <a:srgbClr val="F2F6FF"/>
                </a:solidFill>
                <a:latin typeface="Arial"/>
                <a:ea typeface="Arial"/>
                <a:cs typeface="Arial"/>
              </a:defRPr>
            </a:lvl8pPr>
            <a:lvl9pPr>
              <a:buNone/>
              <a:defRPr sz="1950" b="1">
                <a:solidFill>
                  <a:srgbClr val="F2F6FF"/>
                </a:solidFill>
                <a:latin typeface="Arial"/>
                <a:ea typeface="Arial"/>
                <a:cs typeface="Arial"/>
              </a:defRPr>
            </a:lvl9pPr>
          </a:lstStyle>
          <a:p xmlns:a="http://schemas.openxmlformats.org/drawingml/2006/main">
            <a:pPr>
              <a:buNone/>
              <a:defRPr sz="1950" b="1">
                <a:solidFill>
                  <a:srgbClr val="F2F6FF"/>
                </a:solidFill>
                <a:latin typeface="Arial"/>
                <a:ea typeface="Arial"/>
                <a:cs typeface="Arial"/>
              </a:defRPr>
            </a:pPr>
            <a:r>
              <a:rPr sz="1950" b="1">
                <a:solidFill>
                  <a:srgbClr val="F2F6FF"/>
                </a:solidFill>
                <a:latin typeface="Arial"/>
                <a:ea typeface="Arial"/>
                <a:cs typeface="Arial"/>
              </a:rPr>
              <a:t>Data Processing</a:t>
            </a:r>
          </a:p>
        </p:txBody>
      </p:sp>
      <p:sp>
        <p:nvSpPr>
          <p:cNvPr id="21" name="integration-35">
            <a:extLst xmlns:a="http://schemas.openxmlformats.org/drawingml/2006/main">
              <a:ext uri="{FF2B5EF4-FFF2-40B4-BE49-F238E27FC236}">
                <a16:creationId xmlns:a16="http://schemas.microsoft.com/office/drawing/2014/main" id="{C64E638A-0665-4698-9EC7-74B780447167}"/>
              </a:ext>
            </a:extLst>
          </p:cNvPr>
          <p:cNvSpPr>
            <a:spLocks xmlns:a="http://schemas.openxmlformats.org/drawingml/2006/main" noGrp="1"/>
          </p:cNvSpPr>
          <p:nvPr/>
        </p:nvSpPr>
        <p:spPr>
          <a:xfrm xmlns:a="http://schemas.openxmlformats.org/drawingml/2006/main">
            <a:off x="7010400" y="3400425"/>
            <a:ext cx="466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0">
                <a:solidFill>
                  <a:srgbClr val="A8BDD4"/>
                </a:solidFill>
                <a:latin typeface="Arial"/>
                <a:ea typeface="Arial"/>
                <a:cs typeface="Arial"/>
              </a:defRPr>
            </a:lvl1pPr>
            <a:lvl2pPr>
              <a:buNone/>
              <a:defRPr sz="1575" b="0">
                <a:solidFill>
                  <a:srgbClr val="A8BDD4"/>
                </a:solidFill>
                <a:latin typeface="Arial"/>
                <a:ea typeface="Arial"/>
                <a:cs typeface="Arial"/>
              </a:defRPr>
            </a:lvl2pPr>
            <a:lvl3pPr>
              <a:buNone/>
              <a:defRPr sz="1575" b="0">
                <a:solidFill>
                  <a:srgbClr val="A8BDD4"/>
                </a:solidFill>
                <a:latin typeface="Arial"/>
                <a:ea typeface="Arial"/>
                <a:cs typeface="Arial"/>
              </a:defRPr>
            </a:lvl3pPr>
            <a:lvl4pPr>
              <a:buNone/>
              <a:defRPr sz="1575" b="0">
                <a:solidFill>
                  <a:srgbClr val="A8BDD4"/>
                </a:solidFill>
                <a:latin typeface="Arial"/>
                <a:ea typeface="Arial"/>
                <a:cs typeface="Arial"/>
              </a:defRPr>
            </a:lvl4pPr>
            <a:lvl5pPr>
              <a:buNone/>
              <a:defRPr sz="1575" b="0">
                <a:solidFill>
                  <a:srgbClr val="A8BDD4"/>
                </a:solidFill>
                <a:latin typeface="Arial"/>
                <a:ea typeface="Arial"/>
                <a:cs typeface="Arial"/>
              </a:defRPr>
            </a:lvl5pPr>
            <a:lvl6pPr>
              <a:buNone/>
              <a:defRPr sz="1575" b="0">
                <a:solidFill>
                  <a:srgbClr val="A8BDD4"/>
                </a:solidFill>
                <a:latin typeface="Arial"/>
                <a:ea typeface="Arial"/>
                <a:cs typeface="Arial"/>
              </a:defRPr>
            </a:lvl6pPr>
            <a:lvl7pPr>
              <a:buNone/>
              <a:defRPr sz="1575" b="0">
                <a:solidFill>
                  <a:srgbClr val="A8BDD4"/>
                </a:solidFill>
                <a:latin typeface="Arial"/>
                <a:ea typeface="Arial"/>
                <a:cs typeface="Arial"/>
              </a:defRPr>
            </a:lvl7pPr>
            <a:lvl8pPr>
              <a:buNone/>
              <a:defRPr sz="1575" b="0">
                <a:solidFill>
                  <a:srgbClr val="A8BDD4"/>
                </a:solidFill>
                <a:latin typeface="Arial"/>
                <a:ea typeface="Arial"/>
                <a:cs typeface="Arial"/>
              </a:defRPr>
            </a:lvl8pPr>
            <a:lvl9pPr>
              <a:buNone/>
              <a:defRPr sz="1575" b="0">
                <a:solidFill>
                  <a:srgbClr val="A8BDD4"/>
                </a:solidFill>
                <a:latin typeface="Arial"/>
                <a:ea typeface="Arial"/>
                <a:cs typeface="Arial"/>
              </a:defRPr>
            </a:lvl9pPr>
          </a:lstStyle>
          <a:p xmlns:a="http://schemas.openxmlformats.org/drawingml/2006/main">
            <a:pPr>
              <a:buNone/>
              <a:defRPr sz="1575" b="0">
                <a:solidFill>
                  <a:srgbClr val="A8BDD4"/>
                </a:solidFill>
                <a:latin typeface="Arial"/>
                <a:ea typeface="Arial"/>
                <a:cs typeface="Arial"/>
              </a:defRPr>
            </a:pPr>
            <a:r>
              <a:rPr sz="1575" b="0">
                <a:solidFill>
                  <a:srgbClr val="A8BDD4"/>
                </a:solidFill>
                <a:latin typeface="Arial"/>
                <a:ea typeface="Arial"/>
                <a:cs typeface="Arial"/>
              </a:rPr>
              <a:t>Built calculated columns, DAX measures and scenario inputs.</a:t>
            </a:r>
          </a:p>
        </p:txBody>
      </p:sp>
      <p:sp>
        <p:nvSpPr>
          <p:cNvPr id="22" name="integration-36">
            <a:extLst xmlns:a="http://schemas.openxmlformats.org/drawingml/2006/main">
              <a:ext uri="{FF2B5EF4-FFF2-40B4-BE49-F238E27FC236}">
                <a16:creationId xmlns:a16="http://schemas.microsoft.com/office/drawing/2014/main" id="{1E2959BA-351B-4AF6-8E34-E88630BDB596}"/>
              </a:ext>
            </a:extLst>
          </p:cNvPr>
          <p:cNvSpPr>
            <a:spLocks xmlns:a="http://schemas.openxmlformats.org/drawingml/2006/main" noGrp="1"/>
          </p:cNvSpPr>
          <p:nvPr/>
        </p:nvSpPr>
        <p:spPr>
          <a:xfrm xmlns:a="http://schemas.openxmlformats.org/drawingml/2006/main">
            <a:off x="6381750" y="3905250"/>
            <a:ext cx="51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550" b="1">
                <a:solidFill>
                  <a:srgbClr val="3DDCF5"/>
                </a:solidFill>
                <a:latin typeface="Arial"/>
                <a:ea typeface="Arial"/>
                <a:cs typeface="Arial"/>
              </a:defRPr>
            </a:lvl1pPr>
            <a:lvl2pPr>
              <a:buNone/>
              <a:defRPr sz="2550" b="1">
                <a:solidFill>
                  <a:srgbClr val="3DDCF5"/>
                </a:solidFill>
                <a:latin typeface="Arial"/>
                <a:ea typeface="Arial"/>
                <a:cs typeface="Arial"/>
              </a:defRPr>
            </a:lvl2pPr>
            <a:lvl3pPr>
              <a:buNone/>
              <a:defRPr sz="2550" b="1">
                <a:solidFill>
                  <a:srgbClr val="3DDCF5"/>
                </a:solidFill>
                <a:latin typeface="Arial"/>
                <a:ea typeface="Arial"/>
                <a:cs typeface="Arial"/>
              </a:defRPr>
            </a:lvl3pPr>
            <a:lvl4pPr>
              <a:buNone/>
              <a:defRPr sz="2550" b="1">
                <a:solidFill>
                  <a:srgbClr val="3DDCF5"/>
                </a:solidFill>
                <a:latin typeface="Arial"/>
                <a:ea typeface="Arial"/>
                <a:cs typeface="Arial"/>
              </a:defRPr>
            </a:lvl4pPr>
            <a:lvl5pPr>
              <a:buNone/>
              <a:defRPr sz="2550" b="1">
                <a:solidFill>
                  <a:srgbClr val="3DDCF5"/>
                </a:solidFill>
                <a:latin typeface="Arial"/>
                <a:ea typeface="Arial"/>
                <a:cs typeface="Arial"/>
              </a:defRPr>
            </a:lvl5pPr>
            <a:lvl6pPr>
              <a:buNone/>
              <a:defRPr sz="2550" b="1">
                <a:solidFill>
                  <a:srgbClr val="3DDCF5"/>
                </a:solidFill>
                <a:latin typeface="Arial"/>
                <a:ea typeface="Arial"/>
                <a:cs typeface="Arial"/>
              </a:defRPr>
            </a:lvl6pPr>
            <a:lvl7pPr>
              <a:buNone/>
              <a:defRPr sz="2550" b="1">
                <a:solidFill>
                  <a:srgbClr val="3DDCF5"/>
                </a:solidFill>
                <a:latin typeface="Arial"/>
                <a:ea typeface="Arial"/>
                <a:cs typeface="Arial"/>
              </a:defRPr>
            </a:lvl7pPr>
            <a:lvl8pPr>
              <a:buNone/>
              <a:defRPr sz="2550" b="1">
                <a:solidFill>
                  <a:srgbClr val="3DDCF5"/>
                </a:solidFill>
                <a:latin typeface="Arial"/>
                <a:ea typeface="Arial"/>
                <a:cs typeface="Arial"/>
              </a:defRPr>
            </a:lvl8pPr>
            <a:lvl9pPr>
              <a:buNone/>
              <a:defRPr sz="2550" b="1">
                <a:solidFill>
                  <a:srgbClr val="3DDCF5"/>
                </a:solidFill>
                <a:latin typeface="Arial"/>
                <a:ea typeface="Arial"/>
                <a:cs typeface="Arial"/>
              </a:defRPr>
            </a:lvl9pPr>
          </a:lstStyle>
          <a:p xmlns:a="http://schemas.openxmlformats.org/drawingml/2006/main">
            <a:pPr>
              <a:buNone/>
              <a:defRPr sz="2550" b="1">
                <a:solidFill>
                  <a:srgbClr val="3DDCF5"/>
                </a:solidFill>
                <a:latin typeface="Arial"/>
                <a:ea typeface="Arial"/>
                <a:cs typeface="Arial"/>
              </a:defRPr>
            </a:pPr>
            <a:r>
              <a:rPr sz="2550" b="1">
                <a:solidFill>
                  <a:srgbClr val="3DDCF5"/>
                </a:solidFill>
                <a:latin typeface="Arial"/>
                <a:ea typeface="Arial"/>
                <a:cs typeface="Arial"/>
              </a:rPr>
              <a:t>07</a:t>
            </a:r>
          </a:p>
        </p:txBody>
      </p:sp>
      <p:sp>
        <p:nvSpPr>
          <p:cNvPr id="23" name="integration-37">
            <a:extLst xmlns:a="http://schemas.openxmlformats.org/drawingml/2006/main">
              <a:ext uri="{FF2B5EF4-FFF2-40B4-BE49-F238E27FC236}">
                <a16:creationId xmlns:a16="http://schemas.microsoft.com/office/drawing/2014/main" id="{5C57281B-3BEF-4554-A98B-9E81D6D781FB}"/>
              </a:ext>
            </a:extLst>
          </p:cNvPr>
          <p:cNvSpPr>
            <a:spLocks xmlns:a="http://schemas.openxmlformats.org/drawingml/2006/main" noGrp="1"/>
          </p:cNvSpPr>
          <p:nvPr/>
        </p:nvSpPr>
        <p:spPr>
          <a:xfrm xmlns:a="http://schemas.openxmlformats.org/drawingml/2006/main">
            <a:off x="7010400" y="39052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1">
                <a:solidFill>
                  <a:srgbClr val="F2F6FF"/>
                </a:solidFill>
                <a:latin typeface="Arial"/>
                <a:ea typeface="Arial"/>
                <a:cs typeface="Arial"/>
              </a:defRPr>
            </a:lvl1pPr>
            <a:lvl2pPr>
              <a:buNone/>
              <a:defRPr sz="1950" b="1">
                <a:solidFill>
                  <a:srgbClr val="F2F6FF"/>
                </a:solidFill>
                <a:latin typeface="Arial"/>
                <a:ea typeface="Arial"/>
                <a:cs typeface="Arial"/>
              </a:defRPr>
            </a:lvl2pPr>
            <a:lvl3pPr>
              <a:buNone/>
              <a:defRPr sz="1950" b="1">
                <a:solidFill>
                  <a:srgbClr val="F2F6FF"/>
                </a:solidFill>
                <a:latin typeface="Arial"/>
                <a:ea typeface="Arial"/>
                <a:cs typeface="Arial"/>
              </a:defRPr>
            </a:lvl3pPr>
            <a:lvl4pPr>
              <a:buNone/>
              <a:defRPr sz="1950" b="1">
                <a:solidFill>
                  <a:srgbClr val="F2F6FF"/>
                </a:solidFill>
                <a:latin typeface="Arial"/>
                <a:ea typeface="Arial"/>
                <a:cs typeface="Arial"/>
              </a:defRPr>
            </a:lvl4pPr>
            <a:lvl5pPr>
              <a:buNone/>
              <a:defRPr sz="1950" b="1">
                <a:solidFill>
                  <a:srgbClr val="F2F6FF"/>
                </a:solidFill>
                <a:latin typeface="Arial"/>
                <a:ea typeface="Arial"/>
                <a:cs typeface="Arial"/>
              </a:defRPr>
            </a:lvl5pPr>
            <a:lvl6pPr>
              <a:buNone/>
              <a:defRPr sz="1950" b="1">
                <a:solidFill>
                  <a:srgbClr val="F2F6FF"/>
                </a:solidFill>
                <a:latin typeface="Arial"/>
                <a:ea typeface="Arial"/>
                <a:cs typeface="Arial"/>
              </a:defRPr>
            </a:lvl6pPr>
            <a:lvl7pPr>
              <a:buNone/>
              <a:defRPr sz="1950" b="1">
                <a:solidFill>
                  <a:srgbClr val="F2F6FF"/>
                </a:solidFill>
                <a:latin typeface="Arial"/>
                <a:ea typeface="Arial"/>
                <a:cs typeface="Arial"/>
              </a:defRPr>
            </a:lvl7pPr>
            <a:lvl8pPr>
              <a:buNone/>
              <a:defRPr sz="1950" b="1">
                <a:solidFill>
                  <a:srgbClr val="F2F6FF"/>
                </a:solidFill>
                <a:latin typeface="Arial"/>
                <a:ea typeface="Arial"/>
                <a:cs typeface="Arial"/>
              </a:defRPr>
            </a:lvl8pPr>
            <a:lvl9pPr>
              <a:buNone/>
              <a:defRPr sz="1950" b="1">
                <a:solidFill>
                  <a:srgbClr val="F2F6FF"/>
                </a:solidFill>
                <a:latin typeface="Arial"/>
                <a:ea typeface="Arial"/>
                <a:cs typeface="Arial"/>
              </a:defRPr>
            </a:lvl9pPr>
          </a:lstStyle>
          <a:p xmlns:a="http://schemas.openxmlformats.org/drawingml/2006/main">
            <a:pPr>
              <a:buNone/>
              <a:defRPr sz="1950" b="1">
                <a:solidFill>
                  <a:srgbClr val="F2F6FF"/>
                </a:solidFill>
                <a:latin typeface="Arial"/>
                <a:ea typeface="Arial"/>
                <a:cs typeface="Arial"/>
              </a:defRPr>
            </a:pPr>
            <a:r>
              <a:rPr sz="1950" b="1">
                <a:solidFill>
                  <a:srgbClr val="F2F6FF"/>
                </a:solidFill>
                <a:latin typeface="Arial"/>
                <a:ea typeface="Arial"/>
                <a:cs typeface="Arial"/>
              </a:rPr>
              <a:t>Data Analysis</a:t>
            </a:r>
          </a:p>
        </p:txBody>
      </p:sp>
      <p:sp>
        <p:nvSpPr>
          <p:cNvPr id="24" name="integration-38">
            <a:extLst xmlns:a="http://schemas.openxmlformats.org/drawingml/2006/main">
              <a:ext uri="{FF2B5EF4-FFF2-40B4-BE49-F238E27FC236}">
                <a16:creationId xmlns:a16="http://schemas.microsoft.com/office/drawing/2014/main" id="{1EC53F03-4160-408F-B1C6-20962BCDBA77}"/>
              </a:ext>
            </a:extLst>
          </p:cNvPr>
          <p:cNvSpPr>
            <a:spLocks xmlns:a="http://schemas.openxmlformats.org/drawingml/2006/main" noGrp="1"/>
          </p:cNvSpPr>
          <p:nvPr/>
        </p:nvSpPr>
        <p:spPr>
          <a:xfrm xmlns:a="http://schemas.openxmlformats.org/drawingml/2006/main">
            <a:off x="7010400" y="4314825"/>
            <a:ext cx="466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0">
                <a:solidFill>
                  <a:srgbClr val="A8BDD4"/>
                </a:solidFill>
                <a:latin typeface="Arial"/>
                <a:ea typeface="Arial"/>
                <a:cs typeface="Arial"/>
              </a:defRPr>
            </a:lvl1pPr>
            <a:lvl2pPr>
              <a:buNone/>
              <a:defRPr sz="1575" b="0">
                <a:solidFill>
                  <a:srgbClr val="A8BDD4"/>
                </a:solidFill>
                <a:latin typeface="Arial"/>
                <a:ea typeface="Arial"/>
                <a:cs typeface="Arial"/>
              </a:defRPr>
            </a:lvl2pPr>
            <a:lvl3pPr>
              <a:buNone/>
              <a:defRPr sz="1575" b="0">
                <a:solidFill>
                  <a:srgbClr val="A8BDD4"/>
                </a:solidFill>
                <a:latin typeface="Arial"/>
                <a:ea typeface="Arial"/>
                <a:cs typeface="Arial"/>
              </a:defRPr>
            </a:lvl3pPr>
            <a:lvl4pPr>
              <a:buNone/>
              <a:defRPr sz="1575" b="0">
                <a:solidFill>
                  <a:srgbClr val="A8BDD4"/>
                </a:solidFill>
                <a:latin typeface="Arial"/>
                <a:ea typeface="Arial"/>
                <a:cs typeface="Arial"/>
              </a:defRPr>
            </a:lvl4pPr>
            <a:lvl5pPr>
              <a:buNone/>
              <a:defRPr sz="1575" b="0">
                <a:solidFill>
                  <a:srgbClr val="A8BDD4"/>
                </a:solidFill>
                <a:latin typeface="Arial"/>
                <a:ea typeface="Arial"/>
                <a:cs typeface="Arial"/>
              </a:defRPr>
            </a:lvl5pPr>
            <a:lvl6pPr>
              <a:buNone/>
              <a:defRPr sz="1575" b="0">
                <a:solidFill>
                  <a:srgbClr val="A8BDD4"/>
                </a:solidFill>
                <a:latin typeface="Arial"/>
                <a:ea typeface="Arial"/>
                <a:cs typeface="Arial"/>
              </a:defRPr>
            </a:lvl6pPr>
            <a:lvl7pPr>
              <a:buNone/>
              <a:defRPr sz="1575" b="0">
                <a:solidFill>
                  <a:srgbClr val="A8BDD4"/>
                </a:solidFill>
                <a:latin typeface="Arial"/>
                <a:ea typeface="Arial"/>
                <a:cs typeface="Arial"/>
              </a:defRPr>
            </a:lvl7pPr>
            <a:lvl8pPr>
              <a:buNone/>
              <a:defRPr sz="1575" b="0">
                <a:solidFill>
                  <a:srgbClr val="A8BDD4"/>
                </a:solidFill>
                <a:latin typeface="Arial"/>
                <a:ea typeface="Arial"/>
                <a:cs typeface="Arial"/>
              </a:defRPr>
            </a:lvl8pPr>
            <a:lvl9pPr>
              <a:buNone/>
              <a:defRPr sz="1575" b="0">
                <a:solidFill>
                  <a:srgbClr val="A8BDD4"/>
                </a:solidFill>
                <a:latin typeface="Arial"/>
                <a:ea typeface="Arial"/>
                <a:cs typeface="Arial"/>
              </a:defRPr>
            </a:lvl9pPr>
          </a:lstStyle>
          <a:p xmlns:a="http://schemas.openxmlformats.org/drawingml/2006/main">
            <a:pPr>
              <a:buNone/>
              <a:defRPr sz="1575" b="0">
                <a:solidFill>
                  <a:srgbClr val="A8BDD4"/>
                </a:solidFill>
                <a:latin typeface="Arial"/>
                <a:ea typeface="Arial"/>
                <a:cs typeface="Arial"/>
              </a:defRPr>
            </a:pPr>
            <a:r>
              <a:rPr sz="1575" b="0">
                <a:solidFill>
                  <a:srgbClr val="A8BDD4"/>
                </a:solidFill>
                <a:latin typeface="Arial"/>
                <a:ea typeface="Arial"/>
                <a:cs typeface="Arial"/>
              </a:rPr>
              <a:t>Compared trends, segments and exceptions to locate priorities.</a:t>
            </a:r>
          </a:p>
        </p:txBody>
      </p:sp>
      <p:sp>
        <p:nvSpPr>
          <p:cNvPr id="25" name="integration-39">
            <a:extLst xmlns:a="http://schemas.openxmlformats.org/drawingml/2006/main">
              <a:ext uri="{FF2B5EF4-FFF2-40B4-BE49-F238E27FC236}">
                <a16:creationId xmlns:a16="http://schemas.microsoft.com/office/drawing/2014/main" id="{88F7F3E2-205C-4E45-B4EF-2E7257127FB1}"/>
              </a:ext>
            </a:extLst>
          </p:cNvPr>
          <p:cNvSpPr>
            <a:spLocks xmlns:a="http://schemas.openxmlformats.org/drawingml/2006/main" noGrp="1"/>
          </p:cNvSpPr>
          <p:nvPr/>
        </p:nvSpPr>
        <p:spPr>
          <a:xfrm xmlns:a="http://schemas.openxmlformats.org/drawingml/2006/main">
            <a:off x="6381750" y="4819650"/>
            <a:ext cx="51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550" b="1">
                <a:solidFill>
                  <a:srgbClr val="3DDCF5"/>
                </a:solidFill>
                <a:latin typeface="Arial"/>
                <a:ea typeface="Arial"/>
                <a:cs typeface="Arial"/>
              </a:defRPr>
            </a:lvl1pPr>
            <a:lvl2pPr>
              <a:buNone/>
              <a:defRPr sz="2550" b="1">
                <a:solidFill>
                  <a:srgbClr val="3DDCF5"/>
                </a:solidFill>
                <a:latin typeface="Arial"/>
                <a:ea typeface="Arial"/>
                <a:cs typeface="Arial"/>
              </a:defRPr>
            </a:lvl2pPr>
            <a:lvl3pPr>
              <a:buNone/>
              <a:defRPr sz="2550" b="1">
                <a:solidFill>
                  <a:srgbClr val="3DDCF5"/>
                </a:solidFill>
                <a:latin typeface="Arial"/>
                <a:ea typeface="Arial"/>
                <a:cs typeface="Arial"/>
              </a:defRPr>
            </a:lvl3pPr>
            <a:lvl4pPr>
              <a:buNone/>
              <a:defRPr sz="2550" b="1">
                <a:solidFill>
                  <a:srgbClr val="3DDCF5"/>
                </a:solidFill>
                <a:latin typeface="Arial"/>
                <a:ea typeface="Arial"/>
                <a:cs typeface="Arial"/>
              </a:defRPr>
            </a:lvl4pPr>
            <a:lvl5pPr>
              <a:buNone/>
              <a:defRPr sz="2550" b="1">
                <a:solidFill>
                  <a:srgbClr val="3DDCF5"/>
                </a:solidFill>
                <a:latin typeface="Arial"/>
                <a:ea typeface="Arial"/>
                <a:cs typeface="Arial"/>
              </a:defRPr>
            </a:lvl5pPr>
            <a:lvl6pPr>
              <a:buNone/>
              <a:defRPr sz="2550" b="1">
                <a:solidFill>
                  <a:srgbClr val="3DDCF5"/>
                </a:solidFill>
                <a:latin typeface="Arial"/>
                <a:ea typeface="Arial"/>
                <a:cs typeface="Arial"/>
              </a:defRPr>
            </a:lvl6pPr>
            <a:lvl7pPr>
              <a:buNone/>
              <a:defRPr sz="2550" b="1">
                <a:solidFill>
                  <a:srgbClr val="3DDCF5"/>
                </a:solidFill>
                <a:latin typeface="Arial"/>
                <a:ea typeface="Arial"/>
                <a:cs typeface="Arial"/>
              </a:defRPr>
            </a:lvl7pPr>
            <a:lvl8pPr>
              <a:buNone/>
              <a:defRPr sz="2550" b="1">
                <a:solidFill>
                  <a:srgbClr val="3DDCF5"/>
                </a:solidFill>
                <a:latin typeface="Arial"/>
                <a:ea typeface="Arial"/>
                <a:cs typeface="Arial"/>
              </a:defRPr>
            </a:lvl8pPr>
            <a:lvl9pPr>
              <a:buNone/>
              <a:defRPr sz="2550" b="1">
                <a:solidFill>
                  <a:srgbClr val="3DDCF5"/>
                </a:solidFill>
                <a:latin typeface="Arial"/>
                <a:ea typeface="Arial"/>
                <a:cs typeface="Arial"/>
              </a:defRPr>
            </a:lvl9pPr>
          </a:lstStyle>
          <a:p xmlns:a="http://schemas.openxmlformats.org/drawingml/2006/main">
            <a:pPr>
              <a:buNone/>
              <a:defRPr sz="2550" b="1">
                <a:solidFill>
                  <a:srgbClr val="3DDCF5"/>
                </a:solidFill>
                <a:latin typeface="Arial"/>
                <a:ea typeface="Arial"/>
                <a:cs typeface="Arial"/>
              </a:defRPr>
            </a:pPr>
            <a:r>
              <a:rPr sz="2550" b="1">
                <a:solidFill>
                  <a:srgbClr val="3DDCF5"/>
                </a:solidFill>
                <a:latin typeface="Arial"/>
                <a:ea typeface="Arial"/>
                <a:cs typeface="Arial"/>
              </a:rPr>
              <a:t>08</a:t>
            </a:r>
          </a:p>
        </p:txBody>
      </p:sp>
      <p:sp>
        <p:nvSpPr>
          <p:cNvPr id="26" name="integration-40">
            <a:extLst xmlns:a="http://schemas.openxmlformats.org/drawingml/2006/main">
              <a:ext uri="{FF2B5EF4-FFF2-40B4-BE49-F238E27FC236}">
                <a16:creationId xmlns:a16="http://schemas.microsoft.com/office/drawing/2014/main" id="{FA4B55D9-B194-4A40-AEBA-0E4B2ABC505E}"/>
              </a:ext>
            </a:extLst>
          </p:cNvPr>
          <p:cNvSpPr>
            <a:spLocks xmlns:a="http://schemas.openxmlformats.org/drawingml/2006/main" noGrp="1"/>
          </p:cNvSpPr>
          <p:nvPr/>
        </p:nvSpPr>
        <p:spPr>
          <a:xfrm xmlns:a="http://schemas.openxmlformats.org/drawingml/2006/main">
            <a:off x="7010400" y="48196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1">
                <a:solidFill>
                  <a:srgbClr val="F2F6FF"/>
                </a:solidFill>
                <a:latin typeface="Arial"/>
                <a:ea typeface="Arial"/>
                <a:cs typeface="Arial"/>
              </a:defRPr>
            </a:lvl1pPr>
            <a:lvl2pPr>
              <a:buNone/>
              <a:defRPr sz="1950" b="1">
                <a:solidFill>
                  <a:srgbClr val="F2F6FF"/>
                </a:solidFill>
                <a:latin typeface="Arial"/>
                <a:ea typeface="Arial"/>
                <a:cs typeface="Arial"/>
              </a:defRPr>
            </a:lvl2pPr>
            <a:lvl3pPr>
              <a:buNone/>
              <a:defRPr sz="1950" b="1">
                <a:solidFill>
                  <a:srgbClr val="F2F6FF"/>
                </a:solidFill>
                <a:latin typeface="Arial"/>
                <a:ea typeface="Arial"/>
                <a:cs typeface="Arial"/>
              </a:defRPr>
            </a:lvl3pPr>
            <a:lvl4pPr>
              <a:buNone/>
              <a:defRPr sz="1950" b="1">
                <a:solidFill>
                  <a:srgbClr val="F2F6FF"/>
                </a:solidFill>
                <a:latin typeface="Arial"/>
                <a:ea typeface="Arial"/>
                <a:cs typeface="Arial"/>
              </a:defRPr>
            </a:lvl4pPr>
            <a:lvl5pPr>
              <a:buNone/>
              <a:defRPr sz="1950" b="1">
                <a:solidFill>
                  <a:srgbClr val="F2F6FF"/>
                </a:solidFill>
                <a:latin typeface="Arial"/>
                <a:ea typeface="Arial"/>
                <a:cs typeface="Arial"/>
              </a:defRPr>
            </a:lvl5pPr>
            <a:lvl6pPr>
              <a:buNone/>
              <a:defRPr sz="1950" b="1">
                <a:solidFill>
                  <a:srgbClr val="F2F6FF"/>
                </a:solidFill>
                <a:latin typeface="Arial"/>
                <a:ea typeface="Arial"/>
                <a:cs typeface="Arial"/>
              </a:defRPr>
            </a:lvl6pPr>
            <a:lvl7pPr>
              <a:buNone/>
              <a:defRPr sz="1950" b="1">
                <a:solidFill>
                  <a:srgbClr val="F2F6FF"/>
                </a:solidFill>
                <a:latin typeface="Arial"/>
                <a:ea typeface="Arial"/>
                <a:cs typeface="Arial"/>
              </a:defRPr>
            </a:lvl7pPr>
            <a:lvl8pPr>
              <a:buNone/>
              <a:defRPr sz="1950" b="1">
                <a:solidFill>
                  <a:srgbClr val="F2F6FF"/>
                </a:solidFill>
                <a:latin typeface="Arial"/>
                <a:ea typeface="Arial"/>
                <a:cs typeface="Arial"/>
              </a:defRPr>
            </a:lvl8pPr>
            <a:lvl9pPr>
              <a:buNone/>
              <a:defRPr sz="1950" b="1">
                <a:solidFill>
                  <a:srgbClr val="F2F6FF"/>
                </a:solidFill>
                <a:latin typeface="Arial"/>
                <a:ea typeface="Arial"/>
                <a:cs typeface="Arial"/>
              </a:defRPr>
            </a:lvl9pPr>
          </a:lstStyle>
          <a:p xmlns:a="http://schemas.openxmlformats.org/drawingml/2006/main">
            <a:pPr>
              <a:buNone/>
              <a:defRPr sz="1950" b="1">
                <a:solidFill>
                  <a:srgbClr val="F2F6FF"/>
                </a:solidFill>
                <a:latin typeface="Arial"/>
                <a:ea typeface="Arial"/>
                <a:cs typeface="Arial"/>
              </a:defRPr>
            </a:pPr>
            <a:r>
              <a:rPr sz="1950" b="1">
                <a:solidFill>
                  <a:srgbClr val="F2F6FF"/>
                </a:solidFill>
                <a:latin typeface="Arial"/>
                <a:ea typeface="Arial"/>
                <a:cs typeface="Arial"/>
              </a:rPr>
              <a:t>Recommendations</a:t>
            </a:r>
          </a:p>
        </p:txBody>
      </p:sp>
      <p:sp>
        <p:nvSpPr>
          <p:cNvPr id="27" name="integration-41">
            <a:extLst xmlns:a="http://schemas.openxmlformats.org/drawingml/2006/main">
              <a:ext uri="{FF2B5EF4-FFF2-40B4-BE49-F238E27FC236}">
                <a16:creationId xmlns:a16="http://schemas.microsoft.com/office/drawing/2014/main" id="{0B312EE5-BB2E-4385-B9FA-99C470397471}"/>
              </a:ext>
            </a:extLst>
          </p:cNvPr>
          <p:cNvSpPr>
            <a:spLocks xmlns:a="http://schemas.openxmlformats.org/drawingml/2006/main" noGrp="1"/>
          </p:cNvSpPr>
          <p:nvPr/>
        </p:nvSpPr>
        <p:spPr>
          <a:xfrm xmlns:a="http://schemas.openxmlformats.org/drawingml/2006/main">
            <a:off x="7010400" y="5229225"/>
            <a:ext cx="466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0">
                <a:solidFill>
                  <a:srgbClr val="A8BDD4"/>
                </a:solidFill>
                <a:latin typeface="Arial"/>
                <a:ea typeface="Arial"/>
                <a:cs typeface="Arial"/>
              </a:defRPr>
            </a:lvl1pPr>
            <a:lvl2pPr>
              <a:buNone/>
              <a:defRPr sz="1575" b="0">
                <a:solidFill>
                  <a:srgbClr val="A8BDD4"/>
                </a:solidFill>
                <a:latin typeface="Arial"/>
                <a:ea typeface="Arial"/>
                <a:cs typeface="Arial"/>
              </a:defRPr>
            </a:lvl2pPr>
            <a:lvl3pPr>
              <a:buNone/>
              <a:defRPr sz="1575" b="0">
                <a:solidFill>
                  <a:srgbClr val="A8BDD4"/>
                </a:solidFill>
                <a:latin typeface="Arial"/>
                <a:ea typeface="Arial"/>
                <a:cs typeface="Arial"/>
              </a:defRPr>
            </a:lvl3pPr>
            <a:lvl4pPr>
              <a:buNone/>
              <a:defRPr sz="1575" b="0">
                <a:solidFill>
                  <a:srgbClr val="A8BDD4"/>
                </a:solidFill>
                <a:latin typeface="Arial"/>
                <a:ea typeface="Arial"/>
                <a:cs typeface="Arial"/>
              </a:defRPr>
            </a:lvl4pPr>
            <a:lvl5pPr>
              <a:buNone/>
              <a:defRPr sz="1575" b="0">
                <a:solidFill>
                  <a:srgbClr val="A8BDD4"/>
                </a:solidFill>
                <a:latin typeface="Arial"/>
                <a:ea typeface="Arial"/>
                <a:cs typeface="Arial"/>
              </a:defRPr>
            </a:lvl5pPr>
            <a:lvl6pPr>
              <a:buNone/>
              <a:defRPr sz="1575" b="0">
                <a:solidFill>
                  <a:srgbClr val="A8BDD4"/>
                </a:solidFill>
                <a:latin typeface="Arial"/>
                <a:ea typeface="Arial"/>
                <a:cs typeface="Arial"/>
              </a:defRPr>
            </a:lvl6pPr>
            <a:lvl7pPr>
              <a:buNone/>
              <a:defRPr sz="1575" b="0">
                <a:solidFill>
                  <a:srgbClr val="A8BDD4"/>
                </a:solidFill>
                <a:latin typeface="Arial"/>
                <a:ea typeface="Arial"/>
                <a:cs typeface="Arial"/>
              </a:defRPr>
            </a:lvl7pPr>
            <a:lvl8pPr>
              <a:buNone/>
              <a:defRPr sz="1575" b="0">
                <a:solidFill>
                  <a:srgbClr val="A8BDD4"/>
                </a:solidFill>
                <a:latin typeface="Arial"/>
                <a:ea typeface="Arial"/>
                <a:cs typeface="Arial"/>
              </a:defRPr>
            </a:lvl8pPr>
            <a:lvl9pPr>
              <a:buNone/>
              <a:defRPr sz="1575" b="0">
                <a:solidFill>
                  <a:srgbClr val="A8BDD4"/>
                </a:solidFill>
                <a:latin typeface="Arial"/>
                <a:ea typeface="Arial"/>
                <a:cs typeface="Arial"/>
              </a:defRPr>
            </a:lvl9pPr>
          </a:lstStyle>
          <a:p xmlns:a="http://schemas.openxmlformats.org/drawingml/2006/main">
            <a:pPr>
              <a:buNone/>
              <a:defRPr sz="1575" b="0">
                <a:solidFill>
                  <a:srgbClr val="A8BDD4"/>
                </a:solidFill>
                <a:latin typeface="Arial"/>
                <a:ea typeface="Arial"/>
                <a:cs typeface="Arial"/>
              </a:defRPr>
            </a:pPr>
            <a:r>
              <a:rPr sz="1575" b="0">
                <a:solidFill>
                  <a:srgbClr val="A8BDD4"/>
                </a:solidFill>
                <a:latin typeface="Arial"/>
                <a:ea typeface="Arial"/>
                <a:cs typeface="Arial"/>
              </a:rPr>
              <a:t>Turned findings into actions, owners and measurable KPIs.</a:t>
            </a:r>
          </a:p>
        </p:txBody>
      </p:sp>
      <p:sp>
        <p:nvSpPr>
          <p:cNvPr id="28" name="integration-124">
            <a:extLst xmlns:a="http://schemas.openxmlformats.org/drawingml/2006/main">
              <a:ext uri="{FF2B5EF4-FFF2-40B4-BE49-F238E27FC236}">
                <a16:creationId xmlns:a16="http://schemas.microsoft.com/office/drawing/2014/main" id="{89B9CA37-E123-482A-9D7B-4C9D53D2E80E}"/>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05</a:t>
            </a:r>
          </a:p>
        </p:txBody>
      </p:sp>
    </p:spTree>
    <p:extLst>
      <p:ext uri="{BB962C8B-B14F-4D97-AF65-F5344CB8AC3E}">
        <p14:creationId xmlns:p14="http://schemas.microsoft.com/office/powerpoint/2010/main" val="945046667"/>
      </p:ext>
    </p:extLst>
  </p:cSld>
</p:sld>
</file>

<file path=ppt/slides/slide6.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D466EF-B365-4E8A-B662-5457B03707DB}"/>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VERIFIED M TRANSFORMATIONS AND QUALITY CHECKS</a:t>
            </a:r>
          </a:p>
        </p:txBody>
      </p:sp>
      <p:sp>
        <p:nvSpPr>
          <p:cNvPr id="2" name="">
            <a:extLst xmlns:a="http://schemas.openxmlformats.org/drawingml/2006/main">
              <a:ext uri="{FF2B5EF4-FFF2-40B4-BE49-F238E27FC236}">
                <a16:creationId xmlns:a16="http://schemas.microsoft.com/office/drawing/2014/main" id="{3A13222E-8C6E-4DEE-9366-07D4BCF7DBEB}"/>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Verified preparation and data-quality checks</a:t>
            </a:r>
          </a:p>
        </p:txBody>
      </p:sp>
      <p:sp>
        <p:nvSpPr>
          <p:cNvPr id="10" name="">
            <a:extLst xmlns:a="http://schemas.openxmlformats.org/drawingml/2006/main">
              <a:ext uri="{FF2B5EF4-FFF2-40B4-BE49-F238E27FC236}">
                <a16:creationId xmlns:a16="http://schemas.microsoft.com/office/drawing/2014/main" id="{B6E799D1-4BA3-492E-B928-AB0154D86E92}"/>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06</a:t>
            </a:r>
          </a:p>
        </p:txBody>
      </p:sp>
      <p:sp>
        <p:nvSpPr>
          <p:cNvPr id="9" name="">
            <a:extLst xmlns:a="http://schemas.openxmlformats.org/drawingml/2006/main">
              <a:ext uri="{FF2B5EF4-FFF2-40B4-BE49-F238E27FC236}">
                <a16:creationId xmlns:a16="http://schemas.microsoft.com/office/drawing/2014/main" id="{636F6EC6-2DF8-43A6-8880-E8F2FEE46299}"/>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Missing keys and chronology flags require validation; no removal is claimed</a:t>
            </a:r>
          </a:p>
        </p:txBody>
      </p:sp>
      <p:sp>
        <p:nvSpPr>
          <p:cNvPr id="3" name="">
            <a:extLst xmlns:a="http://schemas.openxmlformats.org/drawingml/2006/main">
              <a:ext uri="{FF2B5EF4-FFF2-40B4-BE49-F238E27FC236}">
                <a16:creationId xmlns:a16="http://schemas.microsoft.com/office/drawing/2014/main" id="{26585CC9-D010-4774-A9E6-DD14B2432093}"/>
              </a:ext>
            </a:extLst>
          </p:cNvPr>
          <p:cNvSpPr>
            <a:spLocks xmlns:a="http://schemas.openxmlformats.org/drawingml/2006/main" noGrp="1"/>
          </p:cNvSpPr>
          <p:nvPr/>
        </p:nvSpPr>
        <p:spPr>
          <a:xfrm xmlns:a="http://schemas.openxmlformats.org/drawingml/2006/main">
            <a:off x="571500" y="2362200"/>
            <a:ext cx="4286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5400" b="1">
                <a:solidFill>
                  <a:srgbClr val="074E8C"/>
                </a:solidFill>
                <a:latin typeface="Arial"/>
                <a:ea typeface="Arial"/>
                <a:cs typeface="Arial"/>
              </a:defRPr>
            </a:lvl1pPr>
            <a:lvl2pPr>
              <a:buNone/>
              <a:defRPr sz="5400" b="1">
                <a:solidFill>
                  <a:srgbClr val="074E8C"/>
                </a:solidFill>
                <a:latin typeface="Arial"/>
                <a:ea typeface="Arial"/>
                <a:cs typeface="Arial"/>
              </a:defRPr>
            </a:lvl2pPr>
            <a:lvl3pPr>
              <a:buNone/>
              <a:defRPr sz="5400" b="1">
                <a:solidFill>
                  <a:srgbClr val="074E8C"/>
                </a:solidFill>
                <a:latin typeface="Arial"/>
                <a:ea typeface="Arial"/>
                <a:cs typeface="Arial"/>
              </a:defRPr>
            </a:lvl3pPr>
            <a:lvl4pPr>
              <a:buNone/>
              <a:defRPr sz="5400" b="1">
                <a:solidFill>
                  <a:srgbClr val="074E8C"/>
                </a:solidFill>
                <a:latin typeface="Arial"/>
                <a:ea typeface="Arial"/>
                <a:cs typeface="Arial"/>
              </a:defRPr>
            </a:lvl4pPr>
            <a:lvl5pPr>
              <a:buNone/>
              <a:defRPr sz="5400" b="1">
                <a:solidFill>
                  <a:srgbClr val="074E8C"/>
                </a:solidFill>
                <a:latin typeface="Arial"/>
                <a:ea typeface="Arial"/>
                <a:cs typeface="Arial"/>
              </a:defRPr>
            </a:lvl5pPr>
            <a:lvl6pPr>
              <a:buNone/>
              <a:defRPr sz="5400" b="1">
                <a:solidFill>
                  <a:srgbClr val="074E8C"/>
                </a:solidFill>
                <a:latin typeface="Arial"/>
                <a:ea typeface="Arial"/>
                <a:cs typeface="Arial"/>
              </a:defRPr>
            </a:lvl6pPr>
            <a:lvl7pPr>
              <a:buNone/>
              <a:defRPr sz="5400" b="1">
                <a:solidFill>
                  <a:srgbClr val="074E8C"/>
                </a:solidFill>
                <a:latin typeface="Arial"/>
                <a:ea typeface="Arial"/>
                <a:cs typeface="Arial"/>
              </a:defRPr>
            </a:lvl7pPr>
            <a:lvl8pPr>
              <a:buNone/>
              <a:defRPr sz="5400" b="1">
                <a:solidFill>
                  <a:srgbClr val="074E8C"/>
                </a:solidFill>
                <a:latin typeface="Arial"/>
                <a:ea typeface="Arial"/>
                <a:cs typeface="Arial"/>
              </a:defRPr>
            </a:lvl8pPr>
            <a:lvl9pPr>
              <a:buNone/>
              <a:defRPr sz="5400" b="1">
                <a:solidFill>
                  <a:srgbClr val="074E8C"/>
                </a:solidFill>
                <a:latin typeface="Arial"/>
                <a:ea typeface="Arial"/>
                <a:cs typeface="Arial"/>
              </a:defRPr>
            </a:lvl9pPr>
          </a:lstStyle>
          <a:p xmlns:a="http://schemas.openxmlformats.org/drawingml/2006/main">
            <a:pPr>
              <a:buNone/>
              <a:defRPr sz="7050" b="1">
                <a:solidFill>
                  <a:srgbClr val="F2F6FF"/>
                </a:solidFill>
                <a:latin typeface="Arial"/>
                <a:ea typeface="Arial"/>
                <a:cs typeface="Arial"/>
              </a:defRPr>
            </a:pPr>
            <a:r>
              <a:rPr sz="7050" b="1">
                <a:solidFill>
                  <a:srgbClr val="F2F6FF"/>
                </a:solidFill>
                <a:latin typeface="Arial"/>
                <a:ea typeface="Arial"/>
                <a:cs typeface="Arial"/>
              </a:rPr>
              <a:t>14 CSVs</a:t>
            </a:r>
          </a:p>
        </p:txBody>
      </p:sp>
      <p:sp>
        <p:nvSpPr>
          <p:cNvPr id="4" name="">
            <a:extLst xmlns:a="http://schemas.openxmlformats.org/drawingml/2006/main">
              <a:ext uri="{FF2B5EF4-FFF2-40B4-BE49-F238E27FC236}">
                <a16:creationId xmlns:a16="http://schemas.microsoft.com/office/drawing/2014/main" id="{8DE6E98D-2EE6-420D-BF63-542AE8153D80}"/>
              </a:ext>
            </a:extLst>
          </p:cNvPr>
          <p:cNvSpPr>
            <a:spLocks xmlns:a="http://schemas.openxmlformats.org/drawingml/2006/main" noGrp="1"/>
          </p:cNvSpPr>
          <p:nvPr/>
        </p:nvSpPr>
        <p:spPr>
          <a:xfrm xmlns:a="http://schemas.openxmlformats.org/drawingml/2006/main">
            <a:off x="619125" y="3905250"/>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546B7C"/>
                </a:solidFill>
                <a:latin typeface="Arial"/>
                <a:ea typeface="Arial"/>
                <a:cs typeface="Arial"/>
              </a:defRPr>
            </a:lvl1pPr>
            <a:lvl2pPr>
              <a:buNone/>
              <a:defRPr sz="1950" b="0">
                <a:solidFill>
                  <a:srgbClr val="546B7C"/>
                </a:solidFill>
                <a:latin typeface="Arial"/>
                <a:ea typeface="Arial"/>
                <a:cs typeface="Arial"/>
              </a:defRPr>
            </a:lvl2pPr>
            <a:lvl3pPr>
              <a:buNone/>
              <a:defRPr sz="1950" b="0">
                <a:solidFill>
                  <a:srgbClr val="546B7C"/>
                </a:solidFill>
                <a:latin typeface="Arial"/>
                <a:ea typeface="Arial"/>
                <a:cs typeface="Arial"/>
              </a:defRPr>
            </a:lvl3pPr>
            <a:lvl4pPr>
              <a:buNone/>
              <a:defRPr sz="1950" b="0">
                <a:solidFill>
                  <a:srgbClr val="546B7C"/>
                </a:solidFill>
                <a:latin typeface="Arial"/>
                <a:ea typeface="Arial"/>
                <a:cs typeface="Arial"/>
              </a:defRPr>
            </a:lvl4pPr>
            <a:lvl5pPr>
              <a:buNone/>
              <a:defRPr sz="1950" b="0">
                <a:solidFill>
                  <a:srgbClr val="546B7C"/>
                </a:solidFill>
                <a:latin typeface="Arial"/>
                <a:ea typeface="Arial"/>
                <a:cs typeface="Arial"/>
              </a:defRPr>
            </a:lvl5pPr>
            <a:lvl6pPr>
              <a:buNone/>
              <a:defRPr sz="1950" b="0">
                <a:solidFill>
                  <a:srgbClr val="546B7C"/>
                </a:solidFill>
                <a:latin typeface="Arial"/>
                <a:ea typeface="Arial"/>
                <a:cs typeface="Arial"/>
              </a:defRPr>
            </a:lvl6pPr>
            <a:lvl7pPr>
              <a:buNone/>
              <a:defRPr sz="1950" b="0">
                <a:solidFill>
                  <a:srgbClr val="546B7C"/>
                </a:solidFill>
                <a:latin typeface="Arial"/>
                <a:ea typeface="Arial"/>
                <a:cs typeface="Arial"/>
              </a:defRPr>
            </a:lvl7pPr>
            <a:lvl8pPr>
              <a:buNone/>
              <a:defRPr sz="1950" b="0">
                <a:solidFill>
                  <a:srgbClr val="546B7C"/>
                </a:solidFill>
                <a:latin typeface="Arial"/>
                <a:ea typeface="Arial"/>
                <a:cs typeface="Arial"/>
              </a:defRPr>
            </a:lvl8pPr>
            <a:lvl9pPr>
              <a:buNone/>
              <a:defRPr sz="1950" b="0">
                <a:solidFill>
                  <a:srgbClr val="546B7C"/>
                </a:solidFill>
                <a:latin typeface="Arial"/>
                <a:ea typeface="Arial"/>
                <a:cs typeface="Arial"/>
              </a:defRPr>
            </a:lvl9pPr>
          </a:lstStyle>
          <a:p xmlns:a="http://schemas.openxmlformats.org/drawingml/2006/main">
            <a:pPr>
              <a:buNone/>
              <a:defRPr sz="2025" b="0">
                <a:solidFill>
                  <a:srgbClr val="3DDCF5"/>
                </a:solidFill>
                <a:latin typeface="Arial"/>
                <a:ea typeface="Arial"/>
                <a:cs typeface="Arial"/>
              </a:defRPr>
            </a:pPr>
            <a:r>
              <a:rPr sz="2025" b="0">
                <a:solidFill>
                  <a:srgbClr val="3DDCF5"/>
                </a:solidFill>
                <a:latin typeface="Arial"/>
                <a:ea typeface="Arial"/>
                <a:cs typeface="Arial"/>
              </a:rPr>
              <a:t>local source files</a:t>
            </a:r>
          </a:p>
        </p:txBody>
      </p:sp>
      <p:sp>
        <p:nvSpPr>
          <p:cNvPr id="5" name="">
            <a:extLst xmlns:a="http://schemas.openxmlformats.org/drawingml/2006/main">
              <a:ext uri="{FF2B5EF4-FFF2-40B4-BE49-F238E27FC236}">
                <a16:creationId xmlns:a16="http://schemas.microsoft.com/office/drawing/2014/main" id="{7A792039-1AB2-4FB9-A02A-00A9B08D570A}"/>
              </a:ext>
            </a:extLst>
          </p:cNvPr>
          <p:cNvSpPr>
            <a:spLocks xmlns:a="http://schemas.openxmlformats.org/drawingml/2006/main" noGrp="1"/>
          </p:cNvSpPr>
          <p:nvPr/>
        </p:nvSpPr>
        <p:spPr>
          <a:xfrm xmlns:a="http://schemas.openxmlformats.org/drawingml/2006/main">
            <a:off x="5334000" y="2171700"/>
            <a:ext cx="614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1">
                <a:solidFill>
                  <a:srgbClr val="0A2B43"/>
                </a:solidFill>
                <a:latin typeface="Arial"/>
                <a:ea typeface="Arial"/>
                <a:cs typeface="Arial"/>
              </a:defRPr>
            </a:lvl1pPr>
            <a:lvl2pPr>
              <a:buNone/>
              <a:defRPr sz="2100" b="1">
                <a:solidFill>
                  <a:srgbClr val="0A2B43"/>
                </a:solidFill>
                <a:latin typeface="Arial"/>
                <a:ea typeface="Arial"/>
                <a:cs typeface="Arial"/>
              </a:defRPr>
            </a:lvl2pPr>
            <a:lvl3pPr>
              <a:buNone/>
              <a:defRPr sz="2100" b="1">
                <a:solidFill>
                  <a:srgbClr val="0A2B43"/>
                </a:solidFill>
                <a:latin typeface="Arial"/>
                <a:ea typeface="Arial"/>
                <a:cs typeface="Arial"/>
              </a:defRPr>
            </a:lvl3pPr>
            <a:lvl4pPr>
              <a:buNone/>
              <a:defRPr sz="2100" b="1">
                <a:solidFill>
                  <a:srgbClr val="0A2B43"/>
                </a:solidFill>
                <a:latin typeface="Arial"/>
                <a:ea typeface="Arial"/>
                <a:cs typeface="Arial"/>
              </a:defRPr>
            </a:lvl4pPr>
            <a:lvl5pPr>
              <a:buNone/>
              <a:defRPr sz="2100" b="1">
                <a:solidFill>
                  <a:srgbClr val="0A2B43"/>
                </a:solidFill>
                <a:latin typeface="Arial"/>
                <a:ea typeface="Arial"/>
                <a:cs typeface="Arial"/>
              </a:defRPr>
            </a:lvl5pPr>
            <a:lvl6pPr>
              <a:buNone/>
              <a:defRPr sz="2100" b="1">
                <a:solidFill>
                  <a:srgbClr val="0A2B43"/>
                </a:solidFill>
                <a:latin typeface="Arial"/>
                <a:ea typeface="Arial"/>
                <a:cs typeface="Arial"/>
              </a:defRPr>
            </a:lvl6pPr>
            <a:lvl7pPr>
              <a:buNone/>
              <a:defRPr sz="2100" b="1">
                <a:solidFill>
                  <a:srgbClr val="0A2B43"/>
                </a:solidFill>
                <a:latin typeface="Arial"/>
                <a:ea typeface="Arial"/>
                <a:cs typeface="Arial"/>
              </a:defRPr>
            </a:lvl7pPr>
            <a:lvl8pPr>
              <a:buNone/>
              <a:defRPr sz="2100" b="1">
                <a:solidFill>
                  <a:srgbClr val="0A2B43"/>
                </a:solidFill>
                <a:latin typeface="Arial"/>
                <a:ea typeface="Arial"/>
                <a:cs typeface="Arial"/>
              </a:defRPr>
            </a:lvl8pPr>
            <a:lvl9pPr>
              <a:buNone/>
              <a:defRPr sz="2100" b="1">
                <a:solidFill>
                  <a:srgbClr val="0A2B43"/>
                </a:solidFill>
                <a:latin typeface="Arial"/>
                <a:ea typeface="Arial"/>
                <a:cs typeface="Arial"/>
              </a:defRPr>
            </a:lvl9pPr>
          </a:lstStyle>
          <a:p xmlns:a="http://schemas.openxmlformats.org/drawingml/2006/main">
            <a:pPr>
              <a:buNone/>
              <a:defRPr sz="2100" b="1">
                <a:solidFill>
                  <a:srgbClr val="F2F6FF"/>
                </a:solidFill>
                <a:latin typeface="Arial"/>
                <a:ea typeface="Arial"/>
                <a:cs typeface="Arial"/>
              </a:defRPr>
            </a:pPr>
            <a:r>
              <a:rPr sz="2100" b="1">
                <a:solidFill>
                  <a:srgbClr val="F2F6FF"/>
                </a:solidFill>
                <a:latin typeface="Arial"/>
                <a:ea typeface="Arial"/>
                <a:cs typeface="Arial"/>
              </a:rPr>
              <a:t>Typed fields, headers and standardized driver names</a:t>
            </a:r>
          </a:p>
        </p:txBody>
      </p:sp>
      <p:sp>
        <p:nvSpPr>
          <p:cNvPr id="6" name="">
            <a:extLst xmlns:a="http://schemas.openxmlformats.org/drawingml/2006/main">
              <a:ext uri="{FF2B5EF4-FFF2-40B4-BE49-F238E27FC236}">
                <a16:creationId xmlns:a16="http://schemas.microsoft.com/office/drawing/2014/main" id="{DDDF1314-508B-4FD8-858B-011421C843E7}"/>
              </a:ext>
            </a:extLst>
          </p:cNvPr>
          <p:cNvSpPr>
            <a:spLocks xmlns:a="http://schemas.openxmlformats.org/drawingml/2006/main" noGrp="1"/>
          </p:cNvSpPr>
          <p:nvPr/>
        </p:nvSpPr>
        <p:spPr>
          <a:xfrm xmlns:a="http://schemas.openxmlformats.org/drawingml/2006/main">
            <a:off x="5334000" y="3000375"/>
            <a:ext cx="614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Split date/time fields and rebuilt service flags</a:t>
            </a:r>
          </a:p>
        </p:txBody>
      </p:sp>
      <p:sp>
        <p:nvSpPr>
          <p:cNvPr id="7" name="">
            <a:extLst xmlns:a="http://schemas.openxmlformats.org/drawingml/2006/main">
              <a:ext uri="{FF2B5EF4-FFF2-40B4-BE49-F238E27FC236}">
                <a16:creationId xmlns:a16="http://schemas.microsoft.com/office/drawing/2014/main" id="{4FDB5BB5-29E2-4451-B7ED-F4D22FD9A4F2}"/>
              </a:ext>
            </a:extLst>
          </p:cNvPr>
          <p:cNvSpPr>
            <a:spLocks xmlns:a="http://schemas.openxmlformats.org/drawingml/2006/main" noGrp="1"/>
          </p:cNvSpPr>
          <p:nvPr/>
        </p:nvSpPr>
        <p:spPr>
          <a:xfrm xmlns:a="http://schemas.openxmlformats.org/drawingml/2006/main">
            <a:off x="5334000" y="3829050"/>
            <a:ext cx="614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Checked keys, duplicates and event chronology</a:t>
            </a:r>
          </a:p>
        </p:txBody>
      </p:sp>
      <p:sp>
        <p:nvSpPr>
          <p:cNvPr id="8" name="">
            <a:extLst xmlns:a="http://schemas.openxmlformats.org/drawingml/2006/main">
              <a:ext uri="{FF2B5EF4-FFF2-40B4-BE49-F238E27FC236}">
                <a16:creationId xmlns:a16="http://schemas.microsoft.com/office/drawing/2014/main" id="{C78F7D3D-8A5E-44DA-8C3E-9DCA7CC3834D}"/>
              </a:ext>
            </a:extLst>
          </p:cNvPr>
          <p:cNvSpPr>
            <a:spLocks xmlns:a="http://schemas.openxmlformats.org/drawingml/2006/main" noGrp="1"/>
          </p:cNvSpPr>
          <p:nvPr/>
        </p:nvSpPr>
        <p:spPr>
          <a:xfrm xmlns:a="http://schemas.openxmlformats.org/drawingml/2006/main">
            <a:off x="5334000" y="4657725"/>
            <a:ext cx="614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Preserved uncertain records for sensitivity tests</a:t>
            </a:r>
          </a:p>
        </p:txBody>
      </p:sp>
      <p:sp>
        <p:nvSpPr>
          <p:cNvPr id="12" name="design-6">
            <a:extLst xmlns:a="http://schemas.openxmlformats.org/drawingml/2006/main">
              <a:ext uri="{FF2B5EF4-FFF2-40B4-BE49-F238E27FC236}">
                <a16:creationId xmlns:a16="http://schemas.microsoft.com/office/drawing/2014/main" id="{7D880F8B-A3A4-4004-A628-3EB879003262}"/>
              </a:ext>
            </a:extLst>
          </p:cNvPr>
          <p:cNvSpPr>
            <a:spLocks xmlns:a="http://schemas.openxmlformats.org/drawingml/2006/main" noGrp="1"/>
          </p:cNvSpPr>
          <p:nvPr/>
        </p:nvSpPr>
        <p:spPr>
          <a:xfrm xmlns:a="http://schemas.openxmlformats.org/drawingml/2006/main">
            <a:off x="571500" y="2095500"/>
            <a:ext cx="112395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Tree>
    <p:extLst>
      <p:ext uri="{BB962C8B-B14F-4D97-AF65-F5344CB8AC3E}">
        <p14:creationId xmlns:p14="http://schemas.microsoft.com/office/powerpoint/2010/main" val="1576807887"/>
      </p:ext>
    </p:extLst>
  </p:cSld>
</p:sld>
</file>

<file path=ppt/slides/slide7.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cxnSp>
        <p:nvCxnSpPr>
          <p:cNvPr id="24" name=""/>
          <p:cNvCxnSpPr>
            <a:stCxn xmlns:a="http://schemas.openxmlformats.org/drawingml/2006/main" id="10" idx="1"/>
            <a:endCxn xmlns:a="http://schemas.openxmlformats.org/drawingml/2006/main" id="8" idx="3"/>
          </p:cNvCxnSpPr>
          <p:nvPr/>
        </p:nvCxnSpPr>
        <p:spPr>
          <a:xfrm xmlns:a="http://schemas.openxmlformats.org/drawingml/2006/main" flipH="1">
            <a:off x="5334000" y="4914900"/>
            <a:ext cx="666750" cy="38100"/>
          </a:xfrm>
          <a:prstGeom xmlns:a="http://schemas.openxmlformats.org/drawingml/2006/main" prst="bentConnector3">
            <a:avLst>
              <a:gd name="adj1" fmla="val 50000"/>
            </a:avLst>
          </a:prstGeom>
          <a:ln xmlns:a="http://schemas.openxmlformats.org/drawingml/2006/main" w="19050">
            <a:solidFill>
              <a:srgbClr val="3278FF"/>
            </a:solidFill>
            <a:tailEnd type="arrow" w="med" len="med"/>
          </a:ln>
        </p:spPr>
      </p:cxnSp>
      <p:cxnSp>
        <p:nvCxnSpPr>
          <p:cNvPr id="25" name=""/>
          <p:cNvCxnSpPr>
            <a:stCxn xmlns:a="http://schemas.openxmlformats.org/drawingml/2006/main" id="9" idx="3"/>
            <a:endCxn xmlns:a="http://schemas.openxmlformats.org/drawingml/2006/main" id="8" idx="1"/>
          </p:cNvCxnSpPr>
          <p:nvPr/>
        </p:nvCxnSpPr>
        <p:spPr>
          <a:xfrm xmlns:a="http://schemas.openxmlformats.org/drawingml/2006/main">
            <a:off x="2428875" y="4914900"/>
            <a:ext cx="666750" cy="38100"/>
          </a:xfrm>
          <a:prstGeom xmlns:a="http://schemas.openxmlformats.org/drawingml/2006/main" prst="bentConnector3">
            <a:avLst>
              <a:gd name="adj1" fmla="val 50000"/>
            </a:avLst>
          </a:prstGeom>
          <a:ln xmlns:a="http://schemas.openxmlformats.org/drawingml/2006/main" w="19050">
            <a:solidFill>
              <a:srgbClr val="3278FF"/>
            </a:solidFill>
            <a:tailEnd type="arrow" w="med" len="med"/>
          </a:ln>
        </p:spPr>
      </p:cxnSp>
      <p:cxnSp>
        <p:nvCxnSpPr>
          <p:cNvPr id="26" name=""/>
          <p:cNvCxnSpPr>
            <a:stCxn xmlns:a="http://schemas.openxmlformats.org/drawingml/2006/main" id="8" idx="0"/>
            <a:endCxn xmlns:a="http://schemas.openxmlformats.org/drawingml/2006/main" id="4" idx="2"/>
          </p:cNvCxnSpPr>
          <p:nvPr/>
        </p:nvCxnSpPr>
        <p:spPr>
          <a:xfrm xmlns:a="http://schemas.openxmlformats.org/drawingml/2006/main" flipV="1">
            <a:off x="4214813" y="3933825"/>
            <a:ext cx="0" cy="685800"/>
          </a:xfrm>
          <a:prstGeom xmlns:a="http://schemas.openxmlformats.org/drawingml/2006/main" prst="straightConnector1">
            <a:avLst/>
          </a:prstGeom>
          <a:ln xmlns:a="http://schemas.openxmlformats.org/drawingml/2006/main" w="19050">
            <a:solidFill>
              <a:srgbClr val="3278FF"/>
            </a:solidFill>
            <a:headEnd type="arrow" w="med" len="med"/>
            <a:tailEnd type="arrow" w="med" len="med"/>
          </a:ln>
        </p:spPr>
      </p:cxnSp>
      <p:cxnSp>
        <p:nvCxnSpPr>
          <p:cNvPr id="27" name=""/>
          <p:cNvCxnSpPr>
            <a:stCxn xmlns:a="http://schemas.openxmlformats.org/drawingml/2006/main" id="7" idx="1"/>
            <a:endCxn xmlns:a="http://schemas.openxmlformats.org/drawingml/2006/main" id="4" idx="3"/>
          </p:cNvCxnSpPr>
          <p:nvPr/>
        </p:nvCxnSpPr>
        <p:spPr>
          <a:xfrm xmlns:a="http://schemas.openxmlformats.org/drawingml/2006/main" flipH="1">
            <a:off x="5334000" y="2533650"/>
            <a:ext cx="666750" cy="1028700"/>
          </a:xfrm>
          <a:prstGeom xmlns:a="http://schemas.openxmlformats.org/drawingml/2006/main" prst="bentConnector3">
            <a:avLst>
              <a:gd name="adj1" fmla="val 50000"/>
            </a:avLst>
          </a:prstGeom>
          <a:ln xmlns:a="http://schemas.openxmlformats.org/drawingml/2006/main" w="19050">
            <a:solidFill>
              <a:srgbClr val="3278FF"/>
            </a:solidFill>
            <a:tailEnd type="arrow" w="med" len="med"/>
          </a:ln>
        </p:spPr>
      </p:cxnSp>
      <p:cxnSp>
        <p:nvCxnSpPr>
          <p:cNvPr id="28" name=""/>
          <p:cNvCxnSpPr>
            <a:stCxn xmlns:a="http://schemas.openxmlformats.org/drawingml/2006/main" id="6" idx="2"/>
            <a:endCxn xmlns:a="http://schemas.openxmlformats.org/drawingml/2006/main" id="4" idx="0"/>
          </p:cNvCxnSpPr>
          <p:nvPr/>
        </p:nvCxnSpPr>
        <p:spPr>
          <a:xfrm xmlns:a="http://schemas.openxmlformats.org/drawingml/2006/main">
            <a:off x="4214813" y="2686050"/>
            <a:ext cx="0" cy="504825"/>
          </a:xfrm>
          <a:prstGeom xmlns:a="http://schemas.openxmlformats.org/drawingml/2006/main" prst="straightConnector1">
            <a:avLst/>
          </a:prstGeom>
          <a:ln xmlns:a="http://schemas.openxmlformats.org/drawingml/2006/main" w="19050">
            <a:solidFill>
              <a:srgbClr val="3278FF"/>
            </a:solidFill>
            <a:tailEnd type="arrow" w="med" len="med"/>
          </a:ln>
        </p:spPr>
      </p:cxnSp>
      <p:cxnSp>
        <p:nvCxnSpPr>
          <p:cNvPr id="29" name=""/>
          <p:cNvCxnSpPr>
            <a:stCxn xmlns:a="http://schemas.openxmlformats.org/drawingml/2006/main" id="5" idx="3"/>
            <a:endCxn xmlns:a="http://schemas.openxmlformats.org/drawingml/2006/main" id="4" idx="1"/>
          </p:cNvCxnSpPr>
          <p:nvPr/>
        </p:nvCxnSpPr>
        <p:spPr>
          <a:xfrm xmlns:a="http://schemas.openxmlformats.org/drawingml/2006/main">
            <a:off x="2428875" y="2533650"/>
            <a:ext cx="666750" cy="1028700"/>
          </a:xfrm>
          <a:prstGeom xmlns:a="http://schemas.openxmlformats.org/drawingml/2006/main" prst="bentConnector3">
            <a:avLst>
              <a:gd name="adj1" fmla="val 50000"/>
            </a:avLst>
          </a:prstGeom>
          <a:ln xmlns:a="http://schemas.openxmlformats.org/drawingml/2006/main" w="19050">
            <a:solidFill>
              <a:srgbClr val="3278FF"/>
            </a:solidFill>
            <a:tailEnd type="arrow" w="med" len="med"/>
          </a:ln>
        </p:spPr>
      </p:cxnSp>
      <p:sp>
        <p:nvSpPr>
          <p:cNvPr id="23" name="integration-42">
            <a:extLst xmlns:a="http://schemas.openxmlformats.org/drawingml/2006/main">
              <a:ext uri="{FF2B5EF4-FFF2-40B4-BE49-F238E27FC236}">
                <a16:creationId xmlns:a16="http://schemas.microsoft.com/office/drawing/2014/main" id="{DC5E40FF-EE94-447C-9EA8-A1BE618209EF}"/>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DATA MODELING: STAR SCHEMA</a:t>
            </a:r>
          </a:p>
        </p:txBody>
      </p:sp>
      <p:sp>
        <p:nvSpPr>
          <p:cNvPr id="2" name="integration-43">
            <a:extLst xmlns:a="http://schemas.openxmlformats.org/drawingml/2006/main">
              <a:ext uri="{FF2B5EF4-FFF2-40B4-BE49-F238E27FC236}">
                <a16:creationId xmlns:a16="http://schemas.microsoft.com/office/drawing/2014/main" id="{6CD49E7E-D1A7-4C36-A487-F1C670D5B98F}"/>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225" b="1">
                <a:solidFill>
                  <a:srgbClr val="F2F6FF"/>
                </a:solidFill>
                <a:latin typeface="Arial"/>
                <a:ea typeface="Arial"/>
                <a:cs typeface="Arial"/>
              </a:defRPr>
            </a:lvl1pPr>
            <a:lvl2pPr>
              <a:buNone/>
              <a:defRPr sz="3225" b="1">
                <a:solidFill>
                  <a:srgbClr val="F2F6FF"/>
                </a:solidFill>
                <a:latin typeface="Arial"/>
                <a:ea typeface="Arial"/>
                <a:cs typeface="Arial"/>
              </a:defRPr>
            </a:lvl2pPr>
            <a:lvl3pPr>
              <a:buNone/>
              <a:defRPr sz="3225" b="1">
                <a:solidFill>
                  <a:srgbClr val="F2F6FF"/>
                </a:solidFill>
                <a:latin typeface="Arial"/>
                <a:ea typeface="Arial"/>
                <a:cs typeface="Arial"/>
              </a:defRPr>
            </a:lvl3pPr>
            <a:lvl4pPr>
              <a:buNone/>
              <a:defRPr sz="3225" b="1">
                <a:solidFill>
                  <a:srgbClr val="F2F6FF"/>
                </a:solidFill>
                <a:latin typeface="Arial"/>
                <a:ea typeface="Arial"/>
                <a:cs typeface="Arial"/>
              </a:defRPr>
            </a:lvl4pPr>
            <a:lvl5pPr>
              <a:buNone/>
              <a:defRPr sz="3225" b="1">
                <a:solidFill>
                  <a:srgbClr val="F2F6FF"/>
                </a:solidFill>
                <a:latin typeface="Arial"/>
                <a:ea typeface="Arial"/>
                <a:cs typeface="Arial"/>
              </a:defRPr>
            </a:lvl5pPr>
            <a:lvl6pPr>
              <a:buNone/>
              <a:defRPr sz="3225" b="1">
                <a:solidFill>
                  <a:srgbClr val="F2F6FF"/>
                </a:solidFill>
                <a:latin typeface="Arial"/>
                <a:ea typeface="Arial"/>
                <a:cs typeface="Arial"/>
              </a:defRPr>
            </a:lvl6pPr>
            <a:lvl7pPr>
              <a:buNone/>
              <a:defRPr sz="3225" b="1">
                <a:solidFill>
                  <a:srgbClr val="F2F6FF"/>
                </a:solidFill>
                <a:latin typeface="Arial"/>
                <a:ea typeface="Arial"/>
                <a:cs typeface="Arial"/>
              </a:defRPr>
            </a:lvl7pPr>
            <a:lvl8pPr>
              <a:buNone/>
              <a:defRPr sz="3225" b="1">
                <a:solidFill>
                  <a:srgbClr val="F2F6FF"/>
                </a:solidFill>
                <a:latin typeface="Arial"/>
                <a:ea typeface="Arial"/>
                <a:cs typeface="Arial"/>
              </a:defRPr>
            </a:lvl8pPr>
            <a:lvl9pPr>
              <a:buNone/>
              <a:defRPr sz="3225" b="1">
                <a:solidFill>
                  <a:srgbClr val="F2F6FF"/>
                </a:solidFill>
                <a:latin typeface="Arial"/>
                <a:ea typeface="Arial"/>
                <a:cs typeface="Arial"/>
              </a:defRPr>
            </a:lvl9pPr>
          </a:lstStyle>
          <a:p xmlns:a="http://schemas.openxmlformats.org/drawingml/2006/main">
            <a:pPr>
              <a:buNone/>
              <a:defRPr sz="3225" b="1">
                <a:solidFill>
                  <a:srgbClr val="F2F6FF"/>
                </a:solidFill>
                <a:latin typeface="Arial"/>
                <a:ea typeface="Arial"/>
                <a:cs typeface="Arial"/>
              </a:defRPr>
            </a:pPr>
            <a:r>
              <a:rPr sz="3225" b="1">
                <a:solidFill>
                  <a:srgbClr val="F2F6FF"/>
                </a:solidFill>
                <a:latin typeface="Arial"/>
                <a:ea typeface="Arial"/>
                <a:cs typeface="Arial"/>
              </a:rPr>
              <a:t>Operational facts and shared dimensions</a:t>
            </a:r>
          </a:p>
        </p:txBody>
      </p:sp>
      <p:sp>
        <p:nvSpPr>
          <p:cNvPr id="3" name="integration-44">
            <a:extLst xmlns:a="http://schemas.openxmlformats.org/drawingml/2006/main">
              <a:ext uri="{FF2B5EF4-FFF2-40B4-BE49-F238E27FC236}">
                <a16:creationId xmlns:a16="http://schemas.microsoft.com/office/drawing/2014/main" id="{FFF2082B-458D-4B71-98DF-7B390172D95A}"/>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We used star-schema principles within a model containing multiple fact tables</a:t>
            </a:r>
          </a:p>
        </p:txBody>
      </p:sp>
      <p:sp>
        <p:nvSpPr>
          <p:cNvPr id="4" name="model-trips">
            <a:extLst xmlns:a="http://schemas.openxmlformats.org/drawingml/2006/main">
              <a:ext uri="{FF2B5EF4-FFF2-40B4-BE49-F238E27FC236}">
                <a16:creationId xmlns:a16="http://schemas.microsoft.com/office/drawing/2014/main" id="{856AA800-BB08-4281-8362-0C5110C69361}"/>
              </a:ext>
            </a:extLst>
          </p:cNvPr>
          <p:cNvSpPr>
            <a:spLocks xmlns:a="http://schemas.openxmlformats.org/drawingml/2006/main" noGrp="1"/>
          </p:cNvSpPr>
          <p:nvPr/>
        </p:nvSpPr>
        <p:spPr>
          <a:xfrm xmlns:a="http://schemas.openxmlformats.org/drawingml/2006/main">
            <a:off x="3095625" y="3190875"/>
            <a:ext cx="2238375" cy="742950"/>
          </a:xfrm>
          <a:prstGeom xmlns:a="http://schemas.openxmlformats.org/drawingml/2006/main" prst="rect">
            <a:avLst/>
          </a:prstGeom>
          <a:solidFill xmlns:a="http://schemas.openxmlformats.org/drawingml/2006/main">
            <a:srgbClr val="123452"/>
          </a:solidFill>
          <a:ln xmlns:a="http://schemas.openxmlformats.org/drawingml/2006/main" w="14288">
            <a:solidFill>
              <a:srgbClr val="3DDCF5"/>
            </a:solidFill>
          </a:ln>
        </p:spPr>
        <p:txBody>
          <a:bodyPr xmlns:a="http://schemas.openxmlformats.org/drawingml/2006/main" lIns="114300" tIns="114300" rIns="114300" bIns="114300"/>
          <a:lstStyle xmlns:a="http://schemas.openxmlformats.org/drawingml/2006/main">
            <a:lvl1pPr>
              <a:buNone/>
              <a:defRPr sz="2175" b="1">
                <a:solidFill>
                  <a:srgbClr val="3DDCF5"/>
                </a:solidFill>
                <a:latin typeface="Arial"/>
                <a:ea typeface="Arial"/>
                <a:cs typeface="Arial"/>
              </a:defRPr>
            </a:lvl1pPr>
            <a:lvl2pPr>
              <a:buNone/>
              <a:defRPr sz="2175" b="1">
                <a:solidFill>
                  <a:srgbClr val="3DDCF5"/>
                </a:solidFill>
                <a:latin typeface="Arial"/>
                <a:ea typeface="Arial"/>
                <a:cs typeface="Arial"/>
              </a:defRPr>
            </a:lvl2pPr>
            <a:lvl3pPr>
              <a:buNone/>
              <a:defRPr sz="2175" b="1">
                <a:solidFill>
                  <a:srgbClr val="3DDCF5"/>
                </a:solidFill>
                <a:latin typeface="Arial"/>
                <a:ea typeface="Arial"/>
                <a:cs typeface="Arial"/>
              </a:defRPr>
            </a:lvl3pPr>
            <a:lvl4pPr>
              <a:buNone/>
              <a:defRPr sz="2175" b="1">
                <a:solidFill>
                  <a:srgbClr val="3DDCF5"/>
                </a:solidFill>
                <a:latin typeface="Arial"/>
                <a:ea typeface="Arial"/>
                <a:cs typeface="Arial"/>
              </a:defRPr>
            </a:lvl4pPr>
            <a:lvl5pPr>
              <a:buNone/>
              <a:defRPr sz="2175" b="1">
                <a:solidFill>
                  <a:srgbClr val="3DDCF5"/>
                </a:solidFill>
                <a:latin typeface="Arial"/>
                <a:ea typeface="Arial"/>
                <a:cs typeface="Arial"/>
              </a:defRPr>
            </a:lvl5pPr>
            <a:lvl6pPr>
              <a:buNone/>
              <a:defRPr sz="2175" b="1">
                <a:solidFill>
                  <a:srgbClr val="3DDCF5"/>
                </a:solidFill>
                <a:latin typeface="Arial"/>
                <a:ea typeface="Arial"/>
                <a:cs typeface="Arial"/>
              </a:defRPr>
            </a:lvl6pPr>
            <a:lvl7pPr>
              <a:buNone/>
              <a:defRPr sz="2175" b="1">
                <a:solidFill>
                  <a:srgbClr val="3DDCF5"/>
                </a:solidFill>
                <a:latin typeface="Arial"/>
                <a:ea typeface="Arial"/>
                <a:cs typeface="Arial"/>
              </a:defRPr>
            </a:lvl7pPr>
            <a:lvl8pPr>
              <a:buNone/>
              <a:defRPr sz="2175" b="1">
                <a:solidFill>
                  <a:srgbClr val="3DDCF5"/>
                </a:solidFill>
                <a:latin typeface="Arial"/>
                <a:ea typeface="Arial"/>
                <a:cs typeface="Arial"/>
              </a:defRPr>
            </a:lvl8pPr>
            <a:lvl9pPr>
              <a:buNone/>
              <a:defRPr sz="2175" b="1">
                <a:solidFill>
                  <a:srgbClr val="3DDCF5"/>
                </a:solidFill>
                <a:latin typeface="Arial"/>
                <a:ea typeface="Arial"/>
                <a:cs typeface="Arial"/>
              </a:defRPr>
            </a:lvl9pPr>
          </a:lstStyle>
          <a:p xmlns:a="http://schemas.openxmlformats.org/drawingml/2006/main">
            <a:pPr>
              <a:buNone/>
              <a:defRPr sz="2175" b="1">
                <a:solidFill>
                  <a:srgbClr val="3DDCF5"/>
                </a:solidFill>
                <a:latin typeface="Arial"/>
                <a:ea typeface="Arial"/>
                <a:cs typeface="Arial"/>
              </a:defRPr>
            </a:pPr>
            <a:r>
              <a:rPr sz="2175" b="1">
                <a:solidFill>
                  <a:srgbClr val="3DDCF5"/>
                </a:solidFill>
                <a:latin typeface="Arial"/>
                <a:ea typeface="Arial"/>
                <a:cs typeface="Arial"/>
              </a:rPr>
              <a:t>trips</a:t>
            </a:r>
          </a:p>
        </p:txBody>
      </p:sp>
      <p:sp>
        <p:nvSpPr>
          <p:cNvPr id="5" name="model-drivers">
            <a:extLst xmlns:a="http://schemas.openxmlformats.org/drawingml/2006/main">
              <a:ext uri="{FF2B5EF4-FFF2-40B4-BE49-F238E27FC236}">
                <a16:creationId xmlns:a16="http://schemas.microsoft.com/office/drawing/2014/main" id="{87AAE817-D123-48E8-87C9-31EAEE3133FF}"/>
              </a:ext>
            </a:extLst>
          </p:cNvPr>
          <p:cNvSpPr>
            <a:spLocks xmlns:a="http://schemas.openxmlformats.org/drawingml/2006/main" noGrp="1"/>
          </p:cNvSpPr>
          <p:nvPr/>
        </p:nvSpPr>
        <p:spPr>
          <a:xfrm xmlns:a="http://schemas.openxmlformats.org/drawingml/2006/main">
            <a:off x="571500" y="2238375"/>
            <a:ext cx="1857375" cy="590550"/>
          </a:xfrm>
          <a:prstGeom xmlns:a="http://schemas.openxmlformats.org/drawingml/2006/main" prst="rect">
            <a:avLst/>
          </a:prstGeom>
          <a:solidFill xmlns:a="http://schemas.openxmlformats.org/drawingml/2006/main">
            <a:srgbClr val="0B1728"/>
          </a:solidFill>
          <a:ln xmlns:a="http://schemas.openxmlformats.org/drawingml/2006/main" w="14288">
            <a:solidFill>
              <a:srgbClr val="24354A"/>
            </a:solidFill>
          </a:ln>
        </p:spPr>
        <p:txBody>
          <a:bodyPr xmlns:a="http://schemas.openxmlformats.org/drawingml/2006/main" lIns="114300" tIns="114300" rIns="114300" bIns="114300"/>
          <a:lstStyle xmlns:a="http://schemas.openxmlformats.org/drawingml/2006/main">
            <a:lvl1pPr>
              <a:buNone/>
              <a:defRPr sz="1875" b="1">
                <a:solidFill>
                  <a:srgbClr val="F2F6FF"/>
                </a:solidFill>
                <a:latin typeface="Arial"/>
                <a:ea typeface="Arial"/>
                <a:cs typeface="Arial"/>
              </a:defRPr>
            </a:lvl1pPr>
            <a:lvl2pPr>
              <a:buNone/>
              <a:defRPr sz="1875" b="1">
                <a:solidFill>
                  <a:srgbClr val="F2F6FF"/>
                </a:solidFill>
                <a:latin typeface="Arial"/>
                <a:ea typeface="Arial"/>
                <a:cs typeface="Arial"/>
              </a:defRPr>
            </a:lvl2pPr>
            <a:lvl3pPr>
              <a:buNone/>
              <a:defRPr sz="1875" b="1">
                <a:solidFill>
                  <a:srgbClr val="F2F6FF"/>
                </a:solidFill>
                <a:latin typeface="Arial"/>
                <a:ea typeface="Arial"/>
                <a:cs typeface="Arial"/>
              </a:defRPr>
            </a:lvl3pPr>
            <a:lvl4pPr>
              <a:buNone/>
              <a:defRPr sz="1875" b="1">
                <a:solidFill>
                  <a:srgbClr val="F2F6FF"/>
                </a:solidFill>
                <a:latin typeface="Arial"/>
                <a:ea typeface="Arial"/>
                <a:cs typeface="Arial"/>
              </a:defRPr>
            </a:lvl4pPr>
            <a:lvl5pPr>
              <a:buNone/>
              <a:defRPr sz="1875" b="1">
                <a:solidFill>
                  <a:srgbClr val="F2F6FF"/>
                </a:solidFill>
                <a:latin typeface="Arial"/>
                <a:ea typeface="Arial"/>
                <a:cs typeface="Arial"/>
              </a:defRPr>
            </a:lvl5pPr>
            <a:lvl6pPr>
              <a:buNone/>
              <a:defRPr sz="1875" b="1">
                <a:solidFill>
                  <a:srgbClr val="F2F6FF"/>
                </a:solidFill>
                <a:latin typeface="Arial"/>
                <a:ea typeface="Arial"/>
                <a:cs typeface="Arial"/>
              </a:defRPr>
            </a:lvl6pPr>
            <a:lvl7pPr>
              <a:buNone/>
              <a:defRPr sz="1875" b="1">
                <a:solidFill>
                  <a:srgbClr val="F2F6FF"/>
                </a:solidFill>
                <a:latin typeface="Arial"/>
                <a:ea typeface="Arial"/>
                <a:cs typeface="Arial"/>
              </a:defRPr>
            </a:lvl7pPr>
            <a:lvl8pPr>
              <a:buNone/>
              <a:defRPr sz="1875" b="1">
                <a:solidFill>
                  <a:srgbClr val="F2F6FF"/>
                </a:solidFill>
                <a:latin typeface="Arial"/>
                <a:ea typeface="Arial"/>
                <a:cs typeface="Arial"/>
              </a:defRPr>
            </a:lvl8pPr>
            <a:lvl9pPr>
              <a:buNone/>
              <a:defRPr sz="1875" b="1">
                <a:solidFill>
                  <a:srgbClr val="F2F6FF"/>
                </a:solidFill>
                <a:latin typeface="Arial"/>
                <a:ea typeface="Arial"/>
                <a:cs typeface="Arial"/>
              </a:defRPr>
            </a:lvl9pPr>
          </a:lstStyle>
          <a:p xmlns:a="http://schemas.openxmlformats.org/drawingml/2006/main">
            <a:pPr>
              <a:buNone/>
              <a:defRPr sz="1875" b="1">
                <a:solidFill>
                  <a:srgbClr val="F2F6FF"/>
                </a:solidFill>
                <a:latin typeface="Arial"/>
                <a:ea typeface="Arial"/>
                <a:cs typeface="Arial"/>
              </a:defRPr>
            </a:pPr>
            <a:r>
              <a:rPr sz="1875" b="1">
                <a:solidFill>
                  <a:srgbClr val="F2F6FF"/>
                </a:solidFill>
                <a:latin typeface="Arial"/>
                <a:ea typeface="Arial"/>
                <a:cs typeface="Arial"/>
              </a:rPr>
              <a:t>drivers</a:t>
            </a:r>
          </a:p>
        </p:txBody>
      </p:sp>
      <p:sp>
        <p:nvSpPr>
          <p:cNvPr id="6" name="model-trucks">
            <a:extLst xmlns:a="http://schemas.openxmlformats.org/drawingml/2006/main">
              <a:ext uri="{FF2B5EF4-FFF2-40B4-BE49-F238E27FC236}">
                <a16:creationId xmlns:a16="http://schemas.microsoft.com/office/drawing/2014/main" id="{02213AC3-CA45-40EC-9009-FE542242AF2C}"/>
              </a:ext>
            </a:extLst>
          </p:cNvPr>
          <p:cNvSpPr>
            <a:spLocks xmlns:a="http://schemas.openxmlformats.org/drawingml/2006/main" noGrp="1"/>
          </p:cNvSpPr>
          <p:nvPr/>
        </p:nvSpPr>
        <p:spPr>
          <a:xfrm xmlns:a="http://schemas.openxmlformats.org/drawingml/2006/main">
            <a:off x="3286125" y="2095500"/>
            <a:ext cx="1857375" cy="590550"/>
          </a:xfrm>
          <a:prstGeom xmlns:a="http://schemas.openxmlformats.org/drawingml/2006/main" prst="rect">
            <a:avLst/>
          </a:prstGeom>
          <a:solidFill xmlns:a="http://schemas.openxmlformats.org/drawingml/2006/main">
            <a:srgbClr val="0B1728"/>
          </a:solidFill>
          <a:ln xmlns:a="http://schemas.openxmlformats.org/drawingml/2006/main" w="14288">
            <a:solidFill>
              <a:srgbClr val="24354A"/>
            </a:solidFill>
          </a:ln>
        </p:spPr>
        <p:txBody>
          <a:bodyPr xmlns:a="http://schemas.openxmlformats.org/drawingml/2006/main" lIns="114300" tIns="114300" rIns="114300" bIns="114300"/>
          <a:lstStyle xmlns:a="http://schemas.openxmlformats.org/drawingml/2006/main">
            <a:lvl1pPr>
              <a:buNone/>
              <a:defRPr sz="1875" b="1">
                <a:solidFill>
                  <a:srgbClr val="F2F6FF"/>
                </a:solidFill>
                <a:latin typeface="Arial"/>
                <a:ea typeface="Arial"/>
                <a:cs typeface="Arial"/>
              </a:defRPr>
            </a:lvl1pPr>
            <a:lvl2pPr>
              <a:buNone/>
              <a:defRPr sz="1875" b="1">
                <a:solidFill>
                  <a:srgbClr val="F2F6FF"/>
                </a:solidFill>
                <a:latin typeface="Arial"/>
                <a:ea typeface="Arial"/>
                <a:cs typeface="Arial"/>
              </a:defRPr>
            </a:lvl2pPr>
            <a:lvl3pPr>
              <a:buNone/>
              <a:defRPr sz="1875" b="1">
                <a:solidFill>
                  <a:srgbClr val="F2F6FF"/>
                </a:solidFill>
                <a:latin typeface="Arial"/>
                <a:ea typeface="Arial"/>
                <a:cs typeface="Arial"/>
              </a:defRPr>
            </a:lvl3pPr>
            <a:lvl4pPr>
              <a:buNone/>
              <a:defRPr sz="1875" b="1">
                <a:solidFill>
                  <a:srgbClr val="F2F6FF"/>
                </a:solidFill>
                <a:latin typeface="Arial"/>
                <a:ea typeface="Arial"/>
                <a:cs typeface="Arial"/>
              </a:defRPr>
            </a:lvl4pPr>
            <a:lvl5pPr>
              <a:buNone/>
              <a:defRPr sz="1875" b="1">
                <a:solidFill>
                  <a:srgbClr val="F2F6FF"/>
                </a:solidFill>
                <a:latin typeface="Arial"/>
                <a:ea typeface="Arial"/>
                <a:cs typeface="Arial"/>
              </a:defRPr>
            </a:lvl5pPr>
            <a:lvl6pPr>
              <a:buNone/>
              <a:defRPr sz="1875" b="1">
                <a:solidFill>
                  <a:srgbClr val="F2F6FF"/>
                </a:solidFill>
                <a:latin typeface="Arial"/>
                <a:ea typeface="Arial"/>
                <a:cs typeface="Arial"/>
              </a:defRPr>
            </a:lvl6pPr>
            <a:lvl7pPr>
              <a:buNone/>
              <a:defRPr sz="1875" b="1">
                <a:solidFill>
                  <a:srgbClr val="F2F6FF"/>
                </a:solidFill>
                <a:latin typeface="Arial"/>
                <a:ea typeface="Arial"/>
                <a:cs typeface="Arial"/>
              </a:defRPr>
            </a:lvl7pPr>
            <a:lvl8pPr>
              <a:buNone/>
              <a:defRPr sz="1875" b="1">
                <a:solidFill>
                  <a:srgbClr val="F2F6FF"/>
                </a:solidFill>
                <a:latin typeface="Arial"/>
                <a:ea typeface="Arial"/>
                <a:cs typeface="Arial"/>
              </a:defRPr>
            </a:lvl8pPr>
            <a:lvl9pPr>
              <a:buNone/>
              <a:defRPr sz="1875" b="1">
                <a:solidFill>
                  <a:srgbClr val="F2F6FF"/>
                </a:solidFill>
                <a:latin typeface="Arial"/>
                <a:ea typeface="Arial"/>
                <a:cs typeface="Arial"/>
              </a:defRPr>
            </a:lvl9pPr>
          </a:lstStyle>
          <a:p xmlns:a="http://schemas.openxmlformats.org/drawingml/2006/main">
            <a:pPr>
              <a:buNone/>
              <a:defRPr sz="1875" b="1">
                <a:solidFill>
                  <a:srgbClr val="F2F6FF"/>
                </a:solidFill>
                <a:latin typeface="Arial"/>
                <a:ea typeface="Arial"/>
                <a:cs typeface="Arial"/>
              </a:defRPr>
            </a:pPr>
            <a:r>
              <a:rPr sz="1875" b="1">
                <a:solidFill>
                  <a:srgbClr val="F2F6FF"/>
                </a:solidFill>
                <a:latin typeface="Arial"/>
                <a:ea typeface="Arial"/>
                <a:cs typeface="Arial"/>
              </a:rPr>
              <a:t>trucks</a:t>
            </a:r>
          </a:p>
        </p:txBody>
      </p:sp>
      <p:sp>
        <p:nvSpPr>
          <p:cNvPr id="7" name="model-trailers">
            <a:extLst xmlns:a="http://schemas.openxmlformats.org/drawingml/2006/main">
              <a:ext uri="{FF2B5EF4-FFF2-40B4-BE49-F238E27FC236}">
                <a16:creationId xmlns:a16="http://schemas.microsoft.com/office/drawing/2014/main" id="{0D992D07-B334-4B49-8416-4E74495A522E}"/>
              </a:ext>
            </a:extLst>
          </p:cNvPr>
          <p:cNvSpPr>
            <a:spLocks xmlns:a="http://schemas.openxmlformats.org/drawingml/2006/main" noGrp="1"/>
          </p:cNvSpPr>
          <p:nvPr/>
        </p:nvSpPr>
        <p:spPr>
          <a:xfrm xmlns:a="http://schemas.openxmlformats.org/drawingml/2006/main">
            <a:off x="6000750" y="2238375"/>
            <a:ext cx="1762125" cy="590550"/>
          </a:xfrm>
          <a:prstGeom xmlns:a="http://schemas.openxmlformats.org/drawingml/2006/main" prst="rect">
            <a:avLst/>
          </a:prstGeom>
          <a:solidFill xmlns:a="http://schemas.openxmlformats.org/drawingml/2006/main">
            <a:srgbClr val="0B1728"/>
          </a:solidFill>
          <a:ln xmlns:a="http://schemas.openxmlformats.org/drawingml/2006/main" w="14288">
            <a:solidFill>
              <a:srgbClr val="24354A"/>
            </a:solidFill>
          </a:ln>
        </p:spPr>
        <p:txBody>
          <a:bodyPr xmlns:a="http://schemas.openxmlformats.org/drawingml/2006/main" lIns="114300" tIns="114300" rIns="114300" bIns="114300"/>
          <a:lstStyle xmlns:a="http://schemas.openxmlformats.org/drawingml/2006/main">
            <a:lvl1pPr>
              <a:buNone/>
              <a:defRPr sz="1875" b="1">
                <a:solidFill>
                  <a:srgbClr val="F2F6FF"/>
                </a:solidFill>
                <a:latin typeface="Arial"/>
                <a:ea typeface="Arial"/>
                <a:cs typeface="Arial"/>
              </a:defRPr>
            </a:lvl1pPr>
            <a:lvl2pPr>
              <a:buNone/>
              <a:defRPr sz="1875" b="1">
                <a:solidFill>
                  <a:srgbClr val="F2F6FF"/>
                </a:solidFill>
                <a:latin typeface="Arial"/>
                <a:ea typeface="Arial"/>
                <a:cs typeface="Arial"/>
              </a:defRPr>
            </a:lvl2pPr>
            <a:lvl3pPr>
              <a:buNone/>
              <a:defRPr sz="1875" b="1">
                <a:solidFill>
                  <a:srgbClr val="F2F6FF"/>
                </a:solidFill>
                <a:latin typeface="Arial"/>
                <a:ea typeface="Arial"/>
                <a:cs typeface="Arial"/>
              </a:defRPr>
            </a:lvl3pPr>
            <a:lvl4pPr>
              <a:buNone/>
              <a:defRPr sz="1875" b="1">
                <a:solidFill>
                  <a:srgbClr val="F2F6FF"/>
                </a:solidFill>
                <a:latin typeface="Arial"/>
                <a:ea typeface="Arial"/>
                <a:cs typeface="Arial"/>
              </a:defRPr>
            </a:lvl4pPr>
            <a:lvl5pPr>
              <a:buNone/>
              <a:defRPr sz="1875" b="1">
                <a:solidFill>
                  <a:srgbClr val="F2F6FF"/>
                </a:solidFill>
                <a:latin typeface="Arial"/>
                <a:ea typeface="Arial"/>
                <a:cs typeface="Arial"/>
              </a:defRPr>
            </a:lvl5pPr>
            <a:lvl6pPr>
              <a:buNone/>
              <a:defRPr sz="1875" b="1">
                <a:solidFill>
                  <a:srgbClr val="F2F6FF"/>
                </a:solidFill>
                <a:latin typeface="Arial"/>
                <a:ea typeface="Arial"/>
                <a:cs typeface="Arial"/>
              </a:defRPr>
            </a:lvl6pPr>
            <a:lvl7pPr>
              <a:buNone/>
              <a:defRPr sz="1875" b="1">
                <a:solidFill>
                  <a:srgbClr val="F2F6FF"/>
                </a:solidFill>
                <a:latin typeface="Arial"/>
                <a:ea typeface="Arial"/>
                <a:cs typeface="Arial"/>
              </a:defRPr>
            </a:lvl7pPr>
            <a:lvl8pPr>
              <a:buNone/>
              <a:defRPr sz="1875" b="1">
                <a:solidFill>
                  <a:srgbClr val="F2F6FF"/>
                </a:solidFill>
                <a:latin typeface="Arial"/>
                <a:ea typeface="Arial"/>
                <a:cs typeface="Arial"/>
              </a:defRPr>
            </a:lvl8pPr>
            <a:lvl9pPr>
              <a:buNone/>
              <a:defRPr sz="1875" b="1">
                <a:solidFill>
                  <a:srgbClr val="F2F6FF"/>
                </a:solidFill>
                <a:latin typeface="Arial"/>
                <a:ea typeface="Arial"/>
                <a:cs typeface="Arial"/>
              </a:defRPr>
            </a:lvl9pPr>
          </a:lstStyle>
          <a:p xmlns:a="http://schemas.openxmlformats.org/drawingml/2006/main">
            <a:pPr>
              <a:buNone/>
              <a:defRPr sz="1875" b="1">
                <a:solidFill>
                  <a:srgbClr val="F2F6FF"/>
                </a:solidFill>
                <a:latin typeface="Arial"/>
                <a:ea typeface="Arial"/>
                <a:cs typeface="Arial"/>
              </a:defRPr>
            </a:pPr>
            <a:r>
              <a:rPr sz="1875" b="1">
                <a:solidFill>
                  <a:srgbClr val="F2F6FF"/>
                </a:solidFill>
                <a:latin typeface="Arial"/>
                <a:ea typeface="Arial"/>
                <a:cs typeface="Arial"/>
              </a:rPr>
              <a:t>trailers</a:t>
            </a:r>
          </a:p>
        </p:txBody>
      </p:sp>
      <p:sp>
        <p:nvSpPr>
          <p:cNvPr id="8" name="model-loads">
            <a:extLst xmlns:a="http://schemas.openxmlformats.org/drawingml/2006/main">
              <a:ext uri="{FF2B5EF4-FFF2-40B4-BE49-F238E27FC236}">
                <a16:creationId xmlns:a16="http://schemas.microsoft.com/office/drawing/2014/main" id="{3FDC098B-CEE3-4480-8B4B-8E8EFBEF77F3}"/>
              </a:ext>
            </a:extLst>
          </p:cNvPr>
          <p:cNvSpPr>
            <a:spLocks xmlns:a="http://schemas.openxmlformats.org/drawingml/2006/main" noGrp="1"/>
          </p:cNvSpPr>
          <p:nvPr/>
        </p:nvSpPr>
        <p:spPr>
          <a:xfrm xmlns:a="http://schemas.openxmlformats.org/drawingml/2006/main">
            <a:off x="3095625" y="4619625"/>
            <a:ext cx="2238375" cy="666750"/>
          </a:xfrm>
          <a:prstGeom xmlns:a="http://schemas.openxmlformats.org/drawingml/2006/main" prst="rect">
            <a:avLst/>
          </a:prstGeom>
          <a:solidFill xmlns:a="http://schemas.openxmlformats.org/drawingml/2006/main">
            <a:srgbClr val="123452"/>
          </a:solidFill>
          <a:ln xmlns:a="http://schemas.openxmlformats.org/drawingml/2006/main" w="14288">
            <a:solidFill>
              <a:srgbClr val="3DDCF5"/>
            </a:solidFill>
          </a:ln>
        </p:spPr>
        <p:txBody>
          <a:bodyPr xmlns:a="http://schemas.openxmlformats.org/drawingml/2006/main" lIns="114300" tIns="114300" rIns="114300" bIns="114300"/>
          <a:lstStyle xmlns:a="http://schemas.openxmlformats.org/drawingml/2006/main">
            <a:lvl1pPr>
              <a:buNone/>
              <a:defRPr sz="2175" b="1">
                <a:solidFill>
                  <a:srgbClr val="3DDCF5"/>
                </a:solidFill>
                <a:latin typeface="Arial"/>
                <a:ea typeface="Arial"/>
                <a:cs typeface="Arial"/>
              </a:defRPr>
            </a:lvl1pPr>
            <a:lvl2pPr>
              <a:buNone/>
              <a:defRPr sz="2175" b="1">
                <a:solidFill>
                  <a:srgbClr val="3DDCF5"/>
                </a:solidFill>
                <a:latin typeface="Arial"/>
                <a:ea typeface="Arial"/>
                <a:cs typeface="Arial"/>
              </a:defRPr>
            </a:lvl2pPr>
            <a:lvl3pPr>
              <a:buNone/>
              <a:defRPr sz="2175" b="1">
                <a:solidFill>
                  <a:srgbClr val="3DDCF5"/>
                </a:solidFill>
                <a:latin typeface="Arial"/>
                <a:ea typeface="Arial"/>
                <a:cs typeface="Arial"/>
              </a:defRPr>
            </a:lvl3pPr>
            <a:lvl4pPr>
              <a:buNone/>
              <a:defRPr sz="2175" b="1">
                <a:solidFill>
                  <a:srgbClr val="3DDCF5"/>
                </a:solidFill>
                <a:latin typeface="Arial"/>
                <a:ea typeface="Arial"/>
                <a:cs typeface="Arial"/>
              </a:defRPr>
            </a:lvl4pPr>
            <a:lvl5pPr>
              <a:buNone/>
              <a:defRPr sz="2175" b="1">
                <a:solidFill>
                  <a:srgbClr val="3DDCF5"/>
                </a:solidFill>
                <a:latin typeface="Arial"/>
                <a:ea typeface="Arial"/>
                <a:cs typeface="Arial"/>
              </a:defRPr>
            </a:lvl5pPr>
            <a:lvl6pPr>
              <a:buNone/>
              <a:defRPr sz="2175" b="1">
                <a:solidFill>
                  <a:srgbClr val="3DDCF5"/>
                </a:solidFill>
                <a:latin typeface="Arial"/>
                <a:ea typeface="Arial"/>
                <a:cs typeface="Arial"/>
              </a:defRPr>
            </a:lvl6pPr>
            <a:lvl7pPr>
              <a:buNone/>
              <a:defRPr sz="2175" b="1">
                <a:solidFill>
                  <a:srgbClr val="3DDCF5"/>
                </a:solidFill>
                <a:latin typeface="Arial"/>
                <a:ea typeface="Arial"/>
                <a:cs typeface="Arial"/>
              </a:defRPr>
            </a:lvl7pPr>
            <a:lvl8pPr>
              <a:buNone/>
              <a:defRPr sz="2175" b="1">
                <a:solidFill>
                  <a:srgbClr val="3DDCF5"/>
                </a:solidFill>
                <a:latin typeface="Arial"/>
                <a:ea typeface="Arial"/>
                <a:cs typeface="Arial"/>
              </a:defRPr>
            </a:lvl8pPr>
            <a:lvl9pPr>
              <a:buNone/>
              <a:defRPr sz="2175" b="1">
                <a:solidFill>
                  <a:srgbClr val="3DDCF5"/>
                </a:solidFill>
                <a:latin typeface="Arial"/>
                <a:ea typeface="Arial"/>
                <a:cs typeface="Arial"/>
              </a:defRPr>
            </a:lvl9pPr>
          </a:lstStyle>
          <a:p xmlns:a="http://schemas.openxmlformats.org/drawingml/2006/main">
            <a:pPr>
              <a:buNone/>
              <a:defRPr sz="2175" b="1">
                <a:solidFill>
                  <a:srgbClr val="3DDCF5"/>
                </a:solidFill>
                <a:latin typeface="Arial"/>
                <a:ea typeface="Arial"/>
                <a:cs typeface="Arial"/>
              </a:defRPr>
            </a:pPr>
            <a:r>
              <a:rPr sz="2175" b="1">
                <a:solidFill>
                  <a:srgbClr val="3DDCF5"/>
                </a:solidFill>
                <a:latin typeface="Arial"/>
                <a:ea typeface="Arial"/>
                <a:cs typeface="Arial"/>
              </a:rPr>
              <a:t>loads</a:t>
            </a:r>
          </a:p>
        </p:txBody>
      </p:sp>
      <p:sp>
        <p:nvSpPr>
          <p:cNvPr id="9" name="model-customers">
            <a:extLst xmlns:a="http://schemas.openxmlformats.org/drawingml/2006/main">
              <a:ext uri="{FF2B5EF4-FFF2-40B4-BE49-F238E27FC236}">
                <a16:creationId xmlns:a16="http://schemas.microsoft.com/office/drawing/2014/main" id="{73D5364F-8A10-4137-851C-9282C6EC3105}"/>
              </a:ext>
            </a:extLst>
          </p:cNvPr>
          <p:cNvSpPr>
            <a:spLocks xmlns:a="http://schemas.openxmlformats.org/drawingml/2006/main" noGrp="1"/>
          </p:cNvSpPr>
          <p:nvPr/>
        </p:nvSpPr>
        <p:spPr>
          <a:xfrm xmlns:a="http://schemas.openxmlformats.org/drawingml/2006/main">
            <a:off x="571500" y="4619625"/>
            <a:ext cx="1857375" cy="590550"/>
          </a:xfrm>
          <a:prstGeom xmlns:a="http://schemas.openxmlformats.org/drawingml/2006/main" prst="rect">
            <a:avLst/>
          </a:prstGeom>
          <a:solidFill xmlns:a="http://schemas.openxmlformats.org/drawingml/2006/main">
            <a:srgbClr val="0B1728"/>
          </a:solidFill>
          <a:ln xmlns:a="http://schemas.openxmlformats.org/drawingml/2006/main" w="14288">
            <a:solidFill>
              <a:srgbClr val="24354A"/>
            </a:solidFill>
          </a:ln>
        </p:spPr>
        <p:txBody>
          <a:bodyPr xmlns:a="http://schemas.openxmlformats.org/drawingml/2006/main" lIns="114300" tIns="114300" rIns="114300" bIns="114300"/>
          <a:lstStyle xmlns:a="http://schemas.openxmlformats.org/drawingml/2006/main">
            <a:lvl1pPr>
              <a:buNone/>
              <a:defRPr sz="1875" b="1">
                <a:solidFill>
                  <a:srgbClr val="F2F6FF"/>
                </a:solidFill>
                <a:latin typeface="Arial"/>
                <a:ea typeface="Arial"/>
                <a:cs typeface="Arial"/>
              </a:defRPr>
            </a:lvl1pPr>
            <a:lvl2pPr>
              <a:buNone/>
              <a:defRPr sz="1875" b="1">
                <a:solidFill>
                  <a:srgbClr val="F2F6FF"/>
                </a:solidFill>
                <a:latin typeface="Arial"/>
                <a:ea typeface="Arial"/>
                <a:cs typeface="Arial"/>
              </a:defRPr>
            </a:lvl2pPr>
            <a:lvl3pPr>
              <a:buNone/>
              <a:defRPr sz="1875" b="1">
                <a:solidFill>
                  <a:srgbClr val="F2F6FF"/>
                </a:solidFill>
                <a:latin typeface="Arial"/>
                <a:ea typeface="Arial"/>
                <a:cs typeface="Arial"/>
              </a:defRPr>
            </a:lvl3pPr>
            <a:lvl4pPr>
              <a:buNone/>
              <a:defRPr sz="1875" b="1">
                <a:solidFill>
                  <a:srgbClr val="F2F6FF"/>
                </a:solidFill>
                <a:latin typeface="Arial"/>
                <a:ea typeface="Arial"/>
                <a:cs typeface="Arial"/>
              </a:defRPr>
            </a:lvl4pPr>
            <a:lvl5pPr>
              <a:buNone/>
              <a:defRPr sz="1875" b="1">
                <a:solidFill>
                  <a:srgbClr val="F2F6FF"/>
                </a:solidFill>
                <a:latin typeface="Arial"/>
                <a:ea typeface="Arial"/>
                <a:cs typeface="Arial"/>
              </a:defRPr>
            </a:lvl5pPr>
            <a:lvl6pPr>
              <a:buNone/>
              <a:defRPr sz="1875" b="1">
                <a:solidFill>
                  <a:srgbClr val="F2F6FF"/>
                </a:solidFill>
                <a:latin typeface="Arial"/>
                <a:ea typeface="Arial"/>
                <a:cs typeface="Arial"/>
              </a:defRPr>
            </a:lvl6pPr>
            <a:lvl7pPr>
              <a:buNone/>
              <a:defRPr sz="1875" b="1">
                <a:solidFill>
                  <a:srgbClr val="F2F6FF"/>
                </a:solidFill>
                <a:latin typeface="Arial"/>
                <a:ea typeface="Arial"/>
                <a:cs typeface="Arial"/>
              </a:defRPr>
            </a:lvl7pPr>
            <a:lvl8pPr>
              <a:buNone/>
              <a:defRPr sz="1875" b="1">
                <a:solidFill>
                  <a:srgbClr val="F2F6FF"/>
                </a:solidFill>
                <a:latin typeface="Arial"/>
                <a:ea typeface="Arial"/>
                <a:cs typeface="Arial"/>
              </a:defRPr>
            </a:lvl8pPr>
            <a:lvl9pPr>
              <a:buNone/>
              <a:defRPr sz="1875" b="1">
                <a:solidFill>
                  <a:srgbClr val="F2F6FF"/>
                </a:solidFill>
                <a:latin typeface="Arial"/>
                <a:ea typeface="Arial"/>
                <a:cs typeface="Arial"/>
              </a:defRPr>
            </a:lvl9pPr>
          </a:lstStyle>
          <a:p xmlns:a="http://schemas.openxmlformats.org/drawingml/2006/main">
            <a:pPr>
              <a:buNone/>
              <a:defRPr sz="1875" b="1">
                <a:solidFill>
                  <a:srgbClr val="F2F6FF"/>
                </a:solidFill>
                <a:latin typeface="Arial"/>
                <a:ea typeface="Arial"/>
                <a:cs typeface="Arial"/>
              </a:defRPr>
            </a:pPr>
            <a:r>
              <a:rPr sz="1875" b="1">
                <a:solidFill>
                  <a:srgbClr val="F2F6FF"/>
                </a:solidFill>
                <a:latin typeface="Arial"/>
                <a:ea typeface="Arial"/>
                <a:cs typeface="Arial"/>
              </a:rPr>
              <a:t>customers</a:t>
            </a:r>
          </a:p>
        </p:txBody>
      </p:sp>
      <p:sp>
        <p:nvSpPr>
          <p:cNvPr id="10" name="model-routes">
            <a:extLst xmlns:a="http://schemas.openxmlformats.org/drawingml/2006/main">
              <a:ext uri="{FF2B5EF4-FFF2-40B4-BE49-F238E27FC236}">
                <a16:creationId xmlns:a16="http://schemas.microsoft.com/office/drawing/2014/main" id="{04F16114-838B-47EB-8F7D-22676403A189}"/>
              </a:ext>
            </a:extLst>
          </p:cNvPr>
          <p:cNvSpPr>
            <a:spLocks xmlns:a="http://schemas.openxmlformats.org/drawingml/2006/main" noGrp="1"/>
          </p:cNvSpPr>
          <p:nvPr/>
        </p:nvSpPr>
        <p:spPr>
          <a:xfrm xmlns:a="http://schemas.openxmlformats.org/drawingml/2006/main">
            <a:off x="6000750" y="4619625"/>
            <a:ext cx="1762125" cy="590550"/>
          </a:xfrm>
          <a:prstGeom xmlns:a="http://schemas.openxmlformats.org/drawingml/2006/main" prst="rect">
            <a:avLst/>
          </a:prstGeom>
          <a:solidFill xmlns:a="http://schemas.openxmlformats.org/drawingml/2006/main">
            <a:srgbClr val="0B1728"/>
          </a:solidFill>
          <a:ln xmlns:a="http://schemas.openxmlformats.org/drawingml/2006/main" w="14288">
            <a:solidFill>
              <a:srgbClr val="24354A"/>
            </a:solidFill>
          </a:ln>
        </p:spPr>
        <p:txBody>
          <a:bodyPr xmlns:a="http://schemas.openxmlformats.org/drawingml/2006/main" lIns="114300" tIns="114300" rIns="114300" bIns="114300"/>
          <a:lstStyle xmlns:a="http://schemas.openxmlformats.org/drawingml/2006/main">
            <a:lvl1pPr>
              <a:buNone/>
              <a:defRPr sz="1875" b="1">
                <a:solidFill>
                  <a:srgbClr val="F2F6FF"/>
                </a:solidFill>
                <a:latin typeface="Arial"/>
                <a:ea typeface="Arial"/>
                <a:cs typeface="Arial"/>
              </a:defRPr>
            </a:lvl1pPr>
            <a:lvl2pPr>
              <a:buNone/>
              <a:defRPr sz="1875" b="1">
                <a:solidFill>
                  <a:srgbClr val="F2F6FF"/>
                </a:solidFill>
                <a:latin typeface="Arial"/>
                <a:ea typeface="Arial"/>
                <a:cs typeface="Arial"/>
              </a:defRPr>
            </a:lvl2pPr>
            <a:lvl3pPr>
              <a:buNone/>
              <a:defRPr sz="1875" b="1">
                <a:solidFill>
                  <a:srgbClr val="F2F6FF"/>
                </a:solidFill>
                <a:latin typeface="Arial"/>
                <a:ea typeface="Arial"/>
                <a:cs typeface="Arial"/>
              </a:defRPr>
            </a:lvl3pPr>
            <a:lvl4pPr>
              <a:buNone/>
              <a:defRPr sz="1875" b="1">
                <a:solidFill>
                  <a:srgbClr val="F2F6FF"/>
                </a:solidFill>
                <a:latin typeface="Arial"/>
                <a:ea typeface="Arial"/>
                <a:cs typeface="Arial"/>
              </a:defRPr>
            </a:lvl4pPr>
            <a:lvl5pPr>
              <a:buNone/>
              <a:defRPr sz="1875" b="1">
                <a:solidFill>
                  <a:srgbClr val="F2F6FF"/>
                </a:solidFill>
                <a:latin typeface="Arial"/>
                <a:ea typeface="Arial"/>
                <a:cs typeface="Arial"/>
              </a:defRPr>
            </a:lvl5pPr>
            <a:lvl6pPr>
              <a:buNone/>
              <a:defRPr sz="1875" b="1">
                <a:solidFill>
                  <a:srgbClr val="F2F6FF"/>
                </a:solidFill>
                <a:latin typeface="Arial"/>
                <a:ea typeface="Arial"/>
                <a:cs typeface="Arial"/>
              </a:defRPr>
            </a:lvl6pPr>
            <a:lvl7pPr>
              <a:buNone/>
              <a:defRPr sz="1875" b="1">
                <a:solidFill>
                  <a:srgbClr val="F2F6FF"/>
                </a:solidFill>
                <a:latin typeface="Arial"/>
                <a:ea typeface="Arial"/>
                <a:cs typeface="Arial"/>
              </a:defRPr>
            </a:lvl7pPr>
            <a:lvl8pPr>
              <a:buNone/>
              <a:defRPr sz="1875" b="1">
                <a:solidFill>
                  <a:srgbClr val="F2F6FF"/>
                </a:solidFill>
                <a:latin typeface="Arial"/>
                <a:ea typeface="Arial"/>
                <a:cs typeface="Arial"/>
              </a:defRPr>
            </a:lvl8pPr>
            <a:lvl9pPr>
              <a:buNone/>
              <a:defRPr sz="1875" b="1">
                <a:solidFill>
                  <a:srgbClr val="F2F6FF"/>
                </a:solidFill>
                <a:latin typeface="Arial"/>
                <a:ea typeface="Arial"/>
                <a:cs typeface="Arial"/>
              </a:defRPr>
            </a:lvl9pPr>
          </a:lstStyle>
          <a:p xmlns:a="http://schemas.openxmlformats.org/drawingml/2006/main">
            <a:pPr>
              <a:buNone/>
              <a:defRPr sz="1875" b="1">
                <a:solidFill>
                  <a:srgbClr val="F2F6FF"/>
                </a:solidFill>
                <a:latin typeface="Arial"/>
                <a:ea typeface="Arial"/>
                <a:cs typeface="Arial"/>
              </a:defRPr>
            </a:pPr>
            <a:r>
              <a:rPr sz="1875" b="1">
                <a:solidFill>
                  <a:srgbClr val="F2F6FF"/>
                </a:solidFill>
                <a:latin typeface="Arial"/>
                <a:ea typeface="Arial"/>
                <a:cs typeface="Arial"/>
              </a:rPr>
              <a:t>routes</a:t>
            </a:r>
          </a:p>
        </p:txBody>
      </p:sp>
      <p:sp>
        <p:nvSpPr>
          <p:cNvPr id="17" name="integration-45">
            <a:extLst xmlns:a="http://schemas.openxmlformats.org/drawingml/2006/main">
              <a:ext uri="{FF2B5EF4-FFF2-40B4-BE49-F238E27FC236}">
                <a16:creationId xmlns:a16="http://schemas.microsoft.com/office/drawing/2014/main" id="{A907D25E-3A3B-4164-A618-2472C5AD42C4}"/>
              </a:ext>
            </a:extLst>
          </p:cNvPr>
          <p:cNvSpPr>
            <a:spLocks xmlns:a="http://schemas.openxmlformats.org/drawingml/2006/main" noGrp="1"/>
          </p:cNvSpPr>
          <p:nvPr/>
        </p:nvSpPr>
        <p:spPr>
          <a:xfrm xmlns:a="http://schemas.openxmlformats.org/drawingml/2006/main">
            <a:off x="571500" y="5429250"/>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A8BDD4"/>
                </a:solidFill>
                <a:latin typeface="Arial"/>
                <a:ea typeface="Arial"/>
                <a:cs typeface="Arial"/>
              </a:defRPr>
            </a:lvl1pPr>
            <a:lvl2pPr>
              <a:buNone/>
              <a:defRPr sz="1275" b="1">
                <a:solidFill>
                  <a:srgbClr val="A8BDD4"/>
                </a:solidFill>
                <a:latin typeface="Arial"/>
                <a:ea typeface="Arial"/>
                <a:cs typeface="Arial"/>
              </a:defRPr>
            </a:lvl2pPr>
            <a:lvl3pPr>
              <a:buNone/>
              <a:defRPr sz="1275" b="1">
                <a:solidFill>
                  <a:srgbClr val="A8BDD4"/>
                </a:solidFill>
                <a:latin typeface="Arial"/>
                <a:ea typeface="Arial"/>
                <a:cs typeface="Arial"/>
              </a:defRPr>
            </a:lvl3pPr>
            <a:lvl4pPr>
              <a:buNone/>
              <a:defRPr sz="1275" b="1">
                <a:solidFill>
                  <a:srgbClr val="A8BDD4"/>
                </a:solidFill>
                <a:latin typeface="Arial"/>
                <a:ea typeface="Arial"/>
                <a:cs typeface="Arial"/>
              </a:defRPr>
            </a:lvl4pPr>
            <a:lvl5pPr>
              <a:buNone/>
              <a:defRPr sz="1275" b="1">
                <a:solidFill>
                  <a:srgbClr val="A8BDD4"/>
                </a:solidFill>
                <a:latin typeface="Arial"/>
                <a:ea typeface="Arial"/>
                <a:cs typeface="Arial"/>
              </a:defRPr>
            </a:lvl5pPr>
            <a:lvl6pPr>
              <a:buNone/>
              <a:defRPr sz="1275" b="1">
                <a:solidFill>
                  <a:srgbClr val="A8BDD4"/>
                </a:solidFill>
                <a:latin typeface="Arial"/>
                <a:ea typeface="Arial"/>
                <a:cs typeface="Arial"/>
              </a:defRPr>
            </a:lvl6pPr>
            <a:lvl7pPr>
              <a:buNone/>
              <a:defRPr sz="1275" b="1">
                <a:solidFill>
                  <a:srgbClr val="A8BDD4"/>
                </a:solidFill>
                <a:latin typeface="Arial"/>
                <a:ea typeface="Arial"/>
                <a:cs typeface="Arial"/>
              </a:defRPr>
            </a:lvl7pPr>
            <a:lvl8pPr>
              <a:buNone/>
              <a:defRPr sz="1275" b="1">
                <a:solidFill>
                  <a:srgbClr val="A8BDD4"/>
                </a:solidFill>
                <a:latin typeface="Arial"/>
                <a:ea typeface="Arial"/>
                <a:cs typeface="Arial"/>
              </a:defRPr>
            </a:lvl8pPr>
            <a:lvl9pPr>
              <a:buNone/>
              <a:defRPr sz="1275" b="1">
                <a:solidFill>
                  <a:srgbClr val="A8BDD4"/>
                </a:solidFill>
                <a:latin typeface="Arial"/>
                <a:ea typeface="Arial"/>
                <a:cs typeface="Arial"/>
              </a:defRPr>
            </a:lvl9pPr>
          </a:lstStyle>
          <a:p xmlns:a="http://schemas.openxmlformats.org/drawingml/2006/main">
            <a:pPr>
              <a:buNone/>
              <a:defRPr sz="1275" b="1">
                <a:solidFill>
                  <a:srgbClr val="A8BDD4"/>
                </a:solidFill>
                <a:latin typeface="Arial"/>
                <a:ea typeface="Arial"/>
                <a:cs typeface="Arial"/>
              </a:defRPr>
            </a:pPr>
            <a:r>
              <a:rPr sz="1275" b="1">
                <a:solidFill>
                  <a:srgbClr val="A8BDD4"/>
                </a:solidFill>
                <a:latin typeface="Arial"/>
                <a:ea typeface="Arial"/>
                <a:cs typeface="Arial"/>
              </a:rPr>
              <a:t>SIMPLIFIED CORE PATHS</a:t>
            </a:r>
          </a:p>
        </p:txBody>
      </p:sp>
      <p:sp>
        <p:nvSpPr>
          <p:cNvPr id="18" name="integration-46">
            <a:extLst xmlns:a="http://schemas.openxmlformats.org/drawingml/2006/main">
              <a:ext uri="{FF2B5EF4-FFF2-40B4-BE49-F238E27FC236}">
                <a16:creationId xmlns:a16="http://schemas.microsoft.com/office/drawing/2014/main" id="{32734369-CCDB-4595-A16D-E225817BF1FF}"/>
              </a:ext>
            </a:extLst>
          </p:cNvPr>
          <p:cNvSpPr>
            <a:spLocks xmlns:a="http://schemas.openxmlformats.org/drawingml/2006/main" noGrp="1"/>
          </p:cNvSpPr>
          <p:nvPr/>
        </p:nvSpPr>
        <p:spPr>
          <a:xfrm xmlns:a="http://schemas.openxmlformats.org/drawingml/2006/main">
            <a:off x="8191500" y="2209800"/>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700" b="1">
                <a:solidFill>
                  <a:srgbClr val="F2F6FF"/>
                </a:solidFill>
                <a:latin typeface="Arial"/>
                <a:ea typeface="Arial"/>
                <a:cs typeface="Arial"/>
              </a:defRPr>
            </a:lvl1pPr>
            <a:lvl2pPr>
              <a:buNone/>
              <a:defRPr sz="2700" b="1">
                <a:solidFill>
                  <a:srgbClr val="F2F6FF"/>
                </a:solidFill>
                <a:latin typeface="Arial"/>
                <a:ea typeface="Arial"/>
                <a:cs typeface="Arial"/>
              </a:defRPr>
            </a:lvl2pPr>
            <a:lvl3pPr>
              <a:buNone/>
              <a:defRPr sz="2700" b="1">
                <a:solidFill>
                  <a:srgbClr val="F2F6FF"/>
                </a:solidFill>
                <a:latin typeface="Arial"/>
                <a:ea typeface="Arial"/>
                <a:cs typeface="Arial"/>
              </a:defRPr>
            </a:lvl3pPr>
            <a:lvl4pPr>
              <a:buNone/>
              <a:defRPr sz="2700" b="1">
                <a:solidFill>
                  <a:srgbClr val="F2F6FF"/>
                </a:solidFill>
                <a:latin typeface="Arial"/>
                <a:ea typeface="Arial"/>
                <a:cs typeface="Arial"/>
              </a:defRPr>
            </a:lvl4pPr>
            <a:lvl5pPr>
              <a:buNone/>
              <a:defRPr sz="2700" b="1">
                <a:solidFill>
                  <a:srgbClr val="F2F6FF"/>
                </a:solidFill>
                <a:latin typeface="Arial"/>
                <a:ea typeface="Arial"/>
                <a:cs typeface="Arial"/>
              </a:defRPr>
            </a:lvl5pPr>
            <a:lvl6pPr>
              <a:buNone/>
              <a:defRPr sz="2700" b="1">
                <a:solidFill>
                  <a:srgbClr val="F2F6FF"/>
                </a:solidFill>
                <a:latin typeface="Arial"/>
                <a:ea typeface="Arial"/>
                <a:cs typeface="Arial"/>
              </a:defRPr>
            </a:lvl6pPr>
            <a:lvl7pPr>
              <a:buNone/>
              <a:defRPr sz="2700" b="1">
                <a:solidFill>
                  <a:srgbClr val="F2F6FF"/>
                </a:solidFill>
                <a:latin typeface="Arial"/>
                <a:ea typeface="Arial"/>
                <a:cs typeface="Arial"/>
              </a:defRPr>
            </a:lvl7pPr>
            <a:lvl8pPr>
              <a:buNone/>
              <a:defRPr sz="2700" b="1">
                <a:solidFill>
                  <a:srgbClr val="F2F6FF"/>
                </a:solidFill>
                <a:latin typeface="Arial"/>
                <a:ea typeface="Arial"/>
                <a:cs typeface="Arial"/>
              </a:defRPr>
            </a:lvl8pPr>
            <a:lvl9pPr>
              <a:buNone/>
              <a:defRPr sz="2700" b="1">
                <a:solidFill>
                  <a:srgbClr val="F2F6FF"/>
                </a:solidFill>
                <a:latin typeface="Arial"/>
                <a:ea typeface="Arial"/>
                <a:cs typeface="Arial"/>
              </a:defRPr>
            </a:lvl9pPr>
          </a:lstStyle>
          <a:p xmlns:a="http://schemas.openxmlformats.org/drawingml/2006/main">
            <a:pPr>
              <a:buNone/>
              <a:defRPr sz="2700" b="1">
                <a:solidFill>
                  <a:srgbClr val="F2F6FF"/>
                </a:solidFill>
                <a:latin typeface="Arial"/>
                <a:ea typeface="Arial"/>
                <a:cs typeface="Arial"/>
              </a:defRPr>
            </a:pPr>
            <a:r>
              <a:rPr sz="2700" b="1">
                <a:solidFill>
                  <a:srgbClr val="F2F6FF"/>
                </a:solidFill>
                <a:latin typeface="Arial"/>
                <a:ea typeface="Arial"/>
                <a:cs typeface="Arial"/>
              </a:rPr>
              <a:t>16 relationships</a:t>
            </a:r>
          </a:p>
        </p:txBody>
      </p:sp>
      <p:sp>
        <p:nvSpPr>
          <p:cNvPr id="19" name="integration-47">
            <a:extLst xmlns:a="http://schemas.openxmlformats.org/drawingml/2006/main">
              <a:ext uri="{FF2B5EF4-FFF2-40B4-BE49-F238E27FC236}">
                <a16:creationId xmlns:a16="http://schemas.microsoft.com/office/drawing/2014/main" id="{4921640D-2E32-4BD7-AC9F-B15142853674}"/>
              </a:ext>
            </a:extLst>
          </p:cNvPr>
          <p:cNvSpPr>
            <a:spLocks xmlns:a="http://schemas.openxmlformats.org/drawingml/2006/main" noGrp="1"/>
          </p:cNvSpPr>
          <p:nvPr/>
        </p:nvSpPr>
        <p:spPr>
          <a:xfrm xmlns:a="http://schemas.openxmlformats.org/drawingml/2006/main">
            <a:off x="8191500" y="28289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3DDCF5"/>
                </a:solidFill>
                <a:latin typeface="Arial"/>
                <a:ea typeface="Arial"/>
                <a:cs typeface="Arial"/>
              </a:defRPr>
            </a:lvl1pPr>
            <a:lvl2pPr>
              <a:buNone/>
              <a:defRPr sz="1875" b="0">
                <a:solidFill>
                  <a:srgbClr val="3DDCF5"/>
                </a:solidFill>
                <a:latin typeface="Arial"/>
                <a:ea typeface="Arial"/>
                <a:cs typeface="Arial"/>
              </a:defRPr>
            </a:lvl2pPr>
            <a:lvl3pPr>
              <a:buNone/>
              <a:defRPr sz="1875" b="0">
                <a:solidFill>
                  <a:srgbClr val="3DDCF5"/>
                </a:solidFill>
                <a:latin typeface="Arial"/>
                <a:ea typeface="Arial"/>
                <a:cs typeface="Arial"/>
              </a:defRPr>
            </a:lvl3pPr>
            <a:lvl4pPr>
              <a:buNone/>
              <a:defRPr sz="1875" b="0">
                <a:solidFill>
                  <a:srgbClr val="3DDCF5"/>
                </a:solidFill>
                <a:latin typeface="Arial"/>
                <a:ea typeface="Arial"/>
                <a:cs typeface="Arial"/>
              </a:defRPr>
            </a:lvl4pPr>
            <a:lvl5pPr>
              <a:buNone/>
              <a:defRPr sz="1875" b="0">
                <a:solidFill>
                  <a:srgbClr val="3DDCF5"/>
                </a:solidFill>
                <a:latin typeface="Arial"/>
                <a:ea typeface="Arial"/>
                <a:cs typeface="Arial"/>
              </a:defRPr>
            </a:lvl5pPr>
            <a:lvl6pPr>
              <a:buNone/>
              <a:defRPr sz="1875" b="0">
                <a:solidFill>
                  <a:srgbClr val="3DDCF5"/>
                </a:solidFill>
                <a:latin typeface="Arial"/>
                <a:ea typeface="Arial"/>
                <a:cs typeface="Arial"/>
              </a:defRPr>
            </a:lvl6pPr>
            <a:lvl7pPr>
              <a:buNone/>
              <a:defRPr sz="1875" b="0">
                <a:solidFill>
                  <a:srgbClr val="3DDCF5"/>
                </a:solidFill>
                <a:latin typeface="Arial"/>
                <a:ea typeface="Arial"/>
                <a:cs typeface="Arial"/>
              </a:defRPr>
            </a:lvl7pPr>
            <a:lvl8pPr>
              <a:buNone/>
              <a:defRPr sz="1875" b="0">
                <a:solidFill>
                  <a:srgbClr val="3DDCF5"/>
                </a:solidFill>
                <a:latin typeface="Arial"/>
                <a:ea typeface="Arial"/>
                <a:cs typeface="Arial"/>
              </a:defRPr>
            </a:lvl8pPr>
            <a:lvl9pPr>
              <a:buNone/>
              <a:defRPr sz="1875" b="0">
                <a:solidFill>
                  <a:srgbClr val="3DDCF5"/>
                </a:solidFill>
                <a:latin typeface="Arial"/>
                <a:ea typeface="Arial"/>
                <a:cs typeface="Arial"/>
              </a:defRPr>
            </a:lvl9pPr>
          </a:lstStyle>
          <a:p xmlns:a="http://schemas.openxmlformats.org/drawingml/2006/main">
            <a:pPr>
              <a:buNone/>
              <a:defRPr sz="1875" b="0">
                <a:solidFill>
                  <a:srgbClr val="3DDCF5"/>
                </a:solidFill>
                <a:latin typeface="Arial"/>
                <a:ea typeface="Arial"/>
                <a:cs typeface="Arial"/>
              </a:defRPr>
            </a:pPr>
            <a:r>
              <a:rPr sz="1875" b="0">
                <a:solidFill>
                  <a:srgbClr val="3DDCF5"/>
                </a:solidFill>
                <a:latin typeface="Arial"/>
                <a:ea typeface="Arial"/>
                <a:cs typeface="Arial"/>
              </a:rPr>
              <a:t>14 active, 2 inactive</a:t>
            </a:r>
          </a:p>
        </p:txBody>
      </p:sp>
      <p:sp>
        <p:nvSpPr>
          <p:cNvPr id="20" name="integration-48">
            <a:extLst xmlns:a="http://schemas.openxmlformats.org/drawingml/2006/main">
              <a:ext uri="{FF2B5EF4-FFF2-40B4-BE49-F238E27FC236}">
                <a16:creationId xmlns:a16="http://schemas.microsoft.com/office/drawing/2014/main" id="{64EDE3F3-8546-4C25-9600-6B2F1EDB556C}"/>
              </a:ext>
            </a:extLst>
          </p:cNvPr>
          <p:cNvSpPr>
            <a:spLocks xmlns:a="http://schemas.openxmlformats.org/drawingml/2006/main" noGrp="1"/>
          </p:cNvSpPr>
          <p:nvPr/>
        </p:nvSpPr>
        <p:spPr>
          <a:xfrm xmlns:a="http://schemas.openxmlformats.org/drawingml/2006/main">
            <a:off x="8191500" y="3562350"/>
            <a:ext cx="333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A8BDD4"/>
                </a:solidFill>
                <a:latin typeface="Arial"/>
                <a:ea typeface="Arial"/>
                <a:cs typeface="Arial"/>
              </a:defRPr>
            </a:lvl1pPr>
            <a:lvl2pPr>
              <a:buNone/>
              <a:defRPr sz="1875" b="0">
                <a:solidFill>
                  <a:srgbClr val="A8BDD4"/>
                </a:solidFill>
                <a:latin typeface="Arial"/>
                <a:ea typeface="Arial"/>
                <a:cs typeface="Arial"/>
              </a:defRPr>
            </a:lvl2pPr>
            <a:lvl3pPr>
              <a:buNone/>
              <a:defRPr sz="1875" b="0">
                <a:solidFill>
                  <a:srgbClr val="A8BDD4"/>
                </a:solidFill>
                <a:latin typeface="Arial"/>
                <a:ea typeface="Arial"/>
                <a:cs typeface="Arial"/>
              </a:defRPr>
            </a:lvl3pPr>
            <a:lvl4pPr>
              <a:buNone/>
              <a:defRPr sz="1875" b="0">
                <a:solidFill>
                  <a:srgbClr val="A8BDD4"/>
                </a:solidFill>
                <a:latin typeface="Arial"/>
                <a:ea typeface="Arial"/>
                <a:cs typeface="Arial"/>
              </a:defRPr>
            </a:lvl4pPr>
            <a:lvl5pPr>
              <a:buNone/>
              <a:defRPr sz="1875" b="0">
                <a:solidFill>
                  <a:srgbClr val="A8BDD4"/>
                </a:solidFill>
                <a:latin typeface="Arial"/>
                <a:ea typeface="Arial"/>
                <a:cs typeface="Arial"/>
              </a:defRPr>
            </a:lvl5pPr>
            <a:lvl6pPr>
              <a:buNone/>
              <a:defRPr sz="1875" b="0">
                <a:solidFill>
                  <a:srgbClr val="A8BDD4"/>
                </a:solidFill>
                <a:latin typeface="Arial"/>
                <a:ea typeface="Arial"/>
                <a:cs typeface="Arial"/>
              </a:defRPr>
            </a:lvl6pPr>
            <a:lvl7pPr>
              <a:buNone/>
              <a:defRPr sz="1875" b="0">
                <a:solidFill>
                  <a:srgbClr val="A8BDD4"/>
                </a:solidFill>
                <a:latin typeface="Arial"/>
                <a:ea typeface="Arial"/>
                <a:cs typeface="Arial"/>
              </a:defRPr>
            </a:lvl7pPr>
            <a:lvl8pPr>
              <a:buNone/>
              <a:defRPr sz="1875" b="0">
                <a:solidFill>
                  <a:srgbClr val="A8BDD4"/>
                </a:solidFill>
                <a:latin typeface="Arial"/>
                <a:ea typeface="Arial"/>
                <a:cs typeface="Arial"/>
              </a:defRPr>
            </a:lvl8pPr>
            <a:lvl9pPr>
              <a:buNone/>
              <a:defRPr sz="1875" b="0">
                <a:solidFill>
                  <a:srgbClr val="A8BDD4"/>
                </a:solidFill>
                <a:latin typeface="Arial"/>
                <a:ea typeface="Arial"/>
                <a:cs typeface="Arial"/>
              </a:defRPr>
            </a:lvl9pPr>
          </a:lstStyle>
          <a:p xmlns:a="http://schemas.openxmlformats.org/drawingml/2006/main">
            <a:pPr>
              <a:buNone/>
              <a:defRPr sz="1875" b="0">
                <a:solidFill>
                  <a:srgbClr val="A8BDD4"/>
                </a:solidFill>
                <a:latin typeface="Arial"/>
                <a:ea typeface="Arial"/>
                <a:cs typeface="Arial"/>
              </a:defRPr>
            </a:pPr>
            <a:r>
              <a:rPr sz="1875" b="0">
                <a:solidFill>
                  <a:srgbClr val="A8BDD4"/>
                </a:solidFill>
                <a:latin typeface="Arial"/>
                <a:ea typeface="Arial"/>
                <a:cs typeface="Arial"/>
              </a:rPr>
              <a:t>Other facts cover delivery events, fuel, maintenance, safety and monthly metrics.</a:t>
            </a:r>
          </a:p>
        </p:txBody>
      </p:sp>
      <p:sp>
        <p:nvSpPr>
          <p:cNvPr id="21" name="integration-49">
            <a:extLst xmlns:a="http://schemas.openxmlformats.org/drawingml/2006/main">
              <a:ext uri="{FF2B5EF4-FFF2-40B4-BE49-F238E27FC236}">
                <a16:creationId xmlns:a16="http://schemas.microsoft.com/office/drawing/2014/main" id="{F05D9D03-C60C-4246-A20D-C090A3897943}"/>
              </a:ext>
            </a:extLst>
          </p:cNvPr>
          <p:cNvSpPr>
            <a:spLocks xmlns:a="http://schemas.openxmlformats.org/drawingml/2006/main" noGrp="1"/>
          </p:cNvSpPr>
          <p:nvPr/>
        </p:nvSpPr>
        <p:spPr>
          <a:xfrm xmlns:a="http://schemas.openxmlformats.org/drawingml/2006/main">
            <a:off x="8191500" y="4943475"/>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00" b="1">
                <a:solidFill>
                  <a:srgbClr val="F2F6FF"/>
                </a:solidFill>
                <a:latin typeface="Arial"/>
                <a:ea typeface="Arial"/>
                <a:cs typeface="Arial"/>
              </a:defRPr>
            </a:lvl1pPr>
            <a:lvl2pPr>
              <a:buNone/>
              <a:defRPr sz="1800" b="1">
                <a:solidFill>
                  <a:srgbClr val="F2F6FF"/>
                </a:solidFill>
                <a:latin typeface="Arial"/>
                <a:ea typeface="Arial"/>
                <a:cs typeface="Arial"/>
              </a:defRPr>
            </a:lvl2pPr>
            <a:lvl3pPr>
              <a:buNone/>
              <a:defRPr sz="1800" b="1">
                <a:solidFill>
                  <a:srgbClr val="F2F6FF"/>
                </a:solidFill>
                <a:latin typeface="Arial"/>
                <a:ea typeface="Arial"/>
                <a:cs typeface="Arial"/>
              </a:defRPr>
            </a:lvl3pPr>
            <a:lvl4pPr>
              <a:buNone/>
              <a:defRPr sz="1800" b="1">
                <a:solidFill>
                  <a:srgbClr val="F2F6FF"/>
                </a:solidFill>
                <a:latin typeface="Arial"/>
                <a:ea typeface="Arial"/>
                <a:cs typeface="Arial"/>
              </a:defRPr>
            </a:lvl4pPr>
            <a:lvl5pPr>
              <a:buNone/>
              <a:defRPr sz="1800" b="1">
                <a:solidFill>
                  <a:srgbClr val="F2F6FF"/>
                </a:solidFill>
                <a:latin typeface="Arial"/>
                <a:ea typeface="Arial"/>
                <a:cs typeface="Arial"/>
              </a:defRPr>
            </a:lvl5pPr>
            <a:lvl6pPr>
              <a:buNone/>
              <a:defRPr sz="1800" b="1">
                <a:solidFill>
                  <a:srgbClr val="F2F6FF"/>
                </a:solidFill>
                <a:latin typeface="Arial"/>
                <a:ea typeface="Arial"/>
                <a:cs typeface="Arial"/>
              </a:defRPr>
            </a:lvl6pPr>
            <a:lvl7pPr>
              <a:buNone/>
              <a:defRPr sz="1800" b="1">
                <a:solidFill>
                  <a:srgbClr val="F2F6FF"/>
                </a:solidFill>
                <a:latin typeface="Arial"/>
                <a:ea typeface="Arial"/>
                <a:cs typeface="Arial"/>
              </a:defRPr>
            </a:lvl7pPr>
            <a:lvl8pPr>
              <a:buNone/>
              <a:defRPr sz="1800" b="1">
                <a:solidFill>
                  <a:srgbClr val="F2F6FF"/>
                </a:solidFill>
                <a:latin typeface="Arial"/>
                <a:ea typeface="Arial"/>
                <a:cs typeface="Arial"/>
              </a:defRPr>
            </a:lvl8pPr>
            <a:lvl9pPr>
              <a:buNone/>
              <a:defRPr sz="1800" b="1">
                <a:solidFill>
                  <a:srgbClr val="F2F6FF"/>
                </a:solidFill>
                <a:latin typeface="Arial"/>
                <a:ea typeface="Arial"/>
                <a:cs typeface="Arial"/>
              </a:defRPr>
            </a:lvl9pPr>
          </a:lstStyle>
          <a:p xmlns:a="http://schemas.openxmlformats.org/drawingml/2006/main">
            <a:pPr>
              <a:buNone/>
              <a:defRPr sz="1800" b="1">
                <a:solidFill>
                  <a:srgbClr val="F2F6FF"/>
                </a:solidFill>
                <a:latin typeface="Arial"/>
                <a:ea typeface="Arial"/>
                <a:cs typeface="Arial"/>
              </a:defRPr>
            </a:pPr>
            <a:r>
              <a:rPr sz="1800" b="1">
                <a:solidFill>
                  <a:srgbClr val="F2F6FF"/>
                </a:solidFill>
                <a:latin typeface="Arial"/>
                <a:ea typeface="Arial"/>
                <a:cs typeface="Arial"/>
              </a:rPr>
              <a:t>Calendar remains disconnected in the saved model.</a:t>
            </a:r>
          </a:p>
        </p:txBody>
      </p:sp>
      <p:sp>
        <p:nvSpPr>
          <p:cNvPr id="22" name="integration-125">
            <a:extLst xmlns:a="http://schemas.openxmlformats.org/drawingml/2006/main">
              <a:ext uri="{FF2B5EF4-FFF2-40B4-BE49-F238E27FC236}">
                <a16:creationId xmlns:a16="http://schemas.microsoft.com/office/drawing/2014/main" id="{C70BA911-347F-4FF2-A562-79B7CAF5384A}"/>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07</a:t>
            </a:r>
          </a:p>
        </p:txBody>
      </p:sp>
    </p:spTree>
    <p:extLst>
      <p:ext uri="{BB962C8B-B14F-4D97-AF65-F5344CB8AC3E}">
        <p14:creationId xmlns:p14="http://schemas.microsoft.com/office/powerpoint/2010/main" val="1739912558"/>
      </p:ext>
    </p:extLst>
  </p:cSld>
</p:sld>
</file>

<file path=ppt/slides/slide8.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43D4AA4-4BF9-42D5-8EC3-AEA65976E963}"/>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187 MEASURES AND 2 CALCULATED COLUMNS</a:t>
            </a:r>
          </a:p>
        </p:txBody>
      </p:sp>
      <p:sp>
        <p:nvSpPr>
          <p:cNvPr id="2" name="">
            <a:extLst xmlns:a="http://schemas.openxmlformats.org/drawingml/2006/main">
              <a:ext uri="{FF2B5EF4-FFF2-40B4-BE49-F238E27FC236}">
                <a16:creationId xmlns:a16="http://schemas.microsoft.com/office/drawing/2014/main" id="{D994CAAF-E9EA-43EE-A1BC-BA29A0B2779D}"/>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KPI logic, denominators and filter context</a:t>
            </a:r>
          </a:p>
        </p:txBody>
      </p:sp>
      <p:sp>
        <p:nvSpPr>
          <p:cNvPr id="10" name="">
            <a:extLst xmlns:a="http://schemas.openxmlformats.org/drawingml/2006/main">
              <a:ext uri="{FF2B5EF4-FFF2-40B4-BE49-F238E27FC236}">
                <a16:creationId xmlns:a16="http://schemas.microsoft.com/office/drawing/2014/main" id="{234F6C31-7495-469A-9843-6F5085D2B041}"/>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08</a:t>
            </a:r>
          </a:p>
        </p:txBody>
      </p:sp>
      <p:sp>
        <p:nvSpPr>
          <p:cNvPr id="9" name="">
            <a:extLst xmlns:a="http://schemas.openxmlformats.org/drawingml/2006/main">
              <a:ext uri="{FF2B5EF4-FFF2-40B4-BE49-F238E27FC236}">
                <a16:creationId xmlns:a16="http://schemas.microsoft.com/office/drawing/2014/main" id="{6D1836D5-40FD-4561-A1C4-BF33E1397BCF}"/>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A KPI needs a clear grain, denominator, cost scope and valid filter path</a:t>
            </a:r>
          </a:p>
        </p:txBody>
      </p:sp>
      <p:sp>
        <p:nvSpPr>
          <p:cNvPr id="3" name="">
            <a:extLst xmlns:a="http://schemas.openxmlformats.org/drawingml/2006/main">
              <a:ext uri="{FF2B5EF4-FFF2-40B4-BE49-F238E27FC236}">
                <a16:creationId xmlns:a16="http://schemas.microsoft.com/office/drawing/2014/main" id="{E8D8F317-658E-40BC-B347-2FF31EE63BE0}"/>
              </a:ext>
            </a:extLst>
          </p:cNvPr>
          <p:cNvSpPr>
            <a:spLocks xmlns:a="http://schemas.openxmlformats.org/drawingml/2006/main" noGrp="1"/>
          </p:cNvSpPr>
          <p:nvPr/>
        </p:nvSpPr>
        <p:spPr>
          <a:xfrm xmlns:a="http://schemas.openxmlformats.org/drawingml/2006/main">
            <a:off x="571500" y="2181225"/>
            <a:ext cx="4191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5400" b="1">
                <a:solidFill>
                  <a:srgbClr val="074E8C"/>
                </a:solidFill>
                <a:latin typeface="Arial"/>
                <a:ea typeface="Arial"/>
                <a:cs typeface="Arial"/>
              </a:defRPr>
            </a:lvl1pPr>
            <a:lvl2pPr>
              <a:buNone/>
              <a:defRPr sz="5400" b="1">
                <a:solidFill>
                  <a:srgbClr val="074E8C"/>
                </a:solidFill>
                <a:latin typeface="Arial"/>
                <a:ea typeface="Arial"/>
                <a:cs typeface="Arial"/>
              </a:defRPr>
            </a:lvl2pPr>
            <a:lvl3pPr>
              <a:buNone/>
              <a:defRPr sz="5400" b="1">
                <a:solidFill>
                  <a:srgbClr val="074E8C"/>
                </a:solidFill>
                <a:latin typeface="Arial"/>
                <a:ea typeface="Arial"/>
                <a:cs typeface="Arial"/>
              </a:defRPr>
            </a:lvl3pPr>
            <a:lvl4pPr>
              <a:buNone/>
              <a:defRPr sz="5400" b="1">
                <a:solidFill>
                  <a:srgbClr val="074E8C"/>
                </a:solidFill>
                <a:latin typeface="Arial"/>
                <a:ea typeface="Arial"/>
                <a:cs typeface="Arial"/>
              </a:defRPr>
            </a:lvl4pPr>
            <a:lvl5pPr>
              <a:buNone/>
              <a:defRPr sz="5400" b="1">
                <a:solidFill>
                  <a:srgbClr val="074E8C"/>
                </a:solidFill>
                <a:latin typeface="Arial"/>
                <a:ea typeface="Arial"/>
                <a:cs typeface="Arial"/>
              </a:defRPr>
            </a:lvl5pPr>
            <a:lvl6pPr>
              <a:buNone/>
              <a:defRPr sz="5400" b="1">
                <a:solidFill>
                  <a:srgbClr val="074E8C"/>
                </a:solidFill>
                <a:latin typeface="Arial"/>
                <a:ea typeface="Arial"/>
                <a:cs typeface="Arial"/>
              </a:defRPr>
            </a:lvl6pPr>
            <a:lvl7pPr>
              <a:buNone/>
              <a:defRPr sz="5400" b="1">
                <a:solidFill>
                  <a:srgbClr val="074E8C"/>
                </a:solidFill>
                <a:latin typeface="Arial"/>
                <a:ea typeface="Arial"/>
                <a:cs typeface="Arial"/>
              </a:defRPr>
            </a:lvl7pPr>
            <a:lvl8pPr>
              <a:buNone/>
              <a:defRPr sz="5400" b="1">
                <a:solidFill>
                  <a:srgbClr val="074E8C"/>
                </a:solidFill>
                <a:latin typeface="Arial"/>
                <a:ea typeface="Arial"/>
                <a:cs typeface="Arial"/>
              </a:defRPr>
            </a:lvl8pPr>
            <a:lvl9pPr>
              <a:buNone/>
              <a:defRPr sz="5400" b="1">
                <a:solidFill>
                  <a:srgbClr val="074E8C"/>
                </a:solidFill>
                <a:latin typeface="Arial"/>
                <a:ea typeface="Arial"/>
                <a:cs typeface="Arial"/>
              </a:defRPr>
            </a:lvl9pPr>
          </a:lstStyle>
          <a:p xmlns:a="http://schemas.openxmlformats.org/drawingml/2006/main">
            <a:pPr>
              <a:buNone/>
              <a:defRPr sz="11250" b="1">
                <a:solidFill>
                  <a:srgbClr val="3DDCF5"/>
                </a:solidFill>
                <a:latin typeface="Arial"/>
                <a:ea typeface="Arial"/>
                <a:cs typeface="Arial"/>
              </a:defRPr>
            </a:pPr>
            <a:r>
              <a:rPr sz="11250" b="1">
                <a:solidFill>
                  <a:srgbClr val="3DDCF5"/>
                </a:solidFill>
                <a:latin typeface="Arial"/>
                <a:ea typeface="Arial"/>
                <a:cs typeface="Arial"/>
              </a:rPr>
              <a:t>187</a:t>
            </a:r>
          </a:p>
        </p:txBody>
      </p:sp>
      <p:sp>
        <p:nvSpPr>
          <p:cNvPr id="4" name="">
            <a:extLst xmlns:a="http://schemas.openxmlformats.org/drawingml/2006/main">
              <a:ext uri="{FF2B5EF4-FFF2-40B4-BE49-F238E27FC236}">
                <a16:creationId xmlns:a16="http://schemas.microsoft.com/office/drawing/2014/main" id="{362B36D3-6468-4D53-B28E-5043E5A532C0}"/>
              </a:ext>
            </a:extLst>
          </p:cNvPr>
          <p:cNvSpPr>
            <a:spLocks xmlns:a="http://schemas.openxmlformats.org/drawingml/2006/main" noGrp="1"/>
          </p:cNvSpPr>
          <p:nvPr/>
        </p:nvSpPr>
        <p:spPr>
          <a:xfrm xmlns:a="http://schemas.openxmlformats.org/drawingml/2006/main">
            <a:off x="619125" y="403860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546B7C"/>
                </a:solidFill>
                <a:latin typeface="Arial"/>
                <a:ea typeface="Arial"/>
                <a:cs typeface="Arial"/>
              </a:defRPr>
            </a:lvl1pPr>
            <a:lvl2pPr>
              <a:buNone/>
              <a:defRPr sz="1950" b="0">
                <a:solidFill>
                  <a:srgbClr val="546B7C"/>
                </a:solidFill>
                <a:latin typeface="Arial"/>
                <a:ea typeface="Arial"/>
                <a:cs typeface="Arial"/>
              </a:defRPr>
            </a:lvl2pPr>
            <a:lvl3pPr>
              <a:buNone/>
              <a:defRPr sz="1950" b="0">
                <a:solidFill>
                  <a:srgbClr val="546B7C"/>
                </a:solidFill>
                <a:latin typeface="Arial"/>
                <a:ea typeface="Arial"/>
                <a:cs typeface="Arial"/>
              </a:defRPr>
            </a:lvl3pPr>
            <a:lvl4pPr>
              <a:buNone/>
              <a:defRPr sz="1950" b="0">
                <a:solidFill>
                  <a:srgbClr val="546B7C"/>
                </a:solidFill>
                <a:latin typeface="Arial"/>
                <a:ea typeface="Arial"/>
                <a:cs typeface="Arial"/>
              </a:defRPr>
            </a:lvl4pPr>
            <a:lvl5pPr>
              <a:buNone/>
              <a:defRPr sz="1950" b="0">
                <a:solidFill>
                  <a:srgbClr val="546B7C"/>
                </a:solidFill>
                <a:latin typeface="Arial"/>
                <a:ea typeface="Arial"/>
                <a:cs typeface="Arial"/>
              </a:defRPr>
            </a:lvl5pPr>
            <a:lvl6pPr>
              <a:buNone/>
              <a:defRPr sz="1950" b="0">
                <a:solidFill>
                  <a:srgbClr val="546B7C"/>
                </a:solidFill>
                <a:latin typeface="Arial"/>
                <a:ea typeface="Arial"/>
                <a:cs typeface="Arial"/>
              </a:defRPr>
            </a:lvl6pPr>
            <a:lvl7pPr>
              <a:buNone/>
              <a:defRPr sz="1950" b="0">
                <a:solidFill>
                  <a:srgbClr val="546B7C"/>
                </a:solidFill>
                <a:latin typeface="Arial"/>
                <a:ea typeface="Arial"/>
                <a:cs typeface="Arial"/>
              </a:defRPr>
            </a:lvl7pPr>
            <a:lvl8pPr>
              <a:buNone/>
              <a:defRPr sz="1950" b="0">
                <a:solidFill>
                  <a:srgbClr val="546B7C"/>
                </a:solidFill>
                <a:latin typeface="Arial"/>
                <a:ea typeface="Arial"/>
                <a:cs typeface="Arial"/>
              </a:defRPr>
            </a:lvl8pPr>
            <a:lvl9pPr>
              <a:buNone/>
              <a:defRPr sz="1950" b="0">
                <a:solidFill>
                  <a:srgbClr val="546B7C"/>
                </a:solidFill>
                <a:latin typeface="Arial"/>
                <a:ea typeface="Arial"/>
                <a:cs typeface="Arial"/>
              </a:defRPr>
            </a:lvl9pPr>
          </a:lstStyle>
          <a:p xmlns:a="http://schemas.openxmlformats.org/drawingml/2006/main">
            <a:pPr>
              <a:buNone/>
              <a:defRPr sz="2175" b="0">
                <a:solidFill>
                  <a:srgbClr val="A8BDD4"/>
                </a:solidFill>
                <a:latin typeface="Arial"/>
                <a:ea typeface="Arial"/>
                <a:cs typeface="Arial"/>
              </a:defRPr>
            </a:pPr>
            <a:r>
              <a:rPr sz="2175" b="0">
                <a:solidFill>
                  <a:srgbClr val="A8BDD4"/>
                </a:solidFill>
                <a:latin typeface="Arial"/>
                <a:ea typeface="Arial"/>
                <a:cs typeface="Arial"/>
              </a:rPr>
              <a:t>DAX measures</a:t>
            </a:r>
          </a:p>
        </p:txBody>
      </p:sp>
      <p:sp>
        <p:nvSpPr>
          <p:cNvPr id="5" name="">
            <a:extLst xmlns:a="http://schemas.openxmlformats.org/drawingml/2006/main">
              <a:ext uri="{FF2B5EF4-FFF2-40B4-BE49-F238E27FC236}">
                <a16:creationId xmlns:a16="http://schemas.microsoft.com/office/drawing/2014/main" id="{F82DE953-7BD9-4F3F-9419-4B42CCC3A6FA}"/>
              </a:ext>
            </a:extLst>
          </p:cNvPr>
          <p:cNvSpPr>
            <a:spLocks xmlns:a="http://schemas.openxmlformats.org/drawingml/2006/main" noGrp="1"/>
          </p:cNvSpPr>
          <p:nvPr/>
        </p:nvSpPr>
        <p:spPr>
          <a:xfrm xmlns:a="http://schemas.openxmlformats.org/drawingml/2006/main">
            <a:off x="5143500" y="2143125"/>
            <a:ext cx="628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1">
                <a:solidFill>
                  <a:srgbClr val="0A2B43"/>
                </a:solidFill>
                <a:latin typeface="Arial"/>
                <a:ea typeface="Arial"/>
                <a:cs typeface="Arial"/>
              </a:defRPr>
            </a:lvl1pPr>
            <a:lvl2pPr>
              <a:buNone/>
              <a:defRPr sz="2100" b="1">
                <a:solidFill>
                  <a:srgbClr val="0A2B43"/>
                </a:solidFill>
                <a:latin typeface="Arial"/>
                <a:ea typeface="Arial"/>
                <a:cs typeface="Arial"/>
              </a:defRPr>
            </a:lvl2pPr>
            <a:lvl3pPr>
              <a:buNone/>
              <a:defRPr sz="2100" b="1">
                <a:solidFill>
                  <a:srgbClr val="0A2B43"/>
                </a:solidFill>
                <a:latin typeface="Arial"/>
                <a:ea typeface="Arial"/>
                <a:cs typeface="Arial"/>
              </a:defRPr>
            </a:lvl3pPr>
            <a:lvl4pPr>
              <a:buNone/>
              <a:defRPr sz="2100" b="1">
                <a:solidFill>
                  <a:srgbClr val="0A2B43"/>
                </a:solidFill>
                <a:latin typeface="Arial"/>
                <a:ea typeface="Arial"/>
                <a:cs typeface="Arial"/>
              </a:defRPr>
            </a:lvl4pPr>
            <a:lvl5pPr>
              <a:buNone/>
              <a:defRPr sz="2100" b="1">
                <a:solidFill>
                  <a:srgbClr val="0A2B43"/>
                </a:solidFill>
                <a:latin typeface="Arial"/>
                <a:ea typeface="Arial"/>
                <a:cs typeface="Arial"/>
              </a:defRPr>
            </a:lvl5pPr>
            <a:lvl6pPr>
              <a:buNone/>
              <a:defRPr sz="2100" b="1">
                <a:solidFill>
                  <a:srgbClr val="0A2B43"/>
                </a:solidFill>
                <a:latin typeface="Arial"/>
                <a:ea typeface="Arial"/>
                <a:cs typeface="Arial"/>
              </a:defRPr>
            </a:lvl6pPr>
            <a:lvl7pPr>
              <a:buNone/>
              <a:defRPr sz="2100" b="1">
                <a:solidFill>
                  <a:srgbClr val="0A2B43"/>
                </a:solidFill>
                <a:latin typeface="Arial"/>
                <a:ea typeface="Arial"/>
                <a:cs typeface="Arial"/>
              </a:defRPr>
            </a:lvl7pPr>
            <a:lvl8pPr>
              <a:buNone/>
              <a:defRPr sz="2100" b="1">
                <a:solidFill>
                  <a:srgbClr val="0A2B43"/>
                </a:solidFill>
                <a:latin typeface="Arial"/>
                <a:ea typeface="Arial"/>
                <a:cs typeface="Arial"/>
              </a:defRPr>
            </a:lvl8pPr>
            <a:lvl9pPr>
              <a:buNone/>
              <a:defRPr sz="2100" b="1">
                <a:solidFill>
                  <a:srgbClr val="0A2B43"/>
                </a:solidFill>
                <a:latin typeface="Arial"/>
                <a:ea typeface="Arial"/>
                <a:cs typeface="Arial"/>
              </a:defRPr>
            </a:lvl9pPr>
          </a:lstStyle>
          <a:p xmlns:a="http://schemas.openxmlformats.org/drawingml/2006/main">
            <a:pPr>
              <a:buNone/>
              <a:defRPr sz="2100" b="1">
                <a:solidFill>
                  <a:srgbClr val="F2F6FF"/>
                </a:solidFill>
                <a:latin typeface="Arial"/>
                <a:ea typeface="Arial"/>
                <a:cs typeface="Arial"/>
              </a:defRPr>
            </a:pPr>
            <a:r>
              <a:rPr sz="2100" b="1">
                <a:solidFill>
                  <a:srgbClr val="F2F6FF"/>
                </a:solidFill>
                <a:latin typeface="Arial"/>
                <a:ea typeface="Arial"/>
                <a:cs typeface="Arial"/>
              </a:rPr>
              <a:t>Revenue uses SUMX across the three load revenue components</a:t>
            </a:r>
          </a:p>
        </p:txBody>
      </p:sp>
      <p:sp>
        <p:nvSpPr>
          <p:cNvPr id="6" name="">
            <a:extLst xmlns:a="http://schemas.openxmlformats.org/drawingml/2006/main">
              <a:ext uri="{FF2B5EF4-FFF2-40B4-BE49-F238E27FC236}">
                <a16:creationId xmlns:a16="http://schemas.microsoft.com/office/drawing/2014/main" id="{9F82D339-250C-462C-B862-FAAAD5A42B07}"/>
              </a:ext>
            </a:extLst>
          </p:cNvPr>
          <p:cNvSpPr>
            <a:spLocks xmlns:a="http://schemas.openxmlformats.org/drawingml/2006/main" noGrp="1"/>
          </p:cNvSpPr>
          <p:nvPr/>
        </p:nvSpPr>
        <p:spPr>
          <a:xfrm xmlns:a="http://schemas.openxmlformats.org/drawingml/2006/main">
            <a:off x="5143500" y="3009900"/>
            <a:ext cx="628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Gross profit subtracts fuel and maintenance only</a:t>
            </a:r>
          </a:p>
        </p:txBody>
      </p:sp>
      <p:sp>
        <p:nvSpPr>
          <p:cNvPr id="7" name="">
            <a:extLst xmlns:a="http://schemas.openxmlformats.org/drawingml/2006/main">
              <a:ext uri="{FF2B5EF4-FFF2-40B4-BE49-F238E27FC236}">
                <a16:creationId xmlns:a16="http://schemas.microsoft.com/office/drawing/2014/main" id="{91766D09-AE0A-4B79-9C64-06954A1F4CC5}"/>
              </a:ext>
            </a:extLst>
          </p:cNvPr>
          <p:cNvSpPr>
            <a:spLocks xmlns:a="http://schemas.openxmlformats.org/drawingml/2006/main" noGrp="1"/>
          </p:cNvSpPr>
          <p:nvPr/>
        </p:nvSpPr>
        <p:spPr>
          <a:xfrm xmlns:a="http://schemas.openxmlformats.org/drawingml/2006/main">
            <a:off x="5143500" y="3876675"/>
            <a:ext cx="628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Modeled contribution also subtracts damage and assumed wages</a:t>
            </a:r>
          </a:p>
        </p:txBody>
      </p:sp>
      <p:sp>
        <p:nvSpPr>
          <p:cNvPr id="8" name="">
            <a:extLst xmlns:a="http://schemas.openxmlformats.org/drawingml/2006/main">
              <a:ext uri="{FF2B5EF4-FFF2-40B4-BE49-F238E27FC236}">
                <a16:creationId xmlns:a16="http://schemas.microsoft.com/office/drawing/2014/main" id="{4BB3B4C3-0F2B-4F7E-ACA7-382E2D1AE4E3}"/>
              </a:ext>
            </a:extLst>
          </p:cNvPr>
          <p:cNvSpPr>
            <a:spLocks xmlns:a="http://schemas.openxmlformats.org/drawingml/2006/main" noGrp="1"/>
          </p:cNvSpPr>
          <p:nvPr/>
        </p:nvSpPr>
        <p:spPr>
          <a:xfrm xmlns:a="http://schemas.openxmlformats.org/drawingml/2006/main">
            <a:off x="5143500" y="4743450"/>
            <a:ext cx="628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Delivery OTD filters Delivery events and timestamp flags</a:t>
            </a:r>
          </a:p>
        </p:txBody>
      </p:sp>
    </p:spTree>
    <p:extLst>
      <p:ext uri="{BB962C8B-B14F-4D97-AF65-F5344CB8AC3E}">
        <p14:creationId xmlns:p14="http://schemas.microsoft.com/office/powerpoint/2010/main" val="24119679"/>
      </p:ext>
    </p:extLst>
  </p:cSld>
</p:sld>
</file>

<file path=ppt/slides/slide9.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B61E49-3275-4ED6-B51D-C9A3C41193CF}"/>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ALL 9 REPORT PAGES COVERED</a:t>
            </a:r>
          </a:p>
        </p:txBody>
      </p:sp>
      <p:sp>
        <p:nvSpPr>
          <p:cNvPr id="2" name="">
            <a:extLst xmlns:a="http://schemas.openxmlformats.org/drawingml/2006/main">
              <a:ext uri="{FF2B5EF4-FFF2-40B4-BE49-F238E27FC236}">
                <a16:creationId xmlns:a16="http://schemas.microsoft.com/office/drawing/2014/main" id="{F8056D4B-10D2-492A-A6F4-D21DAE3FF824}"/>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Nine report pages and the decisions they support</a:t>
            </a:r>
          </a:p>
        </p:txBody>
      </p:sp>
      <p:sp>
        <p:nvSpPr>
          <p:cNvPr id="5" name="">
            <a:extLst xmlns:a="http://schemas.openxmlformats.org/drawingml/2006/main">
              <a:ext uri="{FF2B5EF4-FFF2-40B4-BE49-F238E27FC236}">
                <a16:creationId xmlns:a16="http://schemas.microsoft.com/office/drawing/2014/main" id="{D3487210-1E13-434F-BA4F-FFCCE9E93B91}"/>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7ABD0F21-BC00-4F71-B5DB-61880CD7687A}"/>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The pages connect service, capacity and financial decisions</a:t>
            </a:r>
          </a:p>
        </p:txBody>
      </p:sp>
      <p:graphicFrame>
        <p:nvGraphicFramePr>
          <p:cNvPr id="12" name=""/>
          <p:cNvGraphicFramePr/>
          <p:nvPr/>
        </p:nvGraphicFramePr>
        <p:xfrm>
          <a:off xmlns:a="http://schemas.openxmlformats.org/drawingml/2006/main" x="523875" y="2095500"/>
          <a:ext xmlns:a="http://schemas.openxmlformats.org/drawingml/2006/main" cx="11144250" cy="3028950"/>
        </p:xfrm>
        <a:graphic xmlns:a="http://schemas.openxmlformats.org/drawingml/2006/main">
          <a:graphicData uri="http://schemas.openxmlformats.org/drawingml/2006/table">
            <a:tbl>
              <a:tblPr/>
              <a:tblGrid>
                <a:gridCol w="5429250"/>
                <a:gridCol w="5429250"/>
              </a:tblGrid>
              <a:tr h="504825">
                <a:tc>
                  <a:txBody>
                    <a:bodyPr/>
                    <a:lstStyle/>
                    <a:p>
                      <a:r>
                        <a:rPr sz="1875" b="1">
                          <a:solidFill>
                            <a:srgbClr val="3DDCF5"/>
                          </a:solidFill>
                          <a:latin typeface="Arial"/>
                          <a:ea typeface="Arial"/>
                          <a:cs typeface="Arial"/>
                        </a:rPr>
                        <a:t>Page</a:t>
                      </a:r>
                    </a:p>
                  </a:txBody>
                  <a:tcPr marL="91440" marR="91440" marT="45720" marB="45720">
                    <a:lnL w="6191">
                      <a:solidFill>
                        <a:srgbClr val="20364D"/>
                      </a:solidFill>
                      <a:prstDash val="solid"/>
                    </a:lnL>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Analytical focus</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r>
              <a:tr h="504825">
                <a:tc>
                  <a:txBody>
                    <a:bodyPr/>
                    <a:lstStyle/>
                    <a:p>
                      <a:r>
                        <a:rPr sz="1875" b="0">
                          <a:solidFill>
                            <a:srgbClr val="F2F6FF"/>
                          </a:solidFill>
                          <a:latin typeface="Arial"/>
                          <a:ea typeface="Arial"/>
                          <a:cs typeface="Arial"/>
                        </a:rPr>
                        <a:t>Home + Company Overview</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Navigation and headline KPIs</a:t>
                      </a:r>
                    </a:p>
                  </a:txBody>
                  <a:tcPr marL="91440" marR="91440" marT="45720" marB="45720">
                    <a:lnR w="6191">
                      <a:solidFill>
                        <a:srgbClr val="20364D"/>
                      </a:solidFill>
                      <a:prstDash val="solid"/>
                    </a:lnR>
                    <a:lnB w="6191">
                      <a:solidFill>
                        <a:srgbClr val="20364D"/>
                      </a:solidFill>
                      <a:prstDash val="solid"/>
                    </a:lnB>
                    <a:solidFill>
                      <a:srgbClr val="0B1728"/>
                    </a:solidFill>
                  </a:tcPr>
                </a:tc>
              </a:tr>
              <a:tr h="504825">
                <a:tc>
                  <a:txBody>
                    <a:bodyPr/>
                    <a:lstStyle/>
                    <a:p>
                      <a:r>
                        <a:rPr sz="1875" b="0">
                          <a:solidFill>
                            <a:srgbClr val="F2F6FF"/>
                          </a:solidFill>
                          <a:latin typeface="Arial"/>
                          <a:ea typeface="Arial"/>
                          <a:cs typeface="Arial"/>
                        </a:rPr>
                        <a:t>Operations + Cost &amp; Profitability</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Activity, service and cost</a:t>
                      </a:r>
                    </a:p>
                  </a:txBody>
                  <a:tcPr marL="91440" marR="91440" marT="45720" marB="45720">
                    <a:lnR w="6191">
                      <a:solidFill>
                        <a:srgbClr val="20364D"/>
                      </a:solidFill>
                      <a:prstDash val="solid"/>
                    </a:lnR>
                    <a:lnB w="6191">
                      <a:solidFill>
                        <a:srgbClr val="20364D"/>
                      </a:solidFill>
                      <a:prstDash val="solid"/>
                    </a:lnB>
                    <a:solidFill>
                      <a:srgbClr val="0D1B2E"/>
                    </a:solidFill>
                  </a:tcPr>
                </a:tc>
              </a:tr>
              <a:tr h="504825">
                <a:tc>
                  <a:txBody>
                    <a:bodyPr/>
                    <a:lstStyle/>
                    <a:p>
                      <a:r>
                        <a:rPr sz="1875" b="0">
                          <a:solidFill>
                            <a:srgbClr val="F2F6FF"/>
                          </a:solidFill>
                          <a:latin typeface="Arial"/>
                          <a:ea typeface="Arial"/>
                          <a:cs typeface="Arial"/>
                        </a:rPr>
                        <a:t>Driver + Vehicle Performance</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People, capacity and efficiency</a:t>
                      </a:r>
                    </a:p>
                  </a:txBody>
                  <a:tcPr marL="91440" marR="91440" marT="45720" marB="45720">
                    <a:lnR w="6191">
                      <a:solidFill>
                        <a:srgbClr val="20364D"/>
                      </a:solidFill>
                      <a:prstDash val="solid"/>
                    </a:lnR>
                    <a:lnB w="6191">
                      <a:solidFill>
                        <a:srgbClr val="20364D"/>
                      </a:solidFill>
                      <a:prstDash val="solid"/>
                    </a:lnB>
                    <a:solidFill>
                      <a:srgbClr val="0B1728"/>
                    </a:solidFill>
                  </a:tcPr>
                </a:tc>
              </a:tr>
              <a:tr h="504825">
                <a:tc>
                  <a:txBody>
                    <a:bodyPr/>
                    <a:lstStyle/>
                    <a:p>
                      <a:r>
                        <a:rPr sz="1875" b="0">
                          <a:solidFill>
                            <a:srgbClr val="F2F6FF"/>
                          </a:solidFill>
                          <a:latin typeface="Arial"/>
                          <a:ea typeface="Arial"/>
                          <a:cs typeface="Arial"/>
                        </a:rPr>
                        <a:t>Safety + Maps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Risk and destination exposure</a:t>
                      </a:r>
                    </a:p>
                  </a:txBody>
                  <a:tcPr marL="91440" marR="91440" marT="45720" marB="45720">
                    <a:lnR w="6191">
                      <a:solidFill>
                        <a:srgbClr val="20364D"/>
                      </a:solidFill>
                      <a:prstDash val="solid"/>
                    </a:lnR>
                    <a:lnB w="6191">
                      <a:solidFill>
                        <a:srgbClr val="20364D"/>
                      </a:solidFill>
                      <a:prstDash val="solid"/>
                    </a:lnB>
                    <a:solidFill>
                      <a:srgbClr val="0D1B2E"/>
                    </a:solidFill>
                  </a:tcPr>
                </a:tc>
              </a:tr>
              <a:tr h="504825">
                <a:tc>
                  <a:txBody>
                    <a:bodyPr/>
                    <a:lstStyle/>
                    <a:p>
                      <a:r>
                        <a:rPr sz="1875" b="0">
                          <a:solidFill>
                            <a:srgbClr val="F2F6FF"/>
                          </a:solidFill>
                          <a:latin typeface="Arial"/>
                          <a:ea typeface="Arial"/>
                          <a:cs typeface="Arial"/>
                        </a:rPr>
                        <a:t>WHAT-IF</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Pricing and fuel scenarios</a:t>
                      </a:r>
                    </a:p>
                  </a:txBody>
                  <a:tcPr marL="91440" marR="91440" marT="45720" marB="45720">
                    <a:lnR w="6191">
                      <a:solidFill>
                        <a:srgbClr val="20364D"/>
                      </a:solidFill>
                      <a:prstDash val="solid"/>
                    </a:lnR>
                    <a:lnB w="6191">
                      <a:solidFill>
                        <a:srgbClr val="20364D"/>
                      </a:solidFill>
                      <a:prstDash val="solid"/>
                    </a:lnB>
                    <a:solidFill>
                      <a:srgbClr val="0B1728"/>
                    </a:solidFill>
                  </a:tcPr>
                </a:tc>
              </a:tr>
            </a:tbl>
          </a:graphicData>
        </a:graphic>
      </p:graphicFrame>
    </p:spTree>
    <p:extLst>
      <p:ext uri="{BB962C8B-B14F-4D97-AF65-F5344CB8AC3E}">
        <p14:creationId xmlns:p14="http://schemas.microsoft.com/office/powerpoint/2010/main" val="132409547"/>
      </p:ext>
    </p:extLst>
  </p:cSld>
</p:sld>
</file>

<file path=ppt/slides/slide10.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23" name="integration-63">
            <a:extLst xmlns:a="http://schemas.openxmlformats.org/drawingml/2006/main">
              <a:ext uri="{FF2B5EF4-FFF2-40B4-BE49-F238E27FC236}">
                <a16:creationId xmlns:a16="http://schemas.microsoft.com/office/drawing/2014/main" id="{B58A2AC7-6B84-4BDF-87EC-111650AC979A}"/>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EXECUTIVE SCORECARD: FULL EMBEDDED DATA</a:t>
            </a:r>
          </a:p>
        </p:txBody>
      </p:sp>
      <p:sp>
        <p:nvSpPr>
          <p:cNvPr id="2" name="integration-64">
            <a:extLst xmlns:a="http://schemas.openxmlformats.org/drawingml/2006/main">
              <a:ext uri="{FF2B5EF4-FFF2-40B4-BE49-F238E27FC236}">
                <a16:creationId xmlns:a16="http://schemas.microsoft.com/office/drawing/2014/main" id="{23921C34-6887-4AF9-91DE-3882487C0366}"/>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225" b="1">
                <a:solidFill>
                  <a:srgbClr val="F2F6FF"/>
                </a:solidFill>
                <a:latin typeface="Arial"/>
                <a:ea typeface="Arial"/>
                <a:cs typeface="Arial"/>
              </a:defRPr>
            </a:lvl1pPr>
            <a:lvl2pPr>
              <a:buNone/>
              <a:defRPr sz="3225" b="1">
                <a:solidFill>
                  <a:srgbClr val="F2F6FF"/>
                </a:solidFill>
                <a:latin typeface="Arial"/>
                <a:ea typeface="Arial"/>
                <a:cs typeface="Arial"/>
              </a:defRPr>
            </a:lvl2pPr>
            <a:lvl3pPr>
              <a:buNone/>
              <a:defRPr sz="3225" b="1">
                <a:solidFill>
                  <a:srgbClr val="F2F6FF"/>
                </a:solidFill>
                <a:latin typeface="Arial"/>
                <a:ea typeface="Arial"/>
                <a:cs typeface="Arial"/>
              </a:defRPr>
            </a:lvl3pPr>
            <a:lvl4pPr>
              <a:buNone/>
              <a:defRPr sz="3225" b="1">
                <a:solidFill>
                  <a:srgbClr val="F2F6FF"/>
                </a:solidFill>
                <a:latin typeface="Arial"/>
                <a:ea typeface="Arial"/>
                <a:cs typeface="Arial"/>
              </a:defRPr>
            </a:lvl4pPr>
            <a:lvl5pPr>
              <a:buNone/>
              <a:defRPr sz="3225" b="1">
                <a:solidFill>
                  <a:srgbClr val="F2F6FF"/>
                </a:solidFill>
                <a:latin typeface="Arial"/>
                <a:ea typeface="Arial"/>
                <a:cs typeface="Arial"/>
              </a:defRPr>
            </a:lvl5pPr>
            <a:lvl6pPr>
              <a:buNone/>
              <a:defRPr sz="3225" b="1">
                <a:solidFill>
                  <a:srgbClr val="F2F6FF"/>
                </a:solidFill>
                <a:latin typeface="Arial"/>
                <a:ea typeface="Arial"/>
                <a:cs typeface="Arial"/>
              </a:defRPr>
            </a:lvl6pPr>
            <a:lvl7pPr>
              <a:buNone/>
              <a:defRPr sz="3225" b="1">
                <a:solidFill>
                  <a:srgbClr val="F2F6FF"/>
                </a:solidFill>
                <a:latin typeface="Arial"/>
                <a:ea typeface="Arial"/>
                <a:cs typeface="Arial"/>
              </a:defRPr>
            </a:lvl7pPr>
            <a:lvl8pPr>
              <a:buNone/>
              <a:defRPr sz="3225" b="1">
                <a:solidFill>
                  <a:srgbClr val="F2F6FF"/>
                </a:solidFill>
                <a:latin typeface="Arial"/>
                <a:ea typeface="Arial"/>
                <a:cs typeface="Arial"/>
              </a:defRPr>
            </a:lvl8pPr>
            <a:lvl9pPr>
              <a:buNone/>
              <a:defRPr sz="3225" b="1">
                <a:solidFill>
                  <a:srgbClr val="F2F6FF"/>
                </a:solidFill>
                <a:latin typeface="Arial"/>
                <a:ea typeface="Arial"/>
                <a:cs typeface="Arial"/>
              </a:defRPr>
            </a:lvl9pPr>
          </a:lstStyle>
          <a:p xmlns:a="http://schemas.openxmlformats.org/drawingml/2006/main">
            <a:pPr>
              <a:buNone/>
              <a:defRPr sz="3225" b="1">
                <a:solidFill>
                  <a:srgbClr val="F2F6FF"/>
                </a:solidFill>
                <a:latin typeface="Arial"/>
                <a:ea typeface="Arial"/>
                <a:cs typeface="Arial"/>
              </a:defRPr>
            </a:pPr>
            <a:r>
              <a:rPr sz="3225" b="1">
                <a:solidFill>
                  <a:srgbClr val="F2F6FF"/>
                </a:solidFill>
                <a:latin typeface="Arial"/>
                <a:ea typeface="Arial"/>
                <a:cs typeface="Arial"/>
              </a:rPr>
              <a:t>The operating picture in nine measures</a:t>
            </a:r>
          </a:p>
        </p:txBody>
      </p:sp>
      <p:sp>
        <p:nvSpPr>
          <p:cNvPr id="3" name="integration-65">
            <a:extLst xmlns:a="http://schemas.openxmlformats.org/drawingml/2006/main">
              <a:ext uri="{FF2B5EF4-FFF2-40B4-BE49-F238E27FC236}">
                <a16:creationId xmlns:a16="http://schemas.microsoft.com/office/drawing/2014/main" id="{5B1BE247-63D7-4E0B-B960-E790315BB554}"/>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Contribution excludes unrecorded overhead, insurance and depreciation</a:t>
            </a:r>
          </a:p>
        </p:txBody>
      </p:sp>
      <p:sp>
        <p:nvSpPr>
          <p:cNvPr id="4" name="integration-66">
            <a:extLst xmlns:a="http://schemas.openxmlformats.org/drawingml/2006/main">
              <a:ext uri="{FF2B5EF4-FFF2-40B4-BE49-F238E27FC236}">
                <a16:creationId xmlns:a16="http://schemas.microsoft.com/office/drawing/2014/main" id="{E60EE414-F000-43FB-8FC7-062C5A50B104}"/>
              </a:ext>
            </a:extLst>
          </p:cNvPr>
          <p:cNvSpPr>
            <a:spLocks xmlns:a="http://schemas.openxmlformats.org/drawingml/2006/main" noGrp="1"/>
          </p:cNvSpPr>
          <p:nvPr/>
        </p:nvSpPr>
        <p:spPr>
          <a:xfrm xmlns:a="http://schemas.openxmlformats.org/drawingml/2006/main">
            <a:off x="571500" y="1981200"/>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200" b="1">
                <a:solidFill>
                  <a:srgbClr val="3DDCF5"/>
                </a:solidFill>
                <a:latin typeface="Arial"/>
                <a:ea typeface="Arial"/>
                <a:cs typeface="Arial"/>
              </a:defRPr>
            </a:lvl1pPr>
            <a:lvl2pPr>
              <a:buNone/>
              <a:defRPr sz="4200" b="1">
                <a:solidFill>
                  <a:srgbClr val="3DDCF5"/>
                </a:solidFill>
                <a:latin typeface="Arial"/>
                <a:ea typeface="Arial"/>
                <a:cs typeface="Arial"/>
              </a:defRPr>
            </a:lvl2pPr>
            <a:lvl3pPr>
              <a:buNone/>
              <a:defRPr sz="4200" b="1">
                <a:solidFill>
                  <a:srgbClr val="3DDCF5"/>
                </a:solidFill>
                <a:latin typeface="Arial"/>
                <a:ea typeface="Arial"/>
                <a:cs typeface="Arial"/>
              </a:defRPr>
            </a:lvl3pPr>
            <a:lvl4pPr>
              <a:buNone/>
              <a:defRPr sz="4200" b="1">
                <a:solidFill>
                  <a:srgbClr val="3DDCF5"/>
                </a:solidFill>
                <a:latin typeface="Arial"/>
                <a:ea typeface="Arial"/>
                <a:cs typeface="Arial"/>
              </a:defRPr>
            </a:lvl4pPr>
            <a:lvl5pPr>
              <a:buNone/>
              <a:defRPr sz="4200" b="1">
                <a:solidFill>
                  <a:srgbClr val="3DDCF5"/>
                </a:solidFill>
                <a:latin typeface="Arial"/>
                <a:ea typeface="Arial"/>
                <a:cs typeface="Arial"/>
              </a:defRPr>
            </a:lvl5pPr>
            <a:lvl6pPr>
              <a:buNone/>
              <a:defRPr sz="4200" b="1">
                <a:solidFill>
                  <a:srgbClr val="3DDCF5"/>
                </a:solidFill>
                <a:latin typeface="Arial"/>
                <a:ea typeface="Arial"/>
                <a:cs typeface="Arial"/>
              </a:defRPr>
            </a:lvl6pPr>
            <a:lvl7pPr>
              <a:buNone/>
              <a:defRPr sz="4200" b="1">
                <a:solidFill>
                  <a:srgbClr val="3DDCF5"/>
                </a:solidFill>
                <a:latin typeface="Arial"/>
                <a:ea typeface="Arial"/>
                <a:cs typeface="Arial"/>
              </a:defRPr>
            </a:lvl7pPr>
            <a:lvl8pPr>
              <a:buNone/>
              <a:defRPr sz="4200" b="1">
                <a:solidFill>
                  <a:srgbClr val="3DDCF5"/>
                </a:solidFill>
                <a:latin typeface="Arial"/>
                <a:ea typeface="Arial"/>
                <a:cs typeface="Arial"/>
              </a:defRPr>
            </a:lvl8pPr>
            <a:lvl9pPr>
              <a:buNone/>
              <a:defRPr sz="4200" b="1">
                <a:solidFill>
                  <a:srgbClr val="3DDCF5"/>
                </a:solidFill>
                <a:latin typeface="Arial"/>
                <a:ea typeface="Arial"/>
                <a:cs typeface="Arial"/>
              </a:defRPr>
            </a:lvl9pPr>
          </a:lstStyle>
          <a:p xmlns:a="http://schemas.openxmlformats.org/drawingml/2006/main">
            <a:pPr>
              <a:buNone/>
              <a:defRPr sz="4200" b="1">
                <a:solidFill>
                  <a:srgbClr val="3DDCF5"/>
                </a:solidFill>
                <a:latin typeface="Arial"/>
                <a:ea typeface="Arial"/>
                <a:cs typeface="Arial"/>
              </a:defRPr>
            </a:pPr>
            <a:r>
              <a:rPr sz="4200" b="1">
                <a:solidFill>
                  <a:srgbClr val="3DDCF5"/>
                </a:solidFill>
                <a:latin typeface="Arial"/>
                <a:ea typeface="Arial"/>
                <a:cs typeface="Arial"/>
              </a:rPr>
              <a:t>$298.62M</a:t>
            </a:r>
          </a:p>
        </p:txBody>
      </p:sp>
      <p:sp>
        <p:nvSpPr>
          <p:cNvPr id="5" name="integration-67">
            <a:extLst xmlns:a="http://schemas.openxmlformats.org/drawingml/2006/main">
              <a:ext uri="{FF2B5EF4-FFF2-40B4-BE49-F238E27FC236}">
                <a16:creationId xmlns:a16="http://schemas.microsoft.com/office/drawing/2014/main" id="{EC3E66AA-CE6B-45B8-80B0-89AA56C36DF2}"/>
              </a:ext>
            </a:extLst>
          </p:cNvPr>
          <p:cNvSpPr>
            <a:spLocks xmlns:a="http://schemas.openxmlformats.org/drawingml/2006/main" noGrp="1"/>
          </p:cNvSpPr>
          <p:nvPr/>
        </p:nvSpPr>
        <p:spPr>
          <a:xfrm xmlns:a="http://schemas.openxmlformats.org/drawingml/2006/main">
            <a:off x="571500" y="27432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Total revenue</a:t>
            </a:r>
          </a:p>
        </p:txBody>
      </p:sp>
      <p:sp>
        <p:nvSpPr>
          <p:cNvPr id="6" name="integration-68">
            <a:extLst xmlns:a="http://schemas.openxmlformats.org/drawingml/2006/main">
              <a:ext uri="{FF2B5EF4-FFF2-40B4-BE49-F238E27FC236}">
                <a16:creationId xmlns:a16="http://schemas.microsoft.com/office/drawing/2014/main" id="{D038D5E5-18F4-4F48-8380-6D824B153226}"/>
              </a:ext>
            </a:extLst>
          </p:cNvPr>
          <p:cNvSpPr>
            <a:spLocks xmlns:a="http://schemas.openxmlformats.org/drawingml/2006/main" noGrp="1"/>
          </p:cNvSpPr>
          <p:nvPr/>
        </p:nvSpPr>
        <p:spPr>
          <a:xfrm xmlns:a="http://schemas.openxmlformats.org/drawingml/2006/main">
            <a:off x="4476750" y="1981200"/>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200" b="1">
                <a:solidFill>
                  <a:srgbClr val="3DDCF5"/>
                </a:solidFill>
                <a:latin typeface="Arial"/>
                <a:ea typeface="Arial"/>
                <a:cs typeface="Arial"/>
              </a:defRPr>
            </a:lvl1pPr>
            <a:lvl2pPr>
              <a:buNone/>
              <a:defRPr sz="4200" b="1">
                <a:solidFill>
                  <a:srgbClr val="3DDCF5"/>
                </a:solidFill>
                <a:latin typeface="Arial"/>
                <a:ea typeface="Arial"/>
                <a:cs typeface="Arial"/>
              </a:defRPr>
            </a:lvl2pPr>
            <a:lvl3pPr>
              <a:buNone/>
              <a:defRPr sz="4200" b="1">
                <a:solidFill>
                  <a:srgbClr val="3DDCF5"/>
                </a:solidFill>
                <a:latin typeface="Arial"/>
                <a:ea typeface="Arial"/>
                <a:cs typeface="Arial"/>
              </a:defRPr>
            </a:lvl3pPr>
            <a:lvl4pPr>
              <a:buNone/>
              <a:defRPr sz="4200" b="1">
                <a:solidFill>
                  <a:srgbClr val="3DDCF5"/>
                </a:solidFill>
                <a:latin typeface="Arial"/>
                <a:ea typeface="Arial"/>
                <a:cs typeface="Arial"/>
              </a:defRPr>
            </a:lvl4pPr>
            <a:lvl5pPr>
              <a:buNone/>
              <a:defRPr sz="4200" b="1">
                <a:solidFill>
                  <a:srgbClr val="3DDCF5"/>
                </a:solidFill>
                <a:latin typeface="Arial"/>
                <a:ea typeface="Arial"/>
                <a:cs typeface="Arial"/>
              </a:defRPr>
            </a:lvl5pPr>
            <a:lvl6pPr>
              <a:buNone/>
              <a:defRPr sz="4200" b="1">
                <a:solidFill>
                  <a:srgbClr val="3DDCF5"/>
                </a:solidFill>
                <a:latin typeface="Arial"/>
                <a:ea typeface="Arial"/>
                <a:cs typeface="Arial"/>
              </a:defRPr>
            </a:lvl6pPr>
            <a:lvl7pPr>
              <a:buNone/>
              <a:defRPr sz="4200" b="1">
                <a:solidFill>
                  <a:srgbClr val="3DDCF5"/>
                </a:solidFill>
                <a:latin typeface="Arial"/>
                <a:ea typeface="Arial"/>
                <a:cs typeface="Arial"/>
              </a:defRPr>
            </a:lvl7pPr>
            <a:lvl8pPr>
              <a:buNone/>
              <a:defRPr sz="4200" b="1">
                <a:solidFill>
                  <a:srgbClr val="3DDCF5"/>
                </a:solidFill>
                <a:latin typeface="Arial"/>
                <a:ea typeface="Arial"/>
                <a:cs typeface="Arial"/>
              </a:defRPr>
            </a:lvl8pPr>
            <a:lvl9pPr>
              <a:buNone/>
              <a:defRPr sz="4200" b="1">
                <a:solidFill>
                  <a:srgbClr val="3DDCF5"/>
                </a:solidFill>
                <a:latin typeface="Arial"/>
                <a:ea typeface="Arial"/>
                <a:cs typeface="Arial"/>
              </a:defRPr>
            </a:lvl9pPr>
          </a:lstStyle>
          <a:p xmlns:a="http://schemas.openxmlformats.org/drawingml/2006/main">
            <a:pPr>
              <a:buNone/>
              <a:defRPr sz="4200" b="1">
                <a:solidFill>
                  <a:srgbClr val="3DDCF5"/>
                </a:solidFill>
                <a:latin typeface="Arial"/>
                <a:ea typeface="Arial"/>
                <a:cs typeface="Arial"/>
              </a:defRPr>
            </a:pPr>
            <a:r>
              <a:rPr sz="4200" b="1">
                <a:solidFill>
                  <a:srgbClr val="3DDCF5"/>
                </a:solidFill>
                <a:latin typeface="Arial"/>
                <a:ea typeface="Arial"/>
                <a:cs typeface="Arial"/>
              </a:rPr>
              <a:t>$141.23M</a:t>
            </a:r>
          </a:p>
        </p:txBody>
      </p:sp>
      <p:sp>
        <p:nvSpPr>
          <p:cNvPr id="7" name="integration-69">
            <a:extLst xmlns:a="http://schemas.openxmlformats.org/drawingml/2006/main">
              <a:ext uri="{FF2B5EF4-FFF2-40B4-BE49-F238E27FC236}">
                <a16:creationId xmlns:a16="http://schemas.microsoft.com/office/drawing/2014/main" id="{952C9DED-A967-4B04-9914-5DA6366E4399}"/>
              </a:ext>
            </a:extLst>
          </p:cNvPr>
          <p:cNvSpPr>
            <a:spLocks xmlns:a="http://schemas.openxmlformats.org/drawingml/2006/main" noGrp="1"/>
          </p:cNvSpPr>
          <p:nvPr/>
        </p:nvSpPr>
        <p:spPr>
          <a:xfrm xmlns:a="http://schemas.openxmlformats.org/drawingml/2006/main">
            <a:off x="4476750" y="27432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Modeled contribution</a:t>
            </a:r>
          </a:p>
        </p:txBody>
      </p:sp>
      <p:sp>
        <p:nvSpPr>
          <p:cNvPr id="8" name="integration-70">
            <a:extLst xmlns:a="http://schemas.openxmlformats.org/drawingml/2006/main">
              <a:ext uri="{FF2B5EF4-FFF2-40B4-BE49-F238E27FC236}">
                <a16:creationId xmlns:a16="http://schemas.microsoft.com/office/drawing/2014/main" id="{4BA159F5-28B1-4CF6-8BC3-7D961D0B533D}"/>
              </a:ext>
            </a:extLst>
          </p:cNvPr>
          <p:cNvSpPr>
            <a:spLocks xmlns:a="http://schemas.openxmlformats.org/drawingml/2006/main" noGrp="1"/>
          </p:cNvSpPr>
          <p:nvPr/>
        </p:nvSpPr>
        <p:spPr>
          <a:xfrm xmlns:a="http://schemas.openxmlformats.org/drawingml/2006/main">
            <a:off x="8382000" y="1981200"/>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200" b="1">
                <a:solidFill>
                  <a:srgbClr val="3DDCF5"/>
                </a:solidFill>
                <a:latin typeface="Arial"/>
                <a:ea typeface="Arial"/>
                <a:cs typeface="Arial"/>
              </a:defRPr>
            </a:lvl1pPr>
            <a:lvl2pPr>
              <a:buNone/>
              <a:defRPr sz="4200" b="1">
                <a:solidFill>
                  <a:srgbClr val="3DDCF5"/>
                </a:solidFill>
                <a:latin typeface="Arial"/>
                <a:ea typeface="Arial"/>
                <a:cs typeface="Arial"/>
              </a:defRPr>
            </a:lvl2pPr>
            <a:lvl3pPr>
              <a:buNone/>
              <a:defRPr sz="4200" b="1">
                <a:solidFill>
                  <a:srgbClr val="3DDCF5"/>
                </a:solidFill>
                <a:latin typeface="Arial"/>
                <a:ea typeface="Arial"/>
                <a:cs typeface="Arial"/>
              </a:defRPr>
            </a:lvl3pPr>
            <a:lvl4pPr>
              <a:buNone/>
              <a:defRPr sz="4200" b="1">
                <a:solidFill>
                  <a:srgbClr val="3DDCF5"/>
                </a:solidFill>
                <a:latin typeface="Arial"/>
                <a:ea typeface="Arial"/>
                <a:cs typeface="Arial"/>
              </a:defRPr>
            </a:lvl4pPr>
            <a:lvl5pPr>
              <a:buNone/>
              <a:defRPr sz="4200" b="1">
                <a:solidFill>
                  <a:srgbClr val="3DDCF5"/>
                </a:solidFill>
                <a:latin typeface="Arial"/>
                <a:ea typeface="Arial"/>
                <a:cs typeface="Arial"/>
              </a:defRPr>
            </a:lvl5pPr>
            <a:lvl6pPr>
              <a:buNone/>
              <a:defRPr sz="4200" b="1">
                <a:solidFill>
                  <a:srgbClr val="3DDCF5"/>
                </a:solidFill>
                <a:latin typeface="Arial"/>
                <a:ea typeface="Arial"/>
                <a:cs typeface="Arial"/>
              </a:defRPr>
            </a:lvl6pPr>
            <a:lvl7pPr>
              <a:buNone/>
              <a:defRPr sz="4200" b="1">
                <a:solidFill>
                  <a:srgbClr val="3DDCF5"/>
                </a:solidFill>
                <a:latin typeface="Arial"/>
                <a:ea typeface="Arial"/>
                <a:cs typeface="Arial"/>
              </a:defRPr>
            </a:lvl7pPr>
            <a:lvl8pPr>
              <a:buNone/>
              <a:defRPr sz="4200" b="1">
                <a:solidFill>
                  <a:srgbClr val="3DDCF5"/>
                </a:solidFill>
                <a:latin typeface="Arial"/>
                <a:ea typeface="Arial"/>
                <a:cs typeface="Arial"/>
              </a:defRPr>
            </a:lvl8pPr>
            <a:lvl9pPr>
              <a:buNone/>
              <a:defRPr sz="4200" b="1">
                <a:solidFill>
                  <a:srgbClr val="3DDCF5"/>
                </a:solidFill>
                <a:latin typeface="Arial"/>
                <a:ea typeface="Arial"/>
                <a:cs typeface="Arial"/>
              </a:defRPr>
            </a:lvl9pPr>
          </a:lstStyle>
          <a:p xmlns:a="http://schemas.openxmlformats.org/drawingml/2006/main">
            <a:pPr>
              <a:buNone/>
              <a:defRPr sz="4200" b="1">
                <a:solidFill>
                  <a:srgbClr val="3DDCF5"/>
                </a:solidFill>
                <a:latin typeface="Arial"/>
                <a:ea typeface="Arial"/>
                <a:cs typeface="Arial"/>
              </a:defRPr>
            </a:pPr>
            <a:r>
              <a:rPr sz="4200" b="1">
                <a:solidFill>
                  <a:srgbClr val="3DDCF5"/>
                </a:solidFill>
                <a:latin typeface="Arial"/>
                <a:ea typeface="Arial"/>
                <a:cs typeface="Arial"/>
              </a:rPr>
              <a:t>47.29%</a:t>
            </a:r>
          </a:p>
        </p:txBody>
      </p:sp>
      <p:sp>
        <p:nvSpPr>
          <p:cNvPr id="9" name="integration-71">
            <a:extLst xmlns:a="http://schemas.openxmlformats.org/drawingml/2006/main">
              <a:ext uri="{FF2B5EF4-FFF2-40B4-BE49-F238E27FC236}">
                <a16:creationId xmlns:a16="http://schemas.microsoft.com/office/drawing/2014/main" id="{74B6CC08-3F9F-4E71-95F1-D4F25A1B8435}"/>
              </a:ext>
            </a:extLst>
          </p:cNvPr>
          <p:cNvSpPr>
            <a:spLocks xmlns:a="http://schemas.openxmlformats.org/drawingml/2006/main" noGrp="1"/>
          </p:cNvSpPr>
          <p:nvPr/>
        </p:nvSpPr>
        <p:spPr>
          <a:xfrm xmlns:a="http://schemas.openxmlformats.org/drawingml/2006/main">
            <a:off x="8382000" y="27432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Contribution / revenue</a:t>
            </a:r>
          </a:p>
        </p:txBody>
      </p:sp>
      <p:sp>
        <p:nvSpPr>
          <p:cNvPr id="10" name="integration-72">
            <a:extLst xmlns:a="http://schemas.openxmlformats.org/drawingml/2006/main">
              <a:ext uri="{FF2B5EF4-FFF2-40B4-BE49-F238E27FC236}">
                <a16:creationId xmlns:a16="http://schemas.microsoft.com/office/drawing/2014/main" id="{9635E8AB-4C62-4E46-9AB2-710B87536829}"/>
              </a:ext>
            </a:extLst>
          </p:cNvPr>
          <p:cNvSpPr>
            <a:spLocks xmlns:a="http://schemas.openxmlformats.org/drawingml/2006/main" noGrp="1"/>
          </p:cNvSpPr>
          <p:nvPr/>
        </p:nvSpPr>
        <p:spPr>
          <a:xfrm xmlns:a="http://schemas.openxmlformats.org/drawingml/2006/main">
            <a:off x="571500" y="3276600"/>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200" b="1">
                <a:solidFill>
                  <a:srgbClr val="3DDCF5"/>
                </a:solidFill>
                <a:latin typeface="Arial"/>
                <a:ea typeface="Arial"/>
                <a:cs typeface="Arial"/>
              </a:defRPr>
            </a:lvl1pPr>
            <a:lvl2pPr>
              <a:buNone/>
              <a:defRPr sz="4200" b="1">
                <a:solidFill>
                  <a:srgbClr val="3DDCF5"/>
                </a:solidFill>
                <a:latin typeface="Arial"/>
                <a:ea typeface="Arial"/>
                <a:cs typeface="Arial"/>
              </a:defRPr>
            </a:lvl2pPr>
            <a:lvl3pPr>
              <a:buNone/>
              <a:defRPr sz="4200" b="1">
                <a:solidFill>
                  <a:srgbClr val="3DDCF5"/>
                </a:solidFill>
                <a:latin typeface="Arial"/>
                <a:ea typeface="Arial"/>
                <a:cs typeface="Arial"/>
              </a:defRPr>
            </a:lvl3pPr>
            <a:lvl4pPr>
              <a:buNone/>
              <a:defRPr sz="4200" b="1">
                <a:solidFill>
                  <a:srgbClr val="3DDCF5"/>
                </a:solidFill>
                <a:latin typeface="Arial"/>
                <a:ea typeface="Arial"/>
                <a:cs typeface="Arial"/>
              </a:defRPr>
            </a:lvl4pPr>
            <a:lvl5pPr>
              <a:buNone/>
              <a:defRPr sz="4200" b="1">
                <a:solidFill>
                  <a:srgbClr val="3DDCF5"/>
                </a:solidFill>
                <a:latin typeface="Arial"/>
                <a:ea typeface="Arial"/>
                <a:cs typeface="Arial"/>
              </a:defRPr>
            </a:lvl5pPr>
            <a:lvl6pPr>
              <a:buNone/>
              <a:defRPr sz="4200" b="1">
                <a:solidFill>
                  <a:srgbClr val="3DDCF5"/>
                </a:solidFill>
                <a:latin typeface="Arial"/>
                <a:ea typeface="Arial"/>
                <a:cs typeface="Arial"/>
              </a:defRPr>
            </a:lvl6pPr>
            <a:lvl7pPr>
              <a:buNone/>
              <a:defRPr sz="4200" b="1">
                <a:solidFill>
                  <a:srgbClr val="3DDCF5"/>
                </a:solidFill>
                <a:latin typeface="Arial"/>
                <a:ea typeface="Arial"/>
                <a:cs typeface="Arial"/>
              </a:defRPr>
            </a:lvl7pPr>
            <a:lvl8pPr>
              <a:buNone/>
              <a:defRPr sz="4200" b="1">
                <a:solidFill>
                  <a:srgbClr val="3DDCF5"/>
                </a:solidFill>
                <a:latin typeface="Arial"/>
                <a:ea typeface="Arial"/>
                <a:cs typeface="Arial"/>
              </a:defRPr>
            </a:lvl8pPr>
            <a:lvl9pPr>
              <a:buNone/>
              <a:defRPr sz="4200" b="1">
                <a:solidFill>
                  <a:srgbClr val="3DDCF5"/>
                </a:solidFill>
                <a:latin typeface="Arial"/>
                <a:ea typeface="Arial"/>
                <a:cs typeface="Arial"/>
              </a:defRPr>
            </a:lvl9pPr>
          </a:lstStyle>
          <a:p xmlns:a="http://schemas.openxmlformats.org/drawingml/2006/main">
            <a:pPr>
              <a:buNone/>
              <a:defRPr sz="4200" b="1">
                <a:solidFill>
                  <a:srgbClr val="3DDCF5"/>
                </a:solidFill>
                <a:latin typeface="Arial"/>
                <a:ea typeface="Arial"/>
                <a:cs typeface="Arial"/>
              </a:defRPr>
            </a:pPr>
            <a:r>
              <a:rPr sz="4200" b="1">
                <a:solidFill>
                  <a:srgbClr val="3DDCF5"/>
                </a:solidFill>
                <a:latin typeface="Arial"/>
                <a:ea typeface="Arial"/>
                <a:cs typeface="Arial"/>
              </a:rPr>
              <a:t>122.16M</a:t>
            </a:r>
          </a:p>
        </p:txBody>
      </p:sp>
      <p:sp>
        <p:nvSpPr>
          <p:cNvPr id="11" name="integration-73">
            <a:extLst xmlns:a="http://schemas.openxmlformats.org/drawingml/2006/main">
              <a:ext uri="{FF2B5EF4-FFF2-40B4-BE49-F238E27FC236}">
                <a16:creationId xmlns:a16="http://schemas.microsoft.com/office/drawing/2014/main" id="{BA93E6AC-96A6-4348-BB49-3B6B92FCC9D5}"/>
              </a:ext>
            </a:extLst>
          </p:cNvPr>
          <p:cNvSpPr>
            <a:spLocks xmlns:a="http://schemas.openxmlformats.org/drawingml/2006/main" noGrp="1"/>
          </p:cNvSpPr>
          <p:nvPr/>
        </p:nvSpPr>
        <p:spPr>
          <a:xfrm xmlns:a="http://schemas.openxmlformats.org/drawingml/2006/main">
            <a:off x="571500" y="40386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Trip miles</a:t>
            </a:r>
          </a:p>
        </p:txBody>
      </p:sp>
      <p:sp>
        <p:nvSpPr>
          <p:cNvPr id="12" name="integration-74">
            <a:extLst xmlns:a="http://schemas.openxmlformats.org/drawingml/2006/main">
              <a:ext uri="{FF2B5EF4-FFF2-40B4-BE49-F238E27FC236}">
                <a16:creationId xmlns:a16="http://schemas.microsoft.com/office/drawing/2014/main" id="{134A7298-7B1C-43A0-AEC9-2598567DF592}"/>
              </a:ext>
            </a:extLst>
          </p:cNvPr>
          <p:cNvSpPr>
            <a:spLocks xmlns:a="http://schemas.openxmlformats.org/drawingml/2006/main" noGrp="1"/>
          </p:cNvSpPr>
          <p:nvPr/>
        </p:nvSpPr>
        <p:spPr>
          <a:xfrm xmlns:a="http://schemas.openxmlformats.org/drawingml/2006/main">
            <a:off x="4476750" y="3276600"/>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200" b="1">
                <a:solidFill>
                  <a:srgbClr val="3DDCF5"/>
                </a:solidFill>
                <a:latin typeface="Arial"/>
                <a:ea typeface="Arial"/>
                <a:cs typeface="Arial"/>
              </a:defRPr>
            </a:lvl1pPr>
            <a:lvl2pPr>
              <a:buNone/>
              <a:defRPr sz="4200" b="1">
                <a:solidFill>
                  <a:srgbClr val="3DDCF5"/>
                </a:solidFill>
                <a:latin typeface="Arial"/>
                <a:ea typeface="Arial"/>
                <a:cs typeface="Arial"/>
              </a:defRPr>
            </a:lvl2pPr>
            <a:lvl3pPr>
              <a:buNone/>
              <a:defRPr sz="4200" b="1">
                <a:solidFill>
                  <a:srgbClr val="3DDCF5"/>
                </a:solidFill>
                <a:latin typeface="Arial"/>
                <a:ea typeface="Arial"/>
                <a:cs typeface="Arial"/>
              </a:defRPr>
            </a:lvl3pPr>
            <a:lvl4pPr>
              <a:buNone/>
              <a:defRPr sz="4200" b="1">
                <a:solidFill>
                  <a:srgbClr val="3DDCF5"/>
                </a:solidFill>
                <a:latin typeface="Arial"/>
                <a:ea typeface="Arial"/>
                <a:cs typeface="Arial"/>
              </a:defRPr>
            </a:lvl4pPr>
            <a:lvl5pPr>
              <a:buNone/>
              <a:defRPr sz="4200" b="1">
                <a:solidFill>
                  <a:srgbClr val="3DDCF5"/>
                </a:solidFill>
                <a:latin typeface="Arial"/>
                <a:ea typeface="Arial"/>
                <a:cs typeface="Arial"/>
              </a:defRPr>
            </a:lvl5pPr>
            <a:lvl6pPr>
              <a:buNone/>
              <a:defRPr sz="4200" b="1">
                <a:solidFill>
                  <a:srgbClr val="3DDCF5"/>
                </a:solidFill>
                <a:latin typeface="Arial"/>
                <a:ea typeface="Arial"/>
                <a:cs typeface="Arial"/>
              </a:defRPr>
            </a:lvl6pPr>
            <a:lvl7pPr>
              <a:buNone/>
              <a:defRPr sz="4200" b="1">
                <a:solidFill>
                  <a:srgbClr val="3DDCF5"/>
                </a:solidFill>
                <a:latin typeface="Arial"/>
                <a:ea typeface="Arial"/>
                <a:cs typeface="Arial"/>
              </a:defRPr>
            </a:lvl7pPr>
            <a:lvl8pPr>
              <a:buNone/>
              <a:defRPr sz="4200" b="1">
                <a:solidFill>
                  <a:srgbClr val="3DDCF5"/>
                </a:solidFill>
                <a:latin typeface="Arial"/>
                <a:ea typeface="Arial"/>
                <a:cs typeface="Arial"/>
              </a:defRPr>
            </a:lvl8pPr>
            <a:lvl9pPr>
              <a:buNone/>
              <a:defRPr sz="4200" b="1">
                <a:solidFill>
                  <a:srgbClr val="3DDCF5"/>
                </a:solidFill>
                <a:latin typeface="Arial"/>
                <a:ea typeface="Arial"/>
                <a:cs typeface="Arial"/>
              </a:defRPr>
            </a:lvl9pPr>
          </a:lstStyle>
          <a:p xmlns:a="http://schemas.openxmlformats.org/drawingml/2006/main">
            <a:pPr>
              <a:buNone/>
              <a:defRPr sz="4200" b="1">
                <a:solidFill>
                  <a:srgbClr val="3DDCF5"/>
                </a:solidFill>
                <a:latin typeface="Arial"/>
                <a:ea typeface="Arial"/>
                <a:cs typeface="Arial"/>
              </a:defRPr>
            </a:pPr>
            <a:r>
              <a:rPr sz="4200" b="1">
                <a:solidFill>
                  <a:srgbClr val="3DDCF5"/>
                </a:solidFill>
                <a:latin typeface="Arial"/>
                <a:ea typeface="Arial"/>
                <a:cs typeface="Arial"/>
              </a:rPr>
              <a:t>85,410</a:t>
            </a:r>
          </a:p>
        </p:txBody>
      </p:sp>
      <p:sp>
        <p:nvSpPr>
          <p:cNvPr id="13" name="integration-75">
            <a:extLst xmlns:a="http://schemas.openxmlformats.org/drawingml/2006/main">
              <a:ext uri="{FF2B5EF4-FFF2-40B4-BE49-F238E27FC236}">
                <a16:creationId xmlns:a16="http://schemas.microsoft.com/office/drawing/2014/main" id="{F73A1A9C-8189-4589-A42B-ED54AD4D2F07}"/>
              </a:ext>
            </a:extLst>
          </p:cNvPr>
          <p:cNvSpPr>
            <a:spLocks xmlns:a="http://schemas.openxmlformats.org/drawingml/2006/main" noGrp="1"/>
          </p:cNvSpPr>
          <p:nvPr/>
        </p:nvSpPr>
        <p:spPr>
          <a:xfrm xmlns:a="http://schemas.openxmlformats.org/drawingml/2006/main">
            <a:off x="4476750" y="40386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Completed loads</a:t>
            </a:r>
          </a:p>
        </p:txBody>
      </p:sp>
      <p:sp>
        <p:nvSpPr>
          <p:cNvPr id="14" name="integration-76">
            <a:extLst xmlns:a="http://schemas.openxmlformats.org/drawingml/2006/main">
              <a:ext uri="{FF2B5EF4-FFF2-40B4-BE49-F238E27FC236}">
                <a16:creationId xmlns:a16="http://schemas.microsoft.com/office/drawing/2014/main" id="{8E56E9F8-BD2B-4C90-8A3A-946EA68409A4}"/>
              </a:ext>
            </a:extLst>
          </p:cNvPr>
          <p:cNvSpPr>
            <a:spLocks xmlns:a="http://schemas.openxmlformats.org/drawingml/2006/main" noGrp="1"/>
          </p:cNvSpPr>
          <p:nvPr/>
        </p:nvSpPr>
        <p:spPr>
          <a:xfrm xmlns:a="http://schemas.openxmlformats.org/drawingml/2006/main">
            <a:off x="8382000" y="3276600"/>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200" b="1">
                <a:solidFill>
                  <a:srgbClr val="3DDCF5"/>
                </a:solidFill>
                <a:latin typeface="Arial"/>
                <a:ea typeface="Arial"/>
                <a:cs typeface="Arial"/>
              </a:defRPr>
            </a:lvl1pPr>
            <a:lvl2pPr>
              <a:buNone/>
              <a:defRPr sz="4200" b="1">
                <a:solidFill>
                  <a:srgbClr val="3DDCF5"/>
                </a:solidFill>
                <a:latin typeface="Arial"/>
                <a:ea typeface="Arial"/>
                <a:cs typeface="Arial"/>
              </a:defRPr>
            </a:lvl2pPr>
            <a:lvl3pPr>
              <a:buNone/>
              <a:defRPr sz="4200" b="1">
                <a:solidFill>
                  <a:srgbClr val="3DDCF5"/>
                </a:solidFill>
                <a:latin typeface="Arial"/>
                <a:ea typeface="Arial"/>
                <a:cs typeface="Arial"/>
              </a:defRPr>
            </a:lvl3pPr>
            <a:lvl4pPr>
              <a:buNone/>
              <a:defRPr sz="4200" b="1">
                <a:solidFill>
                  <a:srgbClr val="3DDCF5"/>
                </a:solidFill>
                <a:latin typeface="Arial"/>
                <a:ea typeface="Arial"/>
                <a:cs typeface="Arial"/>
              </a:defRPr>
            </a:lvl4pPr>
            <a:lvl5pPr>
              <a:buNone/>
              <a:defRPr sz="4200" b="1">
                <a:solidFill>
                  <a:srgbClr val="3DDCF5"/>
                </a:solidFill>
                <a:latin typeface="Arial"/>
                <a:ea typeface="Arial"/>
                <a:cs typeface="Arial"/>
              </a:defRPr>
            </a:lvl5pPr>
            <a:lvl6pPr>
              <a:buNone/>
              <a:defRPr sz="4200" b="1">
                <a:solidFill>
                  <a:srgbClr val="3DDCF5"/>
                </a:solidFill>
                <a:latin typeface="Arial"/>
                <a:ea typeface="Arial"/>
                <a:cs typeface="Arial"/>
              </a:defRPr>
            </a:lvl6pPr>
            <a:lvl7pPr>
              <a:buNone/>
              <a:defRPr sz="4200" b="1">
                <a:solidFill>
                  <a:srgbClr val="3DDCF5"/>
                </a:solidFill>
                <a:latin typeface="Arial"/>
                <a:ea typeface="Arial"/>
                <a:cs typeface="Arial"/>
              </a:defRPr>
            </a:lvl7pPr>
            <a:lvl8pPr>
              <a:buNone/>
              <a:defRPr sz="4200" b="1">
                <a:solidFill>
                  <a:srgbClr val="3DDCF5"/>
                </a:solidFill>
                <a:latin typeface="Arial"/>
                <a:ea typeface="Arial"/>
                <a:cs typeface="Arial"/>
              </a:defRPr>
            </a:lvl8pPr>
            <a:lvl9pPr>
              <a:buNone/>
              <a:defRPr sz="4200" b="1">
                <a:solidFill>
                  <a:srgbClr val="3DDCF5"/>
                </a:solidFill>
                <a:latin typeface="Arial"/>
                <a:ea typeface="Arial"/>
                <a:cs typeface="Arial"/>
              </a:defRPr>
            </a:lvl9pPr>
          </a:lstStyle>
          <a:p xmlns:a="http://schemas.openxmlformats.org/drawingml/2006/main">
            <a:pPr>
              <a:buNone/>
              <a:defRPr sz="4200" b="1">
                <a:solidFill>
                  <a:srgbClr val="3DDCF5"/>
                </a:solidFill>
                <a:latin typeface="Arial"/>
                <a:ea typeface="Arial"/>
                <a:cs typeface="Arial"/>
              </a:defRPr>
            </a:pPr>
            <a:r>
              <a:rPr sz="4200" b="1">
                <a:solidFill>
                  <a:srgbClr val="3DDCF5"/>
                </a:solidFill>
                <a:latin typeface="Arial"/>
                <a:ea typeface="Arial"/>
                <a:cs typeface="Arial"/>
              </a:rPr>
              <a:t>$1.29</a:t>
            </a:r>
          </a:p>
        </p:txBody>
      </p:sp>
      <p:sp>
        <p:nvSpPr>
          <p:cNvPr id="15" name="integration-77">
            <a:extLst xmlns:a="http://schemas.openxmlformats.org/drawingml/2006/main">
              <a:ext uri="{FF2B5EF4-FFF2-40B4-BE49-F238E27FC236}">
                <a16:creationId xmlns:a16="http://schemas.microsoft.com/office/drawing/2014/main" id="{9CCBB483-3E97-43D0-881B-0C89A5D49243}"/>
              </a:ext>
            </a:extLst>
          </p:cNvPr>
          <p:cNvSpPr>
            <a:spLocks xmlns:a="http://schemas.openxmlformats.org/drawingml/2006/main" noGrp="1"/>
          </p:cNvSpPr>
          <p:nvPr/>
        </p:nvSpPr>
        <p:spPr>
          <a:xfrm xmlns:a="http://schemas.openxmlformats.org/drawingml/2006/main">
            <a:off x="8382000" y="40386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Modeled cost per mile</a:t>
            </a:r>
          </a:p>
        </p:txBody>
      </p:sp>
      <p:sp>
        <p:nvSpPr>
          <p:cNvPr id="16" name="integration-78">
            <a:extLst xmlns:a="http://schemas.openxmlformats.org/drawingml/2006/main">
              <a:ext uri="{FF2B5EF4-FFF2-40B4-BE49-F238E27FC236}">
                <a16:creationId xmlns:a16="http://schemas.microsoft.com/office/drawing/2014/main" id="{E796896E-1A92-4194-AF89-1A07A737BB0F}"/>
              </a:ext>
            </a:extLst>
          </p:cNvPr>
          <p:cNvSpPr>
            <a:spLocks xmlns:a="http://schemas.openxmlformats.org/drawingml/2006/main" noGrp="1"/>
          </p:cNvSpPr>
          <p:nvPr/>
        </p:nvSpPr>
        <p:spPr>
          <a:xfrm xmlns:a="http://schemas.openxmlformats.org/drawingml/2006/main">
            <a:off x="571500" y="4572000"/>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200" b="1">
                <a:solidFill>
                  <a:srgbClr val="3DDCF5"/>
                </a:solidFill>
                <a:latin typeface="Arial"/>
                <a:ea typeface="Arial"/>
                <a:cs typeface="Arial"/>
              </a:defRPr>
            </a:lvl1pPr>
            <a:lvl2pPr>
              <a:buNone/>
              <a:defRPr sz="4200" b="1">
                <a:solidFill>
                  <a:srgbClr val="3DDCF5"/>
                </a:solidFill>
                <a:latin typeface="Arial"/>
                <a:ea typeface="Arial"/>
                <a:cs typeface="Arial"/>
              </a:defRPr>
            </a:lvl2pPr>
            <a:lvl3pPr>
              <a:buNone/>
              <a:defRPr sz="4200" b="1">
                <a:solidFill>
                  <a:srgbClr val="3DDCF5"/>
                </a:solidFill>
                <a:latin typeface="Arial"/>
                <a:ea typeface="Arial"/>
                <a:cs typeface="Arial"/>
              </a:defRPr>
            </a:lvl3pPr>
            <a:lvl4pPr>
              <a:buNone/>
              <a:defRPr sz="4200" b="1">
                <a:solidFill>
                  <a:srgbClr val="3DDCF5"/>
                </a:solidFill>
                <a:latin typeface="Arial"/>
                <a:ea typeface="Arial"/>
                <a:cs typeface="Arial"/>
              </a:defRPr>
            </a:lvl4pPr>
            <a:lvl5pPr>
              <a:buNone/>
              <a:defRPr sz="4200" b="1">
                <a:solidFill>
                  <a:srgbClr val="3DDCF5"/>
                </a:solidFill>
                <a:latin typeface="Arial"/>
                <a:ea typeface="Arial"/>
                <a:cs typeface="Arial"/>
              </a:defRPr>
            </a:lvl5pPr>
            <a:lvl6pPr>
              <a:buNone/>
              <a:defRPr sz="4200" b="1">
                <a:solidFill>
                  <a:srgbClr val="3DDCF5"/>
                </a:solidFill>
                <a:latin typeface="Arial"/>
                <a:ea typeface="Arial"/>
                <a:cs typeface="Arial"/>
              </a:defRPr>
            </a:lvl6pPr>
            <a:lvl7pPr>
              <a:buNone/>
              <a:defRPr sz="4200" b="1">
                <a:solidFill>
                  <a:srgbClr val="3DDCF5"/>
                </a:solidFill>
                <a:latin typeface="Arial"/>
                <a:ea typeface="Arial"/>
                <a:cs typeface="Arial"/>
              </a:defRPr>
            </a:lvl7pPr>
            <a:lvl8pPr>
              <a:buNone/>
              <a:defRPr sz="4200" b="1">
                <a:solidFill>
                  <a:srgbClr val="3DDCF5"/>
                </a:solidFill>
                <a:latin typeface="Arial"/>
                <a:ea typeface="Arial"/>
                <a:cs typeface="Arial"/>
              </a:defRPr>
            </a:lvl8pPr>
            <a:lvl9pPr>
              <a:buNone/>
              <a:defRPr sz="4200" b="1">
                <a:solidFill>
                  <a:srgbClr val="3DDCF5"/>
                </a:solidFill>
                <a:latin typeface="Arial"/>
                <a:ea typeface="Arial"/>
                <a:cs typeface="Arial"/>
              </a:defRPr>
            </a:lvl9pPr>
          </a:lstStyle>
          <a:p xmlns:a="http://schemas.openxmlformats.org/drawingml/2006/main">
            <a:pPr>
              <a:buNone/>
              <a:defRPr sz="4200" b="1">
                <a:solidFill>
                  <a:srgbClr val="3DDCF5"/>
                </a:solidFill>
                <a:latin typeface="Arial"/>
                <a:ea typeface="Arial"/>
                <a:cs typeface="Arial"/>
              </a:defRPr>
            </a:pPr>
            <a:r>
              <a:rPr sz="4200" b="1">
                <a:solidFill>
                  <a:srgbClr val="3DDCF5"/>
                </a:solidFill>
                <a:latin typeface="Arial"/>
                <a:ea typeface="Arial"/>
                <a:cs typeface="Arial"/>
              </a:rPr>
              <a:t>33.28%</a:t>
            </a:r>
          </a:p>
        </p:txBody>
      </p:sp>
      <p:sp>
        <p:nvSpPr>
          <p:cNvPr id="17" name="integration-79">
            <a:extLst xmlns:a="http://schemas.openxmlformats.org/drawingml/2006/main">
              <a:ext uri="{FF2B5EF4-FFF2-40B4-BE49-F238E27FC236}">
                <a16:creationId xmlns:a16="http://schemas.microsoft.com/office/drawing/2014/main" id="{C6D27D05-CBD2-4EC0-ACE4-22A7C3D24DCB}"/>
              </a:ext>
            </a:extLst>
          </p:cNvPr>
          <p:cNvSpPr>
            <a:spLocks xmlns:a="http://schemas.openxmlformats.org/drawingml/2006/main" noGrp="1"/>
          </p:cNvSpPr>
          <p:nvPr/>
        </p:nvSpPr>
        <p:spPr>
          <a:xfrm xmlns:a="http://schemas.openxmlformats.org/drawingml/2006/main">
            <a:off x="571500" y="53340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Delivery on-time rate</a:t>
            </a:r>
          </a:p>
        </p:txBody>
      </p:sp>
      <p:sp>
        <p:nvSpPr>
          <p:cNvPr id="18" name="integration-80">
            <a:extLst xmlns:a="http://schemas.openxmlformats.org/drawingml/2006/main">
              <a:ext uri="{FF2B5EF4-FFF2-40B4-BE49-F238E27FC236}">
                <a16:creationId xmlns:a16="http://schemas.microsoft.com/office/drawing/2014/main" id="{D8D4B943-6D4F-4C29-9A92-02D760ACD2B3}"/>
              </a:ext>
            </a:extLst>
          </p:cNvPr>
          <p:cNvSpPr>
            <a:spLocks xmlns:a="http://schemas.openxmlformats.org/drawingml/2006/main" noGrp="1"/>
          </p:cNvSpPr>
          <p:nvPr/>
        </p:nvSpPr>
        <p:spPr>
          <a:xfrm xmlns:a="http://schemas.openxmlformats.org/drawingml/2006/main">
            <a:off x="4476750" y="4572000"/>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200" b="1">
                <a:solidFill>
                  <a:srgbClr val="3DDCF5"/>
                </a:solidFill>
                <a:latin typeface="Arial"/>
                <a:ea typeface="Arial"/>
                <a:cs typeface="Arial"/>
              </a:defRPr>
            </a:lvl1pPr>
            <a:lvl2pPr>
              <a:buNone/>
              <a:defRPr sz="4200" b="1">
                <a:solidFill>
                  <a:srgbClr val="3DDCF5"/>
                </a:solidFill>
                <a:latin typeface="Arial"/>
                <a:ea typeface="Arial"/>
                <a:cs typeface="Arial"/>
              </a:defRPr>
            </a:lvl2pPr>
            <a:lvl3pPr>
              <a:buNone/>
              <a:defRPr sz="4200" b="1">
                <a:solidFill>
                  <a:srgbClr val="3DDCF5"/>
                </a:solidFill>
                <a:latin typeface="Arial"/>
                <a:ea typeface="Arial"/>
                <a:cs typeface="Arial"/>
              </a:defRPr>
            </a:lvl3pPr>
            <a:lvl4pPr>
              <a:buNone/>
              <a:defRPr sz="4200" b="1">
                <a:solidFill>
                  <a:srgbClr val="3DDCF5"/>
                </a:solidFill>
                <a:latin typeface="Arial"/>
                <a:ea typeface="Arial"/>
                <a:cs typeface="Arial"/>
              </a:defRPr>
            </a:lvl4pPr>
            <a:lvl5pPr>
              <a:buNone/>
              <a:defRPr sz="4200" b="1">
                <a:solidFill>
                  <a:srgbClr val="3DDCF5"/>
                </a:solidFill>
                <a:latin typeface="Arial"/>
                <a:ea typeface="Arial"/>
                <a:cs typeface="Arial"/>
              </a:defRPr>
            </a:lvl5pPr>
            <a:lvl6pPr>
              <a:buNone/>
              <a:defRPr sz="4200" b="1">
                <a:solidFill>
                  <a:srgbClr val="3DDCF5"/>
                </a:solidFill>
                <a:latin typeface="Arial"/>
                <a:ea typeface="Arial"/>
                <a:cs typeface="Arial"/>
              </a:defRPr>
            </a:lvl6pPr>
            <a:lvl7pPr>
              <a:buNone/>
              <a:defRPr sz="4200" b="1">
                <a:solidFill>
                  <a:srgbClr val="3DDCF5"/>
                </a:solidFill>
                <a:latin typeface="Arial"/>
                <a:ea typeface="Arial"/>
                <a:cs typeface="Arial"/>
              </a:defRPr>
            </a:lvl7pPr>
            <a:lvl8pPr>
              <a:buNone/>
              <a:defRPr sz="4200" b="1">
                <a:solidFill>
                  <a:srgbClr val="3DDCF5"/>
                </a:solidFill>
                <a:latin typeface="Arial"/>
                <a:ea typeface="Arial"/>
                <a:cs typeface="Arial"/>
              </a:defRPr>
            </a:lvl8pPr>
            <a:lvl9pPr>
              <a:buNone/>
              <a:defRPr sz="4200" b="1">
                <a:solidFill>
                  <a:srgbClr val="3DDCF5"/>
                </a:solidFill>
                <a:latin typeface="Arial"/>
                <a:ea typeface="Arial"/>
                <a:cs typeface="Arial"/>
              </a:defRPr>
            </a:lvl9pPr>
          </a:lstStyle>
          <a:p xmlns:a="http://schemas.openxmlformats.org/drawingml/2006/main">
            <a:pPr>
              <a:buNone/>
              <a:defRPr sz="4200" b="1">
                <a:solidFill>
                  <a:srgbClr val="3DDCF5"/>
                </a:solidFill>
                <a:latin typeface="Arial"/>
                <a:ea typeface="Arial"/>
                <a:cs typeface="Arial"/>
              </a:defRPr>
            </a:pPr>
            <a:r>
              <a:rPr sz="4200" b="1">
                <a:solidFill>
                  <a:srgbClr val="3DDCF5"/>
                </a:solidFill>
                <a:latin typeface="Arial"/>
                <a:ea typeface="Arial"/>
                <a:cs typeface="Arial"/>
              </a:rPr>
              <a:t>6.45</a:t>
            </a:r>
          </a:p>
        </p:txBody>
      </p:sp>
      <p:sp>
        <p:nvSpPr>
          <p:cNvPr id="19" name="integration-81">
            <a:extLst xmlns:a="http://schemas.openxmlformats.org/drawingml/2006/main">
              <a:ext uri="{FF2B5EF4-FFF2-40B4-BE49-F238E27FC236}">
                <a16:creationId xmlns:a16="http://schemas.microsoft.com/office/drawing/2014/main" id="{4FD1CE16-18C3-410F-AE02-E5DE60BDD832}"/>
              </a:ext>
            </a:extLst>
          </p:cNvPr>
          <p:cNvSpPr>
            <a:spLocks xmlns:a="http://schemas.openxmlformats.org/drawingml/2006/main" noGrp="1"/>
          </p:cNvSpPr>
          <p:nvPr/>
        </p:nvSpPr>
        <p:spPr>
          <a:xfrm xmlns:a="http://schemas.openxmlformats.org/drawingml/2006/main">
            <a:off x="4476750" y="53340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Trip miles per gallon</a:t>
            </a:r>
          </a:p>
        </p:txBody>
      </p:sp>
      <p:sp>
        <p:nvSpPr>
          <p:cNvPr id="20" name="integration-82">
            <a:extLst xmlns:a="http://schemas.openxmlformats.org/drawingml/2006/main">
              <a:ext uri="{FF2B5EF4-FFF2-40B4-BE49-F238E27FC236}">
                <a16:creationId xmlns:a16="http://schemas.microsoft.com/office/drawing/2014/main" id="{C5394505-8469-4862-B2B6-8E65824ADF27}"/>
              </a:ext>
            </a:extLst>
          </p:cNvPr>
          <p:cNvSpPr>
            <a:spLocks xmlns:a="http://schemas.openxmlformats.org/drawingml/2006/main" noGrp="1"/>
          </p:cNvSpPr>
          <p:nvPr/>
        </p:nvSpPr>
        <p:spPr>
          <a:xfrm xmlns:a="http://schemas.openxmlformats.org/drawingml/2006/main">
            <a:off x="8382000" y="4572000"/>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200" b="1">
                <a:solidFill>
                  <a:srgbClr val="3DDCF5"/>
                </a:solidFill>
                <a:latin typeface="Arial"/>
                <a:ea typeface="Arial"/>
                <a:cs typeface="Arial"/>
              </a:defRPr>
            </a:lvl1pPr>
            <a:lvl2pPr>
              <a:buNone/>
              <a:defRPr sz="4200" b="1">
                <a:solidFill>
                  <a:srgbClr val="3DDCF5"/>
                </a:solidFill>
                <a:latin typeface="Arial"/>
                <a:ea typeface="Arial"/>
                <a:cs typeface="Arial"/>
              </a:defRPr>
            </a:lvl2pPr>
            <a:lvl3pPr>
              <a:buNone/>
              <a:defRPr sz="4200" b="1">
                <a:solidFill>
                  <a:srgbClr val="3DDCF5"/>
                </a:solidFill>
                <a:latin typeface="Arial"/>
                <a:ea typeface="Arial"/>
                <a:cs typeface="Arial"/>
              </a:defRPr>
            </a:lvl3pPr>
            <a:lvl4pPr>
              <a:buNone/>
              <a:defRPr sz="4200" b="1">
                <a:solidFill>
                  <a:srgbClr val="3DDCF5"/>
                </a:solidFill>
                <a:latin typeface="Arial"/>
                <a:ea typeface="Arial"/>
                <a:cs typeface="Arial"/>
              </a:defRPr>
            </a:lvl4pPr>
            <a:lvl5pPr>
              <a:buNone/>
              <a:defRPr sz="4200" b="1">
                <a:solidFill>
                  <a:srgbClr val="3DDCF5"/>
                </a:solidFill>
                <a:latin typeface="Arial"/>
                <a:ea typeface="Arial"/>
                <a:cs typeface="Arial"/>
              </a:defRPr>
            </a:lvl5pPr>
            <a:lvl6pPr>
              <a:buNone/>
              <a:defRPr sz="4200" b="1">
                <a:solidFill>
                  <a:srgbClr val="3DDCF5"/>
                </a:solidFill>
                <a:latin typeface="Arial"/>
                <a:ea typeface="Arial"/>
                <a:cs typeface="Arial"/>
              </a:defRPr>
            </a:lvl6pPr>
            <a:lvl7pPr>
              <a:buNone/>
              <a:defRPr sz="4200" b="1">
                <a:solidFill>
                  <a:srgbClr val="3DDCF5"/>
                </a:solidFill>
                <a:latin typeface="Arial"/>
                <a:ea typeface="Arial"/>
                <a:cs typeface="Arial"/>
              </a:defRPr>
            </a:lvl7pPr>
            <a:lvl8pPr>
              <a:buNone/>
              <a:defRPr sz="4200" b="1">
                <a:solidFill>
                  <a:srgbClr val="3DDCF5"/>
                </a:solidFill>
                <a:latin typeface="Arial"/>
                <a:ea typeface="Arial"/>
                <a:cs typeface="Arial"/>
              </a:defRPr>
            </a:lvl8pPr>
            <a:lvl9pPr>
              <a:buNone/>
              <a:defRPr sz="4200" b="1">
                <a:solidFill>
                  <a:srgbClr val="3DDCF5"/>
                </a:solidFill>
                <a:latin typeface="Arial"/>
                <a:ea typeface="Arial"/>
                <a:cs typeface="Arial"/>
              </a:defRPr>
            </a:lvl9pPr>
          </a:lstStyle>
          <a:p xmlns:a="http://schemas.openxmlformats.org/drawingml/2006/main">
            <a:pPr>
              <a:buNone/>
              <a:defRPr sz="4200" b="1">
                <a:solidFill>
                  <a:srgbClr val="3DDCF5"/>
                </a:solidFill>
                <a:latin typeface="Arial"/>
                <a:ea typeface="Arial"/>
                <a:cs typeface="Arial"/>
              </a:defRPr>
            </a:pPr>
            <a:r>
              <a:rPr sz="4200" b="1">
                <a:solidFill>
                  <a:srgbClr val="3DDCF5"/>
                </a:solidFill>
                <a:latin typeface="Arial"/>
                <a:ea typeface="Arial"/>
                <a:cs typeface="Arial"/>
              </a:rPr>
              <a:t>1.99</a:t>
            </a:r>
          </a:p>
        </p:txBody>
      </p:sp>
      <p:sp>
        <p:nvSpPr>
          <p:cNvPr id="21" name="integration-83">
            <a:extLst xmlns:a="http://schemas.openxmlformats.org/drawingml/2006/main">
              <a:ext uri="{FF2B5EF4-FFF2-40B4-BE49-F238E27FC236}">
                <a16:creationId xmlns:a16="http://schemas.microsoft.com/office/drawing/2014/main" id="{AC52D542-4FAB-4062-A224-34C626E87A81}"/>
              </a:ext>
            </a:extLst>
          </p:cNvPr>
          <p:cNvSpPr>
            <a:spLocks xmlns:a="http://schemas.openxmlformats.org/drawingml/2006/main" noGrp="1"/>
          </p:cNvSpPr>
          <p:nvPr/>
        </p:nvSpPr>
        <p:spPr>
          <a:xfrm xmlns:a="http://schemas.openxmlformats.org/drawingml/2006/main">
            <a:off x="8382000" y="53340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Incidents per 1,000 trips</a:t>
            </a:r>
          </a:p>
        </p:txBody>
      </p:sp>
      <p:sp>
        <p:nvSpPr>
          <p:cNvPr id="22" name="integration-127">
            <a:extLst xmlns:a="http://schemas.openxmlformats.org/drawingml/2006/main">
              <a:ext uri="{FF2B5EF4-FFF2-40B4-BE49-F238E27FC236}">
                <a16:creationId xmlns:a16="http://schemas.microsoft.com/office/drawing/2014/main" id="{FC8CD487-703F-4F11-A828-35A1E631AFFE}"/>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10</a:t>
            </a:r>
          </a:p>
        </p:txBody>
      </p:sp>
    </p:spTree>
    <p:extLst>
      <p:ext uri="{BB962C8B-B14F-4D97-AF65-F5344CB8AC3E}">
        <p14:creationId xmlns:p14="http://schemas.microsoft.com/office/powerpoint/2010/main" val="1180315083"/>
      </p:ext>
    </p:extLst>
  </p:cSld>
</p:sld>
</file>

<file path=ppt/slides/slide11.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graphicFrame>
        <p:nvGraphicFramePr>
          <p:cNvPr id="20" name="Chart"/>
          <p:cNvGraphicFramePr/>
          <p:nvPr/>
        </p:nvGraphicFramePr>
        <p:xfrm>
          <a:off xmlns:a="http://schemas.openxmlformats.org/drawingml/2006/main" x="381000" y="2362200"/>
          <a:ext xmlns:a="http://schemas.openxmlformats.org/drawingml/2006/main" cx="7143750" cy="3333750"/>
        </p:xfrm>
        <a:graphic xmlns:a="http://schemas.openxmlformats.org/drawingml/2006/main">
          <a:graphicData uri="http://schemas.openxmlformats.org/drawingml/2006/chart">
            <c:chart xmlns:r="http://schemas.openxmlformats.org/officeDocument/2006/relationships" xmlns:c="http://schemas.openxmlformats.org/drawingml/2006/chart" r:id="Ra066342584da47d6"/>
          </a:graphicData>
        </a:graphic>
      </p:graphicFrame>
      <p:sp>
        <p:nvSpPr>
          <p:cNvPr id="11" name="">
            <a:extLst xmlns:a="http://schemas.openxmlformats.org/drawingml/2006/main">
              <a:ext uri="{FF2B5EF4-FFF2-40B4-BE49-F238E27FC236}">
                <a16:creationId xmlns:a16="http://schemas.microsoft.com/office/drawing/2014/main" id="{0C804381-5C5C-484E-B112-F8E7F92961C4}"/>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OUR FIRST FINDING: COMPANY OVERVIEW</a:t>
            </a:r>
          </a:p>
        </p:txBody>
      </p:sp>
      <p:sp>
        <p:nvSpPr>
          <p:cNvPr id="2" name="">
            <a:extLst xmlns:a="http://schemas.openxmlformats.org/drawingml/2006/main">
              <a:ext uri="{FF2B5EF4-FFF2-40B4-BE49-F238E27FC236}">
                <a16:creationId xmlns:a16="http://schemas.microsoft.com/office/drawing/2014/main" id="{3C80FB61-B9D0-4D6B-BBDA-67BF62C56C37}"/>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150" b="1">
                <a:solidFill>
                  <a:srgbClr val="F2F6FF"/>
                </a:solidFill>
                <a:latin typeface="Arial"/>
                <a:ea typeface="Arial"/>
                <a:cs typeface="Arial"/>
              </a:defRPr>
            </a:pPr>
            <a:r>
              <a:rPr sz="3150" b="1">
                <a:solidFill>
                  <a:srgbClr val="F2F6FF"/>
                </a:solidFill>
                <a:latin typeface="Arial"/>
                <a:ea typeface="Arial"/>
                <a:cs typeface="Arial"/>
              </a:rPr>
              <a:t>Revenue was stable while the mix of work changed</a:t>
            </a:r>
          </a:p>
        </p:txBody>
      </p:sp>
      <p:sp>
        <p:nvSpPr>
          <p:cNvPr id="10" name="">
            <a:extLst xmlns:a="http://schemas.openxmlformats.org/drawingml/2006/main">
              <a:ext uri="{FF2B5EF4-FFF2-40B4-BE49-F238E27FC236}">
                <a16:creationId xmlns:a16="http://schemas.microsoft.com/office/drawing/2014/main" id="{CD5FF379-58F7-4EBA-B38B-F686B6806F36}"/>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11</a:t>
            </a:r>
          </a:p>
        </p:txBody>
      </p:sp>
      <p:sp>
        <p:nvSpPr>
          <p:cNvPr id="9" name="">
            <a:extLst xmlns:a="http://schemas.openxmlformats.org/drawingml/2006/main">
              <a:ext uri="{FF2B5EF4-FFF2-40B4-BE49-F238E27FC236}">
                <a16:creationId xmlns:a16="http://schemas.microsoft.com/office/drawing/2014/main" id="{95BC791F-C810-4D4F-81B0-F12A9B1E1ECD}"/>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Volume recovery did not fully translate into yield growth</a:t>
            </a:r>
          </a:p>
        </p:txBody>
      </p:sp>
      <p:sp>
        <p:nvSpPr>
          <p:cNvPr id="3" name="">
            <a:extLst xmlns:a="http://schemas.openxmlformats.org/drawingml/2006/main">
              <a:ext uri="{FF2B5EF4-FFF2-40B4-BE49-F238E27FC236}">
                <a16:creationId xmlns:a16="http://schemas.microsoft.com/office/drawing/2014/main" id="{BA24D974-EB0F-4CA5-9578-B50B34D40C7D}"/>
              </a:ext>
            </a:extLst>
          </p:cNvPr>
          <p:cNvSpPr>
            <a:spLocks xmlns:a="http://schemas.openxmlformats.org/drawingml/2006/main" noGrp="1"/>
          </p:cNvSpPr>
          <p:nvPr/>
        </p:nvSpPr>
        <p:spPr>
          <a:xfrm xmlns:a="http://schemas.openxmlformats.org/drawingml/2006/main">
            <a:off x="571500" y="2009775"/>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1">
                <a:solidFill>
                  <a:srgbClr val="546B7C"/>
                </a:solidFill>
                <a:latin typeface="Arial"/>
                <a:ea typeface="Arial"/>
                <a:cs typeface="Arial"/>
              </a:defRPr>
            </a:lvl1pPr>
            <a:lvl2pPr>
              <a:buNone/>
              <a:defRPr sz="1650" b="1">
                <a:solidFill>
                  <a:srgbClr val="546B7C"/>
                </a:solidFill>
                <a:latin typeface="Arial"/>
                <a:ea typeface="Arial"/>
                <a:cs typeface="Arial"/>
              </a:defRPr>
            </a:lvl2pPr>
            <a:lvl3pPr>
              <a:buNone/>
              <a:defRPr sz="1650" b="1">
                <a:solidFill>
                  <a:srgbClr val="546B7C"/>
                </a:solidFill>
                <a:latin typeface="Arial"/>
                <a:ea typeface="Arial"/>
                <a:cs typeface="Arial"/>
              </a:defRPr>
            </a:lvl3pPr>
            <a:lvl4pPr>
              <a:buNone/>
              <a:defRPr sz="1650" b="1">
                <a:solidFill>
                  <a:srgbClr val="546B7C"/>
                </a:solidFill>
                <a:latin typeface="Arial"/>
                <a:ea typeface="Arial"/>
                <a:cs typeface="Arial"/>
              </a:defRPr>
            </a:lvl4pPr>
            <a:lvl5pPr>
              <a:buNone/>
              <a:defRPr sz="1650" b="1">
                <a:solidFill>
                  <a:srgbClr val="546B7C"/>
                </a:solidFill>
                <a:latin typeface="Arial"/>
                <a:ea typeface="Arial"/>
                <a:cs typeface="Arial"/>
              </a:defRPr>
            </a:lvl5pPr>
            <a:lvl6pPr>
              <a:buNone/>
              <a:defRPr sz="1650" b="1">
                <a:solidFill>
                  <a:srgbClr val="546B7C"/>
                </a:solidFill>
                <a:latin typeface="Arial"/>
                <a:ea typeface="Arial"/>
                <a:cs typeface="Arial"/>
              </a:defRPr>
            </a:lvl6pPr>
            <a:lvl7pPr>
              <a:buNone/>
              <a:defRPr sz="1650" b="1">
                <a:solidFill>
                  <a:srgbClr val="546B7C"/>
                </a:solidFill>
                <a:latin typeface="Arial"/>
                <a:ea typeface="Arial"/>
                <a:cs typeface="Arial"/>
              </a:defRPr>
            </a:lvl7pPr>
            <a:lvl8pPr>
              <a:buNone/>
              <a:defRPr sz="1650" b="1">
                <a:solidFill>
                  <a:srgbClr val="546B7C"/>
                </a:solidFill>
                <a:latin typeface="Arial"/>
                <a:ea typeface="Arial"/>
                <a:cs typeface="Arial"/>
              </a:defRPr>
            </a:lvl8pPr>
            <a:lvl9pPr>
              <a:buNone/>
              <a:defRPr sz="1650" b="1">
                <a:solidFill>
                  <a:srgbClr val="546B7C"/>
                </a:solidFill>
                <a:latin typeface="Arial"/>
                <a:ea typeface="Arial"/>
                <a:cs typeface="Arial"/>
              </a:defRPr>
            </a:lvl9pPr>
          </a:lstStyle>
          <a:p xmlns:a="http://schemas.openxmlformats.org/drawingml/2006/main">
            <a:pPr>
              <a:buNone/>
              <a:defRPr sz="1575" b="1">
                <a:solidFill>
                  <a:srgbClr val="A8BDD4"/>
                </a:solidFill>
                <a:latin typeface="Arial"/>
                <a:ea typeface="Arial"/>
                <a:cs typeface="Arial"/>
              </a:defRPr>
            </a:pPr>
            <a:r>
              <a:rPr sz="1575" b="1">
                <a:solidFill>
                  <a:srgbClr val="A8BDD4"/>
                </a:solidFill>
                <a:latin typeface="Arial"/>
                <a:ea typeface="Arial"/>
                <a:cs typeface="Arial"/>
              </a:rPr>
              <a:t>Revenue, $M</a:t>
            </a:r>
          </a:p>
        </p:txBody>
      </p:sp>
      <p:sp>
        <p:nvSpPr>
          <p:cNvPr id="12" name="callout-panel-1">
            <a:extLst xmlns:a="http://schemas.openxmlformats.org/drawingml/2006/main">
              <a:ext uri="{FF2B5EF4-FFF2-40B4-BE49-F238E27FC236}">
                <a16:creationId xmlns:a16="http://schemas.microsoft.com/office/drawing/2014/main" id="{5BA05E94-BE8D-4721-841A-A60243BEC667}"/>
              </a:ext>
            </a:extLst>
          </p:cNvPr>
          <p:cNvSpPr>
            <a:spLocks xmlns:a="http://schemas.openxmlformats.org/drawingml/2006/main" noGrp="1"/>
          </p:cNvSpPr>
          <p:nvPr/>
        </p:nvSpPr>
        <p:spPr>
          <a:xfrm xmlns:a="http://schemas.openxmlformats.org/drawingml/2006/main">
            <a:off x="7762875" y="1943100"/>
            <a:ext cx="4000500" cy="3838575"/>
          </a:xfrm>
          <a:prstGeom xmlns:a="http://schemas.openxmlformats.org/drawingml/2006/main" prst="rect">
            <a:avLst/>
          </a:prstGeom>
          <a:solidFill xmlns:a="http://schemas.openxmlformats.org/drawingml/2006/main">
            <a:srgbClr val="0B182A"/>
          </a:solidFill>
          <a:ln xmlns:a="http://schemas.openxmlformats.org/drawingml/2006/main" w="0">
            <a:noFill/>
          </a:ln>
        </p:spPr>
      </p:sp>
      <p:sp>
        <p:nvSpPr>
          <p:cNvPr id="13" name="callout-rule-2">
            <a:extLst xmlns:a="http://schemas.openxmlformats.org/drawingml/2006/main">
              <a:ext uri="{FF2B5EF4-FFF2-40B4-BE49-F238E27FC236}">
                <a16:creationId xmlns:a16="http://schemas.microsoft.com/office/drawing/2014/main" id="{CFB6ACAE-1D8E-4903-8CFF-A7C26AE4E1B4}"/>
              </a:ext>
            </a:extLst>
          </p:cNvPr>
          <p:cNvSpPr>
            <a:spLocks xmlns:a="http://schemas.openxmlformats.org/drawingml/2006/main" noGrp="1"/>
          </p:cNvSpPr>
          <p:nvPr/>
        </p:nvSpPr>
        <p:spPr>
          <a:xfrm xmlns:a="http://schemas.openxmlformats.org/drawingml/2006/main">
            <a:off x="7762875" y="1943100"/>
            <a:ext cx="495300" cy="19050"/>
          </a:xfrm>
          <a:prstGeom xmlns:a="http://schemas.openxmlformats.org/drawingml/2006/main" prst="rect">
            <a:avLst/>
          </a:prstGeom>
          <a:solidFill xmlns:a="http://schemas.openxmlformats.org/drawingml/2006/main">
            <a:srgbClr val="3278FF"/>
          </a:solidFill>
          <a:ln xmlns:a="http://schemas.openxmlformats.org/drawingml/2006/main" w="0">
            <a:noFill/>
          </a:ln>
        </p:spPr>
      </p:sp>
      <p:sp>
        <p:nvSpPr>
          <p:cNvPr id="14" name="callout-rule-3">
            <a:extLst xmlns:a="http://schemas.openxmlformats.org/drawingml/2006/main">
              <a:ext uri="{FF2B5EF4-FFF2-40B4-BE49-F238E27FC236}">
                <a16:creationId xmlns:a16="http://schemas.microsoft.com/office/drawing/2014/main" id="{F7C5DDA9-5C0F-482D-AA20-B1CBC9C7D4A1}"/>
              </a:ext>
            </a:extLst>
          </p:cNvPr>
          <p:cNvSpPr>
            <a:spLocks xmlns:a="http://schemas.openxmlformats.org/drawingml/2006/main" noGrp="1"/>
          </p:cNvSpPr>
          <p:nvPr/>
        </p:nvSpPr>
        <p:spPr>
          <a:xfrm xmlns:a="http://schemas.openxmlformats.org/drawingml/2006/main">
            <a:off x="7762875" y="3895725"/>
            <a:ext cx="49530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
        <p:nvSpPr>
          <p:cNvPr id="15" name="enhancement-4">
            <a:extLst xmlns:a="http://schemas.openxmlformats.org/drawingml/2006/main">
              <a:ext uri="{FF2B5EF4-FFF2-40B4-BE49-F238E27FC236}">
                <a16:creationId xmlns:a16="http://schemas.microsoft.com/office/drawing/2014/main" id="{7059856B-6FF6-4831-B51D-DBB26D7B90AB}"/>
              </a:ext>
            </a:extLst>
          </p:cNvPr>
          <p:cNvSpPr>
            <a:spLocks xmlns:a="http://schemas.openxmlformats.org/drawingml/2006/main" noGrp="1"/>
          </p:cNvSpPr>
          <p:nvPr/>
        </p:nvSpPr>
        <p:spPr>
          <a:xfrm xmlns:a="http://schemas.openxmlformats.org/drawingml/2006/main">
            <a:off x="7972425" y="2028825"/>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278FF"/>
                </a:solidFill>
                <a:latin typeface="Arial"/>
                <a:ea typeface="Arial"/>
                <a:cs typeface="Arial"/>
              </a:defRPr>
            </a:lvl1pPr>
            <a:lvl2pPr>
              <a:buNone/>
              <a:defRPr sz="1575" b="1">
                <a:solidFill>
                  <a:srgbClr val="3278FF"/>
                </a:solidFill>
                <a:latin typeface="Arial"/>
                <a:ea typeface="Arial"/>
                <a:cs typeface="Arial"/>
              </a:defRPr>
            </a:lvl2pPr>
            <a:lvl3pPr>
              <a:buNone/>
              <a:defRPr sz="1575" b="1">
                <a:solidFill>
                  <a:srgbClr val="3278FF"/>
                </a:solidFill>
                <a:latin typeface="Arial"/>
                <a:ea typeface="Arial"/>
                <a:cs typeface="Arial"/>
              </a:defRPr>
            </a:lvl3pPr>
            <a:lvl4pPr>
              <a:buNone/>
              <a:defRPr sz="1575" b="1">
                <a:solidFill>
                  <a:srgbClr val="3278FF"/>
                </a:solidFill>
                <a:latin typeface="Arial"/>
                <a:ea typeface="Arial"/>
                <a:cs typeface="Arial"/>
              </a:defRPr>
            </a:lvl4pPr>
            <a:lvl5pPr>
              <a:buNone/>
              <a:defRPr sz="1575" b="1">
                <a:solidFill>
                  <a:srgbClr val="3278FF"/>
                </a:solidFill>
                <a:latin typeface="Arial"/>
                <a:ea typeface="Arial"/>
                <a:cs typeface="Arial"/>
              </a:defRPr>
            </a:lvl5pPr>
            <a:lvl6pPr>
              <a:buNone/>
              <a:defRPr sz="1575" b="1">
                <a:solidFill>
                  <a:srgbClr val="3278FF"/>
                </a:solidFill>
                <a:latin typeface="Arial"/>
                <a:ea typeface="Arial"/>
                <a:cs typeface="Arial"/>
              </a:defRPr>
            </a:lvl6pPr>
            <a:lvl7pPr>
              <a:buNone/>
              <a:defRPr sz="1575" b="1">
                <a:solidFill>
                  <a:srgbClr val="3278FF"/>
                </a:solidFill>
                <a:latin typeface="Arial"/>
                <a:ea typeface="Arial"/>
                <a:cs typeface="Arial"/>
              </a:defRPr>
            </a:lvl7pPr>
            <a:lvl8pPr>
              <a:buNone/>
              <a:defRPr sz="1575" b="1">
                <a:solidFill>
                  <a:srgbClr val="3278FF"/>
                </a:solidFill>
                <a:latin typeface="Arial"/>
                <a:ea typeface="Arial"/>
                <a:cs typeface="Arial"/>
              </a:defRPr>
            </a:lvl8pPr>
            <a:lvl9pPr>
              <a:buNone/>
              <a:defRPr sz="1575" b="1">
                <a:solidFill>
                  <a:srgbClr val="3278FF"/>
                </a:solidFill>
                <a:latin typeface="Arial"/>
                <a:ea typeface="Arial"/>
                <a:cs typeface="Arial"/>
              </a:defRPr>
            </a:lvl9pPr>
          </a:lstStyle>
          <a:p xmlns:a="http://schemas.openxmlformats.org/drawingml/2006/main">
            <a:pPr>
              <a:buNone/>
              <a:defRPr sz="1575" b="1">
                <a:solidFill>
                  <a:srgbClr val="3278FF"/>
                </a:solidFill>
                <a:latin typeface="Arial"/>
                <a:ea typeface="Arial"/>
                <a:cs typeface="Arial"/>
              </a:defRPr>
            </a:pPr>
            <a:r>
              <a:rPr sz="1575" b="1">
                <a:solidFill>
                  <a:srgbClr val="3278FF"/>
                </a:solidFill>
                <a:latin typeface="Arial"/>
                <a:ea typeface="Arial"/>
                <a:cs typeface="Arial"/>
              </a:rPr>
              <a:t>PROBLEM</a:t>
            </a:r>
          </a:p>
        </p:txBody>
      </p:sp>
      <p:sp>
        <p:nvSpPr>
          <p:cNvPr id="16" name="enhancement-5">
            <a:extLst xmlns:a="http://schemas.openxmlformats.org/drawingml/2006/main">
              <a:ext uri="{FF2B5EF4-FFF2-40B4-BE49-F238E27FC236}">
                <a16:creationId xmlns:a16="http://schemas.microsoft.com/office/drawing/2014/main" id="{F43EE898-A4E0-4064-9C28-DA59ACC76504}"/>
              </a:ext>
            </a:extLst>
          </p:cNvPr>
          <p:cNvSpPr>
            <a:spLocks xmlns:a="http://schemas.openxmlformats.org/drawingml/2006/main" noGrp="1"/>
          </p:cNvSpPr>
          <p:nvPr/>
        </p:nvSpPr>
        <p:spPr>
          <a:xfrm xmlns:a="http://schemas.openxmlformats.org/drawingml/2006/main">
            <a:off x="7972425" y="2514600"/>
            <a:ext cx="3581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F2F6FF"/>
                </a:solidFill>
                <a:latin typeface="Arial"/>
                <a:ea typeface="Arial"/>
                <a:cs typeface="Arial"/>
              </a:defRPr>
            </a:lvl1pPr>
            <a:lvl2pPr>
              <a:buNone/>
              <a:defRPr sz="1875" b="0">
                <a:solidFill>
                  <a:srgbClr val="F2F6FF"/>
                </a:solidFill>
                <a:latin typeface="Arial"/>
                <a:ea typeface="Arial"/>
                <a:cs typeface="Arial"/>
              </a:defRPr>
            </a:lvl2pPr>
            <a:lvl3pPr>
              <a:buNone/>
              <a:defRPr sz="1875" b="0">
                <a:solidFill>
                  <a:srgbClr val="F2F6FF"/>
                </a:solidFill>
                <a:latin typeface="Arial"/>
                <a:ea typeface="Arial"/>
                <a:cs typeface="Arial"/>
              </a:defRPr>
            </a:lvl3pPr>
            <a:lvl4pPr>
              <a:buNone/>
              <a:defRPr sz="1875" b="0">
                <a:solidFill>
                  <a:srgbClr val="F2F6FF"/>
                </a:solidFill>
                <a:latin typeface="Arial"/>
                <a:ea typeface="Arial"/>
                <a:cs typeface="Arial"/>
              </a:defRPr>
            </a:lvl4pPr>
            <a:lvl5pPr>
              <a:buNone/>
              <a:defRPr sz="1875" b="0">
                <a:solidFill>
                  <a:srgbClr val="F2F6FF"/>
                </a:solidFill>
                <a:latin typeface="Arial"/>
                <a:ea typeface="Arial"/>
                <a:cs typeface="Arial"/>
              </a:defRPr>
            </a:lvl5pPr>
            <a:lvl6pPr>
              <a:buNone/>
              <a:defRPr sz="1875" b="0">
                <a:solidFill>
                  <a:srgbClr val="F2F6FF"/>
                </a:solidFill>
                <a:latin typeface="Arial"/>
                <a:ea typeface="Arial"/>
                <a:cs typeface="Arial"/>
              </a:defRPr>
            </a:lvl6pPr>
            <a:lvl7pPr>
              <a:buNone/>
              <a:defRPr sz="1875" b="0">
                <a:solidFill>
                  <a:srgbClr val="F2F6FF"/>
                </a:solidFill>
                <a:latin typeface="Arial"/>
                <a:ea typeface="Arial"/>
                <a:cs typeface="Arial"/>
              </a:defRPr>
            </a:lvl7pPr>
            <a:lvl8pPr>
              <a:buNone/>
              <a:defRPr sz="1875" b="0">
                <a:solidFill>
                  <a:srgbClr val="F2F6FF"/>
                </a:solidFill>
                <a:latin typeface="Arial"/>
                <a:ea typeface="Arial"/>
                <a:cs typeface="Arial"/>
              </a:defRPr>
            </a:lvl8pPr>
            <a:lvl9pPr>
              <a:buNone/>
              <a:defRPr sz="1875" b="0">
                <a:solidFill>
                  <a:srgbClr val="F2F6FF"/>
                </a:solidFill>
                <a:latin typeface="Arial"/>
                <a:ea typeface="Arial"/>
                <a:cs typeface="Arial"/>
              </a:defRPr>
            </a:lvl9pPr>
          </a:lstStyle>
          <a:p xmlns:a="http://schemas.openxmlformats.org/drawingml/2006/main">
            <a:pPr>
              <a:buNone/>
              <a:defRPr sz="1875" b="0">
                <a:solidFill>
                  <a:srgbClr val="F2F6FF"/>
                </a:solidFill>
                <a:latin typeface="Arial"/>
                <a:ea typeface="Arial"/>
                <a:cs typeface="Arial"/>
              </a:defRPr>
            </a:pPr>
            <a:r>
              <a:rPr sz="1875" b="0">
                <a:solidFill>
                  <a:srgbClr val="F2F6FF"/>
                </a:solidFill>
                <a:latin typeface="Arial"/>
                <a:ea typeface="Arial"/>
                <a:cs typeface="Arial"/>
              </a:rPr>
              <a:t>2024 loads grew 1.74%, revenue grew 0.89%, and revenue per load fell 0.84%. The aggregate requires a mix check.</a:t>
            </a:r>
          </a:p>
        </p:txBody>
      </p:sp>
      <p:sp>
        <p:nvSpPr>
          <p:cNvPr id="17" name="enhancement-6">
            <a:extLst xmlns:a="http://schemas.openxmlformats.org/drawingml/2006/main">
              <a:ext uri="{FF2B5EF4-FFF2-40B4-BE49-F238E27FC236}">
                <a16:creationId xmlns:a16="http://schemas.microsoft.com/office/drawing/2014/main" id="{AEA41441-CBC0-46A2-A182-10024CB4C1DF}"/>
              </a:ext>
            </a:extLst>
          </p:cNvPr>
          <p:cNvSpPr>
            <a:spLocks xmlns:a="http://schemas.openxmlformats.org/drawingml/2006/main" noGrp="1"/>
          </p:cNvSpPr>
          <p:nvPr/>
        </p:nvSpPr>
        <p:spPr>
          <a:xfrm xmlns:a="http://schemas.openxmlformats.org/drawingml/2006/main">
            <a:off x="7972425" y="39814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DDCF5"/>
                </a:solidFill>
                <a:latin typeface="Arial"/>
                <a:ea typeface="Arial"/>
                <a:cs typeface="Arial"/>
              </a:defRPr>
            </a:lvl1pPr>
            <a:lvl2pPr>
              <a:buNone/>
              <a:defRPr sz="1575" b="1">
                <a:solidFill>
                  <a:srgbClr val="3DDCF5"/>
                </a:solidFill>
                <a:latin typeface="Arial"/>
                <a:ea typeface="Arial"/>
                <a:cs typeface="Arial"/>
              </a:defRPr>
            </a:lvl2pPr>
            <a:lvl3pPr>
              <a:buNone/>
              <a:defRPr sz="1575" b="1">
                <a:solidFill>
                  <a:srgbClr val="3DDCF5"/>
                </a:solidFill>
                <a:latin typeface="Arial"/>
                <a:ea typeface="Arial"/>
                <a:cs typeface="Arial"/>
              </a:defRPr>
            </a:lvl3pPr>
            <a:lvl4pPr>
              <a:buNone/>
              <a:defRPr sz="1575" b="1">
                <a:solidFill>
                  <a:srgbClr val="3DDCF5"/>
                </a:solidFill>
                <a:latin typeface="Arial"/>
                <a:ea typeface="Arial"/>
                <a:cs typeface="Arial"/>
              </a:defRPr>
            </a:lvl4pPr>
            <a:lvl5pPr>
              <a:buNone/>
              <a:defRPr sz="1575" b="1">
                <a:solidFill>
                  <a:srgbClr val="3DDCF5"/>
                </a:solidFill>
                <a:latin typeface="Arial"/>
                <a:ea typeface="Arial"/>
                <a:cs typeface="Arial"/>
              </a:defRPr>
            </a:lvl5pPr>
            <a:lvl6pPr>
              <a:buNone/>
              <a:defRPr sz="1575" b="1">
                <a:solidFill>
                  <a:srgbClr val="3DDCF5"/>
                </a:solidFill>
                <a:latin typeface="Arial"/>
                <a:ea typeface="Arial"/>
                <a:cs typeface="Arial"/>
              </a:defRPr>
            </a:lvl6pPr>
            <a:lvl7pPr>
              <a:buNone/>
              <a:defRPr sz="1575" b="1">
                <a:solidFill>
                  <a:srgbClr val="3DDCF5"/>
                </a:solidFill>
                <a:latin typeface="Arial"/>
                <a:ea typeface="Arial"/>
                <a:cs typeface="Arial"/>
              </a:defRPr>
            </a:lvl7pPr>
            <a:lvl8pPr>
              <a:buNone/>
              <a:defRPr sz="1575" b="1">
                <a:solidFill>
                  <a:srgbClr val="3DDCF5"/>
                </a:solidFill>
                <a:latin typeface="Arial"/>
                <a:ea typeface="Arial"/>
                <a:cs typeface="Arial"/>
              </a:defRPr>
            </a:lvl8pPr>
            <a:lvl9pPr>
              <a:buNone/>
              <a:defRPr sz="1575" b="1">
                <a:solidFill>
                  <a:srgbClr val="3DDCF5"/>
                </a:solidFill>
                <a:latin typeface="Arial"/>
                <a:ea typeface="Arial"/>
                <a:cs typeface="Arial"/>
              </a:defRPr>
            </a:lvl9pPr>
          </a:lstStyle>
          <a:p xmlns:a="http://schemas.openxmlformats.org/drawingml/2006/main">
            <a:pPr>
              <a:buNone/>
              <a:defRPr sz="1575" b="1">
                <a:solidFill>
                  <a:srgbClr val="3DDCF5"/>
                </a:solidFill>
                <a:latin typeface="Arial"/>
                <a:ea typeface="Arial"/>
                <a:cs typeface="Arial"/>
              </a:defRPr>
            </a:pPr>
            <a:r>
              <a:rPr sz="1575" b="1">
                <a:solidFill>
                  <a:srgbClr val="3DDCF5"/>
                </a:solidFill>
                <a:latin typeface="Arial"/>
                <a:ea typeface="Arial"/>
                <a:cs typeface="Arial"/>
              </a:rPr>
              <a:t>PROPOSED SOLUTION</a:t>
            </a:r>
          </a:p>
        </p:txBody>
      </p:sp>
      <p:sp>
        <p:nvSpPr>
          <p:cNvPr id="18" name="enhancement-7">
            <a:extLst xmlns:a="http://schemas.openxmlformats.org/drawingml/2006/main">
              <a:ext uri="{FF2B5EF4-FFF2-40B4-BE49-F238E27FC236}">
                <a16:creationId xmlns:a16="http://schemas.microsoft.com/office/drawing/2014/main" id="{6F18BAED-76D6-411F-B7F0-A8A443D3C0C7}"/>
              </a:ext>
            </a:extLst>
          </p:cNvPr>
          <p:cNvSpPr>
            <a:spLocks xmlns:a="http://schemas.openxmlformats.org/drawingml/2006/main" noGrp="1"/>
          </p:cNvSpPr>
          <p:nvPr/>
        </p:nvSpPr>
        <p:spPr>
          <a:xfrm xmlns:a="http://schemas.openxmlformats.org/drawingml/2006/main">
            <a:off x="7972425" y="4448175"/>
            <a:ext cx="3581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A8BDD4"/>
                </a:solidFill>
                <a:latin typeface="Arial"/>
                <a:ea typeface="Arial"/>
                <a:cs typeface="Arial"/>
              </a:defRPr>
            </a:lvl1pPr>
            <a:lvl2pPr>
              <a:buNone/>
              <a:defRPr sz="1875" b="0">
                <a:solidFill>
                  <a:srgbClr val="A8BDD4"/>
                </a:solidFill>
                <a:latin typeface="Arial"/>
                <a:ea typeface="Arial"/>
                <a:cs typeface="Arial"/>
              </a:defRPr>
            </a:lvl2pPr>
            <a:lvl3pPr>
              <a:buNone/>
              <a:defRPr sz="1875" b="0">
                <a:solidFill>
                  <a:srgbClr val="A8BDD4"/>
                </a:solidFill>
                <a:latin typeface="Arial"/>
                <a:ea typeface="Arial"/>
                <a:cs typeface="Arial"/>
              </a:defRPr>
            </a:lvl3pPr>
            <a:lvl4pPr>
              <a:buNone/>
              <a:defRPr sz="1875" b="0">
                <a:solidFill>
                  <a:srgbClr val="A8BDD4"/>
                </a:solidFill>
                <a:latin typeface="Arial"/>
                <a:ea typeface="Arial"/>
                <a:cs typeface="Arial"/>
              </a:defRPr>
            </a:lvl4pPr>
            <a:lvl5pPr>
              <a:buNone/>
              <a:defRPr sz="1875" b="0">
                <a:solidFill>
                  <a:srgbClr val="A8BDD4"/>
                </a:solidFill>
                <a:latin typeface="Arial"/>
                <a:ea typeface="Arial"/>
                <a:cs typeface="Arial"/>
              </a:defRPr>
            </a:lvl5pPr>
            <a:lvl6pPr>
              <a:buNone/>
              <a:defRPr sz="1875" b="0">
                <a:solidFill>
                  <a:srgbClr val="A8BDD4"/>
                </a:solidFill>
                <a:latin typeface="Arial"/>
                <a:ea typeface="Arial"/>
                <a:cs typeface="Arial"/>
              </a:defRPr>
            </a:lvl6pPr>
            <a:lvl7pPr>
              <a:buNone/>
              <a:defRPr sz="1875" b="0">
                <a:solidFill>
                  <a:srgbClr val="A8BDD4"/>
                </a:solidFill>
                <a:latin typeface="Arial"/>
                <a:ea typeface="Arial"/>
                <a:cs typeface="Arial"/>
              </a:defRPr>
            </a:lvl7pPr>
            <a:lvl8pPr>
              <a:buNone/>
              <a:defRPr sz="1875" b="0">
                <a:solidFill>
                  <a:srgbClr val="A8BDD4"/>
                </a:solidFill>
                <a:latin typeface="Arial"/>
                <a:ea typeface="Arial"/>
                <a:cs typeface="Arial"/>
              </a:defRPr>
            </a:lvl8pPr>
            <a:lvl9pPr>
              <a:buNone/>
              <a:defRPr sz="1875" b="0">
                <a:solidFill>
                  <a:srgbClr val="A8BDD4"/>
                </a:solidFill>
                <a:latin typeface="Arial"/>
                <a:ea typeface="Arial"/>
                <a:cs typeface="Arial"/>
              </a:defRPr>
            </a:lvl9pPr>
          </a:lstStyle>
          <a:p xmlns:a="http://schemas.openxmlformats.org/drawingml/2006/main">
            <a:pPr>
              <a:buNone/>
              <a:defRPr sz="1875" b="0">
                <a:solidFill>
                  <a:srgbClr val="A8BDD4"/>
                </a:solidFill>
                <a:latin typeface="Arial"/>
                <a:ea typeface="Arial"/>
                <a:cs typeface="Arial"/>
              </a:defRPr>
            </a:pPr>
            <a:r>
              <a:rPr sz="1875" b="0">
                <a:solidFill>
                  <a:srgbClr val="A8BDD4"/>
                </a:solidFill>
                <a:latin typeface="Arial"/>
                <a:ea typeface="Arial"/>
                <a:cs typeface="Arial"/>
              </a:rPr>
              <a:t>Decompose volume, mix and within-group yield before recommending pricing changes.</a:t>
            </a:r>
          </a:p>
        </p:txBody>
      </p:sp>
    </p:spTree>
    <p:extLst>
      <p:ext uri="{BB962C8B-B14F-4D97-AF65-F5344CB8AC3E}">
        <p14:creationId xmlns:p14="http://schemas.microsoft.com/office/powerpoint/2010/main" val="671284060"/>
      </p:ext>
    </p:extLst>
  </p:cSld>
</p:sld>
</file>

<file path=ppt/slides/slide12.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4" name="enhancement-8">
            <a:extLst xmlns:a="http://schemas.openxmlformats.org/drawingml/2006/main">
              <a:ext uri="{FF2B5EF4-FFF2-40B4-BE49-F238E27FC236}">
                <a16:creationId xmlns:a16="http://schemas.microsoft.com/office/drawing/2014/main" id="{9DB68966-E7BF-4D59-8286-3D4357AAAD9A}"/>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DEEP ANALYSIS: YIELD BRIDGE</a:t>
            </a:r>
          </a:p>
        </p:txBody>
      </p:sp>
      <p:sp>
        <p:nvSpPr>
          <p:cNvPr id="2" name="enhancement-9">
            <a:extLst xmlns:a="http://schemas.openxmlformats.org/drawingml/2006/main">
              <a:ext uri="{FF2B5EF4-FFF2-40B4-BE49-F238E27FC236}">
                <a16:creationId xmlns:a16="http://schemas.microsoft.com/office/drawing/2014/main" id="{B44B1D4D-0CCC-417E-9DDA-B9086EF6A876}"/>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150" b="1">
                <a:solidFill>
                  <a:srgbClr val="F2F6FF"/>
                </a:solidFill>
                <a:latin typeface="Arial"/>
                <a:ea typeface="Arial"/>
                <a:cs typeface="Arial"/>
              </a:defRPr>
            </a:lvl1pPr>
            <a:lvl2pPr>
              <a:buNone/>
              <a:defRPr sz="3150" b="1">
                <a:solidFill>
                  <a:srgbClr val="F2F6FF"/>
                </a:solidFill>
                <a:latin typeface="Arial"/>
                <a:ea typeface="Arial"/>
                <a:cs typeface="Arial"/>
              </a:defRPr>
            </a:lvl2pPr>
            <a:lvl3pPr>
              <a:buNone/>
              <a:defRPr sz="3150" b="1">
                <a:solidFill>
                  <a:srgbClr val="F2F6FF"/>
                </a:solidFill>
                <a:latin typeface="Arial"/>
                <a:ea typeface="Arial"/>
                <a:cs typeface="Arial"/>
              </a:defRPr>
            </a:lvl3pPr>
            <a:lvl4pPr>
              <a:buNone/>
              <a:defRPr sz="3150" b="1">
                <a:solidFill>
                  <a:srgbClr val="F2F6FF"/>
                </a:solidFill>
                <a:latin typeface="Arial"/>
                <a:ea typeface="Arial"/>
                <a:cs typeface="Arial"/>
              </a:defRPr>
            </a:lvl4pPr>
            <a:lvl5pPr>
              <a:buNone/>
              <a:defRPr sz="3150" b="1">
                <a:solidFill>
                  <a:srgbClr val="F2F6FF"/>
                </a:solidFill>
                <a:latin typeface="Arial"/>
                <a:ea typeface="Arial"/>
                <a:cs typeface="Arial"/>
              </a:defRPr>
            </a:lvl5pPr>
            <a:lvl6pPr>
              <a:buNone/>
              <a:defRPr sz="3150" b="1">
                <a:solidFill>
                  <a:srgbClr val="F2F6FF"/>
                </a:solidFill>
                <a:latin typeface="Arial"/>
                <a:ea typeface="Arial"/>
                <a:cs typeface="Arial"/>
              </a:defRPr>
            </a:lvl6pPr>
            <a:lvl7pPr>
              <a:buNone/>
              <a:defRPr sz="3150" b="1">
                <a:solidFill>
                  <a:srgbClr val="F2F6FF"/>
                </a:solidFill>
                <a:latin typeface="Arial"/>
                <a:ea typeface="Arial"/>
                <a:cs typeface="Arial"/>
              </a:defRPr>
            </a:lvl7pPr>
            <a:lvl8pPr>
              <a:buNone/>
              <a:defRPr sz="3150" b="1">
                <a:solidFill>
                  <a:srgbClr val="F2F6FF"/>
                </a:solidFill>
                <a:latin typeface="Arial"/>
                <a:ea typeface="Arial"/>
                <a:cs typeface="Arial"/>
              </a:defRPr>
            </a:lvl8pPr>
            <a:lvl9pPr>
              <a:buNone/>
              <a:defRPr sz="3150" b="1">
                <a:solidFill>
                  <a:srgbClr val="F2F6FF"/>
                </a:solidFill>
                <a:latin typeface="Arial"/>
                <a:ea typeface="Arial"/>
                <a:cs typeface="Arial"/>
              </a:defRPr>
            </a:lvl9pPr>
          </a:lstStyle>
          <a:p xmlns:a="http://schemas.openxmlformats.org/drawingml/2006/main">
            <a:pPr>
              <a:buNone/>
              <a:defRPr sz="3150" b="1">
                <a:solidFill>
                  <a:srgbClr val="F2F6FF"/>
                </a:solidFill>
                <a:latin typeface="Arial"/>
                <a:ea typeface="Arial"/>
                <a:cs typeface="Arial"/>
              </a:defRPr>
            </a:pPr>
            <a:r>
              <a:rPr sz="3150" b="1">
                <a:solidFill>
                  <a:srgbClr val="F2F6FF"/>
                </a:solidFill>
                <a:latin typeface="Arial"/>
                <a:ea typeface="Arial"/>
                <a:cs typeface="Arial"/>
              </a:rPr>
              <a:t>Mix explains most of the revenue-per-load decline</a:t>
            </a:r>
          </a:p>
        </p:txBody>
      </p:sp>
      <p:sp>
        <p:nvSpPr>
          <p:cNvPr id="3" name="enhancement-10">
            <a:extLst xmlns:a="http://schemas.openxmlformats.org/drawingml/2006/main">
              <a:ext uri="{FF2B5EF4-FFF2-40B4-BE49-F238E27FC236}">
                <a16:creationId xmlns:a16="http://schemas.microsoft.com/office/drawing/2014/main" id="{CB4391FA-CAE4-48DF-AD41-94AB276ABFFE}"/>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174 common route/customer-type groups; the components reconcile to +$0.883M</a:t>
            </a:r>
          </a:p>
        </p:txBody>
      </p:sp>
      <p:sp>
        <p:nvSpPr>
          <p:cNvPr id="4" name="enhancement-11">
            <a:extLst xmlns:a="http://schemas.openxmlformats.org/drawingml/2006/main">
              <a:ext uri="{FF2B5EF4-FFF2-40B4-BE49-F238E27FC236}">
                <a16:creationId xmlns:a16="http://schemas.microsoft.com/office/drawing/2014/main" id="{7879DC58-AE44-43E4-9325-164166E42630}"/>
              </a:ext>
            </a:extLst>
          </p:cNvPr>
          <p:cNvSpPr>
            <a:spLocks xmlns:a="http://schemas.openxmlformats.org/drawingml/2006/main" noGrp="1"/>
          </p:cNvSpPr>
          <p:nvPr/>
        </p:nvSpPr>
        <p:spPr>
          <a:xfrm xmlns:a="http://schemas.openxmlformats.org/drawingml/2006/main">
            <a:off x="571500" y="2009775"/>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A8BDD4"/>
                </a:solidFill>
                <a:latin typeface="Arial"/>
                <a:ea typeface="Arial"/>
                <a:cs typeface="Arial"/>
              </a:defRPr>
            </a:lvl1pPr>
            <a:lvl2pPr>
              <a:buNone/>
              <a:defRPr sz="1575" b="1">
                <a:solidFill>
                  <a:srgbClr val="A8BDD4"/>
                </a:solidFill>
                <a:latin typeface="Arial"/>
                <a:ea typeface="Arial"/>
                <a:cs typeface="Arial"/>
              </a:defRPr>
            </a:lvl2pPr>
            <a:lvl3pPr>
              <a:buNone/>
              <a:defRPr sz="1575" b="1">
                <a:solidFill>
                  <a:srgbClr val="A8BDD4"/>
                </a:solidFill>
                <a:latin typeface="Arial"/>
                <a:ea typeface="Arial"/>
                <a:cs typeface="Arial"/>
              </a:defRPr>
            </a:lvl3pPr>
            <a:lvl4pPr>
              <a:buNone/>
              <a:defRPr sz="1575" b="1">
                <a:solidFill>
                  <a:srgbClr val="A8BDD4"/>
                </a:solidFill>
                <a:latin typeface="Arial"/>
                <a:ea typeface="Arial"/>
                <a:cs typeface="Arial"/>
              </a:defRPr>
            </a:lvl4pPr>
            <a:lvl5pPr>
              <a:buNone/>
              <a:defRPr sz="1575" b="1">
                <a:solidFill>
                  <a:srgbClr val="A8BDD4"/>
                </a:solidFill>
                <a:latin typeface="Arial"/>
                <a:ea typeface="Arial"/>
                <a:cs typeface="Arial"/>
              </a:defRPr>
            </a:lvl5pPr>
            <a:lvl6pPr>
              <a:buNone/>
              <a:defRPr sz="1575" b="1">
                <a:solidFill>
                  <a:srgbClr val="A8BDD4"/>
                </a:solidFill>
                <a:latin typeface="Arial"/>
                <a:ea typeface="Arial"/>
                <a:cs typeface="Arial"/>
              </a:defRPr>
            </a:lvl6pPr>
            <a:lvl7pPr>
              <a:buNone/>
              <a:defRPr sz="1575" b="1">
                <a:solidFill>
                  <a:srgbClr val="A8BDD4"/>
                </a:solidFill>
                <a:latin typeface="Arial"/>
                <a:ea typeface="Arial"/>
                <a:cs typeface="Arial"/>
              </a:defRPr>
            </a:lvl7pPr>
            <a:lvl8pPr>
              <a:buNone/>
              <a:defRPr sz="1575" b="1">
                <a:solidFill>
                  <a:srgbClr val="A8BDD4"/>
                </a:solidFill>
                <a:latin typeface="Arial"/>
                <a:ea typeface="Arial"/>
                <a:cs typeface="Arial"/>
              </a:defRPr>
            </a:lvl8pPr>
            <a:lvl9pPr>
              <a:buNone/>
              <a:defRPr sz="1575" b="1">
                <a:solidFill>
                  <a:srgbClr val="A8BDD4"/>
                </a:solidFill>
                <a:latin typeface="Arial"/>
                <a:ea typeface="Arial"/>
                <a:cs typeface="Arial"/>
              </a:defRPr>
            </a:lvl9pPr>
          </a:lstStyle>
          <a:p xmlns:a="http://schemas.openxmlformats.org/drawingml/2006/main">
            <a:pPr>
              <a:buNone/>
              <a:defRPr sz="1575" b="1">
                <a:solidFill>
                  <a:srgbClr val="A8BDD4"/>
                </a:solidFill>
                <a:latin typeface="Arial"/>
                <a:ea typeface="Arial"/>
                <a:cs typeface="Arial"/>
              </a:defRPr>
            </a:pPr>
            <a:r>
              <a:rPr sz="1575" b="1">
                <a:solidFill>
                  <a:srgbClr val="A8BDD4"/>
                </a:solidFill>
                <a:latin typeface="Arial"/>
                <a:ea typeface="Arial"/>
                <a:cs typeface="Arial"/>
              </a:rPr>
              <a:t>2023–2024 revenue bridge, $M</a:t>
            </a:r>
          </a:p>
        </p:txBody>
      </p:sp>
      <p:graphicFrame>
        <p:nvGraphicFramePr>
          <p:cNvPr id="20" name="Chart"/>
          <p:cNvGraphicFramePr/>
          <p:nvPr/>
        </p:nvGraphicFramePr>
        <p:xfrm>
          <a:off xmlns:a="http://schemas.openxmlformats.org/drawingml/2006/main" x="381000" y="2362200"/>
          <a:ext xmlns:a="http://schemas.openxmlformats.org/drawingml/2006/main" cx="7143750" cy="3333750"/>
        </p:xfrm>
        <a:graphic xmlns:a="http://schemas.openxmlformats.org/drawingml/2006/main">
          <a:graphicData uri="http://schemas.openxmlformats.org/drawingml/2006/chart">
            <c:chart xmlns:r="http://schemas.openxmlformats.org/officeDocument/2006/relationships" xmlns:c="http://schemas.openxmlformats.org/drawingml/2006/chart" r:id="R13c4e89b519f450b"/>
          </a:graphicData>
        </a:graphic>
      </p:graphicFrame>
      <p:sp>
        <p:nvSpPr>
          <p:cNvPr id="5" name="callout-panel-12">
            <a:extLst xmlns:a="http://schemas.openxmlformats.org/drawingml/2006/main">
              <a:ext uri="{FF2B5EF4-FFF2-40B4-BE49-F238E27FC236}">
                <a16:creationId xmlns:a16="http://schemas.microsoft.com/office/drawing/2014/main" id="{9304EC02-8C21-4BD9-819E-DAA0A937F904}"/>
              </a:ext>
            </a:extLst>
          </p:cNvPr>
          <p:cNvSpPr>
            <a:spLocks xmlns:a="http://schemas.openxmlformats.org/drawingml/2006/main" noGrp="1"/>
          </p:cNvSpPr>
          <p:nvPr/>
        </p:nvSpPr>
        <p:spPr>
          <a:xfrm xmlns:a="http://schemas.openxmlformats.org/drawingml/2006/main">
            <a:off x="7762875" y="1943100"/>
            <a:ext cx="4000500" cy="3838575"/>
          </a:xfrm>
          <a:prstGeom xmlns:a="http://schemas.openxmlformats.org/drawingml/2006/main" prst="rect">
            <a:avLst/>
          </a:prstGeom>
          <a:solidFill xmlns:a="http://schemas.openxmlformats.org/drawingml/2006/main">
            <a:srgbClr val="0B182A"/>
          </a:solidFill>
          <a:ln xmlns:a="http://schemas.openxmlformats.org/drawingml/2006/main" w="0">
            <a:noFill/>
          </a:ln>
        </p:spPr>
      </p:sp>
      <p:sp>
        <p:nvSpPr>
          <p:cNvPr id="6" name="callout-rule-13">
            <a:extLst xmlns:a="http://schemas.openxmlformats.org/drawingml/2006/main">
              <a:ext uri="{FF2B5EF4-FFF2-40B4-BE49-F238E27FC236}">
                <a16:creationId xmlns:a16="http://schemas.microsoft.com/office/drawing/2014/main" id="{94A9A4E1-7553-45DD-B18B-CD31FA85E87D}"/>
              </a:ext>
            </a:extLst>
          </p:cNvPr>
          <p:cNvSpPr>
            <a:spLocks xmlns:a="http://schemas.openxmlformats.org/drawingml/2006/main" noGrp="1"/>
          </p:cNvSpPr>
          <p:nvPr/>
        </p:nvSpPr>
        <p:spPr>
          <a:xfrm xmlns:a="http://schemas.openxmlformats.org/drawingml/2006/main">
            <a:off x="7762875" y="1943100"/>
            <a:ext cx="495300" cy="19050"/>
          </a:xfrm>
          <a:prstGeom xmlns:a="http://schemas.openxmlformats.org/drawingml/2006/main" prst="rect">
            <a:avLst/>
          </a:prstGeom>
          <a:solidFill xmlns:a="http://schemas.openxmlformats.org/drawingml/2006/main">
            <a:srgbClr val="3278FF"/>
          </a:solidFill>
          <a:ln xmlns:a="http://schemas.openxmlformats.org/drawingml/2006/main" w="0">
            <a:noFill/>
          </a:ln>
        </p:spPr>
      </p:sp>
      <p:sp>
        <p:nvSpPr>
          <p:cNvPr id="7" name="callout-rule-14">
            <a:extLst xmlns:a="http://schemas.openxmlformats.org/drawingml/2006/main">
              <a:ext uri="{FF2B5EF4-FFF2-40B4-BE49-F238E27FC236}">
                <a16:creationId xmlns:a16="http://schemas.microsoft.com/office/drawing/2014/main" id="{A4615792-8E76-47D4-B315-7F006A04A0C9}"/>
              </a:ext>
            </a:extLst>
          </p:cNvPr>
          <p:cNvSpPr>
            <a:spLocks xmlns:a="http://schemas.openxmlformats.org/drawingml/2006/main" noGrp="1"/>
          </p:cNvSpPr>
          <p:nvPr/>
        </p:nvSpPr>
        <p:spPr>
          <a:xfrm xmlns:a="http://schemas.openxmlformats.org/drawingml/2006/main">
            <a:off x="7762875" y="3895725"/>
            <a:ext cx="49530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
        <p:nvSpPr>
          <p:cNvPr id="8" name="enhancement-15">
            <a:extLst xmlns:a="http://schemas.openxmlformats.org/drawingml/2006/main">
              <a:ext uri="{FF2B5EF4-FFF2-40B4-BE49-F238E27FC236}">
                <a16:creationId xmlns:a16="http://schemas.microsoft.com/office/drawing/2014/main" id="{DF84E93B-05E8-4459-AF9D-F7CCBF15D28E}"/>
              </a:ext>
            </a:extLst>
          </p:cNvPr>
          <p:cNvSpPr>
            <a:spLocks xmlns:a="http://schemas.openxmlformats.org/drawingml/2006/main" noGrp="1"/>
          </p:cNvSpPr>
          <p:nvPr/>
        </p:nvSpPr>
        <p:spPr>
          <a:xfrm xmlns:a="http://schemas.openxmlformats.org/drawingml/2006/main">
            <a:off x="7972425" y="2028825"/>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278FF"/>
                </a:solidFill>
                <a:latin typeface="Arial"/>
                <a:ea typeface="Arial"/>
                <a:cs typeface="Arial"/>
              </a:defRPr>
            </a:lvl1pPr>
            <a:lvl2pPr>
              <a:buNone/>
              <a:defRPr sz="1575" b="1">
                <a:solidFill>
                  <a:srgbClr val="3278FF"/>
                </a:solidFill>
                <a:latin typeface="Arial"/>
                <a:ea typeface="Arial"/>
                <a:cs typeface="Arial"/>
              </a:defRPr>
            </a:lvl2pPr>
            <a:lvl3pPr>
              <a:buNone/>
              <a:defRPr sz="1575" b="1">
                <a:solidFill>
                  <a:srgbClr val="3278FF"/>
                </a:solidFill>
                <a:latin typeface="Arial"/>
                <a:ea typeface="Arial"/>
                <a:cs typeface="Arial"/>
              </a:defRPr>
            </a:lvl3pPr>
            <a:lvl4pPr>
              <a:buNone/>
              <a:defRPr sz="1575" b="1">
                <a:solidFill>
                  <a:srgbClr val="3278FF"/>
                </a:solidFill>
                <a:latin typeface="Arial"/>
                <a:ea typeface="Arial"/>
                <a:cs typeface="Arial"/>
              </a:defRPr>
            </a:lvl4pPr>
            <a:lvl5pPr>
              <a:buNone/>
              <a:defRPr sz="1575" b="1">
                <a:solidFill>
                  <a:srgbClr val="3278FF"/>
                </a:solidFill>
                <a:latin typeface="Arial"/>
                <a:ea typeface="Arial"/>
                <a:cs typeface="Arial"/>
              </a:defRPr>
            </a:lvl5pPr>
            <a:lvl6pPr>
              <a:buNone/>
              <a:defRPr sz="1575" b="1">
                <a:solidFill>
                  <a:srgbClr val="3278FF"/>
                </a:solidFill>
                <a:latin typeface="Arial"/>
                <a:ea typeface="Arial"/>
                <a:cs typeface="Arial"/>
              </a:defRPr>
            </a:lvl6pPr>
            <a:lvl7pPr>
              <a:buNone/>
              <a:defRPr sz="1575" b="1">
                <a:solidFill>
                  <a:srgbClr val="3278FF"/>
                </a:solidFill>
                <a:latin typeface="Arial"/>
                <a:ea typeface="Arial"/>
                <a:cs typeface="Arial"/>
              </a:defRPr>
            </a:lvl7pPr>
            <a:lvl8pPr>
              <a:buNone/>
              <a:defRPr sz="1575" b="1">
                <a:solidFill>
                  <a:srgbClr val="3278FF"/>
                </a:solidFill>
                <a:latin typeface="Arial"/>
                <a:ea typeface="Arial"/>
                <a:cs typeface="Arial"/>
              </a:defRPr>
            </a:lvl8pPr>
            <a:lvl9pPr>
              <a:buNone/>
              <a:defRPr sz="1575" b="1">
                <a:solidFill>
                  <a:srgbClr val="3278FF"/>
                </a:solidFill>
                <a:latin typeface="Arial"/>
                <a:ea typeface="Arial"/>
                <a:cs typeface="Arial"/>
              </a:defRPr>
            </a:lvl9pPr>
          </a:lstStyle>
          <a:p xmlns:a="http://schemas.openxmlformats.org/drawingml/2006/main">
            <a:pPr>
              <a:buNone/>
              <a:defRPr sz="1575" b="1">
                <a:solidFill>
                  <a:srgbClr val="3278FF"/>
                </a:solidFill>
                <a:latin typeface="Arial"/>
                <a:ea typeface="Arial"/>
                <a:cs typeface="Arial"/>
              </a:defRPr>
            </a:pPr>
            <a:r>
              <a:rPr sz="1575" b="1">
                <a:solidFill>
                  <a:srgbClr val="3278FF"/>
                </a:solidFill>
                <a:latin typeface="Arial"/>
                <a:ea typeface="Arial"/>
                <a:cs typeface="Arial"/>
              </a:rPr>
              <a:t>PROBLEM</a:t>
            </a:r>
          </a:p>
        </p:txBody>
      </p:sp>
      <p:sp>
        <p:nvSpPr>
          <p:cNvPr id="9" name="enhancement-16">
            <a:extLst xmlns:a="http://schemas.openxmlformats.org/drawingml/2006/main">
              <a:ext uri="{FF2B5EF4-FFF2-40B4-BE49-F238E27FC236}">
                <a16:creationId xmlns:a16="http://schemas.microsoft.com/office/drawing/2014/main" id="{BAFB32B6-3650-418B-A4F7-7DE5FE764797}"/>
              </a:ext>
            </a:extLst>
          </p:cNvPr>
          <p:cNvSpPr>
            <a:spLocks xmlns:a="http://schemas.openxmlformats.org/drawingml/2006/main" noGrp="1"/>
          </p:cNvSpPr>
          <p:nvPr/>
        </p:nvSpPr>
        <p:spPr>
          <a:xfrm xmlns:a="http://schemas.openxmlformats.org/drawingml/2006/main">
            <a:off x="7972425" y="2514600"/>
            <a:ext cx="3581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F2F6FF"/>
                </a:solidFill>
                <a:latin typeface="Arial"/>
                <a:ea typeface="Arial"/>
                <a:cs typeface="Arial"/>
              </a:defRPr>
            </a:lvl1pPr>
            <a:lvl2pPr>
              <a:buNone/>
              <a:defRPr sz="1875" b="0">
                <a:solidFill>
                  <a:srgbClr val="F2F6FF"/>
                </a:solidFill>
                <a:latin typeface="Arial"/>
                <a:ea typeface="Arial"/>
                <a:cs typeface="Arial"/>
              </a:defRPr>
            </a:lvl2pPr>
            <a:lvl3pPr>
              <a:buNone/>
              <a:defRPr sz="1875" b="0">
                <a:solidFill>
                  <a:srgbClr val="F2F6FF"/>
                </a:solidFill>
                <a:latin typeface="Arial"/>
                <a:ea typeface="Arial"/>
                <a:cs typeface="Arial"/>
              </a:defRPr>
            </a:lvl3pPr>
            <a:lvl4pPr>
              <a:buNone/>
              <a:defRPr sz="1875" b="0">
                <a:solidFill>
                  <a:srgbClr val="F2F6FF"/>
                </a:solidFill>
                <a:latin typeface="Arial"/>
                <a:ea typeface="Arial"/>
                <a:cs typeface="Arial"/>
              </a:defRPr>
            </a:lvl4pPr>
            <a:lvl5pPr>
              <a:buNone/>
              <a:defRPr sz="1875" b="0">
                <a:solidFill>
                  <a:srgbClr val="F2F6FF"/>
                </a:solidFill>
                <a:latin typeface="Arial"/>
                <a:ea typeface="Arial"/>
                <a:cs typeface="Arial"/>
              </a:defRPr>
            </a:lvl5pPr>
            <a:lvl6pPr>
              <a:buNone/>
              <a:defRPr sz="1875" b="0">
                <a:solidFill>
                  <a:srgbClr val="F2F6FF"/>
                </a:solidFill>
                <a:latin typeface="Arial"/>
                <a:ea typeface="Arial"/>
                <a:cs typeface="Arial"/>
              </a:defRPr>
            </a:lvl6pPr>
            <a:lvl7pPr>
              <a:buNone/>
              <a:defRPr sz="1875" b="0">
                <a:solidFill>
                  <a:srgbClr val="F2F6FF"/>
                </a:solidFill>
                <a:latin typeface="Arial"/>
                <a:ea typeface="Arial"/>
                <a:cs typeface="Arial"/>
              </a:defRPr>
            </a:lvl7pPr>
            <a:lvl8pPr>
              <a:buNone/>
              <a:defRPr sz="1875" b="0">
                <a:solidFill>
                  <a:srgbClr val="F2F6FF"/>
                </a:solidFill>
                <a:latin typeface="Arial"/>
                <a:ea typeface="Arial"/>
                <a:cs typeface="Arial"/>
              </a:defRPr>
            </a:lvl8pPr>
            <a:lvl9pPr>
              <a:buNone/>
              <a:defRPr sz="1875" b="0">
                <a:solidFill>
                  <a:srgbClr val="F2F6FF"/>
                </a:solidFill>
                <a:latin typeface="Arial"/>
                <a:ea typeface="Arial"/>
                <a:cs typeface="Arial"/>
              </a:defRPr>
            </a:lvl9pPr>
          </a:lstStyle>
          <a:p xmlns:a="http://schemas.openxmlformats.org/drawingml/2006/main">
            <a:pPr>
              <a:buNone/>
              <a:defRPr sz="1875" b="0">
                <a:solidFill>
                  <a:srgbClr val="F2F6FF"/>
                </a:solidFill>
                <a:latin typeface="Arial"/>
                <a:ea typeface="Arial"/>
                <a:cs typeface="Arial"/>
              </a:defRPr>
            </a:pPr>
            <a:r>
              <a:rPr sz="1875" b="0">
                <a:solidFill>
                  <a:srgbClr val="F2F6FF"/>
                </a:solidFill>
                <a:latin typeface="Arial"/>
                <a:ea typeface="Arial"/>
                <a:cs typeface="Arial"/>
              </a:rPr>
              <a:t>Revenue per load fell 0.84%, while the mix effect was −$0.898M and within-group yield added $0.063M.</a:t>
            </a:r>
          </a:p>
        </p:txBody>
      </p:sp>
      <p:sp>
        <p:nvSpPr>
          <p:cNvPr id="10" name="enhancement-17">
            <a:extLst xmlns:a="http://schemas.openxmlformats.org/drawingml/2006/main">
              <a:ext uri="{FF2B5EF4-FFF2-40B4-BE49-F238E27FC236}">
                <a16:creationId xmlns:a16="http://schemas.microsoft.com/office/drawing/2014/main" id="{431BFE6C-7E66-46D5-B729-B2B359094B12}"/>
              </a:ext>
            </a:extLst>
          </p:cNvPr>
          <p:cNvSpPr>
            <a:spLocks xmlns:a="http://schemas.openxmlformats.org/drawingml/2006/main" noGrp="1"/>
          </p:cNvSpPr>
          <p:nvPr/>
        </p:nvSpPr>
        <p:spPr>
          <a:xfrm xmlns:a="http://schemas.openxmlformats.org/drawingml/2006/main">
            <a:off x="7972425" y="39814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DDCF5"/>
                </a:solidFill>
                <a:latin typeface="Arial"/>
                <a:ea typeface="Arial"/>
                <a:cs typeface="Arial"/>
              </a:defRPr>
            </a:lvl1pPr>
            <a:lvl2pPr>
              <a:buNone/>
              <a:defRPr sz="1575" b="1">
                <a:solidFill>
                  <a:srgbClr val="3DDCF5"/>
                </a:solidFill>
                <a:latin typeface="Arial"/>
                <a:ea typeface="Arial"/>
                <a:cs typeface="Arial"/>
              </a:defRPr>
            </a:lvl2pPr>
            <a:lvl3pPr>
              <a:buNone/>
              <a:defRPr sz="1575" b="1">
                <a:solidFill>
                  <a:srgbClr val="3DDCF5"/>
                </a:solidFill>
                <a:latin typeface="Arial"/>
                <a:ea typeface="Arial"/>
                <a:cs typeface="Arial"/>
              </a:defRPr>
            </a:lvl3pPr>
            <a:lvl4pPr>
              <a:buNone/>
              <a:defRPr sz="1575" b="1">
                <a:solidFill>
                  <a:srgbClr val="3DDCF5"/>
                </a:solidFill>
                <a:latin typeface="Arial"/>
                <a:ea typeface="Arial"/>
                <a:cs typeface="Arial"/>
              </a:defRPr>
            </a:lvl4pPr>
            <a:lvl5pPr>
              <a:buNone/>
              <a:defRPr sz="1575" b="1">
                <a:solidFill>
                  <a:srgbClr val="3DDCF5"/>
                </a:solidFill>
                <a:latin typeface="Arial"/>
                <a:ea typeface="Arial"/>
                <a:cs typeface="Arial"/>
              </a:defRPr>
            </a:lvl5pPr>
            <a:lvl6pPr>
              <a:buNone/>
              <a:defRPr sz="1575" b="1">
                <a:solidFill>
                  <a:srgbClr val="3DDCF5"/>
                </a:solidFill>
                <a:latin typeface="Arial"/>
                <a:ea typeface="Arial"/>
                <a:cs typeface="Arial"/>
              </a:defRPr>
            </a:lvl6pPr>
            <a:lvl7pPr>
              <a:buNone/>
              <a:defRPr sz="1575" b="1">
                <a:solidFill>
                  <a:srgbClr val="3DDCF5"/>
                </a:solidFill>
                <a:latin typeface="Arial"/>
                <a:ea typeface="Arial"/>
                <a:cs typeface="Arial"/>
              </a:defRPr>
            </a:lvl7pPr>
            <a:lvl8pPr>
              <a:buNone/>
              <a:defRPr sz="1575" b="1">
                <a:solidFill>
                  <a:srgbClr val="3DDCF5"/>
                </a:solidFill>
                <a:latin typeface="Arial"/>
                <a:ea typeface="Arial"/>
                <a:cs typeface="Arial"/>
              </a:defRPr>
            </a:lvl8pPr>
            <a:lvl9pPr>
              <a:buNone/>
              <a:defRPr sz="1575" b="1">
                <a:solidFill>
                  <a:srgbClr val="3DDCF5"/>
                </a:solidFill>
                <a:latin typeface="Arial"/>
                <a:ea typeface="Arial"/>
                <a:cs typeface="Arial"/>
              </a:defRPr>
            </a:lvl9pPr>
          </a:lstStyle>
          <a:p xmlns:a="http://schemas.openxmlformats.org/drawingml/2006/main">
            <a:pPr>
              <a:buNone/>
              <a:defRPr sz="1575" b="1">
                <a:solidFill>
                  <a:srgbClr val="3DDCF5"/>
                </a:solidFill>
                <a:latin typeface="Arial"/>
                <a:ea typeface="Arial"/>
                <a:cs typeface="Arial"/>
              </a:defRPr>
            </a:pPr>
            <a:r>
              <a:rPr sz="1575" b="1">
                <a:solidFill>
                  <a:srgbClr val="3DDCF5"/>
                </a:solidFill>
                <a:latin typeface="Arial"/>
                <a:ea typeface="Arial"/>
                <a:cs typeface="Arial"/>
              </a:rPr>
              <a:t>PROPOSED SOLUTION</a:t>
            </a:r>
          </a:p>
        </p:txBody>
      </p:sp>
      <p:sp>
        <p:nvSpPr>
          <p:cNvPr id="11" name="enhancement-18">
            <a:extLst xmlns:a="http://schemas.openxmlformats.org/drawingml/2006/main">
              <a:ext uri="{FF2B5EF4-FFF2-40B4-BE49-F238E27FC236}">
                <a16:creationId xmlns:a16="http://schemas.microsoft.com/office/drawing/2014/main" id="{5319DA71-B49B-4240-A3E5-36F6E093E7A9}"/>
              </a:ext>
            </a:extLst>
          </p:cNvPr>
          <p:cNvSpPr>
            <a:spLocks xmlns:a="http://schemas.openxmlformats.org/drawingml/2006/main" noGrp="1"/>
          </p:cNvSpPr>
          <p:nvPr/>
        </p:nvSpPr>
        <p:spPr>
          <a:xfrm xmlns:a="http://schemas.openxmlformats.org/drawingml/2006/main">
            <a:off x="7972425" y="4448175"/>
            <a:ext cx="3581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A8BDD4"/>
                </a:solidFill>
                <a:latin typeface="Arial"/>
                <a:ea typeface="Arial"/>
                <a:cs typeface="Arial"/>
              </a:defRPr>
            </a:lvl1pPr>
            <a:lvl2pPr>
              <a:buNone/>
              <a:defRPr sz="1875" b="0">
                <a:solidFill>
                  <a:srgbClr val="A8BDD4"/>
                </a:solidFill>
                <a:latin typeface="Arial"/>
                <a:ea typeface="Arial"/>
                <a:cs typeface="Arial"/>
              </a:defRPr>
            </a:lvl2pPr>
            <a:lvl3pPr>
              <a:buNone/>
              <a:defRPr sz="1875" b="0">
                <a:solidFill>
                  <a:srgbClr val="A8BDD4"/>
                </a:solidFill>
                <a:latin typeface="Arial"/>
                <a:ea typeface="Arial"/>
                <a:cs typeface="Arial"/>
              </a:defRPr>
            </a:lvl3pPr>
            <a:lvl4pPr>
              <a:buNone/>
              <a:defRPr sz="1875" b="0">
                <a:solidFill>
                  <a:srgbClr val="A8BDD4"/>
                </a:solidFill>
                <a:latin typeface="Arial"/>
                <a:ea typeface="Arial"/>
                <a:cs typeface="Arial"/>
              </a:defRPr>
            </a:lvl4pPr>
            <a:lvl5pPr>
              <a:buNone/>
              <a:defRPr sz="1875" b="0">
                <a:solidFill>
                  <a:srgbClr val="A8BDD4"/>
                </a:solidFill>
                <a:latin typeface="Arial"/>
                <a:ea typeface="Arial"/>
                <a:cs typeface="Arial"/>
              </a:defRPr>
            </a:lvl5pPr>
            <a:lvl6pPr>
              <a:buNone/>
              <a:defRPr sz="1875" b="0">
                <a:solidFill>
                  <a:srgbClr val="A8BDD4"/>
                </a:solidFill>
                <a:latin typeface="Arial"/>
                <a:ea typeface="Arial"/>
                <a:cs typeface="Arial"/>
              </a:defRPr>
            </a:lvl6pPr>
            <a:lvl7pPr>
              <a:buNone/>
              <a:defRPr sz="1875" b="0">
                <a:solidFill>
                  <a:srgbClr val="A8BDD4"/>
                </a:solidFill>
                <a:latin typeface="Arial"/>
                <a:ea typeface="Arial"/>
                <a:cs typeface="Arial"/>
              </a:defRPr>
            </a:lvl7pPr>
            <a:lvl8pPr>
              <a:buNone/>
              <a:defRPr sz="1875" b="0">
                <a:solidFill>
                  <a:srgbClr val="A8BDD4"/>
                </a:solidFill>
                <a:latin typeface="Arial"/>
                <a:ea typeface="Arial"/>
                <a:cs typeface="Arial"/>
              </a:defRPr>
            </a:lvl8pPr>
            <a:lvl9pPr>
              <a:buNone/>
              <a:defRPr sz="1875" b="0">
                <a:solidFill>
                  <a:srgbClr val="A8BDD4"/>
                </a:solidFill>
                <a:latin typeface="Arial"/>
                <a:ea typeface="Arial"/>
                <a:cs typeface="Arial"/>
              </a:defRPr>
            </a:lvl9pPr>
          </a:lstStyle>
          <a:p xmlns:a="http://schemas.openxmlformats.org/drawingml/2006/main">
            <a:pPr>
              <a:buNone/>
              <a:defRPr sz="1875" b="0">
                <a:solidFill>
                  <a:srgbClr val="A8BDD4"/>
                </a:solidFill>
                <a:latin typeface="Arial"/>
                <a:ea typeface="Arial"/>
                <a:cs typeface="Arial"/>
              </a:defRPr>
            </a:pPr>
            <a:r>
              <a:rPr sz="1875" b="0">
                <a:solidFill>
                  <a:srgbClr val="A8BDD4"/>
                </a:solidFill>
                <a:latin typeface="Arial"/>
                <a:ea typeface="Arial"/>
                <a:cs typeface="Arial"/>
              </a:rPr>
              <a:t>Compare like-for-like segments and distance. Review contract rates before recommending broad repricing.</a:t>
            </a:r>
          </a:p>
        </p:txBody>
      </p:sp>
      <p:sp>
        <p:nvSpPr>
          <p:cNvPr id="13" name="enhancement-19">
            <a:extLst xmlns:a="http://schemas.openxmlformats.org/drawingml/2006/main">
              <a:ext uri="{FF2B5EF4-FFF2-40B4-BE49-F238E27FC236}">
                <a16:creationId xmlns:a16="http://schemas.microsoft.com/office/drawing/2014/main" id="{00306687-5565-4374-A89D-F582C2A0FCB5}"/>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12</a:t>
            </a:r>
          </a:p>
        </p:txBody>
      </p:sp>
    </p:spTree>
    <p:extLst>
      <p:ext uri="{BB962C8B-B14F-4D97-AF65-F5344CB8AC3E}">
        <p14:creationId xmlns:p14="http://schemas.microsoft.com/office/powerpoint/2010/main" val="1205505218"/>
      </p:ext>
    </p:extLst>
  </p:cSld>
</p:sld>
</file>

<file path=ppt/slides/slide13.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graphicFrame>
        <p:nvGraphicFramePr>
          <p:cNvPr id="20" name="Chart"/>
          <p:cNvGraphicFramePr/>
          <p:nvPr/>
        </p:nvGraphicFramePr>
        <p:xfrm>
          <a:off xmlns:a="http://schemas.openxmlformats.org/drawingml/2006/main" x="381000" y="2362200"/>
          <a:ext xmlns:a="http://schemas.openxmlformats.org/drawingml/2006/main" cx="7143750" cy="3333750"/>
        </p:xfrm>
        <a:graphic xmlns:a="http://schemas.openxmlformats.org/drawingml/2006/main">
          <a:graphicData uri="http://schemas.openxmlformats.org/drawingml/2006/chart">
            <c:chart xmlns:r="http://schemas.openxmlformats.org/officeDocument/2006/relationships" xmlns:c="http://schemas.openxmlformats.org/drawingml/2006/chart" r:id="R404b4605837c4429"/>
          </a:graphicData>
        </a:graphic>
      </p:graphicFrame>
      <p:sp>
        <p:nvSpPr>
          <p:cNvPr id="11" name="">
            <a:extLst xmlns:a="http://schemas.openxmlformats.org/drawingml/2006/main">
              <a:ext uri="{FF2B5EF4-FFF2-40B4-BE49-F238E27FC236}">
                <a16:creationId xmlns:a16="http://schemas.microsoft.com/office/drawing/2014/main" id="{32965230-6C21-4B09-97DF-E79E0DF021B0}"/>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THE SERVICE QUESTION: OPERATIONS</a:t>
            </a:r>
          </a:p>
        </p:txBody>
      </p:sp>
      <p:sp>
        <p:nvSpPr>
          <p:cNvPr id="2" name="">
            <a:extLst xmlns:a="http://schemas.openxmlformats.org/drawingml/2006/main">
              <a:ext uri="{FF2B5EF4-FFF2-40B4-BE49-F238E27FC236}">
                <a16:creationId xmlns:a16="http://schemas.microsoft.com/office/drawing/2014/main" id="{A53FA95A-F2FC-4883-852B-570809510FD8}"/>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Completed loads concealed a timestamp service gap</a:t>
            </a:r>
          </a:p>
        </p:txBody>
      </p:sp>
      <p:sp>
        <p:nvSpPr>
          <p:cNvPr id="10" name="">
            <a:extLst xmlns:a="http://schemas.openxmlformats.org/drawingml/2006/main">
              <a:ext uri="{FF2B5EF4-FFF2-40B4-BE49-F238E27FC236}">
                <a16:creationId xmlns:a16="http://schemas.microsoft.com/office/drawing/2014/main" id="{FC81BCF6-56D3-478E-A169-83BE153CD778}"/>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13</a:t>
            </a:r>
          </a:p>
        </p:txBody>
      </p:sp>
      <p:sp>
        <p:nvSpPr>
          <p:cNvPr id="9" name="">
            <a:extLst xmlns:a="http://schemas.openxmlformats.org/drawingml/2006/main">
              <a:ext uri="{FF2B5EF4-FFF2-40B4-BE49-F238E27FC236}">
                <a16:creationId xmlns:a16="http://schemas.microsoft.com/office/drawing/2014/main" id="{52A519DA-5FD5-43E1-9C2D-6426B20893EA}"/>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Late deliveries: median 180.05 minutes; P90 324.38 minutes</a:t>
            </a:r>
          </a:p>
        </p:txBody>
      </p:sp>
      <p:sp>
        <p:nvSpPr>
          <p:cNvPr id="3" name="">
            <a:extLst xmlns:a="http://schemas.openxmlformats.org/drawingml/2006/main">
              <a:ext uri="{FF2B5EF4-FFF2-40B4-BE49-F238E27FC236}">
                <a16:creationId xmlns:a16="http://schemas.microsoft.com/office/drawing/2014/main" id="{8BE6D014-4664-4E56-AF13-E1D57459836A}"/>
              </a:ext>
            </a:extLst>
          </p:cNvPr>
          <p:cNvSpPr>
            <a:spLocks xmlns:a="http://schemas.openxmlformats.org/drawingml/2006/main" noGrp="1"/>
          </p:cNvSpPr>
          <p:nvPr/>
        </p:nvSpPr>
        <p:spPr>
          <a:xfrm xmlns:a="http://schemas.openxmlformats.org/drawingml/2006/main">
            <a:off x="571500" y="2009775"/>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1">
                <a:solidFill>
                  <a:srgbClr val="546B7C"/>
                </a:solidFill>
                <a:latin typeface="Arial"/>
                <a:ea typeface="Arial"/>
                <a:cs typeface="Arial"/>
              </a:defRPr>
            </a:lvl1pPr>
            <a:lvl2pPr>
              <a:buNone/>
              <a:defRPr sz="1650" b="1">
                <a:solidFill>
                  <a:srgbClr val="546B7C"/>
                </a:solidFill>
                <a:latin typeface="Arial"/>
                <a:ea typeface="Arial"/>
                <a:cs typeface="Arial"/>
              </a:defRPr>
            </a:lvl2pPr>
            <a:lvl3pPr>
              <a:buNone/>
              <a:defRPr sz="1650" b="1">
                <a:solidFill>
                  <a:srgbClr val="546B7C"/>
                </a:solidFill>
                <a:latin typeface="Arial"/>
                <a:ea typeface="Arial"/>
                <a:cs typeface="Arial"/>
              </a:defRPr>
            </a:lvl3pPr>
            <a:lvl4pPr>
              <a:buNone/>
              <a:defRPr sz="1650" b="1">
                <a:solidFill>
                  <a:srgbClr val="546B7C"/>
                </a:solidFill>
                <a:latin typeface="Arial"/>
                <a:ea typeface="Arial"/>
                <a:cs typeface="Arial"/>
              </a:defRPr>
            </a:lvl4pPr>
            <a:lvl5pPr>
              <a:buNone/>
              <a:defRPr sz="1650" b="1">
                <a:solidFill>
                  <a:srgbClr val="546B7C"/>
                </a:solidFill>
                <a:latin typeface="Arial"/>
                <a:ea typeface="Arial"/>
                <a:cs typeface="Arial"/>
              </a:defRPr>
            </a:lvl5pPr>
            <a:lvl6pPr>
              <a:buNone/>
              <a:defRPr sz="1650" b="1">
                <a:solidFill>
                  <a:srgbClr val="546B7C"/>
                </a:solidFill>
                <a:latin typeface="Arial"/>
                <a:ea typeface="Arial"/>
                <a:cs typeface="Arial"/>
              </a:defRPr>
            </a:lvl6pPr>
            <a:lvl7pPr>
              <a:buNone/>
              <a:defRPr sz="1650" b="1">
                <a:solidFill>
                  <a:srgbClr val="546B7C"/>
                </a:solidFill>
                <a:latin typeface="Arial"/>
                <a:ea typeface="Arial"/>
                <a:cs typeface="Arial"/>
              </a:defRPr>
            </a:lvl7pPr>
            <a:lvl8pPr>
              <a:buNone/>
              <a:defRPr sz="1650" b="1">
                <a:solidFill>
                  <a:srgbClr val="546B7C"/>
                </a:solidFill>
                <a:latin typeface="Arial"/>
                <a:ea typeface="Arial"/>
                <a:cs typeface="Arial"/>
              </a:defRPr>
            </a:lvl8pPr>
            <a:lvl9pPr>
              <a:buNone/>
              <a:defRPr sz="1650" b="1">
                <a:solidFill>
                  <a:srgbClr val="546B7C"/>
                </a:solidFill>
                <a:latin typeface="Arial"/>
                <a:ea typeface="Arial"/>
                <a:cs typeface="Arial"/>
              </a:defRPr>
            </a:lvl9pPr>
          </a:lstStyle>
          <a:p xmlns:a="http://schemas.openxmlformats.org/drawingml/2006/main">
            <a:pPr>
              <a:buNone/>
              <a:defRPr sz="1575" b="1">
                <a:solidFill>
                  <a:srgbClr val="A8BDD4"/>
                </a:solidFill>
                <a:latin typeface="Arial"/>
                <a:ea typeface="Arial"/>
                <a:cs typeface="Arial"/>
              </a:defRPr>
            </a:pPr>
            <a:r>
              <a:rPr sz="1575" b="1">
                <a:solidFill>
                  <a:srgbClr val="A8BDD4"/>
                </a:solidFill>
                <a:latin typeface="Arial"/>
                <a:ea typeface="Arial"/>
                <a:cs typeface="Arial"/>
              </a:rPr>
              <a:t>Percent of deliveries</a:t>
            </a:r>
          </a:p>
        </p:txBody>
      </p:sp>
      <p:sp>
        <p:nvSpPr>
          <p:cNvPr id="12" name="callout-panel-20">
            <a:extLst xmlns:a="http://schemas.openxmlformats.org/drawingml/2006/main">
              <a:ext uri="{FF2B5EF4-FFF2-40B4-BE49-F238E27FC236}">
                <a16:creationId xmlns:a16="http://schemas.microsoft.com/office/drawing/2014/main" id="{F05A36E2-1977-4FD8-963B-24DB44E0D2DD}"/>
              </a:ext>
            </a:extLst>
          </p:cNvPr>
          <p:cNvSpPr>
            <a:spLocks xmlns:a="http://schemas.openxmlformats.org/drawingml/2006/main" noGrp="1"/>
          </p:cNvSpPr>
          <p:nvPr/>
        </p:nvSpPr>
        <p:spPr>
          <a:xfrm xmlns:a="http://schemas.openxmlformats.org/drawingml/2006/main">
            <a:off x="7762875" y="1943100"/>
            <a:ext cx="4000500" cy="3838575"/>
          </a:xfrm>
          <a:prstGeom xmlns:a="http://schemas.openxmlformats.org/drawingml/2006/main" prst="rect">
            <a:avLst/>
          </a:prstGeom>
          <a:solidFill xmlns:a="http://schemas.openxmlformats.org/drawingml/2006/main">
            <a:srgbClr val="0B182A"/>
          </a:solidFill>
          <a:ln xmlns:a="http://schemas.openxmlformats.org/drawingml/2006/main" w="0">
            <a:noFill/>
          </a:ln>
        </p:spPr>
      </p:sp>
      <p:sp>
        <p:nvSpPr>
          <p:cNvPr id="13" name="callout-rule-21">
            <a:extLst xmlns:a="http://schemas.openxmlformats.org/drawingml/2006/main">
              <a:ext uri="{FF2B5EF4-FFF2-40B4-BE49-F238E27FC236}">
                <a16:creationId xmlns:a16="http://schemas.microsoft.com/office/drawing/2014/main" id="{F07E0E68-B3A8-411F-8C16-E2623BD2111D}"/>
              </a:ext>
            </a:extLst>
          </p:cNvPr>
          <p:cNvSpPr>
            <a:spLocks xmlns:a="http://schemas.openxmlformats.org/drawingml/2006/main" noGrp="1"/>
          </p:cNvSpPr>
          <p:nvPr/>
        </p:nvSpPr>
        <p:spPr>
          <a:xfrm xmlns:a="http://schemas.openxmlformats.org/drawingml/2006/main">
            <a:off x="7762875" y="1943100"/>
            <a:ext cx="495300" cy="19050"/>
          </a:xfrm>
          <a:prstGeom xmlns:a="http://schemas.openxmlformats.org/drawingml/2006/main" prst="rect">
            <a:avLst/>
          </a:prstGeom>
          <a:solidFill xmlns:a="http://schemas.openxmlformats.org/drawingml/2006/main">
            <a:srgbClr val="3278FF"/>
          </a:solidFill>
          <a:ln xmlns:a="http://schemas.openxmlformats.org/drawingml/2006/main" w="0">
            <a:noFill/>
          </a:ln>
        </p:spPr>
      </p:sp>
      <p:sp>
        <p:nvSpPr>
          <p:cNvPr id="14" name="callout-rule-22">
            <a:extLst xmlns:a="http://schemas.openxmlformats.org/drawingml/2006/main">
              <a:ext uri="{FF2B5EF4-FFF2-40B4-BE49-F238E27FC236}">
                <a16:creationId xmlns:a16="http://schemas.microsoft.com/office/drawing/2014/main" id="{88AB61E3-040D-4191-BD86-96D045425E7C}"/>
              </a:ext>
            </a:extLst>
          </p:cNvPr>
          <p:cNvSpPr>
            <a:spLocks xmlns:a="http://schemas.openxmlformats.org/drawingml/2006/main" noGrp="1"/>
          </p:cNvSpPr>
          <p:nvPr/>
        </p:nvSpPr>
        <p:spPr>
          <a:xfrm xmlns:a="http://schemas.openxmlformats.org/drawingml/2006/main">
            <a:off x="7762875" y="3895725"/>
            <a:ext cx="49530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
        <p:nvSpPr>
          <p:cNvPr id="15" name="enhancement-23">
            <a:extLst xmlns:a="http://schemas.openxmlformats.org/drawingml/2006/main">
              <a:ext uri="{FF2B5EF4-FFF2-40B4-BE49-F238E27FC236}">
                <a16:creationId xmlns:a16="http://schemas.microsoft.com/office/drawing/2014/main" id="{96FF2E54-FD63-429F-B2D1-9469A6DA50E4}"/>
              </a:ext>
            </a:extLst>
          </p:cNvPr>
          <p:cNvSpPr>
            <a:spLocks xmlns:a="http://schemas.openxmlformats.org/drawingml/2006/main" noGrp="1"/>
          </p:cNvSpPr>
          <p:nvPr/>
        </p:nvSpPr>
        <p:spPr>
          <a:xfrm xmlns:a="http://schemas.openxmlformats.org/drawingml/2006/main">
            <a:off x="7972425" y="2028825"/>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278FF"/>
                </a:solidFill>
                <a:latin typeface="Arial"/>
                <a:ea typeface="Arial"/>
                <a:cs typeface="Arial"/>
              </a:defRPr>
            </a:lvl1pPr>
            <a:lvl2pPr>
              <a:buNone/>
              <a:defRPr sz="1575" b="1">
                <a:solidFill>
                  <a:srgbClr val="3278FF"/>
                </a:solidFill>
                <a:latin typeface="Arial"/>
                <a:ea typeface="Arial"/>
                <a:cs typeface="Arial"/>
              </a:defRPr>
            </a:lvl2pPr>
            <a:lvl3pPr>
              <a:buNone/>
              <a:defRPr sz="1575" b="1">
                <a:solidFill>
                  <a:srgbClr val="3278FF"/>
                </a:solidFill>
                <a:latin typeface="Arial"/>
                <a:ea typeface="Arial"/>
                <a:cs typeface="Arial"/>
              </a:defRPr>
            </a:lvl3pPr>
            <a:lvl4pPr>
              <a:buNone/>
              <a:defRPr sz="1575" b="1">
                <a:solidFill>
                  <a:srgbClr val="3278FF"/>
                </a:solidFill>
                <a:latin typeface="Arial"/>
                <a:ea typeface="Arial"/>
                <a:cs typeface="Arial"/>
              </a:defRPr>
            </a:lvl4pPr>
            <a:lvl5pPr>
              <a:buNone/>
              <a:defRPr sz="1575" b="1">
                <a:solidFill>
                  <a:srgbClr val="3278FF"/>
                </a:solidFill>
                <a:latin typeface="Arial"/>
                <a:ea typeface="Arial"/>
                <a:cs typeface="Arial"/>
              </a:defRPr>
            </a:lvl5pPr>
            <a:lvl6pPr>
              <a:buNone/>
              <a:defRPr sz="1575" b="1">
                <a:solidFill>
                  <a:srgbClr val="3278FF"/>
                </a:solidFill>
                <a:latin typeface="Arial"/>
                <a:ea typeface="Arial"/>
                <a:cs typeface="Arial"/>
              </a:defRPr>
            </a:lvl6pPr>
            <a:lvl7pPr>
              <a:buNone/>
              <a:defRPr sz="1575" b="1">
                <a:solidFill>
                  <a:srgbClr val="3278FF"/>
                </a:solidFill>
                <a:latin typeface="Arial"/>
                <a:ea typeface="Arial"/>
                <a:cs typeface="Arial"/>
              </a:defRPr>
            </a:lvl7pPr>
            <a:lvl8pPr>
              <a:buNone/>
              <a:defRPr sz="1575" b="1">
                <a:solidFill>
                  <a:srgbClr val="3278FF"/>
                </a:solidFill>
                <a:latin typeface="Arial"/>
                <a:ea typeface="Arial"/>
                <a:cs typeface="Arial"/>
              </a:defRPr>
            </a:lvl8pPr>
            <a:lvl9pPr>
              <a:buNone/>
              <a:defRPr sz="1575" b="1">
                <a:solidFill>
                  <a:srgbClr val="3278FF"/>
                </a:solidFill>
                <a:latin typeface="Arial"/>
                <a:ea typeface="Arial"/>
                <a:cs typeface="Arial"/>
              </a:defRPr>
            </a:lvl9pPr>
          </a:lstStyle>
          <a:p xmlns:a="http://schemas.openxmlformats.org/drawingml/2006/main">
            <a:pPr>
              <a:buNone/>
              <a:defRPr sz="1575" b="1">
                <a:solidFill>
                  <a:srgbClr val="3278FF"/>
                </a:solidFill>
                <a:latin typeface="Arial"/>
                <a:ea typeface="Arial"/>
                <a:cs typeface="Arial"/>
              </a:defRPr>
            </a:pPr>
            <a:r>
              <a:rPr sz="1575" b="1">
                <a:solidFill>
                  <a:srgbClr val="3278FF"/>
                </a:solidFill>
                <a:latin typeface="Arial"/>
                <a:ea typeface="Arial"/>
                <a:cs typeface="Arial"/>
              </a:rPr>
              <a:t>PROBLEM</a:t>
            </a:r>
          </a:p>
        </p:txBody>
      </p:sp>
      <p:sp>
        <p:nvSpPr>
          <p:cNvPr id="16" name="enhancement-24">
            <a:extLst xmlns:a="http://schemas.openxmlformats.org/drawingml/2006/main">
              <a:ext uri="{FF2B5EF4-FFF2-40B4-BE49-F238E27FC236}">
                <a16:creationId xmlns:a16="http://schemas.microsoft.com/office/drawing/2014/main" id="{A735294B-C840-47D9-8120-7B8C17D30640}"/>
              </a:ext>
            </a:extLst>
          </p:cNvPr>
          <p:cNvSpPr>
            <a:spLocks xmlns:a="http://schemas.openxmlformats.org/drawingml/2006/main" noGrp="1"/>
          </p:cNvSpPr>
          <p:nvPr/>
        </p:nvSpPr>
        <p:spPr>
          <a:xfrm xmlns:a="http://schemas.openxmlformats.org/drawingml/2006/main">
            <a:off x="7972425" y="2514600"/>
            <a:ext cx="3581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F2F6FF"/>
                </a:solidFill>
                <a:latin typeface="Arial"/>
                <a:ea typeface="Arial"/>
                <a:cs typeface="Arial"/>
              </a:defRPr>
            </a:lvl1pPr>
            <a:lvl2pPr>
              <a:buNone/>
              <a:defRPr sz="1875" b="0">
                <a:solidFill>
                  <a:srgbClr val="F2F6FF"/>
                </a:solidFill>
                <a:latin typeface="Arial"/>
                <a:ea typeface="Arial"/>
                <a:cs typeface="Arial"/>
              </a:defRPr>
            </a:lvl2pPr>
            <a:lvl3pPr>
              <a:buNone/>
              <a:defRPr sz="1875" b="0">
                <a:solidFill>
                  <a:srgbClr val="F2F6FF"/>
                </a:solidFill>
                <a:latin typeface="Arial"/>
                <a:ea typeface="Arial"/>
                <a:cs typeface="Arial"/>
              </a:defRPr>
            </a:lvl3pPr>
            <a:lvl4pPr>
              <a:buNone/>
              <a:defRPr sz="1875" b="0">
                <a:solidFill>
                  <a:srgbClr val="F2F6FF"/>
                </a:solidFill>
                <a:latin typeface="Arial"/>
                <a:ea typeface="Arial"/>
                <a:cs typeface="Arial"/>
              </a:defRPr>
            </a:lvl4pPr>
            <a:lvl5pPr>
              <a:buNone/>
              <a:defRPr sz="1875" b="0">
                <a:solidFill>
                  <a:srgbClr val="F2F6FF"/>
                </a:solidFill>
                <a:latin typeface="Arial"/>
                <a:ea typeface="Arial"/>
                <a:cs typeface="Arial"/>
              </a:defRPr>
            </a:lvl5pPr>
            <a:lvl6pPr>
              <a:buNone/>
              <a:defRPr sz="1875" b="0">
                <a:solidFill>
                  <a:srgbClr val="F2F6FF"/>
                </a:solidFill>
                <a:latin typeface="Arial"/>
                <a:ea typeface="Arial"/>
                <a:cs typeface="Arial"/>
              </a:defRPr>
            </a:lvl6pPr>
            <a:lvl7pPr>
              <a:buNone/>
              <a:defRPr sz="1875" b="0">
                <a:solidFill>
                  <a:srgbClr val="F2F6FF"/>
                </a:solidFill>
                <a:latin typeface="Arial"/>
                <a:ea typeface="Arial"/>
                <a:cs typeface="Arial"/>
              </a:defRPr>
            </a:lvl7pPr>
            <a:lvl8pPr>
              <a:buNone/>
              <a:defRPr sz="1875" b="0">
                <a:solidFill>
                  <a:srgbClr val="F2F6FF"/>
                </a:solidFill>
                <a:latin typeface="Arial"/>
                <a:ea typeface="Arial"/>
                <a:cs typeface="Arial"/>
              </a:defRPr>
            </a:lvl8pPr>
            <a:lvl9pPr>
              <a:buNone/>
              <a:defRPr sz="1875" b="0">
                <a:solidFill>
                  <a:srgbClr val="F2F6FF"/>
                </a:solidFill>
                <a:latin typeface="Arial"/>
                <a:ea typeface="Arial"/>
                <a:cs typeface="Arial"/>
              </a:defRPr>
            </a:lvl9pPr>
          </a:lstStyle>
          <a:p xmlns:a="http://schemas.openxmlformats.org/drawingml/2006/main">
            <a:pPr>
              <a:buNone/>
              <a:defRPr sz="1875" b="0">
                <a:solidFill>
                  <a:srgbClr val="F2F6FF"/>
                </a:solidFill>
                <a:latin typeface="Arial"/>
                <a:ea typeface="Arial"/>
                <a:cs typeface="Arial"/>
              </a:defRPr>
            </a:pPr>
            <a:r>
              <a:rPr sz="1875" b="0">
                <a:solidFill>
                  <a:srgbClr val="F2F6FF"/>
                </a:solidFill>
                <a:latin typeface="Arial"/>
                <a:ea typeface="Arial"/>
                <a:cs typeface="Arial"/>
              </a:rPr>
              <a:t>Timestamp OTD is 33.28%, 56.72 points below the 90% model target. Commitment rules need validation.</a:t>
            </a:r>
          </a:p>
        </p:txBody>
      </p:sp>
      <p:sp>
        <p:nvSpPr>
          <p:cNvPr id="17" name="enhancement-25">
            <a:extLst xmlns:a="http://schemas.openxmlformats.org/drawingml/2006/main">
              <a:ext uri="{FF2B5EF4-FFF2-40B4-BE49-F238E27FC236}">
                <a16:creationId xmlns:a16="http://schemas.microsoft.com/office/drawing/2014/main" id="{2CAF53D4-E703-42B0-9E01-16F10ECED4B8}"/>
              </a:ext>
            </a:extLst>
          </p:cNvPr>
          <p:cNvSpPr>
            <a:spLocks xmlns:a="http://schemas.openxmlformats.org/drawingml/2006/main" noGrp="1"/>
          </p:cNvSpPr>
          <p:nvPr/>
        </p:nvSpPr>
        <p:spPr>
          <a:xfrm xmlns:a="http://schemas.openxmlformats.org/drawingml/2006/main">
            <a:off x="7972425" y="39814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DDCF5"/>
                </a:solidFill>
                <a:latin typeface="Arial"/>
                <a:ea typeface="Arial"/>
                <a:cs typeface="Arial"/>
              </a:defRPr>
            </a:lvl1pPr>
            <a:lvl2pPr>
              <a:buNone/>
              <a:defRPr sz="1575" b="1">
                <a:solidFill>
                  <a:srgbClr val="3DDCF5"/>
                </a:solidFill>
                <a:latin typeface="Arial"/>
                <a:ea typeface="Arial"/>
                <a:cs typeface="Arial"/>
              </a:defRPr>
            </a:lvl2pPr>
            <a:lvl3pPr>
              <a:buNone/>
              <a:defRPr sz="1575" b="1">
                <a:solidFill>
                  <a:srgbClr val="3DDCF5"/>
                </a:solidFill>
                <a:latin typeface="Arial"/>
                <a:ea typeface="Arial"/>
                <a:cs typeface="Arial"/>
              </a:defRPr>
            </a:lvl3pPr>
            <a:lvl4pPr>
              <a:buNone/>
              <a:defRPr sz="1575" b="1">
                <a:solidFill>
                  <a:srgbClr val="3DDCF5"/>
                </a:solidFill>
                <a:latin typeface="Arial"/>
                <a:ea typeface="Arial"/>
                <a:cs typeface="Arial"/>
              </a:defRPr>
            </a:lvl4pPr>
            <a:lvl5pPr>
              <a:buNone/>
              <a:defRPr sz="1575" b="1">
                <a:solidFill>
                  <a:srgbClr val="3DDCF5"/>
                </a:solidFill>
                <a:latin typeface="Arial"/>
                <a:ea typeface="Arial"/>
                <a:cs typeface="Arial"/>
              </a:defRPr>
            </a:lvl5pPr>
            <a:lvl6pPr>
              <a:buNone/>
              <a:defRPr sz="1575" b="1">
                <a:solidFill>
                  <a:srgbClr val="3DDCF5"/>
                </a:solidFill>
                <a:latin typeface="Arial"/>
                <a:ea typeface="Arial"/>
                <a:cs typeface="Arial"/>
              </a:defRPr>
            </a:lvl6pPr>
            <a:lvl7pPr>
              <a:buNone/>
              <a:defRPr sz="1575" b="1">
                <a:solidFill>
                  <a:srgbClr val="3DDCF5"/>
                </a:solidFill>
                <a:latin typeface="Arial"/>
                <a:ea typeface="Arial"/>
                <a:cs typeface="Arial"/>
              </a:defRPr>
            </a:lvl7pPr>
            <a:lvl8pPr>
              <a:buNone/>
              <a:defRPr sz="1575" b="1">
                <a:solidFill>
                  <a:srgbClr val="3DDCF5"/>
                </a:solidFill>
                <a:latin typeface="Arial"/>
                <a:ea typeface="Arial"/>
                <a:cs typeface="Arial"/>
              </a:defRPr>
            </a:lvl8pPr>
            <a:lvl9pPr>
              <a:buNone/>
              <a:defRPr sz="1575" b="1">
                <a:solidFill>
                  <a:srgbClr val="3DDCF5"/>
                </a:solidFill>
                <a:latin typeface="Arial"/>
                <a:ea typeface="Arial"/>
                <a:cs typeface="Arial"/>
              </a:defRPr>
            </a:lvl9pPr>
          </a:lstStyle>
          <a:p xmlns:a="http://schemas.openxmlformats.org/drawingml/2006/main">
            <a:pPr>
              <a:buNone/>
              <a:defRPr sz="1575" b="1">
                <a:solidFill>
                  <a:srgbClr val="3DDCF5"/>
                </a:solidFill>
                <a:latin typeface="Arial"/>
                <a:ea typeface="Arial"/>
                <a:cs typeface="Arial"/>
              </a:defRPr>
            </a:pPr>
            <a:r>
              <a:rPr sz="1575" b="1">
                <a:solidFill>
                  <a:srgbClr val="3DDCF5"/>
                </a:solidFill>
                <a:latin typeface="Arial"/>
                <a:ea typeface="Arial"/>
                <a:cs typeface="Arial"/>
              </a:rPr>
              <a:t>PROPOSED SOLUTION</a:t>
            </a:r>
          </a:p>
        </p:txBody>
      </p:sp>
      <p:sp>
        <p:nvSpPr>
          <p:cNvPr id="18" name="enhancement-26">
            <a:extLst xmlns:a="http://schemas.openxmlformats.org/drawingml/2006/main">
              <a:ext uri="{FF2B5EF4-FFF2-40B4-BE49-F238E27FC236}">
                <a16:creationId xmlns:a16="http://schemas.microsoft.com/office/drawing/2014/main" id="{6F6BB7DC-70C0-41B8-8069-A007141C8C80}"/>
              </a:ext>
            </a:extLst>
          </p:cNvPr>
          <p:cNvSpPr>
            <a:spLocks xmlns:a="http://schemas.openxmlformats.org/drawingml/2006/main" noGrp="1"/>
          </p:cNvSpPr>
          <p:nvPr/>
        </p:nvSpPr>
        <p:spPr>
          <a:xfrm xmlns:a="http://schemas.openxmlformats.org/drawingml/2006/main">
            <a:off x="7972425" y="4448175"/>
            <a:ext cx="3581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A8BDD4"/>
                </a:solidFill>
                <a:latin typeface="Arial"/>
                <a:ea typeface="Arial"/>
                <a:cs typeface="Arial"/>
              </a:defRPr>
            </a:lvl1pPr>
            <a:lvl2pPr>
              <a:buNone/>
              <a:defRPr sz="1875" b="0">
                <a:solidFill>
                  <a:srgbClr val="A8BDD4"/>
                </a:solidFill>
                <a:latin typeface="Arial"/>
                <a:ea typeface="Arial"/>
                <a:cs typeface="Arial"/>
              </a:defRPr>
            </a:lvl2pPr>
            <a:lvl3pPr>
              <a:buNone/>
              <a:defRPr sz="1875" b="0">
                <a:solidFill>
                  <a:srgbClr val="A8BDD4"/>
                </a:solidFill>
                <a:latin typeface="Arial"/>
                <a:ea typeface="Arial"/>
                <a:cs typeface="Arial"/>
              </a:defRPr>
            </a:lvl3pPr>
            <a:lvl4pPr>
              <a:buNone/>
              <a:defRPr sz="1875" b="0">
                <a:solidFill>
                  <a:srgbClr val="A8BDD4"/>
                </a:solidFill>
                <a:latin typeface="Arial"/>
                <a:ea typeface="Arial"/>
                <a:cs typeface="Arial"/>
              </a:defRPr>
            </a:lvl4pPr>
            <a:lvl5pPr>
              <a:buNone/>
              <a:defRPr sz="1875" b="0">
                <a:solidFill>
                  <a:srgbClr val="A8BDD4"/>
                </a:solidFill>
                <a:latin typeface="Arial"/>
                <a:ea typeface="Arial"/>
                <a:cs typeface="Arial"/>
              </a:defRPr>
            </a:lvl5pPr>
            <a:lvl6pPr>
              <a:buNone/>
              <a:defRPr sz="1875" b="0">
                <a:solidFill>
                  <a:srgbClr val="A8BDD4"/>
                </a:solidFill>
                <a:latin typeface="Arial"/>
                <a:ea typeface="Arial"/>
                <a:cs typeface="Arial"/>
              </a:defRPr>
            </a:lvl6pPr>
            <a:lvl7pPr>
              <a:buNone/>
              <a:defRPr sz="1875" b="0">
                <a:solidFill>
                  <a:srgbClr val="A8BDD4"/>
                </a:solidFill>
                <a:latin typeface="Arial"/>
                <a:ea typeface="Arial"/>
                <a:cs typeface="Arial"/>
              </a:defRPr>
            </a:lvl7pPr>
            <a:lvl8pPr>
              <a:buNone/>
              <a:defRPr sz="1875" b="0">
                <a:solidFill>
                  <a:srgbClr val="A8BDD4"/>
                </a:solidFill>
                <a:latin typeface="Arial"/>
                <a:ea typeface="Arial"/>
                <a:cs typeface="Arial"/>
              </a:defRPr>
            </a:lvl8pPr>
            <a:lvl9pPr>
              <a:buNone/>
              <a:defRPr sz="1875" b="0">
                <a:solidFill>
                  <a:srgbClr val="A8BDD4"/>
                </a:solidFill>
                <a:latin typeface="Arial"/>
                <a:ea typeface="Arial"/>
                <a:cs typeface="Arial"/>
              </a:defRPr>
            </a:lvl9pPr>
          </a:lstStyle>
          <a:p xmlns:a="http://schemas.openxmlformats.org/drawingml/2006/main">
            <a:pPr>
              <a:buNone/>
              <a:defRPr sz="1875" b="0">
                <a:solidFill>
                  <a:srgbClr val="A8BDD4"/>
                </a:solidFill>
                <a:latin typeface="Arial"/>
                <a:ea typeface="Arial"/>
                <a:cs typeface="Arial"/>
              </a:defRPr>
            </a:pPr>
            <a:r>
              <a:rPr sz="1875" b="0">
                <a:solidFill>
                  <a:srgbClr val="A8BDD4"/>
                </a:solidFill>
                <a:latin typeface="Arial"/>
                <a:ea typeface="Arial"/>
                <a:cs typeface="Arial"/>
              </a:rPr>
              <a:t>Validate scheduled windows and event chronology, then pilot changes and track OTD plus late-minute severity.</a:t>
            </a:r>
          </a:p>
        </p:txBody>
      </p:sp>
    </p:spTree>
    <p:extLst>
      <p:ext uri="{BB962C8B-B14F-4D97-AF65-F5344CB8AC3E}">
        <p14:creationId xmlns:p14="http://schemas.microsoft.com/office/powerpoint/2010/main" val="1629495708"/>
      </p:ext>
    </p:extLst>
  </p:cSld>
</p:sld>
</file>

<file path=ppt/slides/slide14.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4" name="enhancement-27">
            <a:extLst xmlns:a="http://schemas.openxmlformats.org/drawingml/2006/main">
              <a:ext uri="{FF2B5EF4-FFF2-40B4-BE49-F238E27FC236}">
                <a16:creationId xmlns:a16="http://schemas.microsoft.com/office/drawing/2014/main" id="{28F377BE-5643-4EB2-94CD-C8F940BD47E1}"/>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DEEP ANALYSIS: SERVICE DIAGNOSIS</a:t>
            </a:r>
          </a:p>
        </p:txBody>
      </p:sp>
      <p:sp>
        <p:nvSpPr>
          <p:cNvPr id="2" name="enhancement-28">
            <a:extLst xmlns:a="http://schemas.openxmlformats.org/drawingml/2006/main">
              <a:ext uri="{FF2B5EF4-FFF2-40B4-BE49-F238E27FC236}">
                <a16:creationId xmlns:a16="http://schemas.microsoft.com/office/drawing/2014/main" id="{FB53E44D-36D7-433F-A25D-40A69D4EE3E8}"/>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150" b="1">
                <a:solidFill>
                  <a:srgbClr val="F2F6FF"/>
                </a:solidFill>
                <a:latin typeface="Arial"/>
                <a:ea typeface="Arial"/>
                <a:cs typeface="Arial"/>
              </a:defRPr>
            </a:lvl1pPr>
            <a:lvl2pPr>
              <a:buNone/>
              <a:defRPr sz="3150" b="1">
                <a:solidFill>
                  <a:srgbClr val="F2F6FF"/>
                </a:solidFill>
                <a:latin typeface="Arial"/>
                <a:ea typeface="Arial"/>
                <a:cs typeface="Arial"/>
              </a:defRPr>
            </a:lvl2pPr>
            <a:lvl3pPr>
              <a:buNone/>
              <a:defRPr sz="3150" b="1">
                <a:solidFill>
                  <a:srgbClr val="F2F6FF"/>
                </a:solidFill>
                <a:latin typeface="Arial"/>
                <a:ea typeface="Arial"/>
                <a:cs typeface="Arial"/>
              </a:defRPr>
            </a:lvl3pPr>
            <a:lvl4pPr>
              <a:buNone/>
              <a:defRPr sz="3150" b="1">
                <a:solidFill>
                  <a:srgbClr val="F2F6FF"/>
                </a:solidFill>
                <a:latin typeface="Arial"/>
                <a:ea typeface="Arial"/>
                <a:cs typeface="Arial"/>
              </a:defRPr>
            </a:lvl4pPr>
            <a:lvl5pPr>
              <a:buNone/>
              <a:defRPr sz="3150" b="1">
                <a:solidFill>
                  <a:srgbClr val="F2F6FF"/>
                </a:solidFill>
                <a:latin typeface="Arial"/>
                <a:ea typeface="Arial"/>
                <a:cs typeface="Arial"/>
              </a:defRPr>
            </a:lvl5pPr>
            <a:lvl6pPr>
              <a:buNone/>
              <a:defRPr sz="3150" b="1">
                <a:solidFill>
                  <a:srgbClr val="F2F6FF"/>
                </a:solidFill>
                <a:latin typeface="Arial"/>
                <a:ea typeface="Arial"/>
                <a:cs typeface="Arial"/>
              </a:defRPr>
            </a:lvl6pPr>
            <a:lvl7pPr>
              <a:buNone/>
              <a:defRPr sz="3150" b="1">
                <a:solidFill>
                  <a:srgbClr val="F2F6FF"/>
                </a:solidFill>
                <a:latin typeface="Arial"/>
                <a:ea typeface="Arial"/>
                <a:cs typeface="Arial"/>
              </a:defRPr>
            </a:lvl7pPr>
            <a:lvl8pPr>
              <a:buNone/>
              <a:defRPr sz="3150" b="1">
                <a:solidFill>
                  <a:srgbClr val="F2F6FF"/>
                </a:solidFill>
                <a:latin typeface="Arial"/>
                <a:ea typeface="Arial"/>
                <a:cs typeface="Arial"/>
              </a:defRPr>
            </a:lvl8pPr>
            <a:lvl9pPr>
              <a:buNone/>
              <a:defRPr sz="3150" b="1">
                <a:solidFill>
                  <a:srgbClr val="F2F6FF"/>
                </a:solidFill>
                <a:latin typeface="Arial"/>
                <a:ea typeface="Arial"/>
                <a:cs typeface="Arial"/>
              </a:defRPr>
            </a:lvl9pPr>
          </a:lstStyle>
          <a:p xmlns:a="http://schemas.openxmlformats.org/drawingml/2006/main">
            <a:pPr>
              <a:buNone/>
              <a:defRPr sz="3150" b="1">
                <a:solidFill>
                  <a:srgbClr val="F2F6FF"/>
                </a:solidFill>
                <a:latin typeface="Arial"/>
                <a:ea typeface="Arial"/>
                <a:cs typeface="Arial"/>
              </a:defRPr>
            </a:pPr>
            <a:r>
              <a:rPr sz="3150" b="1">
                <a:solidFill>
                  <a:srgbClr val="F2F6FF"/>
                </a:solidFill>
                <a:latin typeface="Arial"/>
                <a:ea typeface="Arial"/>
                <a:cs typeface="Arial"/>
              </a:rPr>
              <a:t>Late deliveries are spread across the network</a:t>
            </a:r>
          </a:p>
        </p:txBody>
      </p:sp>
      <p:sp>
        <p:nvSpPr>
          <p:cNvPr id="3" name="enhancement-29">
            <a:extLst xmlns:a="http://schemas.openxmlformats.org/drawingml/2006/main">
              <a:ext uri="{FF2B5EF4-FFF2-40B4-BE49-F238E27FC236}">
                <a16:creationId xmlns:a16="http://schemas.microsoft.com/office/drawing/2014/main" id="{FE5E6C5A-5CE0-43ED-A2E2-47CD0B8E29D7}"/>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A concentration test does not support a simple “fix a few routes” explanation</a:t>
            </a:r>
          </a:p>
        </p:txBody>
      </p:sp>
      <p:sp>
        <p:nvSpPr>
          <p:cNvPr id="4" name="enhancement-30">
            <a:extLst xmlns:a="http://schemas.openxmlformats.org/drawingml/2006/main">
              <a:ext uri="{FF2B5EF4-FFF2-40B4-BE49-F238E27FC236}">
                <a16:creationId xmlns:a16="http://schemas.microsoft.com/office/drawing/2014/main" id="{62B6DB09-897A-4A85-B081-C6B4E488CCDA}"/>
              </a:ext>
            </a:extLst>
          </p:cNvPr>
          <p:cNvSpPr>
            <a:spLocks xmlns:a="http://schemas.openxmlformats.org/drawingml/2006/main" noGrp="1"/>
          </p:cNvSpPr>
          <p:nvPr/>
        </p:nvSpPr>
        <p:spPr>
          <a:xfrm xmlns:a="http://schemas.openxmlformats.org/drawingml/2006/main">
            <a:off x="571500" y="2009775"/>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A8BDD4"/>
                </a:solidFill>
                <a:latin typeface="Arial"/>
                <a:ea typeface="Arial"/>
                <a:cs typeface="Arial"/>
              </a:defRPr>
            </a:lvl1pPr>
            <a:lvl2pPr>
              <a:buNone/>
              <a:defRPr sz="1575" b="1">
                <a:solidFill>
                  <a:srgbClr val="A8BDD4"/>
                </a:solidFill>
                <a:latin typeface="Arial"/>
                <a:ea typeface="Arial"/>
                <a:cs typeface="Arial"/>
              </a:defRPr>
            </a:lvl2pPr>
            <a:lvl3pPr>
              <a:buNone/>
              <a:defRPr sz="1575" b="1">
                <a:solidFill>
                  <a:srgbClr val="A8BDD4"/>
                </a:solidFill>
                <a:latin typeface="Arial"/>
                <a:ea typeface="Arial"/>
                <a:cs typeface="Arial"/>
              </a:defRPr>
            </a:lvl3pPr>
            <a:lvl4pPr>
              <a:buNone/>
              <a:defRPr sz="1575" b="1">
                <a:solidFill>
                  <a:srgbClr val="A8BDD4"/>
                </a:solidFill>
                <a:latin typeface="Arial"/>
                <a:ea typeface="Arial"/>
                <a:cs typeface="Arial"/>
              </a:defRPr>
            </a:lvl4pPr>
            <a:lvl5pPr>
              <a:buNone/>
              <a:defRPr sz="1575" b="1">
                <a:solidFill>
                  <a:srgbClr val="A8BDD4"/>
                </a:solidFill>
                <a:latin typeface="Arial"/>
                <a:ea typeface="Arial"/>
                <a:cs typeface="Arial"/>
              </a:defRPr>
            </a:lvl5pPr>
            <a:lvl6pPr>
              <a:buNone/>
              <a:defRPr sz="1575" b="1">
                <a:solidFill>
                  <a:srgbClr val="A8BDD4"/>
                </a:solidFill>
                <a:latin typeface="Arial"/>
                <a:ea typeface="Arial"/>
                <a:cs typeface="Arial"/>
              </a:defRPr>
            </a:lvl6pPr>
            <a:lvl7pPr>
              <a:buNone/>
              <a:defRPr sz="1575" b="1">
                <a:solidFill>
                  <a:srgbClr val="A8BDD4"/>
                </a:solidFill>
                <a:latin typeface="Arial"/>
                <a:ea typeface="Arial"/>
                <a:cs typeface="Arial"/>
              </a:defRPr>
            </a:lvl7pPr>
            <a:lvl8pPr>
              <a:buNone/>
              <a:defRPr sz="1575" b="1">
                <a:solidFill>
                  <a:srgbClr val="A8BDD4"/>
                </a:solidFill>
                <a:latin typeface="Arial"/>
                <a:ea typeface="Arial"/>
                <a:cs typeface="Arial"/>
              </a:defRPr>
            </a:lvl8pPr>
            <a:lvl9pPr>
              <a:buNone/>
              <a:defRPr sz="1575" b="1">
                <a:solidFill>
                  <a:srgbClr val="A8BDD4"/>
                </a:solidFill>
                <a:latin typeface="Arial"/>
                <a:ea typeface="Arial"/>
                <a:cs typeface="Arial"/>
              </a:defRPr>
            </a:lvl9pPr>
          </a:lstStyle>
          <a:p xmlns:a="http://schemas.openxmlformats.org/drawingml/2006/main">
            <a:pPr>
              <a:buNone/>
              <a:defRPr sz="1575" b="1">
                <a:solidFill>
                  <a:srgbClr val="A8BDD4"/>
                </a:solidFill>
                <a:latin typeface="Arial"/>
                <a:ea typeface="Arial"/>
                <a:cs typeface="Arial"/>
              </a:defRPr>
            </a:pPr>
            <a:r>
              <a:rPr sz="1575" b="1">
                <a:solidFill>
                  <a:srgbClr val="A8BDD4"/>
                </a:solidFill>
                <a:latin typeface="Arial"/>
                <a:ea typeface="Arial"/>
                <a:cs typeface="Arial"/>
              </a:rPr>
              <a:t>Share in the same top five late-count routes</a:t>
            </a:r>
          </a:p>
        </p:txBody>
      </p:sp>
      <p:graphicFrame>
        <p:nvGraphicFramePr>
          <p:cNvPr id="20" name="Chart"/>
          <p:cNvGraphicFramePr/>
          <p:nvPr/>
        </p:nvGraphicFramePr>
        <p:xfrm>
          <a:off xmlns:a="http://schemas.openxmlformats.org/drawingml/2006/main" x="381000" y="2362200"/>
          <a:ext xmlns:a="http://schemas.openxmlformats.org/drawingml/2006/main" cx="7143750" cy="3333750"/>
        </p:xfrm>
        <a:graphic xmlns:a="http://schemas.openxmlformats.org/drawingml/2006/main">
          <a:graphicData uri="http://schemas.openxmlformats.org/drawingml/2006/chart">
            <c:chart xmlns:r="http://schemas.openxmlformats.org/officeDocument/2006/relationships" xmlns:c="http://schemas.openxmlformats.org/drawingml/2006/chart" r:id="Ra78df22d9d254717"/>
          </a:graphicData>
        </a:graphic>
      </p:graphicFrame>
      <p:sp>
        <p:nvSpPr>
          <p:cNvPr id="5" name="callout-panel-31">
            <a:extLst xmlns:a="http://schemas.openxmlformats.org/drawingml/2006/main">
              <a:ext uri="{FF2B5EF4-FFF2-40B4-BE49-F238E27FC236}">
                <a16:creationId xmlns:a16="http://schemas.microsoft.com/office/drawing/2014/main" id="{3E79A42D-C9BE-4541-8421-CBA9429EDCE9}"/>
              </a:ext>
            </a:extLst>
          </p:cNvPr>
          <p:cNvSpPr>
            <a:spLocks xmlns:a="http://schemas.openxmlformats.org/drawingml/2006/main" noGrp="1"/>
          </p:cNvSpPr>
          <p:nvPr/>
        </p:nvSpPr>
        <p:spPr>
          <a:xfrm xmlns:a="http://schemas.openxmlformats.org/drawingml/2006/main">
            <a:off x="7762875" y="1943100"/>
            <a:ext cx="4000500" cy="3838575"/>
          </a:xfrm>
          <a:prstGeom xmlns:a="http://schemas.openxmlformats.org/drawingml/2006/main" prst="rect">
            <a:avLst/>
          </a:prstGeom>
          <a:solidFill xmlns:a="http://schemas.openxmlformats.org/drawingml/2006/main">
            <a:srgbClr val="0B182A"/>
          </a:solidFill>
          <a:ln xmlns:a="http://schemas.openxmlformats.org/drawingml/2006/main" w="0">
            <a:noFill/>
          </a:ln>
        </p:spPr>
      </p:sp>
      <p:sp>
        <p:nvSpPr>
          <p:cNvPr id="6" name="callout-rule-32">
            <a:extLst xmlns:a="http://schemas.openxmlformats.org/drawingml/2006/main">
              <a:ext uri="{FF2B5EF4-FFF2-40B4-BE49-F238E27FC236}">
                <a16:creationId xmlns:a16="http://schemas.microsoft.com/office/drawing/2014/main" id="{8B604786-1156-4A46-A2EF-34FBBFC8C48B}"/>
              </a:ext>
            </a:extLst>
          </p:cNvPr>
          <p:cNvSpPr>
            <a:spLocks xmlns:a="http://schemas.openxmlformats.org/drawingml/2006/main" noGrp="1"/>
          </p:cNvSpPr>
          <p:nvPr/>
        </p:nvSpPr>
        <p:spPr>
          <a:xfrm xmlns:a="http://schemas.openxmlformats.org/drawingml/2006/main">
            <a:off x="7762875" y="1943100"/>
            <a:ext cx="495300" cy="19050"/>
          </a:xfrm>
          <a:prstGeom xmlns:a="http://schemas.openxmlformats.org/drawingml/2006/main" prst="rect">
            <a:avLst/>
          </a:prstGeom>
          <a:solidFill xmlns:a="http://schemas.openxmlformats.org/drawingml/2006/main">
            <a:srgbClr val="3278FF"/>
          </a:solidFill>
          <a:ln xmlns:a="http://schemas.openxmlformats.org/drawingml/2006/main" w="0">
            <a:noFill/>
          </a:ln>
        </p:spPr>
      </p:sp>
      <p:sp>
        <p:nvSpPr>
          <p:cNvPr id="7" name="callout-rule-33">
            <a:extLst xmlns:a="http://schemas.openxmlformats.org/drawingml/2006/main">
              <a:ext uri="{FF2B5EF4-FFF2-40B4-BE49-F238E27FC236}">
                <a16:creationId xmlns:a16="http://schemas.microsoft.com/office/drawing/2014/main" id="{55539F54-4F25-4885-84BD-0F8061437803}"/>
              </a:ext>
            </a:extLst>
          </p:cNvPr>
          <p:cNvSpPr>
            <a:spLocks xmlns:a="http://schemas.openxmlformats.org/drawingml/2006/main" noGrp="1"/>
          </p:cNvSpPr>
          <p:nvPr/>
        </p:nvSpPr>
        <p:spPr>
          <a:xfrm xmlns:a="http://schemas.openxmlformats.org/drawingml/2006/main">
            <a:off x="7762875" y="3895725"/>
            <a:ext cx="49530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
        <p:nvSpPr>
          <p:cNvPr id="8" name="enhancement-34">
            <a:extLst xmlns:a="http://schemas.openxmlformats.org/drawingml/2006/main">
              <a:ext uri="{FF2B5EF4-FFF2-40B4-BE49-F238E27FC236}">
                <a16:creationId xmlns:a16="http://schemas.microsoft.com/office/drawing/2014/main" id="{748E2F53-8C7A-4A92-BCCF-721B6106C79A}"/>
              </a:ext>
            </a:extLst>
          </p:cNvPr>
          <p:cNvSpPr>
            <a:spLocks xmlns:a="http://schemas.openxmlformats.org/drawingml/2006/main" noGrp="1"/>
          </p:cNvSpPr>
          <p:nvPr/>
        </p:nvSpPr>
        <p:spPr>
          <a:xfrm xmlns:a="http://schemas.openxmlformats.org/drawingml/2006/main">
            <a:off x="7972425" y="2028825"/>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278FF"/>
                </a:solidFill>
                <a:latin typeface="Arial"/>
                <a:ea typeface="Arial"/>
                <a:cs typeface="Arial"/>
              </a:defRPr>
            </a:lvl1pPr>
            <a:lvl2pPr>
              <a:buNone/>
              <a:defRPr sz="1575" b="1">
                <a:solidFill>
                  <a:srgbClr val="3278FF"/>
                </a:solidFill>
                <a:latin typeface="Arial"/>
                <a:ea typeface="Arial"/>
                <a:cs typeface="Arial"/>
              </a:defRPr>
            </a:lvl2pPr>
            <a:lvl3pPr>
              <a:buNone/>
              <a:defRPr sz="1575" b="1">
                <a:solidFill>
                  <a:srgbClr val="3278FF"/>
                </a:solidFill>
                <a:latin typeface="Arial"/>
                <a:ea typeface="Arial"/>
                <a:cs typeface="Arial"/>
              </a:defRPr>
            </a:lvl3pPr>
            <a:lvl4pPr>
              <a:buNone/>
              <a:defRPr sz="1575" b="1">
                <a:solidFill>
                  <a:srgbClr val="3278FF"/>
                </a:solidFill>
                <a:latin typeface="Arial"/>
                <a:ea typeface="Arial"/>
                <a:cs typeface="Arial"/>
              </a:defRPr>
            </a:lvl4pPr>
            <a:lvl5pPr>
              <a:buNone/>
              <a:defRPr sz="1575" b="1">
                <a:solidFill>
                  <a:srgbClr val="3278FF"/>
                </a:solidFill>
                <a:latin typeface="Arial"/>
                <a:ea typeface="Arial"/>
                <a:cs typeface="Arial"/>
              </a:defRPr>
            </a:lvl5pPr>
            <a:lvl6pPr>
              <a:buNone/>
              <a:defRPr sz="1575" b="1">
                <a:solidFill>
                  <a:srgbClr val="3278FF"/>
                </a:solidFill>
                <a:latin typeface="Arial"/>
                <a:ea typeface="Arial"/>
                <a:cs typeface="Arial"/>
              </a:defRPr>
            </a:lvl6pPr>
            <a:lvl7pPr>
              <a:buNone/>
              <a:defRPr sz="1575" b="1">
                <a:solidFill>
                  <a:srgbClr val="3278FF"/>
                </a:solidFill>
                <a:latin typeface="Arial"/>
                <a:ea typeface="Arial"/>
                <a:cs typeface="Arial"/>
              </a:defRPr>
            </a:lvl7pPr>
            <a:lvl8pPr>
              <a:buNone/>
              <a:defRPr sz="1575" b="1">
                <a:solidFill>
                  <a:srgbClr val="3278FF"/>
                </a:solidFill>
                <a:latin typeface="Arial"/>
                <a:ea typeface="Arial"/>
                <a:cs typeface="Arial"/>
              </a:defRPr>
            </a:lvl8pPr>
            <a:lvl9pPr>
              <a:buNone/>
              <a:defRPr sz="1575" b="1">
                <a:solidFill>
                  <a:srgbClr val="3278FF"/>
                </a:solidFill>
                <a:latin typeface="Arial"/>
                <a:ea typeface="Arial"/>
                <a:cs typeface="Arial"/>
              </a:defRPr>
            </a:lvl9pPr>
          </a:lstStyle>
          <a:p xmlns:a="http://schemas.openxmlformats.org/drawingml/2006/main">
            <a:pPr>
              <a:buNone/>
              <a:defRPr sz="1575" b="1">
                <a:solidFill>
                  <a:srgbClr val="3278FF"/>
                </a:solidFill>
                <a:latin typeface="Arial"/>
                <a:ea typeface="Arial"/>
                <a:cs typeface="Arial"/>
              </a:defRPr>
            </a:pPr>
            <a:r>
              <a:rPr sz="1575" b="1">
                <a:solidFill>
                  <a:srgbClr val="3278FF"/>
                </a:solidFill>
                <a:latin typeface="Arial"/>
                <a:ea typeface="Arial"/>
                <a:cs typeface="Arial"/>
              </a:rPr>
              <a:t>PROBLEM</a:t>
            </a:r>
          </a:p>
        </p:txBody>
      </p:sp>
      <p:sp>
        <p:nvSpPr>
          <p:cNvPr id="9" name="enhancement-35">
            <a:extLst xmlns:a="http://schemas.openxmlformats.org/drawingml/2006/main">
              <a:ext uri="{FF2B5EF4-FFF2-40B4-BE49-F238E27FC236}">
                <a16:creationId xmlns:a16="http://schemas.microsoft.com/office/drawing/2014/main" id="{3E6AFA67-B477-4714-A518-FF5B8B07C88A}"/>
              </a:ext>
            </a:extLst>
          </p:cNvPr>
          <p:cNvSpPr>
            <a:spLocks xmlns:a="http://schemas.openxmlformats.org/drawingml/2006/main" noGrp="1"/>
          </p:cNvSpPr>
          <p:nvPr/>
        </p:nvSpPr>
        <p:spPr>
          <a:xfrm xmlns:a="http://schemas.openxmlformats.org/drawingml/2006/main">
            <a:off x="7972425" y="2514600"/>
            <a:ext cx="3581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F2F6FF"/>
                </a:solidFill>
                <a:latin typeface="Arial"/>
                <a:ea typeface="Arial"/>
                <a:cs typeface="Arial"/>
              </a:defRPr>
            </a:lvl1pPr>
            <a:lvl2pPr>
              <a:buNone/>
              <a:defRPr sz="1875" b="0">
                <a:solidFill>
                  <a:srgbClr val="F2F6FF"/>
                </a:solidFill>
                <a:latin typeface="Arial"/>
                <a:ea typeface="Arial"/>
                <a:cs typeface="Arial"/>
              </a:defRPr>
            </a:lvl2pPr>
            <a:lvl3pPr>
              <a:buNone/>
              <a:defRPr sz="1875" b="0">
                <a:solidFill>
                  <a:srgbClr val="F2F6FF"/>
                </a:solidFill>
                <a:latin typeface="Arial"/>
                <a:ea typeface="Arial"/>
                <a:cs typeface="Arial"/>
              </a:defRPr>
            </a:lvl3pPr>
            <a:lvl4pPr>
              <a:buNone/>
              <a:defRPr sz="1875" b="0">
                <a:solidFill>
                  <a:srgbClr val="F2F6FF"/>
                </a:solidFill>
                <a:latin typeface="Arial"/>
                <a:ea typeface="Arial"/>
                <a:cs typeface="Arial"/>
              </a:defRPr>
            </a:lvl4pPr>
            <a:lvl5pPr>
              <a:buNone/>
              <a:defRPr sz="1875" b="0">
                <a:solidFill>
                  <a:srgbClr val="F2F6FF"/>
                </a:solidFill>
                <a:latin typeface="Arial"/>
                <a:ea typeface="Arial"/>
                <a:cs typeface="Arial"/>
              </a:defRPr>
            </a:lvl5pPr>
            <a:lvl6pPr>
              <a:buNone/>
              <a:defRPr sz="1875" b="0">
                <a:solidFill>
                  <a:srgbClr val="F2F6FF"/>
                </a:solidFill>
                <a:latin typeface="Arial"/>
                <a:ea typeface="Arial"/>
                <a:cs typeface="Arial"/>
              </a:defRPr>
            </a:lvl6pPr>
            <a:lvl7pPr>
              <a:buNone/>
              <a:defRPr sz="1875" b="0">
                <a:solidFill>
                  <a:srgbClr val="F2F6FF"/>
                </a:solidFill>
                <a:latin typeface="Arial"/>
                <a:ea typeface="Arial"/>
                <a:cs typeface="Arial"/>
              </a:defRPr>
            </a:lvl7pPr>
            <a:lvl8pPr>
              <a:buNone/>
              <a:defRPr sz="1875" b="0">
                <a:solidFill>
                  <a:srgbClr val="F2F6FF"/>
                </a:solidFill>
                <a:latin typeface="Arial"/>
                <a:ea typeface="Arial"/>
                <a:cs typeface="Arial"/>
              </a:defRPr>
            </a:lvl8pPr>
            <a:lvl9pPr>
              <a:buNone/>
              <a:defRPr sz="1875" b="0">
                <a:solidFill>
                  <a:srgbClr val="F2F6FF"/>
                </a:solidFill>
                <a:latin typeface="Arial"/>
                <a:ea typeface="Arial"/>
                <a:cs typeface="Arial"/>
              </a:defRPr>
            </a:lvl9pPr>
          </a:lstStyle>
          <a:p xmlns:a="http://schemas.openxmlformats.org/drawingml/2006/main">
            <a:pPr>
              <a:buNone/>
              <a:defRPr sz="1875" b="0">
                <a:solidFill>
                  <a:srgbClr val="F2F6FF"/>
                </a:solidFill>
                <a:latin typeface="Arial"/>
                <a:ea typeface="Arial"/>
                <a:cs typeface="Arial"/>
              </a:defRPr>
            </a:pPr>
            <a:r>
              <a:rPr sz="1875" b="0">
                <a:solidFill>
                  <a:srgbClr val="F2F6FF"/>
                </a:solidFill>
                <a:latin typeface="Arial"/>
                <a:ea typeface="Arial"/>
                <a:cs typeface="Arial"/>
              </a:rPr>
              <a:t>The top five routes contain 9.20% of late deliveries and 8.99% of volume. There is no sharp concentration.</a:t>
            </a:r>
          </a:p>
        </p:txBody>
      </p:sp>
      <p:sp>
        <p:nvSpPr>
          <p:cNvPr id="10" name="enhancement-36">
            <a:extLst xmlns:a="http://schemas.openxmlformats.org/drawingml/2006/main">
              <a:ext uri="{FF2B5EF4-FFF2-40B4-BE49-F238E27FC236}">
                <a16:creationId xmlns:a16="http://schemas.microsoft.com/office/drawing/2014/main" id="{31BF414E-3242-4413-96EB-2808EC6B80A8}"/>
              </a:ext>
            </a:extLst>
          </p:cNvPr>
          <p:cNvSpPr>
            <a:spLocks xmlns:a="http://schemas.openxmlformats.org/drawingml/2006/main" noGrp="1"/>
          </p:cNvSpPr>
          <p:nvPr/>
        </p:nvSpPr>
        <p:spPr>
          <a:xfrm xmlns:a="http://schemas.openxmlformats.org/drawingml/2006/main">
            <a:off x="7972425" y="39814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DDCF5"/>
                </a:solidFill>
                <a:latin typeface="Arial"/>
                <a:ea typeface="Arial"/>
                <a:cs typeface="Arial"/>
              </a:defRPr>
            </a:lvl1pPr>
            <a:lvl2pPr>
              <a:buNone/>
              <a:defRPr sz="1575" b="1">
                <a:solidFill>
                  <a:srgbClr val="3DDCF5"/>
                </a:solidFill>
                <a:latin typeface="Arial"/>
                <a:ea typeface="Arial"/>
                <a:cs typeface="Arial"/>
              </a:defRPr>
            </a:lvl2pPr>
            <a:lvl3pPr>
              <a:buNone/>
              <a:defRPr sz="1575" b="1">
                <a:solidFill>
                  <a:srgbClr val="3DDCF5"/>
                </a:solidFill>
                <a:latin typeface="Arial"/>
                <a:ea typeface="Arial"/>
                <a:cs typeface="Arial"/>
              </a:defRPr>
            </a:lvl3pPr>
            <a:lvl4pPr>
              <a:buNone/>
              <a:defRPr sz="1575" b="1">
                <a:solidFill>
                  <a:srgbClr val="3DDCF5"/>
                </a:solidFill>
                <a:latin typeface="Arial"/>
                <a:ea typeface="Arial"/>
                <a:cs typeface="Arial"/>
              </a:defRPr>
            </a:lvl4pPr>
            <a:lvl5pPr>
              <a:buNone/>
              <a:defRPr sz="1575" b="1">
                <a:solidFill>
                  <a:srgbClr val="3DDCF5"/>
                </a:solidFill>
                <a:latin typeface="Arial"/>
                <a:ea typeface="Arial"/>
                <a:cs typeface="Arial"/>
              </a:defRPr>
            </a:lvl5pPr>
            <a:lvl6pPr>
              <a:buNone/>
              <a:defRPr sz="1575" b="1">
                <a:solidFill>
                  <a:srgbClr val="3DDCF5"/>
                </a:solidFill>
                <a:latin typeface="Arial"/>
                <a:ea typeface="Arial"/>
                <a:cs typeface="Arial"/>
              </a:defRPr>
            </a:lvl6pPr>
            <a:lvl7pPr>
              <a:buNone/>
              <a:defRPr sz="1575" b="1">
                <a:solidFill>
                  <a:srgbClr val="3DDCF5"/>
                </a:solidFill>
                <a:latin typeface="Arial"/>
                <a:ea typeface="Arial"/>
                <a:cs typeface="Arial"/>
              </a:defRPr>
            </a:lvl7pPr>
            <a:lvl8pPr>
              <a:buNone/>
              <a:defRPr sz="1575" b="1">
                <a:solidFill>
                  <a:srgbClr val="3DDCF5"/>
                </a:solidFill>
                <a:latin typeface="Arial"/>
                <a:ea typeface="Arial"/>
                <a:cs typeface="Arial"/>
              </a:defRPr>
            </a:lvl8pPr>
            <a:lvl9pPr>
              <a:buNone/>
              <a:defRPr sz="1575" b="1">
                <a:solidFill>
                  <a:srgbClr val="3DDCF5"/>
                </a:solidFill>
                <a:latin typeface="Arial"/>
                <a:ea typeface="Arial"/>
                <a:cs typeface="Arial"/>
              </a:defRPr>
            </a:lvl9pPr>
          </a:lstStyle>
          <a:p xmlns:a="http://schemas.openxmlformats.org/drawingml/2006/main">
            <a:pPr>
              <a:buNone/>
              <a:defRPr sz="1575" b="1">
                <a:solidFill>
                  <a:srgbClr val="3DDCF5"/>
                </a:solidFill>
                <a:latin typeface="Arial"/>
                <a:ea typeface="Arial"/>
                <a:cs typeface="Arial"/>
              </a:defRPr>
            </a:pPr>
            <a:r>
              <a:rPr sz="1575" b="1">
                <a:solidFill>
                  <a:srgbClr val="3DDCF5"/>
                </a:solidFill>
                <a:latin typeface="Arial"/>
                <a:ea typeface="Arial"/>
                <a:cs typeface="Arial"/>
              </a:rPr>
              <a:t>PROPOSED SOLUTION</a:t>
            </a:r>
          </a:p>
        </p:txBody>
      </p:sp>
      <p:sp>
        <p:nvSpPr>
          <p:cNvPr id="11" name="enhancement-37">
            <a:extLst xmlns:a="http://schemas.openxmlformats.org/drawingml/2006/main">
              <a:ext uri="{FF2B5EF4-FFF2-40B4-BE49-F238E27FC236}">
                <a16:creationId xmlns:a16="http://schemas.microsoft.com/office/drawing/2014/main" id="{95CDFA61-A5D3-4B81-8B8B-DFFAC9839180}"/>
              </a:ext>
            </a:extLst>
          </p:cNvPr>
          <p:cNvSpPr>
            <a:spLocks xmlns:a="http://schemas.openxmlformats.org/drawingml/2006/main" noGrp="1"/>
          </p:cNvSpPr>
          <p:nvPr/>
        </p:nvSpPr>
        <p:spPr>
          <a:xfrm xmlns:a="http://schemas.openxmlformats.org/drawingml/2006/main">
            <a:off x="7972425" y="4448175"/>
            <a:ext cx="3581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A8BDD4"/>
                </a:solidFill>
                <a:latin typeface="Arial"/>
                <a:ea typeface="Arial"/>
                <a:cs typeface="Arial"/>
              </a:defRPr>
            </a:lvl1pPr>
            <a:lvl2pPr>
              <a:buNone/>
              <a:defRPr sz="1875" b="0">
                <a:solidFill>
                  <a:srgbClr val="A8BDD4"/>
                </a:solidFill>
                <a:latin typeface="Arial"/>
                <a:ea typeface="Arial"/>
                <a:cs typeface="Arial"/>
              </a:defRPr>
            </a:lvl2pPr>
            <a:lvl3pPr>
              <a:buNone/>
              <a:defRPr sz="1875" b="0">
                <a:solidFill>
                  <a:srgbClr val="A8BDD4"/>
                </a:solidFill>
                <a:latin typeface="Arial"/>
                <a:ea typeface="Arial"/>
                <a:cs typeface="Arial"/>
              </a:defRPr>
            </a:lvl3pPr>
            <a:lvl4pPr>
              <a:buNone/>
              <a:defRPr sz="1875" b="0">
                <a:solidFill>
                  <a:srgbClr val="A8BDD4"/>
                </a:solidFill>
                <a:latin typeface="Arial"/>
                <a:ea typeface="Arial"/>
                <a:cs typeface="Arial"/>
              </a:defRPr>
            </a:lvl4pPr>
            <a:lvl5pPr>
              <a:buNone/>
              <a:defRPr sz="1875" b="0">
                <a:solidFill>
                  <a:srgbClr val="A8BDD4"/>
                </a:solidFill>
                <a:latin typeface="Arial"/>
                <a:ea typeface="Arial"/>
                <a:cs typeface="Arial"/>
              </a:defRPr>
            </a:lvl5pPr>
            <a:lvl6pPr>
              <a:buNone/>
              <a:defRPr sz="1875" b="0">
                <a:solidFill>
                  <a:srgbClr val="A8BDD4"/>
                </a:solidFill>
                <a:latin typeface="Arial"/>
                <a:ea typeface="Arial"/>
                <a:cs typeface="Arial"/>
              </a:defRPr>
            </a:lvl6pPr>
            <a:lvl7pPr>
              <a:buNone/>
              <a:defRPr sz="1875" b="0">
                <a:solidFill>
                  <a:srgbClr val="A8BDD4"/>
                </a:solidFill>
                <a:latin typeface="Arial"/>
                <a:ea typeface="Arial"/>
                <a:cs typeface="Arial"/>
              </a:defRPr>
            </a:lvl7pPr>
            <a:lvl8pPr>
              <a:buNone/>
              <a:defRPr sz="1875" b="0">
                <a:solidFill>
                  <a:srgbClr val="A8BDD4"/>
                </a:solidFill>
                <a:latin typeface="Arial"/>
                <a:ea typeface="Arial"/>
                <a:cs typeface="Arial"/>
              </a:defRPr>
            </a:lvl8pPr>
            <a:lvl9pPr>
              <a:buNone/>
              <a:defRPr sz="1875" b="0">
                <a:solidFill>
                  <a:srgbClr val="A8BDD4"/>
                </a:solidFill>
                <a:latin typeface="Arial"/>
                <a:ea typeface="Arial"/>
                <a:cs typeface="Arial"/>
              </a:defRPr>
            </a:lvl9pPr>
          </a:lstStyle>
          <a:p xmlns:a="http://schemas.openxmlformats.org/drawingml/2006/main">
            <a:pPr>
              <a:buNone/>
              <a:defRPr sz="1875" b="0">
                <a:solidFill>
                  <a:srgbClr val="A8BDD4"/>
                </a:solidFill>
                <a:latin typeface="Arial"/>
                <a:ea typeface="Arial"/>
                <a:cs typeface="Arial"/>
              </a:defRPr>
            </a:pPr>
            <a:r>
              <a:rPr sz="1875" b="0">
                <a:solidFill>
                  <a:srgbClr val="A8BDD4"/>
                </a:solidFill>
                <a:latin typeface="Arial"/>
                <a:ea typeface="Arial"/>
                <a:cs typeface="Arial"/>
              </a:rPr>
              <a:t>Validate scheduling rules and event meaning, then pilot changes using reliable stop mappings.</a:t>
            </a:r>
          </a:p>
        </p:txBody>
      </p:sp>
      <p:sp>
        <p:nvSpPr>
          <p:cNvPr id="13" name="enhancement-38">
            <a:extLst xmlns:a="http://schemas.openxmlformats.org/drawingml/2006/main">
              <a:ext uri="{FF2B5EF4-FFF2-40B4-BE49-F238E27FC236}">
                <a16:creationId xmlns:a16="http://schemas.microsoft.com/office/drawing/2014/main" id="{166B1775-EFF1-4488-99E3-9475C24C095C}"/>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14</a:t>
            </a:r>
          </a:p>
        </p:txBody>
      </p:sp>
    </p:spTree>
    <p:extLst>
      <p:ext uri="{BB962C8B-B14F-4D97-AF65-F5344CB8AC3E}">
        <p14:creationId xmlns:p14="http://schemas.microsoft.com/office/powerpoint/2010/main" val="1205505218"/>
      </p:ext>
    </p:extLst>
  </p:cSld>
</p:sld>
</file>

<file path=ppt/slides/slide15.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graphicFrame>
        <p:nvGraphicFramePr>
          <p:cNvPr id="20" name="Chart"/>
          <p:cNvGraphicFramePr/>
          <p:nvPr/>
        </p:nvGraphicFramePr>
        <p:xfrm>
          <a:off xmlns:a="http://schemas.openxmlformats.org/drawingml/2006/main" x="381000" y="2362200"/>
          <a:ext xmlns:a="http://schemas.openxmlformats.org/drawingml/2006/main" cx="7143750" cy="3333750"/>
        </p:xfrm>
        <a:graphic xmlns:a="http://schemas.openxmlformats.org/drawingml/2006/main">
          <a:graphicData uri="http://schemas.openxmlformats.org/drawingml/2006/chart">
            <c:chart xmlns:r="http://schemas.openxmlformats.org/officeDocument/2006/relationships" xmlns:c="http://schemas.openxmlformats.org/drawingml/2006/chart" r:id="R6a3afb433785459d"/>
          </a:graphicData>
        </a:graphic>
      </p:graphicFrame>
      <p:sp>
        <p:nvSpPr>
          <p:cNvPr id="11" name="">
            <a:extLst xmlns:a="http://schemas.openxmlformats.org/drawingml/2006/main">
              <a:ext uri="{FF2B5EF4-FFF2-40B4-BE49-F238E27FC236}">
                <a16:creationId xmlns:a16="http://schemas.microsoft.com/office/drawing/2014/main" id="{00645371-3A4A-4015-8750-29120BC12C48}"/>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THE EFFICIENCY QUESTION: VEHICLE PERFORMANCE</a:t>
            </a:r>
          </a:p>
        </p:txBody>
      </p:sp>
      <p:sp>
        <p:nvSpPr>
          <p:cNvPr id="2" name="">
            <a:extLst xmlns:a="http://schemas.openxmlformats.org/drawingml/2006/main">
              <a:ext uri="{FF2B5EF4-FFF2-40B4-BE49-F238E27FC236}">
                <a16:creationId xmlns:a16="http://schemas.microsoft.com/office/drawing/2014/main" id="{6F4D784E-DA7A-48B7-8E93-3379CB58FE41}"/>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150" b="1">
                <a:solidFill>
                  <a:srgbClr val="F2F6FF"/>
                </a:solidFill>
                <a:latin typeface="Arial"/>
                <a:ea typeface="Arial"/>
                <a:cs typeface="Arial"/>
              </a:defRPr>
            </a:pPr>
            <a:r>
              <a:rPr sz="3150" b="1">
                <a:solidFill>
                  <a:srgbClr val="F2F6FF"/>
                </a:solidFill>
                <a:latin typeface="Arial"/>
                <a:ea typeface="Arial"/>
                <a:cs typeface="Arial"/>
              </a:rPr>
              <a:t>Fuel data raised a reconciliation question</a:t>
            </a:r>
          </a:p>
        </p:txBody>
      </p:sp>
      <p:sp>
        <p:nvSpPr>
          <p:cNvPr id="10" name="">
            <a:extLst xmlns:a="http://schemas.openxmlformats.org/drawingml/2006/main">
              <a:ext uri="{FF2B5EF4-FFF2-40B4-BE49-F238E27FC236}">
                <a16:creationId xmlns:a16="http://schemas.microsoft.com/office/drawing/2014/main" id="{D8802501-9DB5-41A6-8AC9-22A950FB4FA2}"/>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15</a:t>
            </a:r>
          </a:p>
        </p:txBody>
      </p:sp>
      <p:sp>
        <p:nvSpPr>
          <p:cNvPr id="9" name="">
            <a:extLst xmlns:a="http://schemas.openxmlformats.org/drawingml/2006/main">
              <a:ext uri="{FF2B5EF4-FFF2-40B4-BE49-F238E27FC236}">
                <a16:creationId xmlns:a16="http://schemas.microsoft.com/office/drawing/2014/main" id="{BF610A2B-06D1-4D1A-AC0D-434B55AF03B6}"/>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The 5.57M-gallon difference is 22.73% of purchases; it is not proven loss</a:t>
            </a:r>
          </a:p>
        </p:txBody>
      </p:sp>
      <p:sp>
        <p:nvSpPr>
          <p:cNvPr id="3" name="">
            <a:extLst xmlns:a="http://schemas.openxmlformats.org/drawingml/2006/main">
              <a:ext uri="{FF2B5EF4-FFF2-40B4-BE49-F238E27FC236}">
                <a16:creationId xmlns:a16="http://schemas.microsoft.com/office/drawing/2014/main" id="{8E43922C-2DF7-4AAA-8EB1-1868C3ECE8DE}"/>
              </a:ext>
            </a:extLst>
          </p:cNvPr>
          <p:cNvSpPr>
            <a:spLocks xmlns:a="http://schemas.openxmlformats.org/drawingml/2006/main" noGrp="1"/>
          </p:cNvSpPr>
          <p:nvPr/>
        </p:nvSpPr>
        <p:spPr>
          <a:xfrm xmlns:a="http://schemas.openxmlformats.org/drawingml/2006/main">
            <a:off x="571500" y="2009775"/>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1">
                <a:solidFill>
                  <a:srgbClr val="546B7C"/>
                </a:solidFill>
                <a:latin typeface="Arial"/>
                <a:ea typeface="Arial"/>
                <a:cs typeface="Arial"/>
              </a:defRPr>
            </a:lvl1pPr>
            <a:lvl2pPr>
              <a:buNone/>
              <a:defRPr sz="1650" b="1">
                <a:solidFill>
                  <a:srgbClr val="546B7C"/>
                </a:solidFill>
                <a:latin typeface="Arial"/>
                <a:ea typeface="Arial"/>
                <a:cs typeface="Arial"/>
              </a:defRPr>
            </a:lvl2pPr>
            <a:lvl3pPr>
              <a:buNone/>
              <a:defRPr sz="1650" b="1">
                <a:solidFill>
                  <a:srgbClr val="546B7C"/>
                </a:solidFill>
                <a:latin typeface="Arial"/>
                <a:ea typeface="Arial"/>
                <a:cs typeface="Arial"/>
              </a:defRPr>
            </a:lvl3pPr>
            <a:lvl4pPr>
              <a:buNone/>
              <a:defRPr sz="1650" b="1">
                <a:solidFill>
                  <a:srgbClr val="546B7C"/>
                </a:solidFill>
                <a:latin typeface="Arial"/>
                <a:ea typeface="Arial"/>
                <a:cs typeface="Arial"/>
              </a:defRPr>
            </a:lvl4pPr>
            <a:lvl5pPr>
              <a:buNone/>
              <a:defRPr sz="1650" b="1">
                <a:solidFill>
                  <a:srgbClr val="546B7C"/>
                </a:solidFill>
                <a:latin typeface="Arial"/>
                <a:ea typeface="Arial"/>
                <a:cs typeface="Arial"/>
              </a:defRPr>
            </a:lvl5pPr>
            <a:lvl6pPr>
              <a:buNone/>
              <a:defRPr sz="1650" b="1">
                <a:solidFill>
                  <a:srgbClr val="546B7C"/>
                </a:solidFill>
                <a:latin typeface="Arial"/>
                <a:ea typeface="Arial"/>
                <a:cs typeface="Arial"/>
              </a:defRPr>
            </a:lvl6pPr>
            <a:lvl7pPr>
              <a:buNone/>
              <a:defRPr sz="1650" b="1">
                <a:solidFill>
                  <a:srgbClr val="546B7C"/>
                </a:solidFill>
                <a:latin typeface="Arial"/>
                <a:ea typeface="Arial"/>
                <a:cs typeface="Arial"/>
              </a:defRPr>
            </a:lvl7pPr>
            <a:lvl8pPr>
              <a:buNone/>
              <a:defRPr sz="1650" b="1">
                <a:solidFill>
                  <a:srgbClr val="546B7C"/>
                </a:solidFill>
                <a:latin typeface="Arial"/>
                <a:ea typeface="Arial"/>
                <a:cs typeface="Arial"/>
              </a:defRPr>
            </a:lvl8pPr>
            <a:lvl9pPr>
              <a:buNone/>
              <a:defRPr sz="1650" b="1">
                <a:solidFill>
                  <a:srgbClr val="546B7C"/>
                </a:solidFill>
                <a:latin typeface="Arial"/>
                <a:ea typeface="Arial"/>
                <a:cs typeface="Arial"/>
              </a:defRPr>
            </a:lvl9pPr>
          </a:lstStyle>
          <a:p xmlns:a="http://schemas.openxmlformats.org/drawingml/2006/main">
            <a:pPr>
              <a:buNone/>
              <a:defRPr sz="1575" b="1">
                <a:solidFill>
                  <a:srgbClr val="A8BDD4"/>
                </a:solidFill>
                <a:latin typeface="Arial"/>
                <a:ea typeface="Arial"/>
                <a:cs typeface="Arial"/>
              </a:defRPr>
            </a:pPr>
            <a:r>
              <a:rPr sz="1575" b="1">
                <a:solidFill>
                  <a:srgbClr val="A8BDD4"/>
                </a:solidFill>
                <a:latin typeface="Arial"/>
                <a:ea typeface="Arial"/>
                <a:cs typeface="Arial"/>
              </a:rPr>
              <a:t>Fuel, million gallons</a:t>
            </a:r>
          </a:p>
        </p:txBody>
      </p:sp>
      <p:sp>
        <p:nvSpPr>
          <p:cNvPr id="12" name="callout-panel-39">
            <a:extLst xmlns:a="http://schemas.openxmlformats.org/drawingml/2006/main">
              <a:ext uri="{FF2B5EF4-FFF2-40B4-BE49-F238E27FC236}">
                <a16:creationId xmlns:a16="http://schemas.microsoft.com/office/drawing/2014/main" id="{CEA1FCAD-8A7D-40B9-8212-5D1E578C0D37}"/>
              </a:ext>
            </a:extLst>
          </p:cNvPr>
          <p:cNvSpPr>
            <a:spLocks xmlns:a="http://schemas.openxmlformats.org/drawingml/2006/main" noGrp="1"/>
          </p:cNvSpPr>
          <p:nvPr/>
        </p:nvSpPr>
        <p:spPr>
          <a:xfrm xmlns:a="http://schemas.openxmlformats.org/drawingml/2006/main">
            <a:off x="7762875" y="1943100"/>
            <a:ext cx="4000500" cy="3838575"/>
          </a:xfrm>
          <a:prstGeom xmlns:a="http://schemas.openxmlformats.org/drawingml/2006/main" prst="rect">
            <a:avLst/>
          </a:prstGeom>
          <a:solidFill xmlns:a="http://schemas.openxmlformats.org/drawingml/2006/main">
            <a:srgbClr val="0B182A"/>
          </a:solidFill>
          <a:ln xmlns:a="http://schemas.openxmlformats.org/drawingml/2006/main" w="0">
            <a:noFill/>
          </a:ln>
        </p:spPr>
      </p:sp>
      <p:sp>
        <p:nvSpPr>
          <p:cNvPr id="13" name="callout-rule-40">
            <a:extLst xmlns:a="http://schemas.openxmlformats.org/drawingml/2006/main">
              <a:ext uri="{FF2B5EF4-FFF2-40B4-BE49-F238E27FC236}">
                <a16:creationId xmlns:a16="http://schemas.microsoft.com/office/drawing/2014/main" id="{1247EC60-F6C4-4830-975A-665FB2C8F143}"/>
              </a:ext>
            </a:extLst>
          </p:cNvPr>
          <p:cNvSpPr>
            <a:spLocks xmlns:a="http://schemas.openxmlformats.org/drawingml/2006/main" noGrp="1"/>
          </p:cNvSpPr>
          <p:nvPr/>
        </p:nvSpPr>
        <p:spPr>
          <a:xfrm xmlns:a="http://schemas.openxmlformats.org/drawingml/2006/main">
            <a:off x="7762875" y="1943100"/>
            <a:ext cx="495300" cy="19050"/>
          </a:xfrm>
          <a:prstGeom xmlns:a="http://schemas.openxmlformats.org/drawingml/2006/main" prst="rect">
            <a:avLst/>
          </a:prstGeom>
          <a:solidFill xmlns:a="http://schemas.openxmlformats.org/drawingml/2006/main">
            <a:srgbClr val="3278FF"/>
          </a:solidFill>
          <a:ln xmlns:a="http://schemas.openxmlformats.org/drawingml/2006/main" w="0">
            <a:noFill/>
          </a:ln>
        </p:spPr>
      </p:sp>
      <p:sp>
        <p:nvSpPr>
          <p:cNvPr id="14" name="callout-rule-41">
            <a:extLst xmlns:a="http://schemas.openxmlformats.org/drawingml/2006/main">
              <a:ext uri="{FF2B5EF4-FFF2-40B4-BE49-F238E27FC236}">
                <a16:creationId xmlns:a16="http://schemas.microsoft.com/office/drawing/2014/main" id="{D963AC16-B759-476D-BC46-48AA750B47EB}"/>
              </a:ext>
            </a:extLst>
          </p:cNvPr>
          <p:cNvSpPr>
            <a:spLocks xmlns:a="http://schemas.openxmlformats.org/drawingml/2006/main" noGrp="1"/>
          </p:cNvSpPr>
          <p:nvPr/>
        </p:nvSpPr>
        <p:spPr>
          <a:xfrm xmlns:a="http://schemas.openxmlformats.org/drawingml/2006/main">
            <a:off x="7762875" y="3895725"/>
            <a:ext cx="49530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
        <p:nvSpPr>
          <p:cNvPr id="15" name="enhancement-42">
            <a:extLst xmlns:a="http://schemas.openxmlformats.org/drawingml/2006/main">
              <a:ext uri="{FF2B5EF4-FFF2-40B4-BE49-F238E27FC236}">
                <a16:creationId xmlns:a16="http://schemas.microsoft.com/office/drawing/2014/main" id="{54E5E3E1-364C-4CF7-AABA-BD4CA7D3D81B}"/>
              </a:ext>
            </a:extLst>
          </p:cNvPr>
          <p:cNvSpPr>
            <a:spLocks xmlns:a="http://schemas.openxmlformats.org/drawingml/2006/main" noGrp="1"/>
          </p:cNvSpPr>
          <p:nvPr/>
        </p:nvSpPr>
        <p:spPr>
          <a:xfrm xmlns:a="http://schemas.openxmlformats.org/drawingml/2006/main">
            <a:off x="7972425" y="2028825"/>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278FF"/>
                </a:solidFill>
                <a:latin typeface="Arial"/>
                <a:ea typeface="Arial"/>
                <a:cs typeface="Arial"/>
              </a:defRPr>
            </a:lvl1pPr>
            <a:lvl2pPr>
              <a:buNone/>
              <a:defRPr sz="1575" b="1">
                <a:solidFill>
                  <a:srgbClr val="3278FF"/>
                </a:solidFill>
                <a:latin typeface="Arial"/>
                <a:ea typeface="Arial"/>
                <a:cs typeface="Arial"/>
              </a:defRPr>
            </a:lvl2pPr>
            <a:lvl3pPr>
              <a:buNone/>
              <a:defRPr sz="1575" b="1">
                <a:solidFill>
                  <a:srgbClr val="3278FF"/>
                </a:solidFill>
                <a:latin typeface="Arial"/>
                <a:ea typeface="Arial"/>
                <a:cs typeface="Arial"/>
              </a:defRPr>
            </a:lvl3pPr>
            <a:lvl4pPr>
              <a:buNone/>
              <a:defRPr sz="1575" b="1">
                <a:solidFill>
                  <a:srgbClr val="3278FF"/>
                </a:solidFill>
                <a:latin typeface="Arial"/>
                <a:ea typeface="Arial"/>
                <a:cs typeface="Arial"/>
              </a:defRPr>
            </a:lvl4pPr>
            <a:lvl5pPr>
              <a:buNone/>
              <a:defRPr sz="1575" b="1">
                <a:solidFill>
                  <a:srgbClr val="3278FF"/>
                </a:solidFill>
                <a:latin typeface="Arial"/>
                <a:ea typeface="Arial"/>
                <a:cs typeface="Arial"/>
              </a:defRPr>
            </a:lvl5pPr>
            <a:lvl6pPr>
              <a:buNone/>
              <a:defRPr sz="1575" b="1">
                <a:solidFill>
                  <a:srgbClr val="3278FF"/>
                </a:solidFill>
                <a:latin typeface="Arial"/>
                <a:ea typeface="Arial"/>
                <a:cs typeface="Arial"/>
              </a:defRPr>
            </a:lvl6pPr>
            <a:lvl7pPr>
              <a:buNone/>
              <a:defRPr sz="1575" b="1">
                <a:solidFill>
                  <a:srgbClr val="3278FF"/>
                </a:solidFill>
                <a:latin typeface="Arial"/>
                <a:ea typeface="Arial"/>
                <a:cs typeface="Arial"/>
              </a:defRPr>
            </a:lvl7pPr>
            <a:lvl8pPr>
              <a:buNone/>
              <a:defRPr sz="1575" b="1">
                <a:solidFill>
                  <a:srgbClr val="3278FF"/>
                </a:solidFill>
                <a:latin typeface="Arial"/>
                <a:ea typeface="Arial"/>
                <a:cs typeface="Arial"/>
              </a:defRPr>
            </a:lvl8pPr>
            <a:lvl9pPr>
              <a:buNone/>
              <a:defRPr sz="1575" b="1">
                <a:solidFill>
                  <a:srgbClr val="3278FF"/>
                </a:solidFill>
                <a:latin typeface="Arial"/>
                <a:ea typeface="Arial"/>
                <a:cs typeface="Arial"/>
              </a:defRPr>
            </a:lvl9pPr>
          </a:lstStyle>
          <a:p xmlns:a="http://schemas.openxmlformats.org/drawingml/2006/main">
            <a:pPr>
              <a:buNone/>
              <a:defRPr sz="1575" b="1">
                <a:solidFill>
                  <a:srgbClr val="3278FF"/>
                </a:solidFill>
                <a:latin typeface="Arial"/>
                <a:ea typeface="Arial"/>
                <a:cs typeface="Arial"/>
              </a:defRPr>
            </a:pPr>
            <a:r>
              <a:rPr sz="1575" b="1">
                <a:solidFill>
                  <a:srgbClr val="3278FF"/>
                </a:solidFill>
                <a:latin typeface="Arial"/>
                <a:ea typeface="Arial"/>
                <a:cs typeface="Arial"/>
              </a:rPr>
              <a:t>PROBLEM</a:t>
            </a:r>
          </a:p>
        </p:txBody>
      </p:sp>
      <p:sp>
        <p:nvSpPr>
          <p:cNvPr id="16" name="enhancement-43">
            <a:extLst xmlns:a="http://schemas.openxmlformats.org/drawingml/2006/main">
              <a:ext uri="{FF2B5EF4-FFF2-40B4-BE49-F238E27FC236}">
                <a16:creationId xmlns:a16="http://schemas.microsoft.com/office/drawing/2014/main" id="{AAF2D5CC-EBBA-488B-9FEE-67885DA92249}"/>
              </a:ext>
            </a:extLst>
          </p:cNvPr>
          <p:cNvSpPr>
            <a:spLocks xmlns:a="http://schemas.openxmlformats.org/drawingml/2006/main" noGrp="1"/>
          </p:cNvSpPr>
          <p:nvPr/>
        </p:nvSpPr>
        <p:spPr>
          <a:xfrm xmlns:a="http://schemas.openxmlformats.org/drawingml/2006/main">
            <a:off x="7972425" y="2514600"/>
            <a:ext cx="3581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F2F6FF"/>
                </a:solidFill>
                <a:latin typeface="Arial"/>
                <a:ea typeface="Arial"/>
                <a:cs typeface="Arial"/>
              </a:defRPr>
            </a:lvl1pPr>
            <a:lvl2pPr>
              <a:buNone/>
              <a:defRPr sz="1875" b="0">
                <a:solidFill>
                  <a:srgbClr val="F2F6FF"/>
                </a:solidFill>
                <a:latin typeface="Arial"/>
                <a:ea typeface="Arial"/>
                <a:cs typeface="Arial"/>
              </a:defRPr>
            </a:lvl2pPr>
            <a:lvl3pPr>
              <a:buNone/>
              <a:defRPr sz="1875" b="0">
                <a:solidFill>
                  <a:srgbClr val="F2F6FF"/>
                </a:solidFill>
                <a:latin typeface="Arial"/>
                <a:ea typeface="Arial"/>
                <a:cs typeface="Arial"/>
              </a:defRPr>
            </a:lvl3pPr>
            <a:lvl4pPr>
              <a:buNone/>
              <a:defRPr sz="1875" b="0">
                <a:solidFill>
                  <a:srgbClr val="F2F6FF"/>
                </a:solidFill>
                <a:latin typeface="Arial"/>
                <a:ea typeface="Arial"/>
                <a:cs typeface="Arial"/>
              </a:defRPr>
            </a:lvl4pPr>
            <a:lvl5pPr>
              <a:buNone/>
              <a:defRPr sz="1875" b="0">
                <a:solidFill>
                  <a:srgbClr val="F2F6FF"/>
                </a:solidFill>
                <a:latin typeface="Arial"/>
                <a:ea typeface="Arial"/>
                <a:cs typeface="Arial"/>
              </a:defRPr>
            </a:lvl5pPr>
            <a:lvl6pPr>
              <a:buNone/>
              <a:defRPr sz="1875" b="0">
                <a:solidFill>
                  <a:srgbClr val="F2F6FF"/>
                </a:solidFill>
                <a:latin typeface="Arial"/>
                <a:ea typeface="Arial"/>
                <a:cs typeface="Arial"/>
              </a:defRPr>
            </a:lvl6pPr>
            <a:lvl7pPr>
              <a:buNone/>
              <a:defRPr sz="1875" b="0">
                <a:solidFill>
                  <a:srgbClr val="F2F6FF"/>
                </a:solidFill>
                <a:latin typeface="Arial"/>
                <a:ea typeface="Arial"/>
                <a:cs typeface="Arial"/>
              </a:defRPr>
            </a:lvl7pPr>
            <a:lvl8pPr>
              <a:buNone/>
              <a:defRPr sz="1875" b="0">
                <a:solidFill>
                  <a:srgbClr val="F2F6FF"/>
                </a:solidFill>
                <a:latin typeface="Arial"/>
                <a:ea typeface="Arial"/>
                <a:cs typeface="Arial"/>
              </a:defRPr>
            </a:lvl8pPr>
            <a:lvl9pPr>
              <a:buNone/>
              <a:defRPr sz="1875" b="0">
                <a:solidFill>
                  <a:srgbClr val="F2F6FF"/>
                </a:solidFill>
                <a:latin typeface="Arial"/>
                <a:ea typeface="Arial"/>
                <a:cs typeface="Arial"/>
              </a:defRPr>
            </a:lvl9pPr>
          </a:lstStyle>
          <a:p xmlns:a="http://schemas.openxmlformats.org/drawingml/2006/main">
            <a:pPr>
              <a:buNone/>
              <a:defRPr sz="1875" b="0">
                <a:solidFill>
                  <a:srgbClr val="F2F6FF"/>
                </a:solidFill>
                <a:latin typeface="Arial"/>
                <a:ea typeface="Arial"/>
                <a:cs typeface="Arial"/>
              </a:defRPr>
            </a:pPr>
            <a:r>
              <a:rPr sz="1875" b="0">
                <a:solidFill>
                  <a:srgbClr val="F2F6FF"/>
                </a:solidFill>
                <a:latin typeface="Arial"/>
                <a:ea typeface="Arial"/>
                <a:cs typeface="Arial"/>
              </a:rPr>
              <a:t>Fuel purchases exceed recorded trip consumption by 5.57M gallons. The gap is not reconciled.</a:t>
            </a:r>
          </a:p>
        </p:txBody>
      </p:sp>
      <p:sp>
        <p:nvSpPr>
          <p:cNvPr id="17" name="enhancement-44">
            <a:extLst xmlns:a="http://schemas.openxmlformats.org/drawingml/2006/main">
              <a:ext uri="{FF2B5EF4-FFF2-40B4-BE49-F238E27FC236}">
                <a16:creationId xmlns:a16="http://schemas.microsoft.com/office/drawing/2014/main" id="{380A7C22-FA7E-4454-A7C3-5536E009012A}"/>
              </a:ext>
            </a:extLst>
          </p:cNvPr>
          <p:cNvSpPr>
            <a:spLocks xmlns:a="http://schemas.openxmlformats.org/drawingml/2006/main" noGrp="1"/>
          </p:cNvSpPr>
          <p:nvPr/>
        </p:nvSpPr>
        <p:spPr>
          <a:xfrm xmlns:a="http://schemas.openxmlformats.org/drawingml/2006/main">
            <a:off x="7972425" y="39814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DDCF5"/>
                </a:solidFill>
                <a:latin typeface="Arial"/>
                <a:ea typeface="Arial"/>
                <a:cs typeface="Arial"/>
              </a:defRPr>
            </a:lvl1pPr>
            <a:lvl2pPr>
              <a:buNone/>
              <a:defRPr sz="1575" b="1">
                <a:solidFill>
                  <a:srgbClr val="3DDCF5"/>
                </a:solidFill>
                <a:latin typeface="Arial"/>
                <a:ea typeface="Arial"/>
                <a:cs typeface="Arial"/>
              </a:defRPr>
            </a:lvl2pPr>
            <a:lvl3pPr>
              <a:buNone/>
              <a:defRPr sz="1575" b="1">
                <a:solidFill>
                  <a:srgbClr val="3DDCF5"/>
                </a:solidFill>
                <a:latin typeface="Arial"/>
                <a:ea typeface="Arial"/>
                <a:cs typeface="Arial"/>
              </a:defRPr>
            </a:lvl3pPr>
            <a:lvl4pPr>
              <a:buNone/>
              <a:defRPr sz="1575" b="1">
                <a:solidFill>
                  <a:srgbClr val="3DDCF5"/>
                </a:solidFill>
                <a:latin typeface="Arial"/>
                <a:ea typeface="Arial"/>
                <a:cs typeface="Arial"/>
              </a:defRPr>
            </a:lvl4pPr>
            <a:lvl5pPr>
              <a:buNone/>
              <a:defRPr sz="1575" b="1">
                <a:solidFill>
                  <a:srgbClr val="3DDCF5"/>
                </a:solidFill>
                <a:latin typeface="Arial"/>
                <a:ea typeface="Arial"/>
                <a:cs typeface="Arial"/>
              </a:defRPr>
            </a:lvl5pPr>
            <a:lvl6pPr>
              <a:buNone/>
              <a:defRPr sz="1575" b="1">
                <a:solidFill>
                  <a:srgbClr val="3DDCF5"/>
                </a:solidFill>
                <a:latin typeface="Arial"/>
                <a:ea typeface="Arial"/>
                <a:cs typeface="Arial"/>
              </a:defRPr>
            </a:lvl6pPr>
            <a:lvl7pPr>
              <a:buNone/>
              <a:defRPr sz="1575" b="1">
                <a:solidFill>
                  <a:srgbClr val="3DDCF5"/>
                </a:solidFill>
                <a:latin typeface="Arial"/>
                <a:ea typeface="Arial"/>
                <a:cs typeface="Arial"/>
              </a:defRPr>
            </a:lvl7pPr>
            <a:lvl8pPr>
              <a:buNone/>
              <a:defRPr sz="1575" b="1">
                <a:solidFill>
                  <a:srgbClr val="3DDCF5"/>
                </a:solidFill>
                <a:latin typeface="Arial"/>
                <a:ea typeface="Arial"/>
                <a:cs typeface="Arial"/>
              </a:defRPr>
            </a:lvl8pPr>
            <a:lvl9pPr>
              <a:buNone/>
              <a:defRPr sz="1575" b="1">
                <a:solidFill>
                  <a:srgbClr val="3DDCF5"/>
                </a:solidFill>
                <a:latin typeface="Arial"/>
                <a:ea typeface="Arial"/>
                <a:cs typeface="Arial"/>
              </a:defRPr>
            </a:lvl9pPr>
          </a:lstStyle>
          <a:p xmlns:a="http://schemas.openxmlformats.org/drawingml/2006/main">
            <a:pPr>
              <a:buNone/>
              <a:defRPr sz="1575" b="1">
                <a:solidFill>
                  <a:srgbClr val="3DDCF5"/>
                </a:solidFill>
                <a:latin typeface="Arial"/>
                <a:ea typeface="Arial"/>
                <a:cs typeface="Arial"/>
              </a:defRPr>
            </a:pPr>
            <a:r>
              <a:rPr sz="1575" b="1">
                <a:solidFill>
                  <a:srgbClr val="3DDCF5"/>
                </a:solidFill>
                <a:latin typeface="Arial"/>
                <a:ea typeface="Arial"/>
                <a:cs typeface="Arial"/>
              </a:rPr>
              <a:t>PROPOSED SOLUTION</a:t>
            </a:r>
          </a:p>
        </p:txBody>
      </p:sp>
      <p:sp>
        <p:nvSpPr>
          <p:cNvPr id="18" name="enhancement-45">
            <a:extLst xmlns:a="http://schemas.openxmlformats.org/drawingml/2006/main">
              <a:ext uri="{FF2B5EF4-FFF2-40B4-BE49-F238E27FC236}">
                <a16:creationId xmlns:a16="http://schemas.microsoft.com/office/drawing/2014/main" id="{FF489425-F535-4D10-B500-400846A9D818}"/>
              </a:ext>
            </a:extLst>
          </p:cNvPr>
          <p:cNvSpPr>
            <a:spLocks xmlns:a="http://schemas.openxmlformats.org/drawingml/2006/main" noGrp="1"/>
          </p:cNvSpPr>
          <p:nvPr/>
        </p:nvSpPr>
        <p:spPr>
          <a:xfrm xmlns:a="http://schemas.openxmlformats.org/drawingml/2006/main">
            <a:off x="7972425" y="4448175"/>
            <a:ext cx="3581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A8BDD4"/>
                </a:solidFill>
                <a:latin typeface="Arial"/>
                <a:ea typeface="Arial"/>
                <a:cs typeface="Arial"/>
              </a:defRPr>
            </a:lvl1pPr>
            <a:lvl2pPr>
              <a:buNone/>
              <a:defRPr sz="1875" b="0">
                <a:solidFill>
                  <a:srgbClr val="A8BDD4"/>
                </a:solidFill>
                <a:latin typeface="Arial"/>
                <a:ea typeface="Arial"/>
                <a:cs typeface="Arial"/>
              </a:defRPr>
            </a:lvl2pPr>
            <a:lvl3pPr>
              <a:buNone/>
              <a:defRPr sz="1875" b="0">
                <a:solidFill>
                  <a:srgbClr val="A8BDD4"/>
                </a:solidFill>
                <a:latin typeface="Arial"/>
                <a:ea typeface="Arial"/>
                <a:cs typeface="Arial"/>
              </a:defRPr>
            </a:lvl3pPr>
            <a:lvl4pPr>
              <a:buNone/>
              <a:defRPr sz="1875" b="0">
                <a:solidFill>
                  <a:srgbClr val="A8BDD4"/>
                </a:solidFill>
                <a:latin typeface="Arial"/>
                <a:ea typeface="Arial"/>
                <a:cs typeface="Arial"/>
              </a:defRPr>
            </a:lvl4pPr>
            <a:lvl5pPr>
              <a:buNone/>
              <a:defRPr sz="1875" b="0">
                <a:solidFill>
                  <a:srgbClr val="A8BDD4"/>
                </a:solidFill>
                <a:latin typeface="Arial"/>
                <a:ea typeface="Arial"/>
                <a:cs typeface="Arial"/>
              </a:defRPr>
            </a:lvl5pPr>
            <a:lvl6pPr>
              <a:buNone/>
              <a:defRPr sz="1875" b="0">
                <a:solidFill>
                  <a:srgbClr val="A8BDD4"/>
                </a:solidFill>
                <a:latin typeface="Arial"/>
                <a:ea typeface="Arial"/>
                <a:cs typeface="Arial"/>
              </a:defRPr>
            </a:lvl6pPr>
            <a:lvl7pPr>
              <a:buNone/>
              <a:defRPr sz="1875" b="0">
                <a:solidFill>
                  <a:srgbClr val="A8BDD4"/>
                </a:solidFill>
                <a:latin typeface="Arial"/>
                <a:ea typeface="Arial"/>
                <a:cs typeface="Arial"/>
              </a:defRPr>
            </a:lvl7pPr>
            <a:lvl8pPr>
              <a:buNone/>
              <a:defRPr sz="1875" b="0">
                <a:solidFill>
                  <a:srgbClr val="A8BDD4"/>
                </a:solidFill>
                <a:latin typeface="Arial"/>
                <a:ea typeface="Arial"/>
                <a:cs typeface="Arial"/>
              </a:defRPr>
            </a:lvl8pPr>
            <a:lvl9pPr>
              <a:buNone/>
              <a:defRPr sz="1875" b="0">
                <a:solidFill>
                  <a:srgbClr val="A8BDD4"/>
                </a:solidFill>
                <a:latin typeface="Arial"/>
                <a:ea typeface="Arial"/>
                <a:cs typeface="Arial"/>
              </a:defRPr>
            </a:lvl9pPr>
          </a:lstStyle>
          <a:p xmlns:a="http://schemas.openxmlformats.org/drawingml/2006/main">
            <a:pPr>
              <a:buNone/>
              <a:defRPr sz="1875" b="0">
                <a:solidFill>
                  <a:srgbClr val="A8BDD4"/>
                </a:solidFill>
                <a:latin typeface="Arial"/>
                <a:ea typeface="Arial"/>
                <a:cs typeface="Arial"/>
              </a:defRPr>
            </a:pPr>
            <a:r>
              <a:rPr sz="1875" b="0">
                <a:solidFill>
                  <a:srgbClr val="A8BDD4"/>
                </a:solidFill>
                <a:latin typeface="Arial"/>
                <a:ea typeface="Arial"/>
                <a:cs typeface="Arial"/>
              </a:rPr>
              <a:t>Reconcile purchases, trip burn and tank inventory by truck and month. Review the unexplained remainder.</a:t>
            </a:r>
          </a:p>
        </p:txBody>
      </p:sp>
    </p:spTree>
    <p:extLst>
      <p:ext uri="{BB962C8B-B14F-4D97-AF65-F5344CB8AC3E}">
        <p14:creationId xmlns:p14="http://schemas.microsoft.com/office/powerpoint/2010/main" val="2038346244"/>
      </p:ext>
    </p:extLst>
  </p:cSld>
</p:sld>
</file>

<file path=ppt/slides/slide16.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EC4337-17E5-4999-B141-6987BD9BD519}"/>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MATCHED FUEL RECONCILIATION</a:t>
            </a:r>
          </a:p>
        </p:txBody>
      </p:sp>
      <p:sp>
        <p:nvSpPr>
          <p:cNvPr id="2" name="">
            <a:extLst xmlns:a="http://schemas.openxmlformats.org/drawingml/2006/main">
              <a:ext uri="{FF2B5EF4-FFF2-40B4-BE49-F238E27FC236}">
                <a16:creationId xmlns:a16="http://schemas.microsoft.com/office/drawing/2014/main" id="{CF1FC512-2DF4-4CEE-A5D2-06211E667C1C}"/>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150" b="1">
                <a:solidFill>
                  <a:srgbClr val="F2F6FF"/>
                </a:solidFill>
                <a:latin typeface="Arial"/>
                <a:ea typeface="Arial"/>
                <a:cs typeface="Arial"/>
              </a:defRPr>
            </a:pPr>
            <a:r>
              <a:rPr sz="3150" b="1">
                <a:solidFill>
                  <a:srgbClr val="F2F6FF"/>
                </a:solidFill>
                <a:latin typeface="Arial"/>
                <a:ea typeface="Arial"/>
                <a:cs typeface="Arial"/>
              </a:rPr>
              <a:t>Most of the fuel gap persists in matched truck-months</a:t>
            </a:r>
          </a:p>
        </p:txBody>
      </p:sp>
      <p:sp>
        <p:nvSpPr>
          <p:cNvPr id="5" name="">
            <a:extLst xmlns:a="http://schemas.openxmlformats.org/drawingml/2006/main">
              <a:ext uri="{FF2B5EF4-FFF2-40B4-BE49-F238E27FC236}">
                <a16:creationId xmlns:a16="http://schemas.microsoft.com/office/drawing/2014/main" id="{B376AAC4-7E50-4537-9BCE-C46236547522}"/>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537C08F7-B914-4F0F-8F76-2B99EFF16E66}"/>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N/A means no comparable burn coverage; opening and closing inventory are still needed</a:t>
            </a:r>
          </a:p>
        </p:txBody>
      </p:sp>
      <p:graphicFrame>
        <p:nvGraphicFramePr>
          <p:cNvPr id="13" name=""/>
          <p:cNvGraphicFramePr/>
          <p:nvPr/>
        </p:nvGraphicFramePr>
        <p:xfrm>
          <a:off xmlns:a="http://schemas.openxmlformats.org/drawingml/2006/main" x="523875" y="2381250"/>
          <a:ext xmlns:a="http://schemas.openxmlformats.org/drawingml/2006/main" cx="11144250" cy="3200400"/>
        </p:xfrm>
        <a:graphic xmlns:a="http://schemas.openxmlformats.org/drawingml/2006/main">
          <a:graphicData uri="http://schemas.openxmlformats.org/drawingml/2006/table">
            <a:tbl>
              <a:tblPr/>
              <a:tblGrid>
                <a:gridCol w="5429250"/>
                <a:gridCol w="1905000"/>
                <a:gridCol w="1905000"/>
                <a:gridCol w="1905000"/>
              </a:tblGrid>
              <a:tr h="800100">
                <a:tc>
                  <a:txBody>
                    <a:bodyPr/>
                    <a:lstStyle/>
                    <a:p>
                      <a:r>
                        <a:rPr sz="1875" b="1">
                          <a:solidFill>
                            <a:srgbClr val="3DDCF5"/>
                          </a:solidFill>
                          <a:latin typeface="Arial"/>
                          <a:ea typeface="Arial"/>
                          <a:cs typeface="Arial"/>
                        </a:rPr>
                        <a:t>Coverage</a:t>
                      </a:r>
                    </a:p>
                  </a:txBody>
                  <a:tcPr marL="91440" marR="91440" marT="45720" marB="45720">
                    <a:lnL w="6191">
                      <a:solidFill>
                        <a:srgbClr val="20364D"/>
                      </a:solidFill>
                      <a:prstDash val="solid"/>
                    </a:lnL>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Buy, Mgal</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Burn, Mgal</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Gap, Mgal</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r>
              <a:tr h="800100">
                <a:tc>
                  <a:txBody>
                    <a:bodyPr/>
                    <a:lstStyle/>
                    <a:p>
                      <a:r>
                        <a:rPr sz="1875" b="0">
                          <a:solidFill>
                            <a:srgbClr val="F2F6FF"/>
                          </a:solidFill>
                          <a:latin typeface="Arial"/>
                          <a:ea typeface="Arial"/>
                          <a:cs typeface="Arial"/>
                        </a:rPr>
                        <a:t>Known truck-months</a:t>
                      </a:r>
                    </a:p>
                    <a:p>
                      <a:r>
                        <a:rPr sz="1875" b="0">
                          <a:solidFill>
                            <a:srgbClr val="F2F6FF"/>
                          </a:solidFill>
                          <a:latin typeface="Arial"/>
                          <a:ea typeface="Arial"/>
                          <a:cs typeface="Arial"/>
                        </a:rPr>
                        <a:t>Jan 2022–Dec 2024</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24.008</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18.570</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5.437</a:t>
                      </a:r>
                    </a:p>
                  </a:txBody>
                  <a:tcPr marL="91440" marR="91440" marT="45720" marB="45720">
                    <a:lnR w="6191">
                      <a:solidFill>
                        <a:srgbClr val="20364D"/>
                      </a:solidFill>
                      <a:prstDash val="solid"/>
                    </a:lnR>
                    <a:lnB w="6191">
                      <a:solidFill>
                        <a:srgbClr val="20364D"/>
                      </a:solidFill>
                      <a:prstDash val="solid"/>
                    </a:lnB>
                    <a:solidFill>
                      <a:srgbClr val="0B1728"/>
                    </a:solidFill>
                  </a:tcPr>
                </a:tc>
              </a:tr>
              <a:tr h="800100">
                <a:tc>
                  <a:txBody>
                    <a:bodyPr/>
                    <a:lstStyle/>
                    <a:p>
                      <a:r>
                        <a:rPr sz="1875" b="0">
                          <a:solidFill>
                            <a:srgbClr val="F2F6FF"/>
                          </a:solidFill>
                          <a:latin typeface="Arial"/>
                          <a:ea typeface="Arial"/>
                          <a:cs typeface="Arial"/>
                        </a:rPr>
                        <a:t>Unresolved key buckets</a:t>
                      </a:r>
                    </a:p>
                    <a:p>
                      <a:r>
                        <a:rPr sz="1875" b="0">
                          <a:solidFill>
                            <a:srgbClr val="F2F6FF"/>
                          </a:solidFill>
                          <a:latin typeface="Arial"/>
                          <a:ea typeface="Arial"/>
                          <a:cs typeface="Arial"/>
                        </a:rPr>
                        <a:t>Jan 2022–Dec 2024</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0.486</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0.376</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0.110</a:t>
                      </a:r>
                    </a:p>
                  </a:txBody>
                  <a:tcPr marL="91440" marR="91440" marT="45720" marB="45720">
                    <a:lnR w="6191">
                      <a:solidFill>
                        <a:srgbClr val="20364D"/>
                      </a:solidFill>
                      <a:prstDash val="solid"/>
                    </a:lnR>
                    <a:lnB w="6191">
                      <a:solidFill>
                        <a:srgbClr val="20364D"/>
                      </a:solidFill>
                      <a:prstDash val="solid"/>
                    </a:lnB>
                    <a:solidFill>
                      <a:srgbClr val="0D1B2E"/>
                    </a:solidFill>
                  </a:tcPr>
                </a:tc>
              </a:tr>
              <a:tr h="800100">
                <a:tc>
                  <a:txBody>
                    <a:bodyPr/>
                    <a:lstStyle/>
                    <a:p>
                      <a:r>
                        <a:rPr sz="1875" b="0">
                          <a:solidFill>
                            <a:srgbClr val="F2F6FF"/>
                          </a:solidFill>
                          <a:latin typeface="Arial"/>
                          <a:ea typeface="Arial"/>
                          <a:cs typeface="Arial"/>
                        </a:rPr>
                        <a:t>Jan 2025 boundary</a:t>
                      </a:r>
                    </a:p>
                    <a:p>
                      <a:r>
                        <a:rPr sz="1875" b="0">
                          <a:solidFill>
                            <a:srgbClr val="F2F6FF"/>
                          </a:solidFill>
                          <a:latin typeface="Arial"/>
                          <a:ea typeface="Arial"/>
                          <a:cs typeface="Arial"/>
                        </a:rPr>
                        <a:t>201 purchase records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0.025</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N/A</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N/A</a:t>
                      </a:r>
                    </a:p>
                  </a:txBody>
                  <a:tcPr marL="91440" marR="91440" marT="45720" marB="45720">
                    <a:lnR w="6191">
                      <a:solidFill>
                        <a:srgbClr val="20364D"/>
                      </a:solidFill>
                      <a:prstDash val="solid"/>
                    </a:lnR>
                    <a:lnB w="6191">
                      <a:solidFill>
                        <a:srgbClr val="20364D"/>
                      </a:solidFill>
                      <a:prstDash val="solid"/>
                    </a:lnB>
                    <a:solidFill>
                      <a:srgbClr val="0B1728"/>
                    </a:solidFill>
                  </a:tcPr>
                </a:tc>
              </a:tr>
            </a:tbl>
          </a:graphicData>
        </a:graphic>
      </p:graphicFrame>
      <p:sp>
        <p:nvSpPr>
          <p:cNvPr id="7" name="enhancement-46">
            <a:extLst xmlns:a="http://schemas.openxmlformats.org/drawingml/2006/main">
              <a:ext uri="{FF2B5EF4-FFF2-40B4-BE49-F238E27FC236}">
                <a16:creationId xmlns:a16="http://schemas.microsoft.com/office/drawing/2014/main" id="{33F589F0-3BA8-4671-85F5-16DA03EEC7AC}"/>
              </a:ext>
            </a:extLst>
          </p:cNvPr>
          <p:cNvSpPr>
            <a:spLocks xmlns:a="http://schemas.openxmlformats.org/drawingml/2006/main" noGrp="1"/>
          </p:cNvSpPr>
          <p:nvPr/>
        </p:nvSpPr>
        <p:spPr>
          <a:xfrm xmlns:a="http://schemas.openxmlformats.org/drawingml/2006/main">
            <a:off x="571500" y="19716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0">
                <a:solidFill>
                  <a:srgbClr val="A8BDD4"/>
                </a:solidFill>
                <a:latin typeface="Arial"/>
                <a:ea typeface="Arial"/>
                <a:cs typeface="Arial"/>
              </a:defRPr>
            </a:lvl1pPr>
            <a:lvl2pPr>
              <a:buNone/>
              <a:defRPr sz="1575" b="0">
                <a:solidFill>
                  <a:srgbClr val="A8BDD4"/>
                </a:solidFill>
                <a:latin typeface="Arial"/>
                <a:ea typeface="Arial"/>
                <a:cs typeface="Arial"/>
              </a:defRPr>
            </a:lvl2pPr>
            <a:lvl3pPr>
              <a:buNone/>
              <a:defRPr sz="1575" b="0">
                <a:solidFill>
                  <a:srgbClr val="A8BDD4"/>
                </a:solidFill>
                <a:latin typeface="Arial"/>
                <a:ea typeface="Arial"/>
                <a:cs typeface="Arial"/>
              </a:defRPr>
            </a:lvl3pPr>
            <a:lvl4pPr>
              <a:buNone/>
              <a:defRPr sz="1575" b="0">
                <a:solidFill>
                  <a:srgbClr val="A8BDD4"/>
                </a:solidFill>
                <a:latin typeface="Arial"/>
                <a:ea typeface="Arial"/>
                <a:cs typeface="Arial"/>
              </a:defRPr>
            </a:lvl4pPr>
            <a:lvl5pPr>
              <a:buNone/>
              <a:defRPr sz="1575" b="0">
                <a:solidFill>
                  <a:srgbClr val="A8BDD4"/>
                </a:solidFill>
                <a:latin typeface="Arial"/>
                <a:ea typeface="Arial"/>
                <a:cs typeface="Arial"/>
              </a:defRPr>
            </a:lvl5pPr>
            <a:lvl6pPr>
              <a:buNone/>
              <a:defRPr sz="1575" b="0">
                <a:solidFill>
                  <a:srgbClr val="A8BDD4"/>
                </a:solidFill>
                <a:latin typeface="Arial"/>
                <a:ea typeface="Arial"/>
                <a:cs typeface="Arial"/>
              </a:defRPr>
            </a:lvl6pPr>
            <a:lvl7pPr>
              <a:buNone/>
              <a:defRPr sz="1575" b="0">
                <a:solidFill>
                  <a:srgbClr val="A8BDD4"/>
                </a:solidFill>
                <a:latin typeface="Arial"/>
                <a:ea typeface="Arial"/>
                <a:cs typeface="Arial"/>
              </a:defRPr>
            </a:lvl7pPr>
            <a:lvl8pPr>
              <a:buNone/>
              <a:defRPr sz="1575" b="0">
                <a:solidFill>
                  <a:srgbClr val="A8BDD4"/>
                </a:solidFill>
                <a:latin typeface="Arial"/>
                <a:ea typeface="Arial"/>
                <a:cs typeface="Arial"/>
              </a:defRPr>
            </a:lvl8pPr>
            <a:lvl9pPr>
              <a:buNone/>
              <a:defRPr sz="1575" b="0">
                <a:solidFill>
                  <a:srgbClr val="A8BDD4"/>
                </a:solidFill>
                <a:latin typeface="Arial"/>
                <a:ea typeface="Arial"/>
                <a:cs typeface="Arial"/>
              </a:defRPr>
            </a:lvl9pPr>
          </a:lstStyle>
          <a:p xmlns:a="http://schemas.openxmlformats.org/drawingml/2006/main">
            <a:pPr>
              <a:buNone/>
              <a:defRPr sz="1575" b="0">
                <a:solidFill>
                  <a:srgbClr val="A8BDD4"/>
                </a:solidFill>
                <a:latin typeface="Arial"/>
                <a:ea typeface="Arial"/>
                <a:cs typeface="Arial"/>
              </a:defRPr>
            </a:pPr>
            <a:r>
              <a:rPr sz="1575" b="0">
                <a:solidFill>
                  <a:srgbClr val="A8BDD4"/>
                </a:solidFill>
                <a:latin typeface="Arial"/>
                <a:ea typeface="Arial"/>
                <a:cs typeface="Arial"/>
              </a:rPr>
              <a:t>Purchase date and dispatch date remain different accounting events.</a:t>
            </a:r>
          </a:p>
        </p:txBody>
      </p:sp>
    </p:spTree>
    <p:extLst>
      <p:ext uri="{BB962C8B-B14F-4D97-AF65-F5344CB8AC3E}">
        <p14:creationId xmlns:p14="http://schemas.microsoft.com/office/powerpoint/2010/main" val="126088006"/>
      </p:ext>
    </p:extLst>
  </p:cSld>
</p:sld>
</file>

<file path=ppt/slides/slide17.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4" name="enhancement-47">
            <a:extLst xmlns:a="http://schemas.openxmlformats.org/drawingml/2006/main">
              <a:ext uri="{FF2B5EF4-FFF2-40B4-BE49-F238E27FC236}">
                <a16:creationId xmlns:a16="http://schemas.microsoft.com/office/drawing/2014/main" id="{E8CFF6B7-23F4-4EBD-B27A-53468694C4B5}"/>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DEEP ANALYSIS: CAPACITY DIAGNOSIS</a:t>
            </a:r>
          </a:p>
        </p:txBody>
      </p:sp>
      <p:sp>
        <p:nvSpPr>
          <p:cNvPr id="2" name="enhancement-48">
            <a:extLst xmlns:a="http://schemas.openxmlformats.org/drawingml/2006/main">
              <a:ext uri="{FF2B5EF4-FFF2-40B4-BE49-F238E27FC236}">
                <a16:creationId xmlns:a16="http://schemas.microsoft.com/office/drawing/2014/main" id="{48220EA0-8A20-41DE-A09B-FD0B6435A066}"/>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150" b="1">
                <a:solidFill>
                  <a:srgbClr val="F2F6FF"/>
                </a:solidFill>
                <a:latin typeface="Arial"/>
                <a:ea typeface="Arial"/>
                <a:cs typeface="Arial"/>
              </a:defRPr>
            </a:lvl1pPr>
            <a:lvl2pPr>
              <a:buNone/>
              <a:defRPr sz="3150" b="1">
                <a:solidFill>
                  <a:srgbClr val="F2F6FF"/>
                </a:solidFill>
                <a:latin typeface="Arial"/>
                <a:ea typeface="Arial"/>
                <a:cs typeface="Arial"/>
              </a:defRPr>
            </a:lvl2pPr>
            <a:lvl3pPr>
              <a:buNone/>
              <a:defRPr sz="3150" b="1">
                <a:solidFill>
                  <a:srgbClr val="F2F6FF"/>
                </a:solidFill>
                <a:latin typeface="Arial"/>
                <a:ea typeface="Arial"/>
                <a:cs typeface="Arial"/>
              </a:defRPr>
            </a:lvl3pPr>
            <a:lvl4pPr>
              <a:buNone/>
              <a:defRPr sz="3150" b="1">
                <a:solidFill>
                  <a:srgbClr val="F2F6FF"/>
                </a:solidFill>
                <a:latin typeface="Arial"/>
                <a:ea typeface="Arial"/>
                <a:cs typeface="Arial"/>
              </a:defRPr>
            </a:lvl4pPr>
            <a:lvl5pPr>
              <a:buNone/>
              <a:defRPr sz="3150" b="1">
                <a:solidFill>
                  <a:srgbClr val="F2F6FF"/>
                </a:solidFill>
                <a:latin typeface="Arial"/>
                <a:ea typeface="Arial"/>
                <a:cs typeface="Arial"/>
              </a:defRPr>
            </a:lvl5pPr>
            <a:lvl6pPr>
              <a:buNone/>
              <a:defRPr sz="3150" b="1">
                <a:solidFill>
                  <a:srgbClr val="F2F6FF"/>
                </a:solidFill>
                <a:latin typeface="Arial"/>
                <a:ea typeface="Arial"/>
                <a:cs typeface="Arial"/>
              </a:defRPr>
            </a:lvl6pPr>
            <a:lvl7pPr>
              <a:buNone/>
              <a:defRPr sz="3150" b="1">
                <a:solidFill>
                  <a:srgbClr val="F2F6FF"/>
                </a:solidFill>
                <a:latin typeface="Arial"/>
                <a:ea typeface="Arial"/>
                <a:cs typeface="Arial"/>
              </a:defRPr>
            </a:lvl7pPr>
            <a:lvl8pPr>
              <a:buNone/>
              <a:defRPr sz="3150" b="1">
                <a:solidFill>
                  <a:srgbClr val="F2F6FF"/>
                </a:solidFill>
                <a:latin typeface="Arial"/>
                <a:ea typeface="Arial"/>
                <a:cs typeface="Arial"/>
              </a:defRPr>
            </a:lvl8pPr>
            <a:lvl9pPr>
              <a:buNone/>
              <a:defRPr sz="3150" b="1">
                <a:solidFill>
                  <a:srgbClr val="F2F6FF"/>
                </a:solidFill>
                <a:latin typeface="Arial"/>
                <a:ea typeface="Arial"/>
                <a:cs typeface="Arial"/>
              </a:defRPr>
            </a:lvl9pPr>
          </a:lstStyle>
          <a:p xmlns:a="http://schemas.openxmlformats.org/drawingml/2006/main">
            <a:pPr>
              <a:buNone/>
              <a:defRPr sz="3150" b="1">
                <a:solidFill>
                  <a:srgbClr val="F2F6FF"/>
                </a:solidFill>
                <a:latin typeface="Arial"/>
                <a:ea typeface="Arial"/>
                <a:cs typeface="Arial"/>
              </a:defRPr>
            </a:pPr>
            <a:r>
              <a:rPr sz="3150" b="1">
                <a:solidFill>
                  <a:srgbClr val="F2F6FF"/>
                </a:solidFill>
                <a:latin typeface="Arial"/>
                <a:ea typeface="Arial"/>
                <a:cs typeface="Arial"/>
              </a:rPr>
              <a:t>Validate utilization before making a capacity decision</a:t>
            </a:r>
          </a:p>
        </p:txBody>
      </p:sp>
      <p:sp>
        <p:nvSpPr>
          <p:cNvPr id="3" name="enhancement-49">
            <a:extLst xmlns:a="http://schemas.openxmlformats.org/drawingml/2006/main">
              <a:ext uri="{FF2B5EF4-FFF2-40B4-BE49-F238E27FC236}">
                <a16:creationId xmlns:a16="http://schemas.microsoft.com/office/drawing/2014/main" id="{78A5059E-8371-4D6F-82E0-21C89B6DF9B7}"/>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83.04% is a source trip-frequency index, not verified time utilization</a:t>
            </a:r>
          </a:p>
        </p:txBody>
      </p:sp>
      <p:sp>
        <p:nvSpPr>
          <p:cNvPr id="4" name="enhancement-50">
            <a:extLst xmlns:a="http://schemas.openxmlformats.org/drawingml/2006/main">
              <a:ext uri="{FF2B5EF4-FFF2-40B4-BE49-F238E27FC236}">
                <a16:creationId xmlns:a16="http://schemas.microsoft.com/office/drawing/2014/main" id="{9F2FAB9C-9186-44C0-ADF3-0513C59CCCE1}"/>
              </a:ext>
            </a:extLst>
          </p:cNvPr>
          <p:cNvSpPr>
            <a:spLocks xmlns:a="http://schemas.openxmlformats.org/drawingml/2006/main" noGrp="1"/>
          </p:cNvSpPr>
          <p:nvPr/>
        </p:nvSpPr>
        <p:spPr>
          <a:xfrm xmlns:a="http://schemas.openxmlformats.org/drawingml/2006/main">
            <a:off x="571500" y="2009775"/>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A8BDD4"/>
                </a:solidFill>
                <a:latin typeface="Arial"/>
                <a:ea typeface="Arial"/>
                <a:cs typeface="Arial"/>
              </a:defRPr>
            </a:lvl1pPr>
            <a:lvl2pPr>
              <a:buNone/>
              <a:defRPr sz="1575" b="1">
                <a:solidFill>
                  <a:srgbClr val="A8BDD4"/>
                </a:solidFill>
                <a:latin typeface="Arial"/>
                <a:ea typeface="Arial"/>
                <a:cs typeface="Arial"/>
              </a:defRPr>
            </a:lvl2pPr>
            <a:lvl3pPr>
              <a:buNone/>
              <a:defRPr sz="1575" b="1">
                <a:solidFill>
                  <a:srgbClr val="A8BDD4"/>
                </a:solidFill>
                <a:latin typeface="Arial"/>
                <a:ea typeface="Arial"/>
                <a:cs typeface="Arial"/>
              </a:defRPr>
            </a:lvl3pPr>
            <a:lvl4pPr>
              <a:buNone/>
              <a:defRPr sz="1575" b="1">
                <a:solidFill>
                  <a:srgbClr val="A8BDD4"/>
                </a:solidFill>
                <a:latin typeface="Arial"/>
                <a:ea typeface="Arial"/>
                <a:cs typeface="Arial"/>
              </a:defRPr>
            </a:lvl4pPr>
            <a:lvl5pPr>
              <a:buNone/>
              <a:defRPr sz="1575" b="1">
                <a:solidFill>
                  <a:srgbClr val="A8BDD4"/>
                </a:solidFill>
                <a:latin typeface="Arial"/>
                <a:ea typeface="Arial"/>
                <a:cs typeface="Arial"/>
              </a:defRPr>
            </a:lvl5pPr>
            <a:lvl6pPr>
              <a:buNone/>
              <a:defRPr sz="1575" b="1">
                <a:solidFill>
                  <a:srgbClr val="A8BDD4"/>
                </a:solidFill>
                <a:latin typeface="Arial"/>
                <a:ea typeface="Arial"/>
                <a:cs typeface="Arial"/>
              </a:defRPr>
            </a:lvl6pPr>
            <a:lvl7pPr>
              <a:buNone/>
              <a:defRPr sz="1575" b="1">
                <a:solidFill>
                  <a:srgbClr val="A8BDD4"/>
                </a:solidFill>
                <a:latin typeface="Arial"/>
                <a:ea typeface="Arial"/>
                <a:cs typeface="Arial"/>
              </a:defRPr>
            </a:lvl7pPr>
            <a:lvl8pPr>
              <a:buNone/>
              <a:defRPr sz="1575" b="1">
                <a:solidFill>
                  <a:srgbClr val="A8BDD4"/>
                </a:solidFill>
                <a:latin typeface="Arial"/>
                <a:ea typeface="Arial"/>
                <a:cs typeface="Arial"/>
              </a:defRPr>
            </a:lvl8pPr>
            <a:lvl9pPr>
              <a:buNone/>
              <a:defRPr sz="1575" b="1">
                <a:solidFill>
                  <a:srgbClr val="A8BDD4"/>
                </a:solidFill>
                <a:latin typeface="Arial"/>
                <a:ea typeface="Arial"/>
                <a:cs typeface="Arial"/>
              </a:defRPr>
            </a:lvl9pPr>
          </a:lstStyle>
          <a:p xmlns:a="http://schemas.openxmlformats.org/drawingml/2006/main">
            <a:pPr>
              <a:buNone/>
              <a:defRPr sz="1575" b="1">
                <a:solidFill>
                  <a:srgbClr val="A8BDD4"/>
                </a:solidFill>
                <a:latin typeface="Arial"/>
                <a:ea typeface="Arial"/>
                <a:cs typeface="Arial"/>
              </a:defRPr>
            </a:pPr>
            <a:r>
              <a:rPr sz="1575" b="1">
                <a:solidFill>
                  <a:srgbClr val="A8BDD4"/>
                </a:solidFill>
                <a:latin typeface="Arial"/>
                <a:ea typeface="Arial"/>
                <a:cs typeface="Arial"/>
              </a:rPr>
              <a:t>Source utilization-index records</a:t>
            </a:r>
          </a:p>
        </p:txBody>
      </p:sp>
      <p:graphicFrame>
        <p:nvGraphicFramePr>
          <p:cNvPr id="20" name="Chart"/>
          <p:cNvGraphicFramePr/>
          <p:nvPr/>
        </p:nvGraphicFramePr>
        <p:xfrm>
          <a:off xmlns:a="http://schemas.openxmlformats.org/drawingml/2006/main" x="381000" y="2362200"/>
          <a:ext xmlns:a="http://schemas.openxmlformats.org/drawingml/2006/main" cx="7143750" cy="3333750"/>
        </p:xfrm>
        <a:graphic xmlns:a="http://schemas.openxmlformats.org/drawingml/2006/main">
          <a:graphicData uri="http://schemas.openxmlformats.org/drawingml/2006/chart">
            <c:chart xmlns:r="http://schemas.openxmlformats.org/officeDocument/2006/relationships" xmlns:c="http://schemas.openxmlformats.org/drawingml/2006/chart" r:id="Rbada84008d054d3d"/>
          </a:graphicData>
        </a:graphic>
      </p:graphicFrame>
      <p:sp>
        <p:nvSpPr>
          <p:cNvPr id="5" name="callout-panel-51">
            <a:extLst xmlns:a="http://schemas.openxmlformats.org/drawingml/2006/main">
              <a:ext uri="{FF2B5EF4-FFF2-40B4-BE49-F238E27FC236}">
                <a16:creationId xmlns:a16="http://schemas.microsoft.com/office/drawing/2014/main" id="{B9E09AD2-7420-4939-88E2-483340D2358E}"/>
              </a:ext>
            </a:extLst>
          </p:cNvPr>
          <p:cNvSpPr>
            <a:spLocks xmlns:a="http://schemas.openxmlformats.org/drawingml/2006/main" noGrp="1"/>
          </p:cNvSpPr>
          <p:nvPr/>
        </p:nvSpPr>
        <p:spPr>
          <a:xfrm xmlns:a="http://schemas.openxmlformats.org/drawingml/2006/main">
            <a:off x="7762875" y="1943100"/>
            <a:ext cx="4000500" cy="3838575"/>
          </a:xfrm>
          <a:prstGeom xmlns:a="http://schemas.openxmlformats.org/drawingml/2006/main" prst="rect">
            <a:avLst/>
          </a:prstGeom>
          <a:solidFill xmlns:a="http://schemas.openxmlformats.org/drawingml/2006/main">
            <a:srgbClr val="0B182A"/>
          </a:solidFill>
          <a:ln xmlns:a="http://schemas.openxmlformats.org/drawingml/2006/main" w="0">
            <a:noFill/>
          </a:ln>
        </p:spPr>
      </p:sp>
      <p:sp>
        <p:nvSpPr>
          <p:cNvPr id="6" name="callout-rule-52">
            <a:extLst xmlns:a="http://schemas.openxmlformats.org/drawingml/2006/main">
              <a:ext uri="{FF2B5EF4-FFF2-40B4-BE49-F238E27FC236}">
                <a16:creationId xmlns:a16="http://schemas.microsoft.com/office/drawing/2014/main" id="{4DCC6373-0985-4634-B284-C4626A174D4F}"/>
              </a:ext>
            </a:extLst>
          </p:cNvPr>
          <p:cNvSpPr>
            <a:spLocks xmlns:a="http://schemas.openxmlformats.org/drawingml/2006/main" noGrp="1"/>
          </p:cNvSpPr>
          <p:nvPr/>
        </p:nvSpPr>
        <p:spPr>
          <a:xfrm xmlns:a="http://schemas.openxmlformats.org/drawingml/2006/main">
            <a:off x="7762875" y="1943100"/>
            <a:ext cx="495300" cy="19050"/>
          </a:xfrm>
          <a:prstGeom xmlns:a="http://schemas.openxmlformats.org/drawingml/2006/main" prst="rect">
            <a:avLst/>
          </a:prstGeom>
          <a:solidFill xmlns:a="http://schemas.openxmlformats.org/drawingml/2006/main">
            <a:srgbClr val="3278FF"/>
          </a:solidFill>
          <a:ln xmlns:a="http://schemas.openxmlformats.org/drawingml/2006/main" w="0">
            <a:noFill/>
          </a:ln>
        </p:spPr>
      </p:sp>
      <p:sp>
        <p:nvSpPr>
          <p:cNvPr id="7" name="callout-rule-53">
            <a:extLst xmlns:a="http://schemas.openxmlformats.org/drawingml/2006/main">
              <a:ext uri="{FF2B5EF4-FFF2-40B4-BE49-F238E27FC236}">
                <a16:creationId xmlns:a16="http://schemas.microsoft.com/office/drawing/2014/main" id="{6FD8C57E-2447-4565-A602-9F7670791FC5}"/>
              </a:ext>
            </a:extLst>
          </p:cNvPr>
          <p:cNvSpPr>
            <a:spLocks xmlns:a="http://schemas.openxmlformats.org/drawingml/2006/main" noGrp="1"/>
          </p:cNvSpPr>
          <p:nvPr/>
        </p:nvSpPr>
        <p:spPr>
          <a:xfrm xmlns:a="http://schemas.openxmlformats.org/drawingml/2006/main">
            <a:off x="7762875" y="3895725"/>
            <a:ext cx="49530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
        <p:nvSpPr>
          <p:cNvPr id="8" name="enhancement-54">
            <a:extLst xmlns:a="http://schemas.openxmlformats.org/drawingml/2006/main">
              <a:ext uri="{FF2B5EF4-FFF2-40B4-BE49-F238E27FC236}">
                <a16:creationId xmlns:a16="http://schemas.microsoft.com/office/drawing/2014/main" id="{5ECA60DC-AD55-4E2E-842B-17000047E6C5}"/>
              </a:ext>
            </a:extLst>
          </p:cNvPr>
          <p:cNvSpPr>
            <a:spLocks xmlns:a="http://schemas.openxmlformats.org/drawingml/2006/main" noGrp="1"/>
          </p:cNvSpPr>
          <p:nvPr/>
        </p:nvSpPr>
        <p:spPr>
          <a:xfrm xmlns:a="http://schemas.openxmlformats.org/drawingml/2006/main">
            <a:off x="7972425" y="2028825"/>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278FF"/>
                </a:solidFill>
                <a:latin typeface="Arial"/>
                <a:ea typeface="Arial"/>
                <a:cs typeface="Arial"/>
              </a:defRPr>
            </a:lvl1pPr>
            <a:lvl2pPr>
              <a:buNone/>
              <a:defRPr sz="1575" b="1">
                <a:solidFill>
                  <a:srgbClr val="3278FF"/>
                </a:solidFill>
                <a:latin typeface="Arial"/>
                <a:ea typeface="Arial"/>
                <a:cs typeface="Arial"/>
              </a:defRPr>
            </a:lvl2pPr>
            <a:lvl3pPr>
              <a:buNone/>
              <a:defRPr sz="1575" b="1">
                <a:solidFill>
                  <a:srgbClr val="3278FF"/>
                </a:solidFill>
                <a:latin typeface="Arial"/>
                <a:ea typeface="Arial"/>
                <a:cs typeface="Arial"/>
              </a:defRPr>
            </a:lvl3pPr>
            <a:lvl4pPr>
              <a:buNone/>
              <a:defRPr sz="1575" b="1">
                <a:solidFill>
                  <a:srgbClr val="3278FF"/>
                </a:solidFill>
                <a:latin typeface="Arial"/>
                <a:ea typeface="Arial"/>
                <a:cs typeface="Arial"/>
              </a:defRPr>
            </a:lvl4pPr>
            <a:lvl5pPr>
              <a:buNone/>
              <a:defRPr sz="1575" b="1">
                <a:solidFill>
                  <a:srgbClr val="3278FF"/>
                </a:solidFill>
                <a:latin typeface="Arial"/>
                <a:ea typeface="Arial"/>
                <a:cs typeface="Arial"/>
              </a:defRPr>
            </a:lvl5pPr>
            <a:lvl6pPr>
              <a:buNone/>
              <a:defRPr sz="1575" b="1">
                <a:solidFill>
                  <a:srgbClr val="3278FF"/>
                </a:solidFill>
                <a:latin typeface="Arial"/>
                <a:ea typeface="Arial"/>
                <a:cs typeface="Arial"/>
              </a:defRPr>
            </a:lvl6pPr>
            <a:lvl7pPr>
              <a:buNone/>
              <a:defRPr sz="1575" b="1">
                <a:solidFill>
                  <a:srgbClr val="3278FF"/>
                </a:solidFill>
                <a:latin typeface="Arial"/>
                <a:ea typeface="Arial"/>
                <a:cs typeface="Arial"/>
              </a:defRPr>
            </a:lvl7pPr>
            <a:lvl8pPr>
              <a:buNone/>
              <a:defRPr sz="1575" b="1">
                <a:solidFill>
                  <a:srgbClr val="3278FF"/>
                </a:solidFill>
                <a:latin typeface="Arial"/>
                <a:ea typeface="Arial"/>
                <a:cs typeface="Arial"/>
              </a:defRPr>
            </a:lvl8pPr>
            <a:lvl9pPr>
              <a:buNone/>
              <a:defRPr sz="1575" b="1">
                <a:solidFill>
                  <a:srgbClr val="3278FF"/>
                </a:solidFill>
                <a:latin typeface="Arial"/>
                <a:ea typeface="Arial"/>
                <a:cs typeface="Arial"/>
              </a:defRPr>
            </a:lvl9pPr>
          </a:lstStyle>
          <a:p xmlns:a="http://schemas.openxmlformats.org/drawingml/2006/main">
            <a:pPr>
              <a:buNone/>
              <a:defRPr sz="1575" b="1">
                <a:solidFill>
                  <a:srgbClr val="3278FF"/>
                </a:solidFill>
                <a:latin typeface="Arial"/>
                <a:ea typeface="Arial"/>
                <a:cs typeface="Arial"/>
              </a:defRPr>
            </a:pPr>
            <a:r>
              <a:rPr sz="1575" b="1">
                <a:solidFill>
                  <a:srgbClr val="3278FF"/>
                </a:solidFill>
                <a:latin typeface="Arial"/>
                <a:ea typeface="Arial"/>
                <a:cs typeface="Arial"/>
              </a:rPr>
              <a:t>PROBLEM</a:t>
            </a:r>
          </a:p>
        </p:txBody>
      </p:sp>
      <p:sp>
        <p:nvSpPr>
          <p:cNvPr id="9" name="enhancement-55">
            <a:extLst xmlns:a="http://schemas.openxmlformats.org/drawingml/2006/main">
              <a:ext uri="{FF2B5EF4-FFF2-40B4-BE49-F238E27FC236}">
                <a16:creationId xmlns:a16="http://schemas.microsoft.com/office/drawing/2014/main" id="{1B8184DC-90A0-464B-991A-530AB24626A0}"/>
              </a:ext>
            </a:extLst>
          </p:cNvPr>
          <p:cNvSpPr>
            <a:spLocks xmlns:a="http://schemas.openxmlformats.org/drawingml/2006/main" noGrp="1"/>
          </p:cNvSpPr>
          <p:nvPr/>
        </p:nvSpPr>
        <p:spPr>
          <a:xfrm xmlns:a="http://schemas.openxmlformats.org/drawingml/2006/main">
            <a:off x="7972425" y="2514600"/>
            <a:ext cx="3581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F2F6FF"/>
                </a:solidFill>
                <a:latin typeface="Arial"/>
                <a:ea typeface="Arial"/>
                <a:cs typeface="Arial"/>
              </a:defRPr>
            </a:lvl1pPr>
            <a:lvl2pPr>
              <a:buNone/>
              <a:defRPr sz="1875" b="0">
                <a:solidFill>
                  <a:srgbClr val="F2F6FF"/>
                </a:solidFill>
                <a:latin typeface="Arial"/>
                <a:ea typeface="Arial"/>
                <a:cs typeface="Arial"/>
              </a:defRPr>
            </a:lvl2pPr>
            <a:lvl3pPr>
              <a:buNone/>
              <a:defRPr sz="1875" b="0">
                <a:solidFill>
                  <a:srgbClr val="F2F6FF"/>
                </a:solidFill>
                <a:latin typeface="Arial"/>
                <a:ea typeface="Arial"/>
                <a:cs typeface="Arial"/>
              </a:defRPr>
            </a:lvl3pPr>
            <a:lvl4pPr>
              <a:buNone/>
              <a:defRPr sz="1875" b="0">
                <a:solidFill>
                  <a:srgbClr val="F2F6FF"/>
                </a:solidFill>
                <a:latin typeface="Arial"/>
                <a:ea typeface="Arial"/>
                <a:cs typeface="Arial"/>
              </a:defRPr>
            </a:lvl4pPr>
            <a:lvl5pPr>
              <a:buNone/>
              <a:defRPr sz="1875" b="0">
                <a:solidFill>
                  <a:srgbClr val="F2F6FF"/>
                </a:solidFill>
                <a:latin typeface="Arial"/>
                <a:ea typeface="Arial"/>
                <a:cs typeface="Arial"/>
              </a:defRPr>
            </a:lvl5pPr>
            <a:lvl6pPr>
              <a:buNone/>
              <a:defRPr sz="1875" b="0">
                <a:solidFill>
                  <a:srgbClr val="F2F6FF"/>
                </a:solidFill>
                <a:latin typeface="Arial"/>
                <a:ea typeface="Arial"/>
                <a:cs typeface="Arial"/>
              </a:defRPr>
            </a:lvl6pPr>
            <a:lvl7pPr>
              <a:buNone/>
              <a:defRPr sz="1875" b="0">
                <a:solidFill>
                  <a:srgbClr val="F2F6FF"/>
                </a:solidFill>
                <a:latin typeface="Arial"/>
                <a:ea typeface="Arial"/>
                <a:cs typeface="Arial"/>
              </a:defRPr>
            </a:lvl7pPr>
            <a:lvl8pPr>
              <a:buNone/>
              <a:defRPr sz="1875" b="0">
                <a:solidFill>
                  <a:srgbClr val="F2F6FF"/>
                </a:solidFill>
                <a:latin typeface="Arial"/>
                <a:ea typeface="Arial"/>
                <a:cs typeface="Arial"/>
              </a:defRPr>
            </a:lvl8pPr>
            <a:lvl9pPr>
              <a:buNone/>
              <a:defRPr sz="1875" b="0">
                <a:solidFill>
                  <a:srgbClr val="F2F6FF"/>
                </a:solidFill>
                <a:latin typeface="Arial"/>
                <a:ea typeface="Arial"/>
                <a:cs typeface="Arial"/>
              </a:defRPr>
            </a:lvl9pPr>
          </a:lstStyle>
          <a:p xmlns:a="http://schemas.openxmlformats.org/drawingml/2006/main">
            <a:pPr>
              <a:buNone/>
              <a:defRPr sz="1875" b="0">
                <a:solidFill>
                  <a:srgbClr val="F2F6FF"/>
                </a:solidFill>
                <a:latin typeface="Arial"/>
                <a:ea typeface="Arial"/>
                <a:cs typeface="Arial"/>
              </a:defRPr>
            </a:pPr>
            <a:r>
              <a:rPr sz="1875" b="0">
                <a:solidFill>
                  <a:srgbClr val="F2F6FF"/>
                </a:solidFill>
                <a:latin typeface="Arial"/>
                <a:ea typeface="Arial"/>
                <a:cs typeface="Arial"/>
              </a:rPr>
              <a:t>436 of 3,312 source index values exceed 100%. All rows match trips divided by calendar days within rounding.</a:t>
            </a:r>
          </a:p>
        </p:txBody>
      </p:sp>
      <p:sp>
        <p:nvSpPr>
          <p:cNvPr id="10" name="enhancement-56">
            <a:extLst xmlns:a="http://schemas.openxmlformats.org/drawingml/2006/main">
              <a:ext uri="{FF2B5EF4-FFF2-40B4-BE49-F238E27FC236}">
                <a16:creationId xmlns:a16="http://schemas.microsoft.com/office/drawing/2014/main" id="{63D5F5B5-E33D-41F4-9494-8F432C0A6C45}"/>
              </a:ext>
            </a:extLst>
          </p:cNvPr>
          <p:cNvSpPr>
            <a:spLocks xmlns:a="http://schemas.openxmlformats.org/drawingml/2006/main" noGrp="1"/>
          </p:cNvSpPr>
          <p:nvPr/>
        </p:nvSpPr>
        <p:spPr>
          <a:xfrm xmlns:a="http://schemas.openxmlformats.org/drawingml/2006/main">
            <a:off x="7972425" y="39814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DDCF5"/>
                </a:solidFill>
                <a:latin typeface="Arial"/>
                <a:ea typeface="Arial"/>
                <a:cs typeface="Arial"/>
              </a:defRPr>
            </a:lvl1pPr>
            <a:lvl2pPr>
              <a:buNone/>
              <a:defRPr sz="1575" b="1">
                <a:solidFill>
                  <a:srgbClr val="3DDCF5"/>
                </a:solidFill>
                <a:latin typeface="Arial"/>
                <a:ea typeface="Arial"/>
                <a:cs typeface="Arial"/>
              </a:defRPr>
            </a:lvl2pPr>
            <a:lvl3pPr>
              <a:buNone/>
              <a:defRPr sz="1575" b="1">
                <a:solidFill>
                  <a:srgbClr val="3DDCF5"/>
                </a:solidFill>
                <a:latin typeface="Arial"/>
                <a:ea typeface="Arial"/>
                <a:cs typeface="Arial"/>
              </a:defRPr>
            </a:lvl3pPr>
            <a:lvl4pPr>
              <a:buNone/>
              <a:defRPr sz="1575" b="1">
                <a:solidFill>
                  <a:srgbClr val="3DDCF5"/>
                </a:solidFill>
                <a:latin typeface="Arial"/>
                <a:ea typeface="Arial"/>
                <a:cs typeface="Arial"/>
              </a:defRPr>
            </a:lvl4pPr>
            <a:lvl5pPr>
              <a:buNone/>
              <a:defRPr sz="1575" b="1">
                <a:solidFill>
                  <a:srgbClr val="3DDCF5"/>
                </a:solidFill>
                <a:latin typeface="Arial"/>
                <a:ea typeface="Arial"/>
                <a:cs typeface="Arial"/>
              </a:defRPr>
            </a:lvl5pPr>
            <a:lvl6pPr>
              <a:buNone/>
              <a:defRPr sz="1575" b="1">
                <a:solidFill>
                  <a:srgbClr val="3DDCF5"/>
                </a:solidFill>
                <a:latin typeface="Arial"/>
                <a:ea typeface="Arial"/>
                <a:cs typeface="Arial"/>
              </a:defRPr>
            </a:lvl6pPr>
            <a:lvl7pPr>
              <a:buNone/>
              <a:defRPr sz="1575" b="1">
                <a:solidFill>
                  <a:srgbClr val="3DDCF5"/>
                </a:solidFill>
                <a:latin typeface="Arial"/>
                <a:ea typeface="Arial"/>
                <a:cs typeface="Arial"/>
              </a:defRPr>
            </a:lvl7pPr>
            <a:lvl8pPr>
              <a:buNone/>
              <a:defRPr sz="1575" b="1">
                <a:solidFill>
                  <a:srgbClr val="3DDCF5"/>
                </a:solidFill>
                <a:latin typeface="Arial"/>
                <a:ea typeface="Arial"/>
                <a:cs typeface="Arial"/>
              </a:defRPr>
            </a:lvl8pPr>
            <a:lvl9pPr>
              <a:buNone/>
              <a:defRPr sz="1575" b="1">
                <a:solidFill>
                  <a:srgbClr val="3DDCF5"/>
                </a:solidFill>
                <a:latin typeface="Arial"/>
                <a:ea typeface="Arial"/>
                <a:cs typeface="Arial"/>
              </a:defRPr>
            </a:lvl9pPr>
          </a:lstStyle>
          <a:p xmlns:a="http://schemas.openxmlformats.org/drawingml/2006/main">
            <a:pPr>
              <a:buNone/>
              <a:defRPr sz="1575" b="1">
                <a:solidFill>
                  <a:srgbClr val="3DDCF5"/>
                </a:solidFill>
                <a:latin typeface="Arial"/>
                <a:ea typeface="Arial"/>
                <a:cs typeface="Arial"/>
              </a:defRPr>
            </a:pPr>
            <a:r>
              <a:rPr sz="1575" b="1">
                <a:solidFill>
                  <a:srgbClr val="3DDCF5"/>
                </a:solidFill>
                <a:latin typeface="Arial"/>
                <a:ea typeface="Arial"/>
                <a:cs typeface="Arial"/>
              </a:rPr>
              <a:t>PROPOSED SOLUTION</a:t>
            </a:r>
          </a:p>
        </p:txBody>
      </p:sp>
      <p:sp>
        <p:nvSpPr>
          <p:cNvPr id="11" name="enhancement-57">
            <a:extLst xmlns:a="http://schemas.openxmlformats.org/drawingml/2006/main">
              <a:ext uri="{FF2B5EF4-FFF2-40B4-BE49-F238E27FC236}">
                <a16:creationId xmlns:a16="http://schemas.microsoft.com/office/drawing/2014/main" id="{A21C9887-F23B-478F-A1AA-1894DD9251F8}"/>
              </a:ext>
            </a:extLst>
          </p:cNvPr>
          <p:cNvSpPr>
            <a:spLocks xmlns:a="http://schemas.openxmlformats.org/drawingml/2006/main" noGrp="1"/>
          </p:cNvSpPr>
          <p:nvPr/>
        </p:nvSpPr>
        <p:spPr>
          <a:xfrm xmlns:a="http://schemas.openxmlformats.org/drawingml/2006/main">
            <a:off x="7972425" y="4448175"/>
            <a:ext cx="3581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A8BDD4"/>
                </a:solidFill>
                <a:latin typeface="Arial"/>
                <a:ea typeface="Arial"/>
                <a:cs typeface="Arial"/>
              </a:defRPr>
            </a:lvl1pPr>
            <a:lvl2pPr>
              <a:buNone/>
              <a:defRPr sz="1875" b="0">
                <a:solidFill>
                  <a:srgbClr val="A8BDD4"/>
                </a:solidFill>
                <a:latin typeface="Arial"/>
                <a:ea typeface="Arial"/>
                <a:cs typeface="Arial"/>
              </a:defRPr>
            </a:lvl2pPr>
            <a:lvl3pPr>
              <a:buNone/>
              <a:defRPr sz="1875" b="0">
                <a:solidFill>
                  <a:srgbClr val="A8BDD4"/>
                </a:solidFill>
                <a:latin typeface="Arial"/>
                <a:ea typeface="Arial"/>
                <a:cs typeface="Arial"/>
              </a:defRPr>
            </a:lvl3pPr>
            <a:lvl4pPr>
              <a:buNone/>
              <a:defRPr sz="1875" b="0">
                <a:solidFill>
                  <a:srgbClr val="A8BDD4"/>
                </a:solidFill>
                <a:latin typeface="Arial"/>
                <a:ea typeface="Arial"/>
                <a:cs typeface="Arial"/>
              </a:defRPr>
            </a:lvl4pPr>
            <a:lvl5pPr>
              <a:buNone/>
              <a:defRPr sz="1875" b="0">
                <a:solidFill>
                  <a:srgbClr val="A8BDD4"/>
                </a:solidFill>
                <a:latin typeface="Arial"/>
                <a:ea typeface="Arial"/>
                <a:cs typeface="Arial"/>
              </a:defRPr>
            </a:lvl5pPr>
            <a:lvl6pPr>
              <a:buNone/>
              <a:defRPr sz="1875" b="0">
                <a:solidFill>
                  <a:srgbClr val="A8BDD4"/>
                </a:solidFill>
                <a:latin typeface="Arial"/>
                <a:ea typeface="Arial"/>
                <a:cs typeface="Arial"/>
              </a:defRPr>
            </a:lvl6pPr>
            <a:lvl7pPr>
              <a:buNone/>
              <a:defRPr sz="1875" b="0">
                <a:solidFill>
                  <a:srgbClr val="A8BDD4"/>
                </a:solidFill>
                <a:latin typeface="Arial"/>
                <a:ea typeface="Arial"/>
                <a:cs typeface="Arial"/>
              </a:defRPr>
            </a:lvl7pPr>
            <a:lvl8pPr>
              <a:buNone/>
              <a:defRPr sz="1875" b="0">
                <a:solidFill>
                  <a:srgbClr val="A8BDD4"/>
                </a:solidFill>
                <a:latin typeface="Arial"/>
                <a:ea typeface="Arial"/>
                <a:cs typeface="Arial"/>
              </a:defRPr>
            </a:lvl8pPr>
            <a:lvl9pPr>
              <a:buNone/>
              <a:defRPr sz="1875" b="0">
                <a:solidFill>
                  <a:srgbClr val="A8BDD4"/>
                </a:solidFill>
                <a:latin typeface="Arial"/>
                <a:ea typeface="Arial"/>
                <a:cs typeface="Arial"/>
              </a:defRPr>
            </a:lvl9pPr>
          </a:lstStyle>
          <a:p xmlns:a="http://schemas.openxmlformats.org/drawingml/2006/main">
            <a:pPr>
              <a:buNone/>
              <a:defRPr sz="1875" b="0">
                <a:solidFill>
                  <a:srgbClr val="A8BDD4"/>
                </a:solidFill>
                <a:latin typeface="Arial"/>
                <a:ea typeface="Arial"/>
                <a:cs typeface="Arial"/>
              </a:defRPr>
            </a:pPr>
            <a:r>
              <a:rPr sz="1875" b="0">
                <a:solidFill>
                  <a:srgbClr val="A8BDD4"/>
                </a:solidFill>
                <a:latin typeface="Arial"/>
                <a:ea typeface="Arial"/>
                <a:cs typeface="Arial"/>
              </a:rPr>
              <a:t>Confirm the source definition. Build an approved busy-hours / available-hours KPI before changing fleet capacity.</a:t>
            </a:r>
          </a:p>
        </p:txBody>
      </p:sp>
      <p:sp>
        <p:nvSpPr>
          <p:cNvPr id="13" name="enhancement-58">
            <a:extLst xmlns:a="http://schemas.openxmlformats.org/drawingml/2006/main">
              <a:ext uri="{FF2B5EF4-FFF2-40B4-BE49-F238E27FC236}">
                <a16:creationId xmlns:a16="http://schemas.microsoft.com/office/drawing/2014/main" id="{DC4E55DC-4723-4F92-B7AD-D1B4A0095BAC}"/>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17</a:t>
            </a:r>
          </a:p>
        </p:txBody>
      </p:sp>
    </p:spTree>
    <p:extLst>
      <p:ext uri="{BB962C8B-B14F-4D97-AF65-F5344CB8AC3E}">
        <p14:creationId xmlns:p14="http://schemas.microsoft.com/office/powerpoint/2010/main" val="1205505218"/>
      </p:ext>
    </p:extLst>
  </p:cSld>
</p:sld>
</file>

<file path=ppt/slides/slide18.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graphicFrame>
        <p:nvGraphicFramePr>
          <p:cNvPr id="20" name="Chart"/>
          <p:cNvGraphicFramePr/>
          <p:nvPr/>
        </p:nvGraphicFramePr>
        <p:xfrm>
          <a:off xmlns:a="http://schemas.openxmlformats.org/drawingml/2006/main" x="381000" y="2362200"/>
          <a:ext xmlns:a="http://schemas.openxmlformats.org/drawingml/2006/main" cx="7143750" cy="3333750"/>
        </p:xfrm>
        <a:graphic xmlns:a="http://schemas.openxmlformats.org/drawingml/2006/main">
          <a:graphicData uri="http://schemas.openxmlformats.org/drawingml/2006/chart">
            <c:chart xmlns:r="http://schemas.openxmlformats.org/officeDocument/2006/relationships" xmlns:c="http://schemas.openxmlformats.org/drawingml/2006/chart" r:id="Rfb89be4679f3489c"/>
          </a:graphicData>
        </a:graphic>
      </p:graphicFrame>
      <p:sp>
        <p:nvSpPr>
          <p:cNvPr id="11" name="">
            <a:extLst xmlns:a="http://schemas.openxmlformats.org/drawingml/2006/main">
              <a:ext uri="{FF2B5EF4-FFF2-40B4-BE49-F238E27FC236}">
                <a16:creationId xmlns:a16="http://schemas.microsoft.com/office/drawing/2014/main" id="{1DFE5891-627C-4FD3-B851-759014568B6B}"/>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THE RISK QUESTION: SAFETY</a:t>
            </a:r>
          </a:p>
        </p:txBody>
      </p:sp>
      <p:sp>
        <p:nvSpPr>
          <p:cNvPr id="2" name="">
            <a:extLst xmlns:a="http://schemas.openxmlformats.org/drawingml/2006/main">
              <a:ext uri="{FF2B5EF4-FFF2-40B4-BE49-F238E27FC236}">
                <a16:creationId xmlns:a16="http://schemas.microsoft.com/office/drawing/2014/main" id="{B70AB092-A58F-4A51-B34B-2567978FC3B3}"/>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Frequency and severity lead to different safety priorities</a:t>
            </a:r>
          </a:p>
        </p:txBody>
      </p:sp>
      <p:sp>
        <p:nvSpPr>
          <p:cNvPr id="10" name="">
            <a:extLst xmlns:a="http://schemas.openxmlformats.org/drawingml/2006/main">
              <a:ext uri="{FF2B5EF4-FFF2-40B4-BE49-F238E27FC236}">
                <a16:creationId xmlns:a16="http://schemas.microsoft.com/office/drawing/2014/main" id="{DBDAB23B-F6DA-41FE-845D-61FE2E9DBC2E}"/>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18</a:t>
            </a:r>
          </a:p>
        </p:txBody>
      </p:sp>
      <p:sp>
        <p:nvSpPr>
          <p:cNvPr id="9" name="">
            <a:extLst xmlns:a="http://schemas.openxmlformats.org/drawingml/2006/main">
              <a:ext uri="{FF2B5EF4-FFF2-40B4-BE49-F238E27FC236}">
                <a16:creationId xmlns:a16="http://schemas.microsoft.com/office/drawing/2014/main" id="{A8956B27-BB35-428C-AD85-988BE0044507}"/>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Frequency and severity identify different priorities; recoverability is unproven</a:t>
            </a:r>
          </a:p>
        </p:txBody>
      </p:sp>
      <p:sp>
        <p:nvSpPr>
          <p:cNvPr id="3" name="">
            <a:extLst xmlns:a="http://schemas.openxmlformats.org/drawingml/2006/main">
              <a:ext uri="{FF2B5EF4-FFF2-40B4-BE49-F238E27FC236}">
                <a16:creationId xmlns:a16="http://schemas.microsoft.com/office/drawing/2014/main" id="{2CAFF62E-C440-4D9B-9918-35071FC0F1FA}"/>
              </a:ext>
            </a:extLst>
          </p:cNvPr>
          <p:cNvSpPr>
            <a:spLocks xmlns:a="http://schemas.openxmlformats.org/drawingml/2006/main" noGrp="1"/>
          </p:cNvSpPr>
          <p:nvPr/>
        </p:nvSpPr>
        <p:spPr>
          <a:xfrm xmlns:a="http://schemas.openxmlformats.org/drawingml/2006/main">
            <a:off x="571500" y="2009775"/>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1">
                <a:solidFill>
                  <a:srgbClr val="546B7C"/>
                </a:solidFill>
                <a:latin typeface="Arial"/>
                <a:ea typeface="Arial"/>
                <a:cs typeface="Arial"/>
              </a:defRPr>
            </a:lvl1pPr>
            <a:lvl2pPr>
              <a:buNone/>
              <a:defRPr sz="1650" b="1">
                <a:solidFill>
                  <a:srgbClr val="546B7C"/>
                </a:solidFill>
                <a:latin typeface="Arial"/>
                <a:ea typeface="Arial"/>
                <a:cs typeface="Arial"/>
              </a:defRPr>
            </a:lvl2pPr>
            <a:lvl3pPr>
              <a:buNone/>
              <a:defRPr sz="1650" b="1">
                <a:solidFill>
                  <a:srgbClr val="546B7C"/>
                </a:solidFill>
                <a:latin typeface="Arial"/>
                <a:ea typeface="Arial"/>
                <a:cs typeface="Arial"/>
              </a:defRPr>
            </a:lvl3pPr>
            <a:lvl4pPr>
              <a:buNone/>
              <a:defRPr sz="1650" b="1">
                <a:solidFill>
                  <a:srgbClr val="546B7C"/>
                </a:solidFill>
                <a:latin typeface="Arial"/>
                <a:ea typeface="Arial"/>
                <a:cs typeface="Arial"/>
              </a:defRPr>
            </a:lvl4pPr>
            <a:lvl5pPr>
              <a:buNone/>
              <a:defRPr sz="1650" b="1">
                <a:solidFill>
                  <a:srgbClr val="546B7C"/>
                </a:solidFill>
                <a:latin typeface="Arial"/>
                <a:ea typeface="Arial"/>
                <a:cs typeface="Arial"/>
              </a:defRPr>
            </a:lvl5pPr>
            <a:lvl6pPr>
              <a:buNone/>
              <a:defRPr sz="1650" b="1">
                <a:solidFill>
                  <a:srgbClr val="546B7C"/>
                </a:solidFill>
                <a:latin typeface="Arial"/>
                <a:ea typeface="Arial"/>
                <a:cs typeface="Arial"/>
              </a:defRPr>
            </a:lvl6pPr>
            <a:lvl7pPr>
              <a:buNone/>
              <a:defRPr sz="1650" b="1">
                <a:solidFill>
                  <a:srgbClr val="546B7C"/>
                </a:solidFill>
                <a:latin typeface="Arial"/>
                <a:ea typeface="Arial"/>
                <a:cs typeface="Arial"/>
              </a:defRPr>
            </a:lvl7pPr>
            <a:lvl8pPr>
              <a:buNone/>
              <a:defRPr sz="1650" b="1">
                <a:solidFill>
                  <a:srgbClr val="546B7C"/>
                </a:solidFill>
                <a:latin typeface="Arial"/>
                <a:ea typeface="Arial"/>
                <a:cs typeface="Arial"/>
              </a:defRPr>
            </a:lvl8pPr>
            <a:lvl9pPr>
              <a:buNone/>
              <a:defRPr sz="1650" b="1">
                <a:solidFill>
                  <a:srgbClr val="546B7C"/>
                </a:solidFill>
                <a:latin typeface="Arial"/>
                <a:ea typeface="Arial"/>
                <a:cs typeface="Arial"/>
              </a:defRPr>
            </a:lvl9pPr>
          </a:lstStyle>
          <a:p xmlns:a="http://schemas.openxmlformats.org/drawingml/2006/main">
            <a:pPr>
              <a:buNone/>
              <a:defRPr sz="1575" b="1">
                <a:solidFill>
                  <a:srgbClr val="A8BDD4"/>
                </a:solidFill>
                <a:latin typeface="Arial"/>
                <a:ea typeface="Arial"/>
                <a:cs typeface="Arial"/>
              </a:defRPr>
            </a:pPr>
            <a:r>
              <a:rPr sz="1575" b="1">
                <a:solidFill>
                  <a:srgbClr val="A8BDD4"/>
                </a:solidFill>
                <a:latin typeface="Arial"/>
                <a:ea typeface="Arial"/>
                <a:cs typeface="Arial"/>
              </a:rPr>
              <a:t>Recorded incidents</a:t>
            </a:r>
          </a:p>
        </p:txBody>
      </p:sp>
      <p:sp>
        <p:nvSpPr>
          <p:cNvPr id="12" name="callout-panel-59">
            <a:extLst xmlns:a="http://schemas.openxmlformats.org/drawingml/2006/main">
              <a:ext uri="{FF2B5EF4-FFF2-40B4-BE49-F238E27FC236}">
                <a16:creationId xmlns:a16="http://schemas.microsoft.com/office/drawing/2014/main" id="{2DA4B1F2-1429-4CE4-A1D2-BC2F77EA5F80}"/>
              </a:ext>
            </a:extLst>
          </p:cNvPr>
          <p:cNvSpPr>
            <a:spLocks xmlns:a="http://schemas.openxmlformats.org/drawingml/2006/main" noGrp="1"/>
          </p:cNvSpPr>
          <p:nvPr/>
        </p:nvSpPr>
        <p:spPr>
          <a:xfrm xmlns:a="http://schemas.openxmlformats.org/drawingml/2006/main">
            <a:off x="7762875" y="1943100"/>
            <a:ext cx="4000500" cy="3838575"/>
          </a:xfrm>
          <a:prstGeom xmlns:a="http://schemas.openxmlformats.org/drawingml/2006/main" prst="rect">
            <a:avLst/>
          </a:prstGeom>
          <a:solidFill xmlns:a="http://schemas.openxmlformats.org/drawingml/2006/main">
            <a:srgbClr val="0B182A"/>
          </a:solidFill>
          <a:ln xmlns:a="http://schemas.openxmlformats.org/drawingml/2006/main" w="0">
            <a:noFill/>
          </a:ln>
        </p:spPr>
      </p:sp>
      <p:sp>
        <p:nvSpPr>
          <p:cNvPr id="13" name="callout-rule-60">
            <a:extLst xmlns:a="http://schemas.openxmlformats.org/drawingml/2006/main">
              <a:ext uri="{FF2B5EF4-FFF2-40B4-BE49-F238E27FC236}">
                <a16:creationId xmlns:a16="http://schemas.microsoft.com/office/drawing/2014/main" id="{E006CC55-E58E-4580-9727-6E4662F6C57B}"/>
              </a:ext>
            </a:extLst>
          </p:cNvPr>
          <p:cNvSpPr>
            <a:spLocks xmlns:a="http://schemas.openxmlformats.org/drawingml/2006/main" noGrp="1"/>
          </p:cNvSpPr>
          <p:nvPr/>
        </p:nvSpPr>
        <p:spPr>
          <a:xfrm xmlns:a="http://schemas.openxmlformats.org/drawingml/2006/main">
            <a:off x="7762875" y="1943100"/>
            <a:ext cx="495300" cy="19050"/>
          </a:xfrm>
          <a:prstGeom xmlns:a="http://schemas.openxmlformats.org/drawingml/2006/main" prst="rect">
            <a:avLst/>
          </a:prstGeom>
          <a:solidFill xmlns:a="http://schemas.openxmlformats.org/drawingml/2006/main">
            <a:srgbClr val="3278FF"/>
          </a:solidFill>
          <a:ln xmlns:a="http://schemas.openxmlformats.org/drawingml/2006/main" w="0">
            <a:noFill/>
          </a:ln>
        </p:spPr>
      </p:sp>
      <p:sp>
        <p:nvSpPr>
          <p:cNvPr id="14" name="callout-rule-61">
            <a:extLst xmlns:a="http://schemas.openxmlformats.org/drawingml/2006/main">
              <a:ext uri="{FF2B5EF4-FFF2-40B4-BE49-F238E27FC236}">
                <a16:creationId xmlns:a16="http://schemas.microsoft.com/office/drawing/2014/main" id="{317BB8E1-7E36-4E08-8730-65F7D281FCE2}"/>
              </a:ext>
            </a:extLst>
          </p:cNvPr>
          <p:cNvSpPr>
            <a:spLocks xmlns:a="http://schemas.openxmlformats.org/drawingml/2006/main" noGrp="1"/>
          </p:cNvSpPr>
          <p:nvPr/>
        </p:nvSpPr>
        <p:spPr>
          <a:xfrm xmlns:a="http://schemas.openxmlformats.org/drawingml/2006/main">
            <a:off x="7762875" y="3895725"/>
            <a:ext cx="49530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
        <p:nvSpPr>
          <p:cNvPr id="15" name="enhancement-62">
            <a:extLst xmlns:a="http://schemas.openxmlformats.org/drawingml/2006/main">
              <a:ext uri="{FF2B5EF4-FFF2-40B4-BE49-F238E27FC236}">
                <a16:creationId xmlns:a16="http://schemas.microsoft.com/office/drawing/2014/main" id="{1F078844-E2B7-4685-B360-4519E03E6AB8}"/>
              </a:ext>
            </a:extLst>
          </p:cNvPr>
          <p:cNvSpPr>
            <a:spLocks xmlns:a="http://schemas.openxmlformats.org/drawingml/2006/main" noGrp="1"/>
          </p:cNvSpPr>
          <p:nvPr/>
        </p:nvSpPr>
        <p:spPr>
          <a:xfrm xmlns:a="http://schemas.openxmlformats.org/drawingml/2006/main">
            <a:off x="7972425" y="2028825"/>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278FF"/>
                </a:solidFill>
                <a:latin typeface="Arial"/>
                <a:ea typeface="Arial"/>
                <a:cs typeface="Arial"/>
              </a:defRPr>
            </a:lvl1pPr>
            <a:lvl2pPr>
              <a:buNone/>
              <a:defRPr sz="1575" b="1">
                <a:solidFill>
                  <a:srgbClr val="3278FF"/>
                </a:solidFill>
                <a:latin typeface="Arial"/>
                <a:ea typeface="Arial"/>
                <a:cs typeface="Arial"/>
              </a:defRPr>
            </a:lvl2pPr>
            <a:lvl3pPr>
              <a:buNone/>
              <a:defRPr sz="1575" b="1">
                <a:solidFill>
                  <a:srgbClr val="3278FF"/>
                </a:solidFill>
                <a:latin typeface="Arial"/>
                <a:ea typeface="Arial"/>
                <a:cs typeface="Arial"/>
              </a:defRPr>
            </a:lvl3pPr>
            <a:lvl4pPr>
              <a:buNone/>
              <a:defRPr sz="1575" b="1">
                <a:solidFill>
                  <a:srgbClr val="3278FF"/>
                </a:solidFill>
                <a:latin typeface="Arial"/>
                <a:ea typeface="Arial"/>
                <a:cs typeface="Arial"/>
              </a:defRPr>
            </a:lvl4pPr>
            <a:lvl5pPr>
              <a:buNone/>
              <a:defRPr sz="1575" b="1">
                <a:solidFill>
                  <a:srgbClr val="3278FF"/>
                </a:solidFill>
                <a:latin typeface="Arial"/>
                <a:ea typeface="Arial"/>
                <a:cs typeface="Arial"/>
              </a:defRPr>
            </a:lvl5pPr>
            <a:lvl6pPr>
              <a:buNone/>
              <a:defRPr sz="1575" b="1">
                <a:solidFill>
                  <a:srgbClr val="3278FF"/>
                </a:solidFill>
                <a:latin typeface="Arial"/>
                <a:ea typeface="Arial"/>
                <a:cs typeface="Arial"/>
              </a:defRPr>
            </a:lvl6pPr>
            <a:lvl7pPr>
              <a:buNone/>
              <a:defRPr sz="1575" b="1">
                <a:solidFill>
                  <a:srgbClr val="3278FF"/>
                </a:solidFill>
                <a:latin typeface="Arial"/>
                <a:ea typeface="Arial"/>
                <a:cs typeface="Arial"/>
              </a:defRPr>
            </a:lvl7pPr>
            <a:lvl8pPr>
              <a:buNone/>
              <a:defRPr sz="1575" b="1">
                <a:solidFill>
                  <a:srgbClr val="3278FF"/>
                </a:solidFill>
                <a:latin typeface="Arial"/>
                <a:ea typeface="Arial"/>
                <a:cs typeface="Arial"/>
              </a:defRPr>
            </a:lvl8pPr>
            <a:lvl9pPr>
              <a:buNone/>
              <a:defRPr sz="1575" b="1">
                <a:solidFill>
                  <a:srgbClr val="3278FF"/>
                </a:solidFill>
                <a:latin typeface="Arial"/>
                <a:ea typeface="Arial"/>
                <a:cs typeface="Arial"/>
              </a:defRPr>
            </a:lvl9pPr>
          </a:lstStyle>
          <a:p xmlns:a="http://schemas.openxmlformats.org/drawingml/2006/main">
            <a:pPr>
              <a:buNone/>
              <a:defRPr sz="1575" b="1">
                <a:solidFill>
                  <a:srgbClr val="3278FF"/>
                </a:solidFill>
                <a:latin typeface="Arial"/>
                <a:ea typeface="Arial"/>
                <a:cs typeface="Arial"/>
              </a:defRPr>
            </a:pPr>
            <a:r>
              <a:rPr sz="1575" b="1">
                <a:solidFill>
                  <a:srgbClr val="3278FF"/>
                </a:solidFill>
                <a:latin typeface="Arial"/>
                <a:ea typeface="Arial"/>
                <a:cs typeface="Arial"/>
              </a:rPr>
              <a:t>PROBLEM</a:t>
            </a:r>
          </a:p>
        </p:txBody>
      </p:sp>
      <p:sp>
        <p:nvSpPr>
          <p:cNvPr id="16" name="enhancement-63">
            <a:extLst xmlns:a="http://schemas.openxmlformats.org/drawingml/2006/main">
              <a:ext uri="{FF2B5EF4-FFF2-40B4-BE49-F238E27FC236}">
                <a16:creationId xmlns:a16="http://schemas.microsoft.com/office/drawing/2014/main" id="{51913677-C3CF-4150-BA6C-FF6DD073C225}"/>
              </a:ext>
            </a:extLst>
          </p:cNvPr>
          <p:cNvSpPr>
            <a:spLocks xmlns:a="http://schemas.openxmlformats.org/drawingml/2006/main" noGrp="1"/>
          </p:cNvSpPr>
          <p:nvPr/>
        </p:nvSpPr>
        <p:spPr>
          <a:xfrm xmlns:a="http://schemas.openxmlformats.org/drawingml/2006/main">
            <a:off x="7972425" y="2514600"/>
            <a:ext cx="3581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F2F6FF"/>
                </a:solidFill>
                <a:latin typeface="Arial"/>
                <a:ea typeface="Arial"/>
                <a:cs typeface="Arial"/>
              </a:defRPr>
            </a:lvl1pPr>
            <a:lvl2pPr>
              <a:buNone/>
              <a:defRPr sz="1875" b="0">
                <a:solidFill>
                  <a:srgbClr val="F2F6FF"/>
                </a:solidFill>
                <a:latin typeface="Arial"/>
                <a:ea typeface="Arial"/>
                <a:cs typeface="Arial"/>
              </a:defRPr>
            </a:lvl2pPr>
            <a:lvl3pPr>
              <a:buNone/>
              <a:defRPr sz="1875" b="0">
                <a:solidFill>
                  <a:srgbClr val="F2F6FF"/>
                </a:solidFill>
                <a:latin typeface="Arial"/>
                <a:ea typeface="Arial"/>
                <a:cs typeface="Arial"/>
              </a:defRPr>
            </a:lvl3pPr>
            <a:lvl4pPr>
              <a:buNone/>
              <a:defRPr sz="1875" b="0">
                <a:solidFill>
                  <a:srgbClr val="F2F6FF"/>
                </a:solidFill>
                <a:latin typeface="Arial"/>
                <a:ea typeface="Arial"/>
                <a:cs typeface="Arial"/>
              </a:defRPr>
            </a:lvl4pPr>
            <a:lvl5pPr>
              <a:buNone/>
              <a:defRPr sz="1875" b="0">
                <a:solidFill>
                  <a:srgbClr val="F2F6FF"/>
                </a:solidFill>
                <a:latin typeface="Arial"/>
                <a:ea typeface="Arial"/>
                <a:cs typeface="Arial"/>
              </a:defRPr>
            </a:lvl5pPr>
            <a:lvl6pPr>
              <a:buNone/>
              <a:defRPr sz="1875" b="0">
                <a:solidFill>
                  <a:srgbClr val="F2F6FF"/>
                </a:solidFill>
                <a:latin typeface="Arial"/>
                <a:ea typeface="Arial"/>
                <a:cs typeface="Arial"/>
              </a:defRPr>
            </a:lvl6pPr>
            <a:lvl7pPr>
              <a:buNone/>
              <a:defRPr sz="1875" b="0">
                <a:solidFill>
                  <a:srgbClr val="F2F6FF"/>
                </a:solidFill>
                <a:latin typeface="Arial"/>
                <a:ea typeface="Arial"/>
                <a:cs typeface="Arial"/>
              </a:defRPr>
            </a:lvl7pPr>
            <a:lvl8pPr>
              <a:buNone/>
              <a:defRPr sz="1875" b="0">
                <a:solidFill>
                  <a:srgbClr val="F2F6FF"/>
                </a:solidFill>
                <a:latin typeface="Arial"/>
                <a:ea typeface="Arial"/>
                <a:cs typeface="Arial"/>
              </a:defRPr>
            </a:lvl8pPr>
            <a:lvl9pPr>
              <a:buNone/>
              <a:defRPr sz="1875" b="0">
                <a:solidFill>
                  <a:srgbClr val="F2F6FF"/>
                </a:solidFill>
                <a:latin typeface="Arial"/>
                <a:ea typeface="Arial"/>
                <a:cs typeface="Arial"/>
              </a:defRPr>
            </a:lvl9pPr>
          </a:lstStyle>
          <a:p xmlns:a="http://schemas.openxmlformats.org/drawingml/2006/main">
            <a:pPr>
              <a:buNone/>
              <a:defRPr sz="1875" b="0">
                <a:solidFill>
                  <a:srgbClr val="F2F6FF"/>
                </a:solidFill>
                <a:latin typeface="Arial"/>
                <a:ea typeface="Arial"/>
                <a:cs typeface="Arial"/>
              </a:defRPr>
            </a:pPr>
            <a:r>
              <a:rPr sz="1875" b="0">
                <a:solidFill>
                  <a:srgbClr val="F2F6FF"/>
                </a:solidFill>
                <a:latin typeface="Arial"/>
                <a:ea typeface="Arial"/>
                <a:cs typeface="Arial"/>
              </a:rPr>
              <a:t>DOT violations lead frequency (39 cases); Equipment Damage leads recorded vehicle and cargo damage cost.</a:t>
            </a:r>
          </a:p>
        </p:txBody>
      </p:sp>
      <p:sp>
        <p:nvSpPr>
          <p:cNvPr id="17" name="enhancement-64">
            <a:extLst xmlns:a="http://schemas.openxmlformats.org/drawingml/2006/main">
              <a:ext uri="{FF2B5EF4-FFF2-40B4-BE49-F238E27FC236}">
                <a16:creationId xmlns:a16="http://schemas.microsoft.com/office/drawing/2014/main" id="{260A68C6-9D9E-422A-B347-EB13D757C7E3}"/>
              </a:ext>
            </a:extLst>
          </p:cNvPr>
          <p:cNvSpPr>
            <a:spLocks xmlns:a="http://schemas.openxmlformats.org/drawingml/2006/main" noGrp="1"/>
          </p:cNvSpPr>
          <p:nvPr/>
        </p:nvSpPr>
        <p:spPr>
          <a:xfrm xmlns:a="http://schemas.openxmlformats.org/drawingml/2006/main">
            <a:off x="7972425" y="39814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DDCF5"/>
                </a:solidFill>
                <a:latin typeface="Arial"/>
                <a:ea typeface="Arial"/>
                <a:cs typeface="Arial"/>
              </a:defRPr>
            </a:lvl1pPr>
            <a:lvl2pPr>
              <a:buNone/>
              <a:defRPr sz="1575" b="1">
                <a:solidFill>
                  <a:srgbClr val="3DDCF5"/>
                </a:solidFill>
                <a:latin typeface="Arial"/>
                <a:ea typeface="Arial"/>
                <a:cs typeface="Arial"/>
              </a:defRPr>
            </a:lvl2pPr>
            <a:lvl3pPr>
              <a:buNone/>
              <a:defRPr sz="1575" b="1">
                <a:solidFill>
                  <a:srgbClr val="3DDCF5"/>
                </a:solidFill>
                <a:latin typeface="Arial"/>
                <a:ea typeface="Arial"/>
                <a:cs typeface="Arial"/>
              </a:defRPr>
            </a:lvl3pPr>
            <a:lvl4pPr>
              <a:buNone/>
              <a:defRPr sz="1575" b="1">
                <a:solidFill>
                  <a:srgbClr val="3DDCF5"/>
                </a:solidFill>
                <a:latin typeface="Arial"/>
                <a:ea typeface="Arial"/>
                <a:cs typeface="Arial"/>
              </a:defRPr>
            </a:lvl4pPr>
            <a:lvl5pPr>
              <a:buNone/>
              <a:defRPr sz="1575" b="1">
                <a:solidFill>
                  <a:srgbClr val="3DDCF5"/>
                </a:solidFill>
                <a:latin typeface="Arial"/>
                <a:ea typeface="Arial"/>
                <a:cs typeface="Arial"/>
              </a:defRPr>
            </a:lvl5pPr>
            <a:lvl6pPr>
              <a:buNone/>
              <a:defRPr sz="1575" b="1">
                <a:solidFill>
                  <a:srgbClr val="3DDCF5"/>
                </a:solidFill>
                <a:latin typeface="Arial"/>
                <a:ea typeface="Arial"/>
                <a:cs typeface="Arial"/>
              </a:defRPr>
            </a:lvl6pPr>
            <a:lvl7pPr>
              <a:buNone/>
              <a:defRPr sz="1575" b="1">
                <a:solidFill>
                  <a:srgbClr val="3DDCF5"/>
                </a:solidFill>
                <a:latin typeface="Arial"/>
                <a:ea typeface="Arial"/>
                <a:cs typeface="Arial"/>
              </a:defRPr>
            </a:lvl7pPr>
            <a:lvl8pPr>
              <a:buNone/>
              <a:defRPr sz="1575" b="1">
                <a:solidFill>
                  <a:srgbClr val="3DDCF5"/>
                </a:solidFill>
                <a:latin typeface="Arial"/>
                <a:ea typeface="Arial"/>
                <a:cs typeface="Arial"/>
              </a:defRPr>
            </a:lvl8pPr>
            <a:lvl9pPr>
              <a:buNone/>
              <a:defRPr sz="1575" b="1">
                <a:solidFill>
                  <a:srgbClr val="3DDCF5"/>
                </a:solidFill>
                <a:latin typeface="Arial"/>
                <a:ea typeface="Arial"/>
                <a:cs typeface="Arial"/>
              </a:defRPr>
            </a:lvl9pPr>
          </a:lstStyle>
          <a:p xmlns:a="http://schemas.openxmlformats.org/drawingml/2006/main">
            <a:pPr>
              <a:buNone/>
              <a:defRPr sz="1575" b="1">
                <a:solidFill>
                  <a:srgbClr val="3DDCF5"/>
                </a:solidFill>
                <a:latin typeface="Arial"/>
                <a:ea typeface="Arial"/>
                <a:cs typeface="Arial"/>
              </a:defRPr>
            </a:pPr>
            <a:r>
              <a:rPr sz="1575" b="1">
                <a:solidFill>
                  <a:srgbClr val="3DDCF5"/>
                </a:solidFill>
                <a:latin typeface="Arial"/>
                <a:ea typeface="Arial"/>
                <a:cs typeface="Arial"/>
              </a:rPr>
              <a:t>PROPOSED SOLUTION</a:t>
            </a:r>
          </a:p>
        </p:txBody>
      </p:sp>
      <p:sp>
        <p:nvSpPr>
          <p:cNvPr id="18" name="enhancement-65">
            <a:extLst xmlns:a="http://schemas.openxmlformats.org/drawingml/2006/main">
              <a:ext uri="{FF2B5EF4-FFF2-40B4-BE49-F238E27FC236}">
                <a16:creationId xmlns:a16="http://schemas.microsoft.com/office/drawing/2014/main" id="{A45C2DCC-2C4D-42CF-88D7-E956A9AC0168}"/>
              </a:ext>
            </a:extLst>
          </p:cNvPr>
          <p:cNvSpPr>
            <a:spLocks xmlns:a="http://schemas.openxmlformats.org/drawingml/2006/main" noGrp="1"/>
          </p:cNvSpPr>
          <p:nvPr/>
        </p:nvSpPr>
        <p:spPr>
          <a:xfrm xmlns:a="http://schemas.openxmlformats.org/drawingml/2006/main">
            <a:off x="7972425" y="4448175"/>
            <a:ext cx="3581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A8BDD4"/>
                </a:solidFill>
                <a:latin typeface="Arial"/>
                <a:ea typeface="Arial"/>
                <a:cs typeface="Arial"/>
              </a:defRPr>
            </a:lvl1pPr>
            <a:lvl2pPr>
              <a:buNone/>
              <a:defRPr sz="1875" b="0">
                <a:solidFill>
                  <a:srgbClr val="A8BDD4"/>
                </a:solidFill>
                <a:latin typeface="Arial"/>
                <a:ea typeface="Arial"/>
                <a:cs typeface="Arial"/>
              </a:defRPr>
            </a:lvl2pPr>
            <a:lvl3pPr>
              <a:buNone/>
              <a:defRPr sz="1875" b="0">
                <a:solidFill>
                  <a:srgbClr val="A8BDD4"/>
                </a:solidFill>
                <a:latin typeface="Arial"/>
                <a:ea typeface="Arial"/>
                <a:cs typeface="Arial"/>
              </a:defRPr>
            </a:lvl3pPr>
            <a:lvl4pPr>
              <a:buNone/>
              <a:defRPr sz="1875" b="0">
                <a:solidFill>
                  <a:srgbClr val="A8BDD4"/>
                </a:solidFill>
                <a:latin typeface="Arial"/>
                <a:ea typeface="Arial"/>
                <a:cs typeface="Arial"/>
              </a:defRPr>
            </a:lvl4pPr>
            <a:lvl5pPr>
              <a:buNone/>
              <a:defRPr sz="1875" b="0">
                <a:solidFill>
                  <a:srgbClr val="A8BDD4"/>
                </a:solidFill>
                <a:latin typeface="Arial"/>
                <a:ea typeface="Arial"/>
                <a:cs typeface="Arial"/>
              </a:defRPr>
            </a:lvl5pPr>
            <a:lvl6pPr>
              <a:buNone/>
              <a:defRPr sz="1875" b="0">
                <a:solidFill>
                  <a:srgbClr val="A8BDD4"/>
                </a:solidFill>
                <a:latin typeface="Arial"/>
                <a:ea typeface="Arial"/>
                <a:cs typeface="Arial"/>
              </a:defRPr>
            </a:lvl6pPr>
            <a:lvl7pPr>
              <a:buNone/>
              <a:defRPr sz="1875" b="0">
                <a:solidFill>
                  <a:srgbClr val="A8BDD4"/>
                </a:solidFill>
                <a:latin typeface="Arial"/>
                <a:ea typeface="Arial"/>
                <a:cs typeface="Arial"/>
              </a:defRPr>
            </a:lvl7pPr>
            <a:lvl8pPr>
              <a:buNone/>
              <a:defRPr sz="1875" b="0">
                <a:solidFill>
                  <a:srgbClr val="A8BDD4"/>
                </a:solidFill>
                <a:latin typeface="Arial"/>
                <a:ea typeface="Arial"/>
                <a:cs typeface="Arial"/>
              </a:defRPr>
            </a:lvl8pPr>
            <a:lvl9pPr>
              <a:buNone/>
              <a:defRPr sz="1875" b="0">
                <a:solidFill>
                  <a:srgbClr val="A8BDD4"/>
                </a:solidFill>
                <a:latin typeface="Arial"/>
                <a:ea typeface="Arial"/>
                <a:cs typeface="Arial"/>
              </a:defRPr>
            </a:lvl9pPr>
          </a:lstStyle>
          <a:p xmlns:a="http://schemas.openxmlformats.org/drawingml/2006/main">
            <a:pPr>
              <a:buNone/>
              <a:defRPr sz="1875" b="0">
                <a:solidFill>
                  <a:srgbClr val="A8BDD4"/>
                </a:solidFill>
                <a:latin typeface="Arial"/>
                <a:ea typeface="Arial"/>
                <a:cs typeface="Arial"/>
              </a:defRPr>
            </a:pPr>
            <a:r>
              <a:rPr sz="1875" b="0">
                <a:solidFill>
                  <a:srgbClr val="A8BDD4"/>
                </a:solidFill>
                <a:latin typeface="Arial"/>
                <a:ea typeface="Arial"/>
                <a:cs typeface="Arial"/>
              </a:rPr>
              <a:t>Review the 64 preventable cases by frequency and severity. Target controls, then track exposure-adjusted outcomes.</a:t>
            </a:r>
          </a:p>
        </p:txBody>
      </p:sp>
    </p:spTree>
    <p:extLst>
      <p:ext uri="{BB962C8B-B14F-4D97-AF65-F5344CB8AC3E}">
        <p14:creationId xmlns:p14="http://schemas.microsoft.com/office/powerpoint/2010/main" val="1824606208"/>
      </p:ext>
    </p:extLst>
  </p:cSld>
</p:sld>
</file>

<file path=ppt/slides/slide19.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graphicFrame>
        <p:nvGraphicFramePr>
          <p:cNvPr id="20" name="Chart"/>
          <p:cNvGraphicFramePr/>
          <p:nvPr/>
        </p:nvGraphicFramePr>
        <p:xfrm>
          <a:off xmlns:a="http://schemas.openxmlformats.org/drawingml/2006/main" x="381000" y="2362200"/>
          <a:ext xmlns:a="http://schemas.openxmlformats.org/drawingml/2006/main" cx="7143750" cy="3333750"/>
        </p:xfrm>
        <a:graphic xmlns:a="http://schemas.openxmlformats.org/drawingml/2006/main">
          <a:graphicData uri="http://schemas.openxmlformats.org/drawingml/2006/chart">
            <c:chart xmlns:r="http://schemas.openxmlformats.org/officeDocument/2006/relationships" xmlns:c="http://schemas.openxmlformats.org/drawingml/2006/chart" r:id="R32c3257cb2ee496d"/>
          </a:graphicData>
        </a:graphic>
      </p:graphicFrame>
      <p:sp>
        <p:nvSpPr>
          <p:cNvPr id="11" name="">
            <a:extLst xmlns:a="http://schemas.openxmlformats.org/drawingml/2006/main">
              <a:ext uri="{FF2B5EF4-FFF2-40B4-BE49-F238E27FC236}">
                <a16:creationId xmlns:a16="http://schemas.microsoft.com/office/drawing/2014/main" id="{842DA50B-C496-4B18-A3F5-7F1E51EB25C6}"/>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FOLLOWING THE MONEY: COST &amp; PROFITABILITY</a:t>
            </a:r>
          </a:p>
        </p:txBody>
      </p:sp>
      <p:sp>
        <p:nvSpPr>
          <p:cNvPr id="2" name="">
            <a:extLst xmlns:a="http://schemas.openxmlformats.org/drawingml/2006/main">
              <a:ext uri="{FF2B5EF4-FFF2-40B4-BE49-F238E27FC236}">
                <a16:creationId xmlns:a16="http://schemas.microsoft.com/office/drawing/2014/main" id="{33C2EF17-28B3-4E7A-9FCF-7454D59B445F}"/>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150" b="1">
                <a:solidFill>
                  <a:srgbClr val="F2F6FF"/>
                </a:solidFill>
                <a:latin typeface="Arial"/>
                <a:ea typeface="Arial"/>
                <a:cs typeface="Arial"/>
              </a:defRPr>
            </a:pPr>
            <a:r>
              <a:rPr sz="3150" b="1">
                <a:solidFill>
                  <a:srgbClr val="F2F6FF"/>
                </a:solidFill>
                <a:latin typeface="Arial"/>
                <a:ea typeface="Arial"/>
                <a:cs typeface="Arial"/>
              </a:rPr>
              <a:t>Modeled contribution depends on the included cost lines</a:t>
            </a:r>
          </a:p>
        </p:txBody>
      </p:sp>
      <p:sp>
        <p:nvSpPr>
          <p:cNvPr id="10" name="">
            <a:extLst xmlns:a="http://schemas.openxmlformats.org/drawingml/2006/main">
              <a:ext uri="{FF2B5EF4-FFF2-40B4-BE49-F238E27FC236}">
                <a16:creationId xmlns:a16="http://schemas.microsoft.com/office/drawing/2014/main" id="{0E8D238A-1637-47AB-A1C9-F2177AEC15BE}"/>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19</a:t>
            </a:r>
          </a:p>
        </p:txBody>
      </p:sp>
      <p:sp>
        <p:nvSpPr>
          <p:cNvPr id="9" name="">
            <a:extLst xmlns:a="http://schemas.openxmlformats.org/drawingml/2006/main">
              <a:ext uri="{FF2B5EF4-FFF2-40B4-BE49-F238E27FC236}">
                <a16:creationId xmlns:a16="http://schemas.microsoft.com/office/drawing/2014/main" id="{0ACAA874-16C6-4C86-8674-0CE417D8F852}"/>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The PBIX measure is named Net Profit; its scope is modeled contribution</a:t>
            </a:r>
          </a:p>
        </p:txBody>
      </p:sp>
      <p:sp>
        <p:nvSpPr>
          <p:cNvPr id="3" name="">
            <a:extLst xmlns:a="http://schemas.openxmlformats.org/drawingml/2006/main">
              <a:ext uri="{FF2B5EF4-FFF2-40B4-BE49-F238E27FC236}">
                <a16:creationId xmlns:a16="http://schemas.microsoft.com/office/drawing/2014/main" id="{D5F95439-DBBB-4DA2-8BD1-F128E0B691EC}"/>
              </a:ext>
            </a:extLst>
          </p:cNvPr>
          <p:cNvSpPr>
            <a:spLocks xmlns:a="http://schemas.openxmlformats.org/drawingml/2006/main" noGrp="1"/>
          </p:cNvSpPr>
          <p:nvPr/>
        </p:nvSpPr>
        <p:spPr>
          <a:xfrm xmlns:a="http://schemas.openxmlformats.org/drawingml/2006/main">
            <a:off x="571500" y="2009775"/>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1">
                <a:solidFill>
                  <a:srgbClr val="546B7C"/>
                </a:solidFill>
                <a:latin typeface="Arial"/>
                <a:ea typeface="Arial"/>
                <a:cs typeface="Arial"/>
              </a:defRPr>
            </a:lvl1pPr>
            <a:lvl2pPr>
              <a:buNone/>
              <a:defRPr sz="1650" b="1">
                <a:solidFill>
                  <a:srgbClr val="546B7C"/>
                </a:solidFill>
                <a:latin typeface="Arial"/>
                <a:ea typeface="Arial"/>
                <a:cs typeface="Arial"/>
              </a:defRPr>
            </a:lvl2pPr>
            <a:lvl3pPr>
              <a:buNone/>
              <a:defRPr sz="1650" b="1">
                <a:solidFill>
                  <a:srgbClr val="546B7C"/>
                </a:solidFill>
                <a:latin typeface="Arial"/>
                <a:ea typeface="Arial"/>
                <a:cs typeface="Arial"/>
              </a:defRPr>
            </a:lvl3pPr>
            <a:lvl4pPr>
              <a:buNone/>
              <a:defRPr sz="1650" b="1">
                <a:solidFill>
                  <a:srgbClr val="546B7C"/>
                </a:solidFill>
                <a:latin typeface="Arial"/>
                <a:ea typeface="Arial"/>
                <a:cs typeface="Arial"/>
              </a:defRPr>
            </a:lvl4pPr>
            <a:lvl5pPr>
              <a:buNone/>
              <a:defRPr sz="1650" b="1">
                <a:solidFill>
                  <a:srgbClr val="546B7C"/>
                </a:solidFill>
                <a:latin typeface="Arial"/>
                <a:ea typeface="Arial"/>
                <a:cs typeface="Arial"/>
              </a:defRPr>
            </a:lvl5pPr>
            <a:lvl6pPr>
              <a:buNone/>
              <a:defRPr sz="1650" b="1">
                <a:solidFill>
                  <a:srgbClr val="546B7C"/>
                </a:solidFill>
                <a:latin typeface="Arial"/>
                <a:ea typeface="Arial"/>
                <a:cs typeface="Arial"/>
              </a:defRPr>
            </a:lvl6pPr>
            <a:lvl7pPr>
              <a:buNone/>
              <a:defRPr sz="1650" b="1">
                <a:solidFill>
                  <a:srgbClr val="546B7C"/>
                </a:solidFill>
                <a:latin typeface="Arial"/>
                <a:ea typeface="Arial"/>
                <a:cs typeface="Arial"/>
              </a:defRPr>
            </a:lvl7pPr>
            <a:lvl8pPr>
              <a:buNone/>
              <a:defRPr sz="1650" b="1">
                <a:solidFill>
                  <a:srgbClr val="546B7C"/>
                </a:solidFill>
                <a:latin typeface="Arial"/>
                <a:ea typeface="Arial"/>
                <a:cs typeface="Arial"/>
              </a:defRPr>
            </a:lvl8pPr>
            <a:lvl9pPr>
              <a:buNone/>
              <a:defRPr sz="1650" b="1">
                <a:solidFill>
                  <a:srgbClr val="546B7C"/>
                </a:solidFill>
                <a:latin typeface="Arial"/>
                <a:ea typeface="Arial"/>
                <a:cs typeface="Arial"/>
              </a:defRPr>
            </a:lvl9pPr>
          </a:lstStyle>
          <a:p xmlns:a="http://schemas.openxmlformats.org/drawingml/2006/main">
            <a:pPr>
              <a:buNone/>
              <a:defRPr sz="1575" b="1">
                <a:solidFill>
                  <a:srgbClr val="A8BDD4"/>
                </a:solidFill>
                <a:latin typeface="Arial"/>
                <a:ea typeface="Arial"/>
                <a:cs typeface="Arial"/>
              </a:defRPr>
            </a:pPr>
            <a:r>
              <a:rPr sz="1575" b="1">
                <a:solidFill>
                  <a:srgbClr val="A8BDD4"/>
                </a:solidFill>
                <a:latin typeface="Arial"/>
                <a:ea typeface="Arial"/>
                <a:cs typeface="Arial"/>
              </a:rPr>
              <a:t>Modeled cost, $M</a:t>
            </a:r>
          </a:p>
        </p:txBody>
      </p:sp>
      <p:sp>
        <p:nvSpPr>
          <p:cNvPr id="12" name="callout-panel-66">
            <a:extLst xmlns:a="http://schemas.openxmlformats.org/drawingml/2006/main">
              <a:ext uri="{FF2B5EF4-FFF2-40B4-BE49-F238E27FC236}">
                <a16:creationId xmlns:a16="http://schemas.microsoft.com/office/drawing/2014/main" id="{BC4484D5-71D5-486E-A293-91E9BB73CEF0}"/>
              </a:ext>
            </a:extLst>
          </p:cNvPr>
          <p:cNvSpPr>
            <a:spLocks xmlns:a="http://schemas.openxmlformats.org/drawingml/2006/main" noGrp="1"/>
          </p:cNvSpPr>
          <p:nvPr/>
        </p:nvSpPr>
        <p:spPr>
          <a:xfrm xmlns:a="http://schemas.openxmlformats.org/drawingml/2006/main">
            <a:off x="7762875" y="1943100"/>
            <a:ext cx="4000500" cy="3838575"/>
          </a:xfrm>
          <a:prstGeom xmlns:a="http://schemas.openxmlformats.org/drawingml/2006/main" prst="rect">
            <a:avLst/>
          </a:prstGeom>
          <a:solidFill xmlns:a="http://schemas.openxmlformats.org/drawingml/2006/main">
            <a:srgbClr val="0B182A"/>
          </a:solidFill>
          <a:ln xmlns:a="http://schemas.openxmlformats.org/drawingml/2006/main" w="0">
            <a:noFill/>
          </a:ln>
        </p:spPr>
      </p:sp>
      <p:sp>
        <p:nvSpPr>
          <p:cNvPr id="13" name="callout-rule-67">
            <a:extLst xmlns:a="http://schemas.openxmlformats.org/drawingml/2006/main">
              <a:ext uri="{FF2B5EF4-FFF2-40B4-BE49-F238E27FC236}">
                <a16:creationId xmlns:a16="http://schemas.microsoft.com/office/drawing/2014/main" id="{88A4997B-3DE1-4B10-A0E9-2A5E923BD703}"/>
              </a:ext>
            </a:extLst>
          </p:cNvPr>
          <p:cNvSpPr>
            <a:spLocks xmlns:a="http://schemas.openxmlformats.org/drawingml/2006/main" noGrp="1"/>
          </p:cNvSpPr>
          <p:nvPr/>
        </p:nvSpPr>
        <p:spPr>
          <a:xfrm xmlns:a="http://schemas.openxmlformats.org/drawingml/2006/main">
            <a:off x="7762875" y="1943100"/>
            <a:ext cx="495300" cy="19050"/>
          </a:xfrm>
          <a:prstGeom xmlns:a="http://schemas.openxmlformats.org/drawingml/2006/main" prst="rect">
            <a:avLst/>
          </a:prstGeom>
          <a:solidFill xmlns:a="http://schemas.openxmlformats.org/drawingml/2006/main">
            <a:srgbClr val="3278FF"/>
          </a:solidFill>
          <a:ln xmlns:a="http://schemas.openxmlformats.org/drawingml/2006/main" w="0">
            <a:noFill/>
          </a:ln>
        </p:spPr>
      </p:sp>
      <p:sp>
        <p:nvSpPr>
          <p:cNvPr id="14" name="callout-rule-68">
            <a:extLst xmlns:a="http://schemas.openxmlformats.org/drawingml/2006/main">
              <a:ext uri="{FF2B5EF4-FFF2-40B4-BE49-F238E27FC236}">
                <a16:creationId xmlns:a16="http://schemas.microsoft.com/office/drawing/2014/main" id="{01ED72E5-EACA-40D4-9A80-30A7F6FBDAFE}"/>
              </a:ext>
            </a:extLst>
          </p:cNvPr>
          <p:cNvSpPr>
            <a:spLocks xmlns:a="http://schemas.openxmlformats.org/drawingml/2006/main" noGrp="1"/>
          </p:cNvSpPr>
          <p:nvPr/>
        </p:nvSpPr>
        <p:spPr>
          <a:xfrm xmlns:a="http://schemas.openxmlformats.org/drawingml/2006/main">
            <a:off x="7762875" y="3895725"/>
            <a:ext cx="49530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
        <p:nvSpPr>
          <p:cNvPr id="15" name="enhancement-69">
            <a:extLst xmlns:a="http://schemas.openxmlformats.org/drawingml/2006/main">
              <a:ext uri="{FF2B5EF4-FFF2-40B4-BE49-F238E27FC236}">
                <a16:creationId xmlns:a16="http://schemas.microsoft.com/office/drawing/2014/main" id="{387E1D21-1B1A-4429-97F7-6DE9F4544DCA}"/>
              </a:ext>
            </a:extLst>
          </p:cNvPr>
          <p:cNvSpPr>
            <a:spLocks xmlns:a="http://schemas.openxmlformats.org/drawingml/2006/main" noGrp="1"/>
          </p:cNvSpPr>
          <p:nvPr/>
        </p:nvSpPr>
        <p:spPr>
          <a:xfrm xmlns:a="http://schemas.openxmlformats.org/drawingml/2006/main">
            <a:off x="7972425" y="2028825"/>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278FF"/>
                </a:solidFill>
                <a:latin typeface="Arial"/>
                <a:ea typeface="Arial"/>
                <a:cs typeface="Arial"/>
              </a:defRPr>
            </a:lvl1pPr>
            <a:lvl2pPr>
              <a:buNone/>
              <a:defRPr sz="1575" b="1">
                <a:solidFill>
                  <a:srgbClr val="3278FF"/>
                </a:solidFill>
                <a:latin typeface="Arial"/>
                <a:ea typeface="Arial"/>
                <a:cs typeface="Arial"/>
              </a:defRPr>
            </a:lvl2pPr>
            <a:lvl3pPr>
              <a:buNone/>
              <a:defRPr sz="1575" b="1">
                <a:solidFill>
                  <a:srgbClr val="3278FF"/>
                </a:solidFill>
                <a:latin typeface="Arial"/>
                <a:ea typeface="Arial"/>
                <a:cs typeface="Arial"/>
              </a:defRPr>
            </a:lvl3pPr>
            <a:lvl4pPr>
              <a:buNone/>
              <a:defRPr sz="1575" b="1">
                <a:solidFill>
                  <a:srgbClr val="3278FF"/>
                </a:solidFill>
                <a:latin typeface="Arial"/>
                <a:ea typeface="Arial"/>
                <a:cs typeface="Arial"/>
              </a:defRPr>
            </a:lvl4pPr>
            <a:lvl5pPr>
              <a:buNone/>
              <a:defRPr sz="1575" b="1">
                <a:solidFill>
                  <a:srgbClr val="3278FF"/>
                </a:solidFill>
                <a:latin typeface="Arial"/>
                <a:ea typeface="Arial"/>
                <a:cs typeface="Arial"/>
              </a:defRPr>
            </a:lvl5pPr>
            <a:lvl6pPr>
              <a:buNone/>
              <a:defRPr sz="1575" b="1">
                <a:solidFill>
                  <a:srgbClr val="3278FF"/>
                </a:solidFill>
                <a:latin typeface="Arial"/>
                <a:ea typeface="Arial"/>
                <a:cs typeface="Arial"/>
              </a:defRPr>
            </a:lvl6pPr>
            <a:lvl7pPr>
              <a:buNone/>
              <a:defRPr sz="1575" b="1">
                <a:solidFill>
                  <a:srgbClr val="3278FF"/>
                </a:solidFill>
                <a:latin typeface="Arial"/>
                <a:ea typeface="Arial"/>
                <a:cs typeface="Arial"/>
              </a:defRPr>
            </a:lvl7pPr>
            <a:lvl8pPr>
              <a:buNone/>
              <a:defRPr sz="1575" b="1">
                <a:solidFill>
                  <a:srgbClr val="3278FF"/>
                </a:solidFill>
                <a:latin typeface="Arial"/>
                <a:ea typeface="Arial"/>
                <a:cs typeface="Arial"/>
              </a:defRPr>
            </a:lvl8pPr>
            <a:lvl9pPr>
              <a:buNone/>
              <a:defRPr sz="1575" b="1">
                <a:solidFill>
                  <a:srgbClr val="3278FF"/>
                </a:solidFill>
                <a:latin typeface="Arial"/>
                <a:ea typeface="Arial"/>
                <a:cs typeface="Arial"/>
              </a:defRPr>
            </a:lvl9pPr>
          </a:lstStyle>
          <a:p xmlns:a="http://schemas.openxmlformats.org/drawingml/2006/main">
            <a:pPr>
              <a:buNone/>
              <a:defRPr sz="1575" b="1">
                <a:solidFill>
                  <a:srgbClr val="3278FF"/>
                </a:solidFill>
                <a:latin typeface="Arial"/>
                <a:ea typeface="Arial"/>
                <a:cs typeface="Arial"/>
              </a:defRPr>
            </a:pPr>
            <a:r>
              <a:rPr sz="1575" b="1">
                <a:solidFill>
                  <a:srgbClr val="3278FF"/>
                </a:solidFill>
                <a:latin typeface="Arial"/>
                <a:ea typeface="Arial"/>
                <a:cs typeface="Arial"/>
              </a:rPr>
              <a:t>PROBLEM</a:t>
            </a:r>
          </a:p>
        </p:txBody>
      </p:sp>
      <p:sp>
        <p:nvSpPr>
          <p:cNvPr id="16" name="enhancement-70">
            <a:extLst xmlns:a="http://schemas.openxmlformats.org/drawingml/2006/main">
              <a:ext uri="{FF2B5EF4-FFF2-40B4-BE49-F238E27FC236}">
                <a16:creationId xmlns:a16="http://schemas.microsoft.com/office/drawing/2014/main" id="{DD469D96-FD67-4727-ACA1-7BBFECAC7545}"/>
              </a:ext>
            </a:extLst>
          </p:cNvPr>
          <p:cNvSpPr>
            <a:spLocks xmlns:a="http://schemas.openxmlformats.org/drawingml/2006/main" noGrp="1"/>
          </p:cNvSpPr>
          <p:nvPr/>
        </p:nvSpPr>
        <p:spPr>
          <a:xfrm xmlns:a="http://schemas.openxmlformats.org/drawingml/2006/main">
            <a:off x="7972425" y="2514600"/>
            <a:ext cx="3581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F2F6FF"/>
                </a:solidFill>
                <a:latin typeface="Arial"/>
                <a:ea typeface="Arial"/>
                <a:cs typeface="Arial"/>
              </a:defRPr>
            </a:lvl1pPr>
            <a:lvl2pPr>
              <a:buNone/>
              <a:defRPr sz="1875" b="0">
                <a:solidFill>
                  <a:srgbClr val="F2F6FF"/>
                </a:solidFill>
                <a:latin typeface="Arial"/>
                <a:ea typeface="Arial"/>
                <a:cs typeface="Arial"/>
              </a:defRPr>
            </a:lvl2pPr>
            <a:lvl3pPr>
              <a:buNone/>
              <a:defRPr sz="1875" b="0">
                <a:solidFill>
                  <a:srgbClr val="F2F6FF"/>
                </a:solidFill>
                <a:latin typeface="Arial"/>
                <a:ea typeface="Arial"/>
                <a:cs typeface="Arial"/>
              </a:defRPr>
            </a:lvl3pPr>
            <a:lvl4pPr>
              <a:buNone/>
              <a:defRPr sz="1875" b="0">
                <a:solidFill>
                  <a:srgbClr val="F2F6FF"/>
                </a:solidFill>
                <a:latin typeface="Arial"/>
                <a:ea typeface="Arial"/>
                <a:cs typeface="Arial"/>
              </a:defRPr>
            </a:lvl4pPr>
            <a:lvl5pPr>
              <a:buNone/>
              <a:defRPr sz="1875" b="0">
                <a:solidFill>
                  <a:srgbClr val="F2F6FF"/>
                </a:solidFill>
                <a:latin typeface="Arial"/>
                <a:ea typeface="Arial"/>
                <a:cs typeface="Arial"/>
              </a:defRPr>
            </a:lvl5pPr>
            <a:lvl6pPr>
              <a:buNone/>
              <a:defRPr sz="1875" b="0">
                <a:solidFill>
                  <a:srgbClr val="F2F6FF"/>
                </a:solidFill>
                <a:latin typeface="Arial"/>
                <a:ea typeface="Arial"/>
                <a:cs typeface="Arial"/>
              </a:defRPr>
            </a:lvl6pPr>
            <a:lvl7pPr>
              <a:buNone/>
              <a:defRPr sz="1875" b="0">
                <a:solidFill>
                  <a:srgbClr val="F2F6FF"/>
                </a:solidFill>
                <a:latin typeface="Arial"/>
                <a:ea typeface="Arial"/>
                <a:cs typeface="Arial"/>
              </a:defRPr>
            </a:lvl7pPr>
            <a:lvl8pPr>
              <a:buNone/>
              <a:defRPr sz="1875" b="0">
                <a:solidFill>
                  <a:srgbClr val="F2F6FF"/>
                </a:solidFill>
                <a:latin typeface="Arial"/>
                <a:ea typeface="Arial"/>
                <a:cs typeface="Arial"/>
              </a:defRPr>
            </a:lvl8pPr>
            <a:lvl9pPr>
              <a:buNone/>
              <a:defRPr sz="1875" b="0">
                <a:solidFill>
                  <a:srgbClr val="F2F6FF"/>
                </a:solidFill>
                <a:latin typeface="Arial"/>
                <a:ea typeface="Arial"/>
                <a:cs typeface="Arial"/>
              </a:defRPr>
            </a:lvl9pPr>
          </a:lstStyle>
          <a:p xmlns:a="http://schemas.openxmlformats.org/drawingml/2006/main">
            <a:pPr>
              <a:buNone/>
              <a:defRPr sz="1875" b="0">
                <a:solidFill>
                  <a:srgbClr val="F2F6FF"/>
                </a:solidFill>
                <a:latin typeface="Arial"/>
                <a:ea typeface="Arial"/>
                <a:cs typeface="Arial"/>
              </a:defRPr>
            </a:pPr>
            <a:r>
              <a:rPr sz="1875" b="0">
                <a:solidFill>
                  <a:srgbClr val="F2F6FF"/>
                </a:solidFill>
                <a:latin typeface="Arial"/>
                <a:ea typeface="Arial"/>
                <a:cs typeface="Arial"/>
              </a:rPr>
              <a:t>Fuel is 60.74% of modeled cost. The $141.23M contribution excludes unrecorded overhead.</a:t>
            </a:r>
          </a:p>
        </p:txBody>
      </p:sp>
      <p:sp>
        <p:nvSpPr>
          <p:cNvPr id="17" name="enhancement-71">
            <a:extLst xmlns:a="http://schemas.openxmlformats.org/drawingml/2006/main">
              <a:ext uri="{FF2B5EF4-FFF2-40B4-BE49-F238E27FC236}">
                <a16:creationId xmlns:a16="http://schemas.microsoft.com/office/drawing/2014/main" id="{7E3B350C-C91A-41CE-8923-B32DC3656963}"/>
              </a:ext>
            </a:extLst>
          </p:cNvPr>
          <p:cNvSpPr>
            <a:spLocks xmlns:a="http://schemas.openxmlformats.org/drawingml/2006/main" noGrp="1"/>
          </p:cNvSpPr>
          <p:nvPr/>
        </p:nvSpPr>
        <p:spPr>
          <a:xfrm xmlns:a="http://schemas.openxmlformats.org/drawingml/2006/main">
            <a:off x="7972425" y="39814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DDCF5"/>
                </a:solidFill>
                <a:latin typeface="Arial"/>
                <a:ea typeface="Arial"/>
                <a:cs typeface="Arial"/>
              </a:defRPr>
            </a:lvl1pPr>
            <a:lvl2pPr>
              <a:buNone/>
              <a:defRPr sz="1575" b="1">
                <a:solidFill>
                  <a:srgbClr val="3DDCF5"/>
                </a:solidFill>
                <a:latin typeface="Arial"/>
                <a:ea typeface="Arial"/>
                <a:cs typeface="Arial"/>
              </a:defRPr>
            </a:lvl2pPr>
            <a:lvl3pPr>
              <a:buNone/>
              <a:defRPr sz="1575" b="1">
                <a:solidFill>
                  <a:srgbClr val="3DDCF5"/>
                </a:solidFill>
                <a:latin typeface="Arial"/>
                <a:ea typeface="Arial"/>
                <a:cs typeface="Arial"/>
              </a:defRPr>
            </a:lvl3pPr>
            <a:lvl4pPr>
              <a:buNone/>
              <a:defRPr sz="1575" b="1">
                <a:solidFill>
                  <a:srgbClr val="3DDCF5"/>
                </a:solidFill>
                <a:latin typeface="Arial"/>
                <a:ea typeface="Arial"/>
                <a:cs typeface="Arial"/>
              </a:defRPr>
            </a:lvl4pPr>
            <a:lvl5pPr>
              <a:buNone/>
              <a:defRPr sz="1575" b="1">
                <a:solidFill>
                  <a:srgbClr val="3DDCF5"/>
                </a:solidFill>
                <a:latin typeface="Arial"/>
                <a:ea typeface="Arial"/>
                <a:cs typeface="Arial"/>
              </a:defRPr>
            </a:lvl5pPr>
            <a:lvl6pPr>
              <a:buNone/>
              <a:defRPr sz="1575" b="1">
                <a:solidFill>
                  <a:srgbClr val="3DDCF5"/>
                </a:solidFill>
                <a:latin typeface="Arial"/>
                <a:ea typeface="Arial"/>
                <a:cs typeface="Arial"/>
              </a:defRPr>
            </a:lvl6pPr>
            <a:lvl7pPr>
              <a:buNone/>
              <a:defRPr sz="1575" b="1">
                <a:solidFill>
                  <a:srgbClr val="3DDCF5"/>
                </a:solidFill>
                <a:latin typeface="Arial"/>
                <a:ea typeface="Arial"/>
                <a:cs typeface="Arial"/>
              </a:defRPr>
            </a:lvl7pPr>
            <a:lvl8pPr>
              <a:buNone/>
              <a:defRPr sz="1575" b="1">
                <a:solidFill>
                  <a:srgbClr val="3DDCF5"/>
                </a:solidFill>
                <a:latin typeface="Arial"/>
                <a:ea typeface="Arial"/>
                <a:cs typeface="Arial"/>
              </a:defRPr>
            </a:lvl8pPr>
            <a:lvl9pPr>
              <a:buNone/>
              <a:defRPr sz="1575" b="1">
                <a:solidFill>
                  <a:srgbClr val="3DDCF5"/>
                </a:solidFill>
                <a:latin typeface="Arial"/>
                <a:ea typeface="Arial"/>
                <a:cs typeface="Arial"/>
              </a:defRPr>
            </a:lvl9pPr>
          </a:lstStyle>
          <a:p xmlns:a="http://schemas.openxmlformats.org/drawingml/2006/main">
            <a:pPr>
              <a:buNone/>
              <a:defRPr sz="1575" b="1">
                <a:solidFill>
                  <a:srgbClr val="3DDCF5"/>
                </a:solidFill>
                <a:latin typeface="Arial"/>
                <a:ea typeface="Arial"/>
                <a:cs typeface="Arial"/>
              </a:defRPr>
            </a:pPr>
            <a:r>
              <a:rPr sz="1575" b="1">
                <a:solidFill>
                  <a:srgbClr val="3DDCF5"/>
                </a:solidFill>
                <a:latin typeface="Arial"/>
                <a:ea typeface="Arial"/>
                <a:cs typeface="Arial"/>
              </a:rPr>
              <a:t>PROPOSED SOLUTION</a:t>
            </a:r>
          </a:p>
        </p:txBody>
      </p:sp>
      <p:sp>
        <p:nvSpPr>
          <p:cNvPr id="18" name="enhancement-72">
            <a:extLst xmlns:a="http://schemas.openxmlformats.org/drawingml/2006/main">
              <a:ext uri="{FF2B5EF4-FFF2-40B4-BE49-F238E27FC236}">
                <a16:creationId xmlns:a16="http://schemas.microsoft.com/office/drawing/2014/main" id="{62626320-4D8D-4D71-AFBB-222F42A610DF}"/>
              </a:ext>
            </a:extLst>
          </p:cNvPr>
          <p:cNvSpPr>
            <a:spLocks xmlns:a="http://schemas.openxmlformats.org/drawingml/2006/main" noGrp="1"/>
          </p:cNvSpPr>
          <p:nvPr/>
        </p:nvSpPr>
        <p:spPr>
          <a:xfrm xmlns:a="http://schemas.openxmlformats.org/drawingml/2006/main">
            <a:off x="7972425" y="4448175"/>
            <a:ext cx="3581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A8BDD4"/>
                </a:solidFill>
                <a:latin typeface="Arial"/>
                <a:ea typeface="Arial"/>
                <a:cs typeface="Arial"/>
              </a:defRPr>
            </a:lvl1pPr>
            <a:lvl2pPr>
              <a:buNone/>
              <a:defRPr sz="1875" b="0">
                <a:solidFill>
                  <a:srgbClr val="A8BDD4"/>
                </a:solidFill>
                <a:latin typeface="Arial"/>
                <a:ea typeface="Arial"/>
                <a:cs typeface="Arial"/>
              </a:defRPr>
            </a:lvl2pPr>
            <a:lvl3pPr>
              <a:buNone/>
              <a:defRPr sz="1875" b="0">
                <a:solidFill>
                  <a:srgbClr val="A8BDD4"/>
                </a:solidFill>
                <a:latin typeface="Arial"/>
                <a:ea typeface="Arial"/>
                <a:cs typeface="Arial"/>
              </a:defRPr>
            </a:lvl3pPr>
            <a:lvl4pPr>
              <a:buNone/>
              <a:defRPr sz="1875" b="0">
                <a:solidFill>
                  <a:srgbClr val="A8BDD4"/>
                </a:solidFill>
                <a:latin typeface="Arial"/>
                <a:ea typeface="Arial"/>
                <a:cs typeface="Arial"/>
              </a:defRPr>
            </a:lvl4pPr>
            <a:lvl5pPr>
              <a:buNone/>
              <a:defRPr sz="1875" b="0">
                <a:solidFill>
                  <a:srgbClr val="A8BDD4"/>
                </a:solidFill>
                <a:latin typeface="Arial"/>
                <a:ea typeface="Arial"/>
                <a:cs typeface="Arial"/>
              </a:defRPr>
            </a:lvl5pPr>
            <a:lvl6pPr>
              <a:buNone/>
              <a:defRPr sz="1875" b="0">
                <a:solidFill>
                  <a:srgbClr val="A8BDD4"/>
                </a:solidFill>
                <a:latin typeface="Arial"/>
                <a:ea typeface="Arial"/>
                <a:cs typeface="Arial"/>
              </a:defRPr>
            </a:lvl6pPr>
            <a:lvl7pPr>
              <a:buNone/>
              <a:defRPr sz="1875" b="0">
                <a:solidFill>
                  <a:srgbClr val="A8BDD4"/>
                </a:solidFill>
                <a:latin typeface="Arial"/>
                <a:ea typeface="Arial"/>
                <a:cs typeface="Arial"/>
              </a:defRPr>
            </a:lvl7pPr>
            <a:lvl8pPr>
              <a:buNone/>
              <a:defRPr sz="1875" b="0">
                <a:solidFill>
                  <a:srgbClr val="A8BDD4"/>
                </a:solidFill>
                <a:latin typeface="Arial"/>
                <a:ea typeface="Arial"/>
                <a:cs typeface="Arial"/>
              </a:defRPr>
            </a:lvl8pPr>
            <a:lvl9pPr>
              <a:buNone/>
              <a:defRPr sz="1875" b="0">
                <a:solidFill>
                  <a:srgbClr val="A8BDD4"/>
                </a:solidFill>
                <a:latin typeface="Arial"/>
                <a:ea typeface="Arial"/>
                <a:cs typeface="Arial"/>
              </a:defRPr>
            </a:lvl9pPr>
          </a:lstStyle>
          <a:p xmlns:a="http://schemas.openxmlformats.org/drawingml/2006/main">
            <a:pPr>
              <a:buNone/>
              <a:defRPr sz="1875" b="0">
                <a:solidFill>
                  <a:srgbClr val="A8BDD4"/>
                </a:solidFill>
                <a:latin typeface="Arial"/>
                <a:ea typeface="Arial"/>
                <a:cs typeface="Arial"/>
              </a:defRPr>
            </a:pPr>
            <a:r>
              <a:rPr sz="1875" b="0">
                <a:solidFill>
                  <a:srgbClr val="A8BDD4"/>
                </a:solidFill>
                <a:latin typeface="Arial"/>
                <a:ea typeface="Arial"/>
                <a:cs typeface="Arial"/>
              </a:rPr>
              <a:t>Reconcile fuel and use actual wages and verified overhead before making full-profitability decisions.</a:t>
            </a:r>
          </a:p>
        </p:txBody>
      </p:sp>
    </p:spTree>
    <p:extLst>
      <p:ext uri="{BB962C8B-B14F-4D97-AF65-F5344CB8AC3E}">
        <p14:creationId xmlns:p14="http://schemas.microsoft.com/office/powerpoint/2010/main" val="1854960718"/>
      </p:ext>
    </p:extLst>
  </p:cSld>
</p:sld>
</file>

<file path=ppt/slides/slide20.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graphicFrame>
        <p:nvGraphicFramePr>
          <p:cNvPr id="20" name="Chart"/>
          <p:cNvGraphicFramePr/>
          <p:nvPr/>
        </p:nvGraphicFramePr>
        <p:xfrm>
          <a:off xmlns:a="http://schemas.openxmlformats.org/drawingml/2006/main" x="381000" y="2362200"/>
          <a:ext xmlns:a="http://schemas.openxmlformats.org/drawingml/2006/main" cx="7143750" cy="3333750"/>
        </p:xfrm>
        <a:graphic xmlns:a="http://schemas.openxmlformats.org/drawingml/2006/main">
          <a:graphicData uri="http://schemas.openxmlformats.org/drawingml/2006/chart">
            <c:chart xmlns:r="http://schemas.openxmlformats.org/officeDocument/2006/relationships" xmlns:c="http://schemas.openxmlformats.org/drawingml/2006/chart" r:id="Rb5490853e12e41fd"/>
          </a:graphicData>
        </a:graphic>
      </p:graphicFrame>
      <p:sp>
        <p:nvSpPr>
          <p:cNvPr id="11" name="">
            <a:extLst xmlns:a="http://schemas.openxmlformats.org/drawingml/2006/main">
              <a:ext uri="{FF2B5EF4-FFF2-40B4-BE49-F238E27FC236}">
                <a16:creationId xmlns:a16="http://schemas.microsoft.com/office/drawing/2014/main" id="{D8EA7687-3D82-4E26-8906-A1D13A3DD522}"/>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CHECKING CONSISTENCY: DRIVER PERFORMANCE</a:t>
            </a:r>
          </a:p>
        </p:txBody>
      </p:sp>
      <p:sp>
        <p:nvSpPr>
          <p:cNvPr id="2" name="">
            <a:extLst xmlns:a="http://schemas.openxmlformats.org/drawingml/2006/main">
              <a:ext uri="{FF2B5EF4-FFF2-40B4-BE49-F238E27FC236}">
                <a16:creationId xmlns:a16="http://schemas.microsoft.com/office/drawing/2014/main" id="{CF440BED-1389-4B02-9B2C-FBBE7F874B66}"/>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Two on-time definitions require source reconciliation</a:t>
            </a:r>
          </a:p>
        </p:txBody>
      </p:sp>
      <p:sp>
        <p:nvSpPr>
          <p:cNvPr id="10" name="">
            <a:extLst xmlns:a="http://schemas.openxmlformats.org/drawingml/2006/main">
              <a:ext uri="{FF2B5EF4-FFF2-40B4-BE49-F238E27FC236}">
                <a16:creationId xmlns:a16="http://schemas.microsoft.com/office/drawing/2014/main" id="{C330D293-6C62-4399-A3EA-5BE1DBFB5F58}"/>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20</a:t>
            </a:r>
          </a:p>
        </p:txBody>
      </p:sp>
      <p:sp>
        <p:nvSpPr>
          <p:cNvPr id="9" name="">
            <a:extLst xmlns:a="http://schemas.openxmlformats.org/drawingml/2006/main">
              <a:ext uri="{FF2B5EF4-FFF2-40B4-BE49-F238E27FC236}">
                <a16:creationId xmlns:a16="http://schemas.microsoft.com/office/drawing/2014/main" id="{D3F7A9EE-C6AC-453A-8C60-293A46F513DA}"/>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Weighting changes the average; it does not reconcile different source definitions</a:t>
            </a:r>
          </a:p>
        </p:txBody>
      </p:sp>
      <p:sp>
        <p:nvSpPr>
          <p:cNvPr id="3" name="">
            <a:extLst xmlns:a="http://schemas.openxmlformats.org/drawingml/2006/main">
              <a:ext uri="{FF2B5EF4-FFF2-40B4-BE49-F238E27FC236}">
                <a16:creationId xmlns:a16="http://schemas.microsoft.com/office/drawing/2014/main" id="{48CE2161-80EE-4C42-9F7D-4FBD5F2A60C6}"/>
              </a:ext>
            </a:extLst>
          </p:cNvPr>
          <p:cNvSpPr>
            <a:spLocks xmlns:a="http://schemas.openxmlformats.org/drawingml/2006/main" noGrp="1"/>
          </p:cNvSpPr>
          <p:nvPr/>
        </p:nvSpPr>
        <p:spPr>
          <a:xfrm xmlns:a="http://schemas.openxmlformats.org/drawingml/2006/main">
            <a:off x="571500" y="2009775"/>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1">
                <a:solidFill>
                  <a:srgbClr val="546B7C"/>
                </a:solidFill>
                <a:latin typeface="Arial"/>
                <a:ea typeface="Arial"/>
                <a:cs typeface="Arial"/>
              </a:defRPr>
            </a:lvl1pPr>
            <a:lvl2pPr>
              <a:buNone/>
              <a:defRPr sz="1650" b="1">
                <a:solidFill>
                  <a:srgbClr val="546B7C"/>
                </a:solidFill>
                <a:latin typeface="Arial"/>
                <a:ea typeface="Arial"/>
                <a:cs typeface="Arial"/>
              </a:defRPr>
            </a:lvl2pPr>
            <a:lvl3pPr>
              <a:buNone/>
              <a:defRPr sz="1650" b="1">
                <a:solidFill>
                  <a:srgbClr val="546B7C"/>
                </a:solidFill>
                <a:latin typeface="Arial"/>
                <a:ea typeface="Arial"/>
                <a:cs typeface="Arial"/>
              </a:defRPr>
            </a:lvl3pPr>
            <a:lvl4pPr>
              <a:buNone/>
              <a:defRPr sz="1650" b="1">
                <a:solidFill>
                  <a:srgbClr val="546B7C"/>
                </a:solidFill>
                <a:latin typeface="Arial"/>
                <a:ea typeface="Arial"/>
                <a:cs typeface="Arial"/>
              </a:defRPr>
            </a:lvl4pPr>
            <a:lvl5pPr>
              <a:buNone/>
              <a:defRPr sz="1650" b="1">
                <a:solidFill>
                  <a:srgbClr val="546B7C"/>
                </a:solidFill>
                <a:latin typeface="Arial"/>
                <a:ea typeface="Arial"/>
                <a:cs typeface="Arial"/>
              </a:defRPr>
            </a:lvl5pPr>
            <a:lvl6pPr>
              <a:buNone/>
              <a:defRPr sz="1650" b="1">
                <a:solidFill>
                  <a:srgbClr val="546B7C"/>
                </a:solidFill>
                <a:latin typeface="Arial"/>
                <a:ea typeface="Arial"/>
                <a:cs typeface="Arial"/>
              </a:defRPr>
            </a:lvl6pPr>
            <a:lvl7pPr>
              <a:buNone/>
              <a:defRPr sz="1650" b="1">
                <a:solidFill>
                  <a:srgbClr val="546B7C"/>
                </a:solidFill>
                <a:latin typeface="Arial"/>
                <a:ea typeface="Arial"/>
                <a:cs typeface="Arial"/>
              </a:defRPr>
            </a:lvl7pPr>
            <a:lvl8pPr>
              <a:buNone/>
              <a:defRPr sz="1650" b="1">
                <a:solidFill>
                  <a:srgbClr val="546B7C"/>
                </a:solidFill>
                <a:latin typeface="Arial"/>
                <a:ea typeface="Arial"/>
                <a:cs typeface="Arial"/>
              </a:defRPr>
            </a:lvl8pPr>
            <a:lvl9pPr>
              <a:buNone/>
              <a:defRPr sz="1650" b="1">
                <a:solidFill>
                  <a:srgbClr val="546B7C"/>
                </a:solidFill>
                <a:latin typeface="Arial"/>
                <a:ea typeface="Arial"/>
                <a:cs typeface="Arial"/>
              </a:defRPr>
            </a:lvl9pPr>
          </a:lstStyle>
          <a:p xmlns:a="http://schemas.openxmlformats.org/drawingml/2006/main">
            <a:pPr>
              <a:buNone/>
              <a:defRPr sz="1575" b="1">
                <a:solidFill>
                  <a:srgbClr val="A8BDD4"/>
                </a:solidFill>
                <a:latin typeface="Arial"/>
                <a:ea typeface="Arial"/>
                <a:cs typeface="Arial"/>
              </a:defRPr>
            </a:pPr>
            <a:r>
              <a:rPr sz="1575" b="1">
                <a:solidFill>
                  <a:srgbClr val="A8BDD4"/>
                </a:solidFill>
                <a:latin typeface="Arial"/>
                <a:ea typeface="Arial"/>
                <a:cs typeface="Arial"/>
              </a:rPr>
              <a:t>On-time rate, %</a:t>
            </a:r>
          </a:p>
        </p:txBody>
      </p:sp>
      <p:sp>
        <p:nvSpPr>
          <p:cNvPr id="12" name="callout-panel-73">
            <a:extLst xmlns:a="http://schemas.openxmlformats.org/drawingml/2006/main">
              <a:ext uri="{FF2B5EF4-FFF2-40B4-BE49-F238E27FC236}">
                <a16:creationId xmlns:a16="http://schemas.microsoft.com/office/drawing/2014/main" id="{10779E37-917C-4676-B888-4FBE4E925981}"/>
              </a:ext>
            </a:extLst>
          </p:cNvPr>
          <p:cNvSpPr>
            <a:spLocks xmlns:a="http://schemas.openxmlformats.org/drawingml/2006/main" noGrp="1"/>
          </p:cNvSpPr>
          <p:nvPr/>
        </p:nvSpPr>
        <p:spPr>
          <a:xfrm xmlns:a="http://schemas.openxmlformats.org/drawingml/2006/main">
            <a:off x="7762875" y="1943100"/>
            <a:ext cx="4000500" cy="3838575"/>
          </a:xfrm>
          <a:prstGeom xmlns:a="http://schemas.openxmlformats.org/drawingml/2006/main" prst="rect">
            <a:avLst/>
          </a:prstGeom>
          <a:solidFill xmlns:a="http://schemas.openxmlformats.org/drawingml/2006/main">
            <a:srgbClr val="0B182A"/>
          </a:solidFill>
          <a:ln xmlns:a="http://schemas.openxmlformats.org/drawingml/2006/main" w="0">
            <a:noFill/>
          </a:ln>
        </p:spPr>
      </p:sp>
      <p:sp>
        <p:nvSpPr>
          <p:cNvPr id="13" name="callout-rule-74">
            <a:extLst xmlns:a="http://schemas.openxmlformats.org/drawingml/2006/main">
              <a:ext uri="{FF2B5EF4-FFF2-40B4-BE49-F238E27FC236}">
                <a16:creationId xmlns:a16="http://schemas.microsoft.com/office/drawing/2014/main" id="{4EA1FEF9-3A4F-406D-8EC0-7A3D572DB3B5}"/>
              </a:ext>
            </a:extLst>
          </p:cNvPr>
          <p:cNvSpPr>
            <a:spLocks xmlns:a="http://schemas.openxmlformats.org/drawingml/2006/main" noGrp="1"/>
          </p:cNvSpPr>
          <p:nvPr/>
        </p:nvSpPr>
        <p:spPr>
          <a:xfrm xmlns:a="http://schemas.openxmlformats.org/drawingml/2006/main">
            <a:off x="7762875" y="1943100"/>
            <a:ext cx="495300" cy="19050"/>
          </a:xfrm>
          <a:prstGeom xmlns:a="http://schemas.openxmlformats.org/drawingml/2006/main" prst="rect">
            <a:avLst/>
          </a:prstGeom>
          <a:solidFill xmlns:a="http://schemas.openxmlformats.org/drawingml/2006/main">
            <a:srgbClr val="3278FF"/>
          </a:solidFill>
          <a:ln xmlns:a="http://schemas.openxmlformats.org/drawingml/2006/main" w="0">
            <a:noFill/>
          </a:ln>
        </p:spPr>
      </p:sp>
      <p:sp>
        <p:nvSpPr>
          <p:cNvPr id="14" name="callout-rule-75">
            <a:extLst xmlns:a="http://schemas.openxmlformats.org/drawingml/2006/main">
              <a:ext uri="{FF2B5EF4-FFF2-40B4-BE49-F238E27FC236}">
                <a16:creationId xmlns:a16="http://schemas.microsoft.com/office/drawing/2014/main" id="{372592D0-FEA4-4895-AFDF-495E096D2FEA}"/>
              </a:ext>
            </a:extLst>
          </p:cNvPr>
          <p:cNvSpPr>
            <a:spLocks xmlns:a="http://schemas.openxmlformats.org/drawingml/2006/main" noGrp="1"/>
          </p:cNvSpPr>
          <p:nvPr/>
        </p:nvSpPr>
        <p:spPr>
          <a:xfrm xmlns:a="http://schemas.openxmlformats.org/drawingml/2006/main">
            <a:off x="7762875" y="3895725"/>
            <a:ext cx="49530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
        <p:nvSpPr>
          <p:cNvPr id="15" name="enhancement-76">
            <a:extLst xmlns:a="http://schemas.openxmlformats.org/drawingml/2006/main">
              <a:ext uri="{FF2B5EF4-FFF2-40B4-BE49-F238E27FC236}">
                <a16:creationId xmlns:a16="http://schemas.microsoft.com/office/drawing/2014/main" id="{FE19EE83-F3AB-4097-BDCD-0F7C510ADEBA}"/>
              </a:ext>
            </a:extLst>
          </p:cNvPr>
          <p:cNvSpPr>
            <a:spLocks xmlns:a="http://schemas.openxmlformats.org/drawingml/2006/main" noGrp="1"/>
          </p:cNvSpPr>
          <p:nvPr/>
        </p:nvSpPr>
        <p:spPr>
          <a:xfrm xmlns:a="http://schemas.openxmlformats.org/drawingml/2006/main">
            <a:off x="7972425" y="2028825"/>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278FF"/>
                </a:solidFill>
                <a:latin typeface="Arial"/>
                <a:ea typeface="Arial"/>
                <a:cs typeface="Arial"/>
              </a:defRPr>
            </a:lvl1pPr>
            <a:lvl2pPr>
              <a:buNone/>
              <a:defRPr sz="1575" b="1">
                <a:solidFill>
                  <a:srgbClr val="3278FF"/>
                </a:solidFill>
                <a:latin typeface="Arial"/>
                <a:ea typeface="Arial"/>
                <a:cs typeface="Arial"/>
              </a:defRPr>
            </a:lvl2pPr>
            <a:lvl3pPr>
              <a:buNone/>
              <a:defRPr sz="1575" b="1">
                <a:solidFill>
                  <a:srgbClr val="3278FF"/>
                </a:solidFill>
                <a:latin typeface="Arial"/>
                <a:ea typeface="Arial"/>
                <a:cs typeface="Arial"/>
              </a:defRPr>
            </a:lvl3pPr>
            <a:lvl4pPr>
              <a:buNone/>
              <a:defRPr sz="1575" b="1">
                <a:solidFill>
                  <a:srgbClr val="3278FF"/>
                </a:solidFill>
                <a:latin typeface="Arial"/>
                <a:ea typeface="Arial"/>
                <a:cs typeface="Arial"/>
              </a:defRPr>
            </a:lvl4pPr>
            <a:lvl5pPr>
              <a:buNone/>
              <a:defRPr sz="1575" b="1">
                <a:solidFill>
                  <a:srgbClr val="3278FF"/>
                </a:solidFill>
                <a:latin typeface="Arial"/>
                <a:ea typeface="Arial"/>
                <a:cs typeface="Arial"/>
              </a:defRPr>
            </a:lvl5pPr>
            <a:lvl6pPr>
              <a:buNone/>
              <a:defRPr sz="1575" b="1">
                <a:solidFill>
                  <a:srgbClr val="3278FF"/>
                </a:solidFill>
                <a:latin typeface="Arial"/>
                <a:ea typeface="Arial"/>
                <a:cs typeface="Arial"/>
              </a:defRPr>
            </a:lvl6pPr>
            <a:lvl7pPr>
              <a:buNone/>
              <a:defRPr sz="1575" b="1">
                <a:solidFill>
                  <a:srgbClr val="3278FF"/>
                </a:solidFill>
                <a:latin typeface="Arial"/>
                <a:ea typeface="Arial"/>
                <a:cs typeface="Arial"/>
              </a:defRPr>
            </a:lvl7pPr>
            <a:lvl8pPr>
              <a:buNone/>
              <a:defRPr sz="1575" b="1">
                <a:solidFill>
                  <a:srgbClr val="3278FF"/>
                </a:solidFill>
                <a:latin typeface="Arial"/>
                <a:ea typeface="Arial"/>
                <a:cs typeface="Arial"/>
              </a:defRPr>
            </a:lvl8pPr>
            <a:lvl9pPr>
              <a:buNone/>
              <a:defRPr sz="1575" b="1">
                <a:solidFill>
                  <a:srgbClr val="3278FF"/>
                </a:solidFill>
                <a:latin typeface="Arial"/>
                <a:ea typeface="Arial"/>
                <a:cs typeface="Arial"/>
              </a:defRPr>
            </a:lvl9pPr>
          </a:lstStyle>
          <a:p xmlns:a="http://schemas.openxmlformats.org/drawingml/2006/main">
            <a:pPr>
              <a:buNone/>
              <a:defRPr sz="1575" b="1">
                <a:solidFill>
                  <a:srgbClr val="3278FF"/>
                </a:solidFill>
                <a:latin typeface="Arial"/>
                <a:ea typeface="Arial"/>
                <a:cs typeface="Arial"/>
              </a:defRPr>
            </a:pPr>
            <a:r>
              <a:rPr sz="1575" b="1">
                <a:solidFill>
                  <a:srgbClr val="3278FF"/>
                </a:solidFill>
                <a:latin typeface="Arial"/>
                <a:ea typeface="Arial"/>
                <a:cs typeface="Arial"/>
              </a:rPr>
              <a:t>PROBLEM</a:t>
            </a:r>
          </a:p>
        </p:txBody>
      </p:sp>
      <p:sp>
        <p:nvSpPr>
          <p:cNvPr id="16" name="enhancement-77">
            <a:extLst xmlns:a="http://schemas.openxmlformats.org/drawingml/2006/main">
              <a:ext uri="{FF2B5EF4-FFF2-40B4-BE49-F238E27FC236}">
                <a16:creationId xmlns:a16="http://schemas.microsoft.com/office/drawing/2014/main" id="{042B04F2-19AD-4BB3-BDAE-13E56D237104}"/>
              </a:ext>
            </a:extLst>
          </p:cNvPr>
          <p:cNvSpPr>
            <a:spLocks xmlns:a="http://schemas.openxmlformats.org/drawingml/2006/main" noGrp="1"/>
          </p:cNvSpPr>
          <p:nvPr/>
        </p:nvSpPr>
        <p:spPr>
          <a:xfrm xmlns:a="http://schemas.openxmlformats.org/drawingml/2006/main">
            <a:off x="7972425" y="2514600"/>
            <a:ext cx="3581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F2F6FF"/>
                </a:solidFill>
                <a:latin typeface="Arial"/>
                <a:ea typeface="Arial"/>
                <a:cs typeface="Arial"/>
              </a:defRPr>
            </a:lvl1pPr>
            <a:lvl2pPr>
              <a:buNone/>
              <a:defRPr sz="1875" b="0">
                <a:solidFill>
                  <a:srgbClr val="F2F6FF"/>
                </a:solidFill>
                <a:latin typeface="Arial"/>
                <a:ea typeface="Arial"/>
                <a:cs typeface="Arial"/>
              </a:defRPr>
            </a:lvl2pPr>
            <a:lvl3pPr>
              <a:buNone/>
              <a:defRPr sz="1875" b="0">
                <a:solidFill>
                  <a:srgbClr val="F2F6FF"/>
                </a:solidFill>
                <a:latin typeface="Arial"/>
                <a:ea typeface="Arial"/>
                <a:cs typeface="Arial"/>
              </a:defRPr>
            </a:lvl3pPr>
            <a:lvl4pPr>
              <a:buNone/>
              <a:defRPr sz="1875" b="0">
                <a:solidFill>
                  <a:srgbClr val="F2F6FF"/>
                </a:solidFill>
                <a:latin typeface="Arial"/>
                <a:ea typeface="Arial"/>
                <a:cs typeface="Arial"/>
              </a:defRPr>
            </a:lvl4pPr>
            <a:lvl5pPr>
              <a:buNone/>
              <a:defRPr sz="1875" b="0">
                <a:solidFill>
                  <a:srgbClr val="F2F6FF"/>
                </a:solidFill>
                <a:latin typeface="Arial"/>
                <a:ea typeface="Arial"/>
                <a:cs typeface="Arial"/>
              </a:defRPr>
            </a:lvl5pPr>
            <a:lvl6pPr>
              <a:buNone/>
              <a:defRPr sz="1875" b="0">
                <a:solidFill>
                  <a:srgbClr val="F2F6FF"/>
                </a:solidFill>
                <a:latin typeface="Arial"/>
                <a:ea typeface="Arial"/>
                <a:cs typeface="Arial"/>
              </a:defRPr>
            </a:lvl6pPr>
            <a:lvl7pPr>
              <a:buNone/>
              <a:defRPr sz="1875" b="0">
                <a:solidFill>
                  <a:srgbClr val="F2F6FF"/>
                </a:solidFill>
                <a:latin typeface="Arial"/>
                <a:ea typeface="Arial"/>
                <a:cs typeface="Arial"/>
              </a:defRPr>
            </a:lvl7pPr>
            <a:lvl8pPr>
              <a:buNone/>
              <a:defRPr sz="1875" b="0">
                <a:solidFill>
                  <a:srgbClr val="F2F6FF"/>
                </a:solidFill>
                <a:latin typeface="Arial"/>
                <a:ea typeface="Arial"/>
                <a:cs typeface="Arial"/>
              </a:defRPr>
            </a:lvl8pPr>
            <a:lvl9pPr>
              <a:buNone/>
              <a:defRPr sz="1875" b="0">
                <a:solidFill>
                  <a:srgbClr val="F2F6FF"/>
                </a:solidFill>
                <a:latin typeface="Arial"/>
                <a:ea typeface="Arial"/>
                <a:cs typeface="Arial"/>
              </a:defRPr>
            </a:lvl9pPr>
          </a:lstStyle>
          <a:p xmlns:a="http://schemas.openxmlformats.org/drawingml/2006/main">
            <a:pPr>
              <a:buNone/>
              <a:defRPr sz="1875" b="0">
                <a:solidFill>
                  <a:srgbClr val="F2F6FF"/>
                </a:solidFill>
                <a:latin typeface="Arial"/>
                <a:ea typeface="Arial"/>
                <a:cs typeface="Arial"/>
              </a:defRPr>
            </a:pPr>
            <a:r>
              <a:rPr sz="1875" b="0">
                <a:solidFill>
                  <a:srgbClr val="F2F6FF"/>
                </a:solidFill>
                <a:latin typeface="Arial"/>
                <a:ea typeface="Arial"/>
                <a:cs typeface="Arial"/>
              </a:rPr>
              <a:t>Monthly driver OTD is 44.60% simple or 44.62% trip-weighted, versus 33.28% from delivery events.</a:t>
            </a:r>
          </a:p>
        </p:txBody>
      </p:sp>
      <p:sp>
        <p:nvSpPr>
          <p:cNvPr id="17" name="enhancement-78">
            <a:extLst xmlns:a="http://schemas.openxmlformats.org/drawingml/2006/main">
              <a:ext uri="{FF2B5EF4-FFF2-40B4-BE49-F238E27FC236}">
                <a16:creationId xmlns:a16="http://schemas.microsoft.com/office/drawing/2014/main" id="{8792674C-CF76-4768-B6C2-9C330886B4B7}"/>
              </a:ext>
            </a:extLst>
          </p:cNvPr>
          <p:cNvSpPr>
            <a:spLocks xmlns:a="http://schemas.openxmlformats.org/drawingml/2006/main" noGrp="1"/>
          </p:cNvSpPr>
          <p:nvPr/>
        </p:nvSpPr>
        <p:spPr>
          <a:xfrm xmlns:a="http://schemas.openxmlformats.org/drawingml/2006/main">
            <a:off x="7972425" y="39814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DDCF5"/>
                </a:solidFill>
                <a:latin typeface="Arial"/>
                <a:ea typeface="Arial"/>
                <a:cs typeface="Arial"/>
              </a:defRPr>
            </a:lvl1pPr>
            <a:lvl2pPr>
              <a:buNone/>
              <a:defRPr sz="1575" b="1">
                <a:solidFill>
                  <a:srgbClr val="3DDCF5"/>
                </a:solidFill>
                <a:latin typeface="Arial"/>
                <a:ea typeface="Arial"/>
                <a:cs typeface="Arial"/>
              </a:defRPr>
            </a:lvl2pPr>
            <a:lvl3pPr>
              <a:buNone/>
              <a:defRPr sz="1575" b="1">
                <a:solidFill>
                  <a:srgbClr val="3DDCF5"/>
                </a:solidFill>
                <a:latin typeface="Arial"/>
                <a:ea typeface="Arial"/>
                <a:cs typeface="Arial"/>
              </a:defRPr>
            </a:lvl3pPr>
            <a:lvl4pPr>
              <a:buNone/>
              <a:defRPr sz="1575" b="1">
                <a:solidFill>
                  <a:srgbClr val="3DDCF5"/>
                </a:solidFill>
                <a:latin typeface="Arial"/>
                <a:ea typeface="Arial"/>
                <a:cs typeface="Arial"/>
              </a:defRPr>
            </a:lvl4pPr>
            <a:lvl5pPr>
              <a:buNone/>
              <a:defRPr sz="1575" b="1">
                <a:solidFill>
                  <a:srgbClr val="3DDCF5"/>
                </a:solidFill>
                <a:latin typeface="Arial"/>
                <a:ea typeface="Arial"/>
                <a:cs typeface="Arial"/>
              </a:defRPr>
            </a:lvl5pPr>
            <a:lvl6pPr>
              <a:buNone/>
              <a:defRPr sz="1575" b="1">
                <a:solidFill>
                  <a:srgbClr val="3DDCF5"/>
                </a:solidFill>
                <a:latin typeface="Arial"/>
                <a:ea typeface="Arial"/>
                <a:cs typeface="Arial"/>
              </a:defRPr>
            </a:lvl6pPr>
            <a:lvl7pPr>
              <a:buNone/>
              <a:defRPr sz="1575" b="1">
                <a:solidFill>
                  <a:srgbClr val="3DDCF5"/>
                </a:solidFill>
                <a:latin typeface="Arial"/>
                <a:ea typeface="Arial"/>
                <a:cs typeface="Arial"/>
              </a:defRPr>
            </a:lvl7pPr>
            <a:lvl8pPr>
              <a:buNone/>
              <a:defRPr sz="1575" b="1">
                <a:solidFill>
                  <a:srgbClr val="3DDCF5"/>
                </a:solidFill>
                <a:latin typeface="Arial"/>
                <a:ea typeface="Arial"/>
                <a:cs typeface="Arial"/>
              </a:defRPr>
            </a:lvl8pPr>
            <a:lvl9pPr>
              <a:buNone/>
              <a:defRPr sz="1575" b="1">
                <a:solidFill>
                  <a:srgbClr val="3DDCF5"/>
                </a:solidFill>
                <a:latin typeface="Arial"/>
                <a:ea typeface="Arial"/>
                <a:cs typeface="Arial"/>
              </a:defRPr>
            </a:lvl9pPr>
          </a:lstStyle>
          <a:p xmlns:a="http://schemas.openxmlformats.org/drawingml/2006/main">
            <a:pPr>
              <a:buNone/>
              <a:defRPr sz="1575" b="1">
                <a:solidFill>
                  <a:srgbClr val="3DDCF5"/>
                </a:solidFill>
                <a:latin typeface="Arial"/>
                <a:ea typeface="Arial"/>
                <a:cs typeface="Arial"/>
              </a:defRPr>
            </a:pPr>
            <a:r>
              <a:rPr sz="1575" b="1">
                <a:solidFill>
                  <a:srgbClr val="3DDCF5"/>
                </a:solidFill>
                <a:latin typeface="Arial"/>
                <a:ea typeface="Arial"/>
                <a:cs typeface="Arial"/>
              </a:rPr>
              <a:t>PROPOSED SOLUTION</a:t>
            </a:r>
          </a:p>
        </p:txBody>
      </p:sp>
      <p:sp>
        <p:nvSpPr>
          <p:cNvPr id="18" name="enhancement-79">
            <a:extLst xmlns:a="http://schemas.openxmlformats.org/drawingml/2006/main">
              <a:ext uri="{FF2B5EF4-FFF2-40B4-BE49-F238E27FC236}">
                <a16:creationId xmlns:a16="http://schemas.microsoft.com/office/drawing/2014/main" id="{C7709C63-2371-467A-8ACB-6465A9FDBA99}"/>
              </a:ext>
            </a:extLst>
          </p:cNvPr>
          <p:cNvSpPr>
            <a:spLocks xmlns:a="http://schemas.openxmlformats.org/drawingml/2006/main" noGrp="1"/>
          </p:cNvSpPr>
          <p:nvPr/>
        </p:nvSpPr>
        <p:spPr>
          <a:xfrm xmlns:a="http://schemas.openxmlformats.org/drawingml/2006/main">
            <a:off x="7972425" y="4448175"/>
            <a:ext cx="3581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A8BDD4"/>
                </a:solidFill>
                <a:latin typeface="Arial"/>
                <a:ea typeface="Arial"/>
                <a:cs typeface="Arial"/>
              </a:defRPr>
            </a:lvl1pPr>
            <a:lvl2pPr>
              <a:buNone/>
              <a:defRPr sz="1875" b="0">
                <a:solidFill>
                  <a:srgbClr val="A8BDD4"/>
                </a:solidFill>
                <a:latin typeface="Arial"/>
                <a:ea typeface="Arial"/>
                <a:cs typeface="Arial"/>
              </a:defRPr>
            </a:lvl2pPr>
            <a:lvl3pPr>
              <a:buNone/>
              <a:defRPr sz="1875" b="0">
                <a:solidFill>
                  <a:srgbClr val="A8BDD4"/>
                </a:solidFill>
                <a:latin typeface="Arial"/>
                <a:ea typeface="Arial"/>
                <a:cs typeface="Arial"/>
              </a:defRPr>
            </a:lvl3pPr>
            <a:lvl4pPr>
              <a:buNone/>
              <a:defRPr sz="1875" b="0">
                <a:solidFill>
                  <a:srgbClr val="A8BDD4"/>
                </a:solidFill>
                <a:latin typeface="Arial"/>
                <a:ea typeface="Arial"/>
                <a:cs typeface="Arial"/>
              </a:defRPr>
            </a:lvl4pPr>
            <a:lvl5pPr>
              <a:buNone/>
              <a:defRPr sz="1875" b="0">
                <a:solidFill>
                  <a:srgbClr val="A8BDD4"/>
                </a:solidFill>
                <a:latin typeface="Arial"/>
                <a:ea typeface="Arial"/>
                <a:cs typeface="Arial"/>
              </a:defRPr>
            </a:lvl5pPr>
            <a:lvl6pPr>
              <a:buNone/>
              <a:defRPr sz="1875" b="0">
                <a:solidFill>
                  <a:srgbClr val="A8BDD4"/>
                </a:solidFill>
                <a:latin typeface="Arial"/>
                <a:ea typeface="Arial"/>
                <a:cs typeface="Arial"/>
              </a:defRPr>
            </a:lvl6pPr>
            <a:lvl7pPr>
              <a:buNone/>
              <a:defRPr sz="1875" b="0">
                <a:solidFill>
                  <a:srgbClr val="A8BDD4"/>
                </a:solidFill>
                <a:latin typeface="Arial"/>
                <a:ea typeface="Arial"/>
                <a:cs typeface="Arial"/>
              </a:defRPr>
            </a:lvl7pPr>
            <a:lvl8pPr>
              <a:buNone/>
              <a:defRPr sz="1875" b="0">
                <a:solidFill>
                  <a:srgbClr val="A8BDD4"/>
                </a:solidFill>
                <a:latin typeface="Arial"/>
                <a:ea typeface="Arial"/>
                <a:cs typeface="Arial"/>
              </a:defRPr>
            </a:lvl8pPr>
            <a:lvl9pPr>
              <a:buNone/>
              <a:defRPr sz="1875" b="0">
                <a:solidFill>
                  <a:srgbClr val="A8BDD4"/>
                </a:solidFill>
                <a:latin typeface="Arial"/>
                <a:ea typeface="Arial"/>
                <a:cs typeface="Arial"/>
              </a:defRPr>
            </a:lvl9pPr>
          </a:lstStyle>
          <a:p xmlns:a="http://schemas.openxmlformats.org/drawingml/2006/main">
            <a:pPr>
              <a:buNone/>
              <a:defRPr sz="1875" b="0">
                <a:solidFill>
                  <a:srgbClr val="A8BDD4"/>
                </a:solidFill>
                <a:latin typeface="Arial"/>
                <a:ea typeface="Arial"/>
                <a:cs typeface="Arial"/>
              </a:defRPr>
            </a:pPr>
            <a:r>
              <a:rPr sz="1875" b="0">
                <a:solidFill>
                  <a:srgbClr val="A8BDD4"/>
                </a:solidFill>
                <a:latin typeface="Arial"/>
                <a:ea typeface="Arial"/>
                <a:cs typeface="Arial"/>
              </a:rPr>
              <a:t>Align cohorts, definitions and driver keys before ranking people or assigning coaching.</a:t>
            </a:r>
          </a:p>
        </p:txBody>
      </p:sp>
    </p:spTree>
    <p:extLst>
      <p:ext uri="{BB962C8B-B14F-4D97-AF65-F5344CB8AC3E}">
        <p14:creationId xmlns:p14="http://schemas.microsoft.com/office/powerpoint/2010/main" val="352679733"/>
      </p:ext>
    </p:extLst>
  </p:cSld>
</p:sld>
</file>

<file path=ppt/slides/slide21.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graphicFrame>
        <p:nvGraphicFramePr>
          <p:cNvPr id="20" name="Chart"/>
          <p:cNvGraphicFramePr/>
          <p:nvPr/>
        </p:nvGraphicFramePr>
        <p:xfrm>
          <a:off xmlns:a="http://schemas.openxmlformats.org/drawingml/2006/main" x="381000" y="2362200"/>
          <a:ext xmlns:a="http://schemas.openxmlformats.org/drawingml/2006/main" cx="7143750" cy="3333750"/>
        </p:xfrm>
        <a:graphic xmlns:a="http://schemas.openxmlformats.org/drawingml/2006/main">
          <a:graphicData uri="http://schemas.openxmlformats.org/drawingml/2006/chart">
            <c:chart xmlns:r="http://schemas.openxmlformats.org/officeDocument/2006/relationships" xmlns:c="http://schemas.openxmlformats.org/drawingml/2006/chart" r:id="Ra0cc6183b06d4d20"/>
          </a:graphicData>
        </a:graphic>
      </p:graphicFrame>
      <p:sp>
        <p:nvSpPr>
          <p:cNvPr id="11" name="">
            <a:extLst xmlns:a="http://schemas.openxmlformats.org/drawingml/2006/main">
              <a:ext uri="{FF2B5EF4-FFF2-40B4-BE49-F238E27FC236}">
                <a16:creationId xmlns:a16="http://schemas.microsoft.com/office/drawing/2014/main" id="{9B087ABC-6D31-4622-BE22-97234BD03F79}"/>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THE LOCATION QUESTION: MAPS</a:t>
            </a:r>
          </a:p>
        </p:txBody>
      </p:sp>
      <p:sp>
        <p:nvSpPr>
          <p:cNvPr id="2" name="">
            <a:extLst xmlns:a="http://schemas.openxmlformats.org/drawingml/2006/main">
              <a:ext uri="{FF2B5EF4-FFF2-40B4-BE49-F238E27FC236}">
                <a16:creationId xmlns:a16="http://schemas.microsoft.com/office/drawing/2014/main" id="{C6D6C3AD-5B72-4240-8570-4C716D646D86}"/>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Destination revenue identifies where to investigate</a:t>
            </a:r>
          </a:p>
        </p:txBody>
      </p:sp>
      <p:sp>
        <p:nvSpPr>
          <p:cNvPr id="10" name="">
            <a:extLst xmlns:a="http://schemas.openxmlformats.org/drawingml/2006/main">
              <a:ext uri="{FF2B5EF4-FFF2-40B4-BE49-F238E27FC236}">
                <a16:creationId xmlns:a16="http://schemas.microsoft.com/office/drawing/2014/main" id="{05F96714-DF7B-4AAF-91DE-46560F94269D}"/>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21</a:t>
            </a:r>
          </a:p>
        </p:txBody>
      </p:sp>
      <p:sp>
        <p:nvSpPr>
          <p:cNvPr id="9" name="">
            <a:extLst xmlns:a="http://schemas.openxmlformats.org/drawingml/2006/main">
              <a:ext uri="{FF2B5EF4-FFF2-40B4-BE49-F238E27FC236}">
                <a16:creationId xmlns:a16="http://schemas.microsoft.com/office/drawing/2014/main" id="{91629881-A8A9-4F64-B129-D922FC59248B}"/>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Geography supports prioritization after cost allocation improves</a:t>
            </a:r>
          </a:p>
        </p:txBody>
      </p:sp>
      <p:sp>
        <p:nvSpPr>
          <p:cNvPr id="3" name="">
            <a:extLst xmlns:a="http://schemas.openxmlformats.org/drawingml/2006/main">
              <a:ext uri="{FF2B5EF4-FFF2-40B4-BE49-F238E27FC236}">
                <a16:creationId xmlns:a16="http://schemas.microsoft.com/office/drawing/2014/main" id="{A1489E5D-BD37-48F9-AAA5-14AE4A997BEB}"/>
              </a:ext>
            </a:extLst>
          </p:cNvPr>
          <p:cNvSpPr>
            <a:spLocks xmlns:a="http://schemas.openxmlformats.org/drawingml/2006/main" noGrp="1"/>
          </p:cNvSpPr>
          <p:nvPr/>
        </p:nvSpPr>
        <p:spPr>
          <a:xfrm xmlns:a="http://schemas.openxmlformats.org/drawingml/2006/main">
            <a:off x="571500" y="2009775"/>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1">
                <a:solidFill>
                  <a:srgbClr val="546B7C"/>
                </a:solidFill>
                <a:latin typeface="Arial"/>
                <a:ea typeface="Arial"/>
                <a:cs typeface="Arial"/>
              </a:defRPr>
            </a:lvl1pPr>
            <a:lvl2pPr>
              <a:buNone/>
              <a:defRPr sz="1650" b="1">
                <a:solidFill>
                  <a:srgbClr val="546B7C"/>
                </a:solidFill>
                <a:latin typeface="Arial"/>
                <a:ea typeface="Arial"/>
                <a:cs typeface="Arial"/>
              </a:defRPr>
            </a:lvl2pPr>
            <a:lvl3pPr>
              <a:buNone/>
              <a:defRPr sz="1650" b="1">
                <a:solidFill>
                  <a:srgbClr val="546B7C"/>
                </a:solidFill>
                <a:latin typeface="Arial"/>
                <a:ea typeface="Arial"/>
                <a:cs typeface="Arial"/>
              </a:defRPr>
            </a:lvl3pPr>
            <a:lvl4pPr>
              <a:buNone/>
              <a:defRPr sz="1650" b="1">
                <a:solidFill>
                  <a:srgbClr val="546B7C"/>
                </a:solidFill>
                <a:latin typeface="Arial"/>
                <a:ea typeface="Arial"/>
                <a:cs typeface="Arial"/>
              </a:defRPr>
            </a:lvl4pPr>
            <a:lvl5pPr>
              <a:buNone/>
              <a:defRPr sz="1650" b="1">
                <a:solidFill>
                  <a:srgbClr val="546B7C"/>
                </a:solidFill>
                <a:latin typeface="Arial"/>
                <a:ea typeface="Arial"/>
                <a:cs typeface="Arial"/>
              </a:defRPr>
            </a:lvl5pPr>
            <a:lvl6pPr>
              <a:buNone/>
              <a:defRPr sz="1650" b="1">
                <a:solidFill>
                  <a:srgbClr val="546B7C"/>
                </a:solidFill>
                <a:latin typeface="Arial"/>
                <a:ea typeface="Arial"/>
                <a:cs typeface="Arial"/>
              </a:defRPr>
            </a:lvl6pPr>
            <a:lvl7pPr>
              <a:buNone/>
              <a:defRPr sz="1650" b="1">
                <a:solidFill>
                  <a:srgbClr val="546B7C"/>
                </a:solidFill>
                <a:latin typeface="Arial"/>
                <a:ea typeface="Arial"/>
                <a:cs typeface="Arial"/>
              </a:defRPr>
            </a:lvl7pPr>
            <a:lvl8pPr>
              <a:buNone/>
              <a:defRPr sz="1650" b="1">
                <a:solidFill>
                  <a:srgbClr val="546B7C"/>
                </a:solidFill>
                <a:latin typeface="Arial"/>
                <a:ea typeface="Arial"/>
                <a:cs typeface="Arial"/>
              </a:defRPr>
            </a:lvl8pPr>
            <a:lvl9pPr>
              <a:buNone/>
              <a:defRPr sz="1650" b="1">
                <a:solidFill>
                  <a:srgbClr val="546B7C"/>
                </a:solidFill>
                <a:latin typeface="Arial"/>
                <a:ea typeface="Arial"/>
                <a:cs typeface="Arial"/>
              </a:defRPr>
            </a:lvl9pPr>
          </a:lstStyle>
          <a:p xmlns:a="http://schemas.openxmlformats.org/drawingml/2006/main">
            <a:pPr>
              <a:buNone/>
              <a:defRPr sz="1575" b="1">
                <a:solidFill>
                  <a:srgbClr val="A8BDD4"/>
                </a:solidFill>
                <a:latin typeface="Arial"/>
                <a:ea typeface="Arial"/>
                <a:cs typeface="Arial"/>
              </a:defRPr>
            </a:pPr>
            <a:r>
              <a:rPr sz="1575" b="1">
                <a:solidFill>
                  <a:srgbClr val="A8BDD4"/>
                </a:solidFill>
                <a:latin typeface="Arial"/>
                <a:ea typeface="Arial"/>
                <a:cs typeface="Arial"/>
              </a:rPr>
              <a:t>Destination revenue, $M</a:t>
            </a:r>
          </a:p>
        </p:txBody>
      </p:sp>
      <p:sp>
        <p:nvSpPr>
          <p:cNvPr id="12" name="callout-panel-80">
            <a:extLst xmlns:a="http://schemas.openxmlformats.org/drawingml/2006/main">
              <a:ext uri="{FF2B5EF4-FFF2-40B4-BE49-F238E27FC236}">
                <a16:creationId xmlns:a16="http://schemas.microsoft.com/office/drawing/2014/main" id="{E70908C4-46D2-431D-870D-60D5BDCAB8BB}"/>
              </a:ext>
            </a:extLst>
          </p:cNvPr>
          <p:cNvSpPr>
            <a:spLocks xmlns:a="http://schemas.openxmlformats.org/drawingml/2006/main" noGrp="1"/>
          </p:cNvSpPr>
          <p:nvPr/>
        </p:nvSpPr>
        <p:spPr>
          <a:xfrm xmlns:a="http://schemas.openxmlformats.org/drawingml/2006/main">
            <a:off x="7762875" y="1943100"/>
            <a:ext cx="4000500" cy="3838575"/>
          </a:xfrm>
          <a:prstGeom xmlns:a="http://schemas.openxmlformats.org/drawingml/2006/main" prst="rect">
            <a:avLst/>
          </a:prstGeom>
          <a:solidFill xmlns:a="http://schemas.openxmlformats.org/drawingml/2006/main">
            <a:srgbClr val="0B182A"/>
          </a:solidFill>
          <a:ln xmlns:a="http://schemas.openxmlformats.org/drawingml/2006/main" w="0">
            <a:noFill/>
          </a:ln>
        </p:spPr>
      </p:sp>
      <p:sp>
        <p:nvSpPr>
          <p:cNvPr id="13" name="callout-rule-81">
            <a:extLst xmlns:a="http://schemas.openxmlformats.org/drawingml/2006/main">
              <a:ext uri="{FF2B5EF4-FFF2-40B4-BE49-F238E27FC236}">
                <a16:creationId xmlns:a16="http://schemas.microsoft.com/office/drawing/2014/main" id="{EAE20FEA-D8F7-4095-8D5B-ECEF9F95A8E1}"/>
              </a:ext>
            </a:extLst>
          </p:cNvPr>
          <p:cNvSpPr>
            <a:spLocks xmlns:a="http://schemas.openxmlformats.org/drawingml/2006/main" noGrp="1"/>
          </p:cNvSpPr>
          <p:nvPr/>
        </p:nvSpPr>
        <p:spPr>
          <a:xfrm xmlns:a="http://schemas.openxmlformats.org/drawingml/2006/main">
            <a:off x="7762875" y="1943100"/>
            <a:ext cx="495300" cy="19050"/>
          </a:xfrm>
          <a:prstGeom xmlns:a="http://schemas.openxmlformats.org/drawingml/2006/main" prst="rect">
            <a:avLst/>
          </a:prstGeom>
          <a:solidFill xmlns:a="http://schemas.openxmlformats.org/drawingml/2006/main">
            <a:srgbClr val="3278FF"/>
          </a:solidFill>
          <a:ln xmlns:a="http://schemas.openxmlformats.org/drawingml/2006/main" w="0">
            <a:noFill/>
          </a:ln>
        </p:spPr>
      </p:sp>
      <p:sp>
        <p:nvSpPr>
          <p:cNvPr id="14" name="callout-rule-82">
            <a:extLst xmlns:a="http://schemas.openxmlformats.org/drawingml/2006/main">
              <a:ext uri="{FF2B5EF4-FFF2-40B4-BE49-F238E27FC236}">
                <a16:creationId xmlns:a16="http://schemas.microsoft.com/office/drawing/2014/main" id="{EF65E15A-8022-4ADB-86D1-96E27AC6B124}"/>
              </a:ext>
            </a:extLst>
          </p:cNvPr>
          <p:cNvSpPr>
            <a:spLocks xmlns:a="http://schemas.openxmlformats.org/drawingml/2006/main" noGrp="1"/>
          </p:cNvSpPr>
          <p:nvPr/>
        </p:nvSpPr>
        <p:spPr>
          <a:xfrm xmlns:a="http://schemas.openxmlformats.org/drawingml/2006/main">
            <a:off x="7762875" y="3895725"/>
            <a:ext cx="49530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
        <p:nvSpPr>
          <p:cNvPr id="15" name="enhancement-83">
            <a:extLst xmlns:a="http://schemas.openxmlformats.org/drawingml/2006/main">
              <a:ext uri="{FF2B5EF4-FFF2-40B4-BE49-F238E27FC236}">
                <a16:creationId xmlns:a16="http://schemas.microsoft.com/office/drawing/2014/main" id="{4843EA6C-0F81-4990-9541-5C91A959919E}"/>
              </a:ext>
            </a:extLst>
          </p:cNvPr>
          <p:cNvSpPr>
            <a:spLocks xmlns:a="http://schemas.openxmlformats.org/drawingml/2006/main" noGrp="1"/>
          </p:cNvSpPr>
          <p:nvPr/>
        </p:nvSpPr>
        <p:spPr>
          <a:xfrm xmlns:a="http://schemas.openxmlformats.org/drawingml/2006/main">
            <a:off x="7972425" y="2028825"/>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278FF"/>
                </a:solidFill>
                <a:latin typeface="Arial"/>
                <a:ea typeface="Arial"/>
                <a:cs typeface="Arial"/>
              </a:defRPr>
            </a:lvl1pPr>
            <a:lvl2pPr>
              <a:buNone/>
              <a:defRPr sz="1575" b="1">
                <a:solidFill>
                  <a:srgbClr val="3278FF"/>
                </a:solidFill>
                <a:latin typeface="Arial"/>
                <a:ea typeface="Arial"/>
                <a:cs typeface="Arial"/>
              </a:defRPr>
            </a:lvl2pPr>
            <a:lvl3pPr>
              <a:buNone/>
              <a:defRPr sz="1575" b="1">
                <a:solidFill>
                  <a:srgbClr val="3278FF"/>
                </a:solidFill>
                <a:latin typeface="Arial"/>
                <a:ea typeface="Arial"/>
                <a:cs typeface="Arial"/>
              </a:defRPr>
            </a:lvl3pPr>
            <a:lvl4pPr>
              <a:buNone/>
              <a:defRPr sz="1575" b="1">
                <a:solidFill>
                  <a:srgbClr val="3278FF"/>
                </a:solidFill>
                <a:latin typeface="Arial"/>
                <a:ea typeface="Arial"/>
                <a:cs typeface="Arial"/>
              </a:defRPr>
            </a:lvl4pPr>
            <a:lvl5pPr>
              <a:buNone/>
              <a:defRPr sz="1575" b="1">
                <a:solidFill>
                  <a:srgbClr val="3278FF"/>
                </a:solidFill>
                <a:latin typeface="Arial"/>
                <a:ea typeface="Arial"/>
                <a:cs typeface="Arial"/>
              </a:defRPr>
            </a:lvl5pPr>
            <a:lvl6pPr>
              <a:buNone/>
              <a:defRPr sz="1575" b="1">
                <a:solidFill>
                  <a:srgbClr val="3278FF"/>
                </a:solidFill>
                <a:latin typeface="Arial"/>
                <a:ea typeface="Arial"/>
                <a:cs typeface="Arial"/>
              </a:defRPr>
            </a:lvl6pPr>
            <a:lvl7pPr>
              <a:buNone/>
              <a:defRPr sz="1575" b="1">
                <a:solidFill>
                  <a:srgbClr val="3278FF"/>
                </a:solidFill>
                <a:latin typeface="Arial"/>
                <a:ea typeface="Arial"/>
                <a:cs typeface="Arial"/>
              </a:defRPr>
            </a:lvl7pPr>
            <a:lvl8pPr>
              <a:buNone/>
              <a:defRPr sz="1575" b="1">
                <a:solidFill>
                  <a:srgbClr val="3278FF"/>
                </a:solidFill>
                <a:latin typeface="Arial"/>
                <a:ea typeface="Arial"/>
                <a:cs typeface="Arial"/>
              </a:defRPr>
            </a:lvl8pPr>
            <a:lvl9pPr>
              <a:buNone/>
              <a:defRPr sz="1575" b="1">
                <a:solidFill>
                  <a:srgbClr val="3278FF"/>
                </a:solidFill>
                <a:latin typeface="Arial"/>
                <a:ea typeface="Arial"/>
                <a:cs typeface="Arial"/>
              </a:defRPr>
            </a:lvl9pPr>
          </a:lstStyle>
          <a:p xmlns:a="http://schemas.openxmlformats.org/drawingml/2006/main">
            <a:pPr>
              <a:buNone/>
              <a:defRPr sz="1575" b="1">
                <a:solidFill>
                  <a:srgbClr val="3278FF"/>
                </a:solidFill>
                <a:latin typeface="Arial"/>
                <a:ea typeface="Arial"/>
                <a:cs typeface="Arial"/>
              </a:defRPr>
            </a:pPr>
            <a:r>
              <a:rPr sz="1575" b="1">
                <a:solidFill>
                  <a:srgbClr val="3278FF"/>
                </a:solidFill>
                <a:latin typeface="Arial"/>
                <a:ea typeface="Arial"/>
                <a:cs typeface="Arial"/>
              </a:rPr>
              <a:t>PROBLEM</a:t>
            </a:r>
          </a:p>
        </p:txBody>
      </p:sp>
      <p:sp>
        <p:nvSpPr>
          <p:cNvPr id="16" name="enhancement-84">
            <a:extLst xmlns:a="http://schemas.openxmlformats.org/drawingml/2006/main">
              <a:ext uri="{FF2B5EF4-FFF2-40B4-BE49-F238E27FC236}">
                <a16:creationId xmlns:a16="http://schemas.microsoft.com/office/drawing/2014/main" id="{7F956298-E9E3-4FB8-B5C0-59526B47ACDA}"/>
              </a:ext>
            </a:extLst>
          </p:cNvPr>
          <p:cNvSpPr>
            <a:spLocks xmlns:a="http://schemas.openxmlformats.org/drawingml/2006/main" noGrp="1"/>
          </p:cNvSpPr>
          <p:nvPr/>
        </p:nvSpPr>
        <p:spPr>
          <a:xfrm xmlns:a="http://schemas.openxmlformats.org/drawingml/2006/main">
            <a:off x="7972425" y="2514600"/>
            <a:ext cx="3581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F2F6FF"/>
                </a:solidFill>
                <a:latin typeface="Arial"/>
                <a:ea typeface="Arial"/>
                <a:cs typeface="Arial"/>
              </a:defRPr>
            </a:lvl1pPr>
            <a:lvl2pPr>
              <a:buNone/>
              <a:defRPr sz="1875" b="0">
                <a:solidFill>
                  <a:srgbClr val="F2F6FF"/>
                </a:solidFill>
                <a:latin typeface="Arial"/>
                <a:ea typeface="Arial"/>
                <a:cs typeface="Arial"/>
              </a:defRPr>
            </a:lvl2pPr>
            <a:lvl3pPr>
              <a:buNone/>
              <a:defRPr sz="1875" b="0">
                <a:solidFill>
                  <a:srgbClr val="F2F6FF"/>
                </a:solidFill>
                <a:latin typeface="Arial"/>
                <a:ea typeface="Arial"/>
                <a:cs typeface="Arial"/>
              </a:defRPr>
            </a:lvl3pPr>
            <a:lvl4pPr>
              <a:buNone/>
              <a:defRPr sz="1875" b="0">
                <a:solidFill>
                  <a:srgbClr val="F2F6FF"/>
                </a:solidFill>
                <a:latin typeface="Arial"/>
                <a:ea typeface="Arial"/>
                <a:cs typeface="Arial"/>
              </a:defRPr>
            </a:lvl4pPr>
            <a:lvl5pPr>
              <a:buNone/>
              <a:defRPr sz="1875" b="0">
                <a:solidFill>
                  <a:srgbClr val="F2F6FF"/>
                </a:solidFill>
                <a:latin typeface="Arial"/>
                <a:ea typeface="Arial"/>
                <a:cs typeface="Arial"/>
              </a:defRPr>
            </a:lvl5pPr>
            <a:lvl6pPr>
              <a:buNone/>
              <a:defRPr sz="1875" b="0">
                <a:solidFill>
                  <a:srgbClr val="F2F6FF"/>
                </a:solidFill>
                <a:latin typeface="Arial"/>
                <a:ea typeface="Arial"/>
                <a:cs typeface="Arial"/>
              </a:defRPr>
            </a:lvl6pPr>
            <a:lvl7pPr>
              <a:buNone/>
              <a:defRPr sz="1875" b="0">
                <a:solidFill>
                  <a:srgbClr val="F2F6FF"/>
                </a:solidFill>
                <a:latin typeface="Arial"/>
                <a:ea typeface="Arial"/>
                <a:cs typeface="Arial"/>
              </a:defRPr>
            </a:lvl7pPr>
            <a:lvl8pPr>
              <a:buNone/>
              <a:defRPr sz="1875" b="0">
                <a:solidFill>
                  <a:srgbClr val="F2F6FF"/>
                </a:solidFill>
                <a:latin typeface="Arial"/>
                <a:ea typeface="Arial"/>
                <a:cs typeface="Arial"/>
              </a:defRPr>
            </a:lvl8pPr>
            <a:lvl9pPr>
              <a:buNone/>
              <a:defRPr sz="1875" b="0">
                <a:solidFill>
                  <a:srgbClr val="F2F6FF"/>
                </a:solidFill>
                <a:latin typeface="Arial"/>
                <a:ea typeface="Arial"/>
                <a:cs typeface="Arial"/>
              </a:defRPr>
            </a:lvl9pPr>
          </a:lstStyle>
          <a:p xmlns:a="http://schemas.openxmlformats.org/drawingml/2006/main">
            <a:pPr>
              <a:buNone/>
              <a:defRPr sz="1875" b="0">
                <a:solidFill>
                  <a:srgbClr val="F2F6FF"/>
                </a:solidFill>
                <a:latin typeface="Arial"/>
                <a:ea typeface="Arial"/>
                <a:cs typeface="Arial"/>
              </a:defRPr>
            </a:pPr>
            <a:r>
              <a:rPr sz="1875" b="0">
                <a:solidFill>
                  <a:srgbClr val="F2F6FF"/>
                </a:solidFill>
                <a:latin typeface="Arial"/>
                <a:ea typeface="Arial"/>
                <a:cs typeface="Arial"/>
              </a:rPr>
              <a:t>Three states generate 39.70% of revenue, but destination revenue does not establish lane profit.</a:t>
            </a:r>
          </a:p>
        </p:txBody>
      </p:sp>
      <p:sp>
        <p:nvSpPr>
          <p:cNvPr id="17" name="enhancement-85">
            <a:extLst xmlns:a="http://schemas.openxmlformats.org/drawingml/2006/main">
              <a:ext uri="{FF2B5EF4-FFF2-40B4-BE49-F238E27FC236}">
                <a16:creationId xmlns:a16="http://schemas.microsoft.com/office/drawing/2014/main" id="{B3E1C964-424E-4688-AF34-5267254770A4}"/>
              </a:ext>
            </a:extLst>
          </p:cNvPr>
          <p:cNvSpPr>
            <a:spLocks xmlns:a="http://schemas.openxmlformats.org/drawingml/2006/main" noGrp="1"/>
          </p:cNvSpPr>
          <p:nvPr/>
        </p:nvSpPr>
        <p:spPr>
          <a:xfrm xmlns:a="http://schemas.openxmlformats.org/drawingml/2006/main">
            <a:off x="7972425" y="39814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DDCF5"/>
                </a:solidFill>
                <a:latin typeface="Arial"/>
                <a:ea typeface="Arial"/>
                <a:cs typeface="Arial"/>
              </a:defRPr>
            </a:lvl1pPr>
            <a:lvl2pPr>
              <a:buNone/>
              <a:defRPr sz="1575" b="1">
                <a:solidFill>
                  <a:srgbClr val="3DDCF5"/>
                </a:solidFill>
                <a:latin typeface="Arial"/>
                <a:ea typeface="Arial"/>
                <a:cs typeface="Arial"/>
              </a:defRPr>
            </a:lvl2pPr>
            <a:lvl3pPr>
              <a:buNone/>
              <a:defRPr sz="1575" b="1">
                <a:solidFill>
                  <a:srgbClr val="3DDCF5"/>
                </a:solidFill>
                <a:latin typeface="Arial"/>
                <a:ea typeface="Arial"/>
                <a:cs typeface="Arial"/>
              </a:defRPr>
            </a:lvl3pPr>
            <a:lvl4pPr>
              <a:buNone/>
              <a:defRPr sz="1575" b="1">
                <a:solidFill>
                  <a:srgbClr val="3DDCF5"/>
                </a:solidFill>
                <a:latin typeface="Arial"/>
                <a:ea typeface="Arial"/>
                <a:cs typeface="Arial"/>
              </a:defRPr>
            </a:lvl4pPr>
            <a:lvl5pPr>
              <a:buNone/>
              <a:defRPr sz="1575" b="1">
                <a:solidFill>
                  <a:srgbClr val="3DDCF5"/>
                </a:solidFill>
                <a:latin typeface="Arial"/>
                <a:ea typeface="Arial"/>
                <a:cs typeface="Arial"/>
              </a:defRPr>
            </a:lvl5pPr>
            <a:lvl6pPr>
              <a:buNone/>
              <a:defRPr sz="1575" b="1">
                <a:solidFill>
                  <a:srgbClr val="3DDCF5"/>
                </a:solidFill>
                <a:latin typeface="Arial"/>
                <a:ea typeface="Arial"/>
                <a:cs typeface="Arial"/>
              </a:defRPr>
            </a:lvl6pPr>
            <a:lvl7pPr>
              <a:buNone/>
              <a:defRPr sz="1575" b="1">
                <a:solidFill>
                  <a:srgbClr val="3DDCF5"/>
                </a:solidFill>
                <a:latin typeface="Arial"/>
                <a:ea typeface="Arial"/>
                <a:cs typeface="Arial"/>
              </a:defRPr>
            </a:lvl7pPr>
            <a:lvl8pPr>
              <a:buNone/>
              <a:defRPr sz="1575" b="1">
                <a:solidFill>
                  <a:srgbClr val="3DDCF5"/>
                </a:solidFill>
                <a:latin typeface="Arial"/>
                <a:ea typeface="Arial"/>
                <a:cs typeface="Arial"/>
              </a:defRPr>
            </a:lvl8pPr>
            <a:lvl9pPr>
              <a:buNone/>
              <a:defRPr sz="1575" b="1">
                <a:solidFill>
                  <a:srgbClr val="3DDCF5"/>
                </a:solidFill>
                <a:latin typeface="Arial"/>
                <a:ea typeface="Arial"/>
                <a:cs typeface="Arial"/>
              </a:defRPr>
            </a:lvl9pPr>
          </a:lstStyle>
          <a:p xmlns:a="http://schemas.openxmlformats.org/drawingml/2006/main">
            <a:pPr>
              <a:buNone/>
              <a:defRPr sz="1575" b="1">
                <a:solidFill>
                  <a:srgbClr val="3DDCF5"/>
                </a:solidFill>
                <a:latin typeface="Arial"/>
                <a:ea typeface="Arial"/>
                <a:cs typeface="Arial"/>
              </a:defRPr>
            </a:pPr>
            <a:r>
              <a:rPr sz="1575" b="1">
                <a:solidFill>
                  <a:srgbClr val="3DDCF5"/>
                </a:solidFill>
                <a:latin typeface="Arial"/>
                <a:ea typeface="Arial"/>
                <a:cs typeface="Arial"/>
              </a:rPr>
              <a:t>PROPOSED SOLUTION</a:t>
            </a:r>
          </a:p>
        </p:txBody>
      </p:sp>
      <p:sp>
        <p:nvSpPr>
          <p:cNvPr id="18" name="enhancement-86">
            <a:extLst xmlns:a="http://schemas.openxmlformats.org/drawingml/2006/main">
              <a:ext uri="{FF2B5EF4-FFF2-40B4-BE49-F238E27FC236}">
                <a16:creationId xmlns:a16="http://schemas.microsoft.com/office/drawing/2014/main" id="{AC16000F-36D6-4F4B-A893-4B0962ABD35B}"/>
              </a:ext>
            </a:extLst>
          </p:cNvPr>
          <p:cNvSpPr>
            <a:spLocks xmlns:a="http://schemas.openxmlformats.org/drawingml/2006/main" noGrp="1"/>
          </p:cNvSpPr>
          <p:nvPr/>
        </p:nvSpPr>
        <p:spPr>
          <a:xfrm xmlns:a="http://schemas.openxmlformats.org/drawingml/2006/main">
            <a:off x="7972425" y="4448175"/>
            <a:ext cx="3581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A8BDD4"/>
                </a:solidFill>
                <a:latin typeface="Arial"/>
                <a:ea typeface="Arial"/>
                <a:cs typeface="Arial"/>
              </a:defRPr>
            </a:lvl1pPr>
            <a:lvl2pPr>
              <a:buNone/>
              <a:defRPr sz="1875" b="0">
                <a:solidFill>
                  <a:srgbClr val="A8BDD4"/>
                </a:solidFill>
                <a:latin typeface="Arial"/>
                <a:ea typeface="Arial"/>
                <a:cs typeface="Arial"/>
              </a:defRPr>
            </a:lvl2pPr>
            <a:lvl3pPr>
              <a:buNone/>
              <a:defRPr sz="1875" b="0">
                <a:solidFill>
                  <a:srgbClr val="A8BDD4"/>
                </a:solidFill>
                <a:latin typeface="Arial"/>
                <a:ea typeface="Arial"/>
                <a:cs typeface="Arial"/>
              </a:defRPr>
            </a:lvl3pPr>
            <a:lvl4pPr>
              <a:buNone/>
              <a:defRPr sz="1875" b="0">
                <a:solidFill>
                  <a:srgbClr val="A8BDD4"/>
                </a:solidFill>
                <a:latin typeface="Arial"/>
                <a:ea typeface="Arial"/>
                <a:cs typeface="Arial"/>
              </a:defRPr>
            </a:lvl4pPr>
            <a:lvl5pPr>
              <a:buNone/>
              <a:defRPr sz="1875" b="0">
                <a:solidFill>
                  <a:srgbClr val="A8BDD4"/>
                </a:solidFill>
                <a:latin typeface="Arial"/>
                <a:ea typeface="Arial"/>
                <a:cs typeface="Arial"/>
              </a:defRPr>
            </a:lvl5pPr>
            <a:lvl6pPr>
              <a:buNone/>
              <a:defRPr sz="1875" b="0">
                <a:solidFill>
                  <a:srgbClr val="A8BDD4"/>
                </a:solidFill>
                <a:latin typeface="Arial"/>
                <a:ea typeface="Arial"/>
                <a:cs typeface="Arial"/>
              </a:defRPr>
            </a:lvl6pPr>
            <a:lvl7pPr>
              <a:buNone/>
              <a:defRPr sz="1875" b="0">
                <a:solidFill>
                  <a:srgbClr val="A8BDD4"/>
                </a:solidFill>
                <a:latin typeface="Arial"/>
                <a:ea typeface="Arial"/>
                <a:cs typeface="Arial"/>
              </a:defRPr>
            </a:lvl7pPr>
            <a:lvl8pPr>
              <a:buNone/>
              <a:defRPr sz="1875" b="0">
                <a:solidFill>
                  <a:srgbClr val="A8BDD4"/>
                </a:solidFill>
                <a:latin typeface="Arial"/>
                <a:ea typeface="Arial"/>
                <a:cs typeface="Arial"/>
              </a:defRPr>
            </a:lvl8pPr>
            <a:lvl9pPr>
              <a:buNone/>
              <a:defRPr sz="1875" b="0">
                <a:solidFill>
                  <a:srgbClr val="A8BDD4"/>
                </a:solidFill>
                <a:latin typeface="Arial"/>
                <a:ea typeface="Arial"/>
                <a:cs typeface="Arial"/>
              </a:defRPr>
            </a:lvl9pPr>
          </a:lstStyle>
          <a:p xmlns:a="http://schemas.openxmlformats.org/drawingml/2006/main">
            <a:pPr>
              <a:buNone/>
              <a:defRPr sz="1875" b="0">
                <a:solidFill>
                  <a:srgbClr val="A8BDD4"/>
                </a:solidFill>
                <a:latin typeface="Arial"/>
                <a:ea typeface="Arial"/>
                <a:cs typeface="Arial"/>
              </a:defRPr>
            </a:pPr>
            <a:r>
              <a:rPr sz="1875" b="0">
                <a:solidFill>
                  <a:srgbClr val="A8BDD4"/>
                </a:solidFill>
                <a:latin typeface="Arial"/>
                <a:ea typeface="Arial"/>
                <a:cs typeface="Arial"/>
              </a:rPr>
              <a:t>Allocate fuel, labor and maintenance by lane. Compare margin per mile and OTD before repricing.</a:t>
            </a:r>
          </a:p>
        </p:txBody>
      </p:sp>
    </p:spTree>
    <p:extLst>
      <p:ext uri="{BB962C8B-B14F-4D97-AF65-F5344CB8AC3E}">
        <p14:creationId xmlns:p14="http://schemas.microsoft.com/office/powerpoint/2010/main" val="495352765"/>
      </p:ext>
    </p:extLst>
  </p:cSld>
</p:sld>
</file>

<file path=ppt/slides/slide22.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EC4337-17E5-4999-B141-6987BD9BD519}"/>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COST-CONSISTENT SENSITIVITY</a:t>
            </a:r>
          </a:p>
        </p:txBody>
      </p:sp>
      <p:sp>
        <p:nvSpPr>
          <p:cNvPr id="2" name="">
            <a:extLst xmlns:a="http://schemas.openxmlformats.org/drawingml/2006/main">
              <a:ext uri="{FF2B5EF4-FFF2-40B4-BE49-F238E27FC236}">
                <a16:creationId xmlns:a16="http://schemas.microsoft.com/office/drawing/2014/main" id="{CF1FC512-2DF4-4CEE-A5D2-06211E667C1C}"/>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150" b="1">
                <a:solidFill>
                  <a:srgbClr val="F2F6FF"/>
                </a:solidFill>
                <a:latin typeface="Arial"/>
                <a:ea typeface="Arial"/>
                <a:cs typeface="Arial"/>
              </a:defRPr>
            </a:pPr>
            <a:r>
              <a:rPr sz="3150" b="1">
                <a:solidFill>
                  <a:srgbClr val="F2F6FF"/>
                </a:solidFill>
                <a:latin typeface="Arial"/>
                <a:ea typeface="Arial"/>
                <a:cs typeface="Arial"/>
              </a:rPr>
              <a:t>At $4.50 fuel, a 5% freight-only uplift is insufficient</a:t>
            </a:r>
          </a:p>
        </p:txBody>
      </p:sp>
      <p:sp>
        <p:nvSpPr>
          <p:cNvPr id="5" name="">
            <a:extLst xmlns:a="http://schemas.openxmlformats.org/drawingml/2006/main">
              <a:ext uri="{FF2B5EF4-FFF2-40B4-BE49-F238E27FC236}">
                <a16:creationId xmlns:a16="http://schemas.microsoft.com/office/drawing/2014/main" id="{B376AAC4-7E50-4537-9BCE-C46236547522}"/>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537C08F7-B914-4F0F-8F76-2B99EFF16E66}"/>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At $4.50: +5% freight gives $139.62M; +5% across all revenue gives $141.42M</a:t>
            </a:r>
          </a:p>
        </p:txBody>
      </p:sp>
      <p:graphicFrame>
        <p:nvGraphicFramePr>
          <p:cNvPr id="13" name=""/>
          <p:cNvGraphicFramePr/>
          <p:nvPr/>
        </p:nvGraphicFramePr>
        <p:xfrm>
          <a:off xmlns:a="http://schemas.openxmlformats.org/drawingml/2006/main" x="523875" y="2381250"/>
          <a:ext xmlns:a="http://schemas.openxmlformats.org/drawingml/2006/main" cx="11144250" cy="3200400"/>
        </p:xfrm>
        <a:graphic xmlns:a="http://schemas.openxmlformats.org/drawingml/2006/main">
          <a:graphicData uri="http://schemas.openxmlformats.org/drawingml/2006/table">
            <a:tbl>
              <a:tblPr/>
              <a:tblGrid>
                <a:gridCol w="3143250"/>
                <a:gridCol w="2667000"/>
                <a:gridCol w="2667000"/>
                <a:gridCol w="2667000"/>
              </a:tblGrid>
              <a:tr h="800100">
                <a:tc>
                  <a:txBody>
                    <a:bodyPr/>
                    <a:lstStyle/>
                    <a:p>
                      <a:r>
                        <a:rPr sz="1875" b="1">
                          <a:solidFill>
                            <a:srgbClr val="3DDCF5"/>
                          </a:solidFill>
                          <a:latin typeface="Arial"/>
                          <a:ea typeface="Arial"/>
                          <a:cs typeface="Arial"/>
                        </a:rPr>
                        <a:t>Fuel $/gal</a:t>
                      </a:r>
                    </a:p>
                  </a:txBody>
                  <a:tcPr marL="91440" marR="91440" marT="45720" marB="45720">
                    <a:lnL w="6191">
                      <a:solidFill>
                        <a:srgbClr val="20364D"/>
                      </a:solidFill>
                      <a:prstDash val="solid"/>
                    </a:lnL>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Freight +0%</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Freight +5%</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Freight +10%</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r>
              <a:tr h="800100">
                <a:tc>
                  <a:txBody>
                    <a:bodyPr/>
                    <a:lstStyle/>
                    <a:p>
                      <a:r>
                        <a:rPr sz="1875" b="0">
                          <a:solidFill>
                            <a:srgbClr val="F2F6FF"/>
                          </a:solidFill>
                          <a:latin typeface="Arial"/>
                          <a:ea typeface="Arial"/>
                          <a:cs typeface="Arial"/>
                        </a:rPr>
                        <a:t>3.50</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151.01</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164.13</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177.26</a:t>
                      </a:r>
                    </a:p>
                  </a:txBody>
                  <a:tcPr marL="91440" marR="91440" marT="45720" marB="45720">
                    <a:lnR w="6191">
                      <a:solidFill>
                        <a:srgbClr val="20364D"/>
                      </a:solidFill>
                      <a:prstDash val="solid"/>
                    </a:lnR>
                    <a:lnB w="6191">
                      <a:solidFill>
                        <a:srgbClr val="20364D"/>
                      </a:solidFill>
                      <a:prstDash val="solid"/>
                    </a:lnB>
                    <a:solidFill>
                      <a:srgbClr val="0B1728"/>
                    </a:solidFill>
                  </a:tcPr>
                </a:tc>
              </a:tr>
              <a:tr h="800100">
                <a:tc>
                  <a:txBody>
                    <a:bodyPr/>
                    <a:lstStyle/>
                    <a:p>
                      <a:r>
                        <a:rPr sz="1875" b="0">
                          <a:solidFill>
                            <a:srgbClr val="F2F6FF"/>
                          </a:solidFill>
                          <a:latin typeface="Arial"/>
                          <a:ea typeface="Arial"/>
                          <a:cs typeface="Arial"/>
                        </a:rPr>
                        <a:t>4.00</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138.75</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151.88</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165.00</a:t>
                      </a:r>
                    </a:p>
                  </a:txBody>
                  <a:tcPr marL="91440" marR="91440" marT="45720" marB="45720">
                    <a:lnR w="6191">
                      <a:solidFill>
                        <a:srgbClr val="20364D"/>
                      </a:solidFill>
                      <a:prstDash val="solid"/>
                    </a:lnR>
                    <a:lnB w="6191">
                      <a:solidFill>
                        <a:srgbClr val="20364D"/>
                      </a:solidFill>
                      <a:prstDash val="solid"/>
                    </a:lnB>
                    <a:solidFill>
                      <a:srgbClr val="0D1B2E"/>
                    </a:solidFill>
                  </a:tcPr>
                </a:tc>
              </a:tr>
              <a:tr h="800100">
                <a:tc>
                  <a:txBody>
                    <a:bodyPr/>
                    <a:lstStyle/>
                    <a:p>
                      <a:r>
                        <a:rPr sz="1875" b="0">
                          <a:solidFill>
                            <a:srgbClr val="F2F6FF"/>
                          </a:solidFill>
                          <a:latin typeface="Arial"/>
                          <a:ea typeface="Arial"/>
                          <a:cs typeface="Arial"/>
                        </a:rPr>
                        <a:t>4.50</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126.49</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139.62</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152.74</a:t>
                      </a:r>
                    </a:p>
                  </a:txBody>
                  <a:tcPr marL="91440" marR="91440" marT="45720" marB="45720">
                    <a:lnR w="6191">
                      <a:solidFill>
                        <a:srgbClr val="20364D"/>
                      </a:solidFill>
                      <a:prstDash val="solid"/>
                    </a:lnR>
                    <a:lnB w="6191">
                      <a:solidFill>
                        <a:srgbClr val="20364D"/>
                      </a:solidFill>
                      <a:prstDash val="solid"/>
                    </a:lnB>
                    <a:solidFill>
                      <a:srgbClr val="0B1728"/>
                    </a:solidFill>
                  </a:tcPr>
                </a:tc>
              </a:tr>
            </a:tbl>
          </a:graphicData>
        </a:graphic>
      </p:graphicFrame>
      <p:sp>
        <p:nvSpPr>
          <p:cNvPr id="7" name="enhancement-87">
            <a:extLst xmlns:a="http://schemas.openxmlformats.org/drawingml/2006/main">
              <a:ext uri="{FF2B5EF4-FFF2-40B4-BE49-F238E27FC236}">
                <a16:creationId xmlns:a16="http://schemas.microsoft.com/office/drawing/2014/main" id="{F674DAF0-67A6-499C-B564-65B0B27343CE}"/>
              </a:ext>
            </a:extLst>
          </p:cNvPr>
          <p:cNvSpPr>
            <a:spLocks xmlns:a="http://schemas.openxmlformats.org/drawingml/2006/main" noGrp="1"/>
          </p:cNvSpPr>
          <p:nvPr/>
        </p:nvSpPr>
        <p:spPr>
          <a:xfrm xmlns:a="http://schemas.openxmlformats.org/drawingml/2006/main">
            <a:off x="571500" y="19716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0">
                <a:solidFill>
                  <a:srgbClr val="A8BDD4"/>
                </a:solidFill>
                <a:latin typeface="Arial"/>
                <a:ea typeface="Arial"/>
                <a:cs typeface="Arial"/>
              </a:defRPr>
            </a:lvl1pPr>
            <a:lvl2pPr>
              <a:buNone/>
              <a:defRPr sz="1575" b="0">
                <a:solidFill>
                  <a:srgbClr val="A8BDD4"/>
                </a:solidFill>
                <a:latin typeface="Arial"/>
                <a:ea typeface="Arial"/>
                <a:cs typeface="Arial"/>
              </a:defRPr>
            </a:lvl2pPr>
            <a:lvl3pPr>
              <a:buNone/>
              <a:defRPr sz="1575" b="0">
                <a:solidFill>
                  <a:srgbClr val="A8BDD4"/>
                </a:solidFill>
                <a:latin typeface="Arial"/>
                <a:ea typeface="Arial"/>
                <a:cs typeface="Arial"/>
              </a:defRPr>
            </a:lvl3pPr>
            <a:lvl4pPr>
              <a:buNone/>
              <a:defRPr sz="1575" b="0">
                <a:solidFill>
                  <a:srgbClr val="A8BDD4"/>
                </a:solidFill>
                <a:latin typeface="Arial"/>
                <a:ea typeface="Arial"/>
                <a:cs typeface="Arial"/>
              </a:defRPr>
            </a:lvl4pPr>
            <a:lvl5pPr>
              <a:buNone/>
              <a:defRPr sz="1575" b="0">
                <a:solidFill>
                  <a:srgbClr val="A8BDD4"/>
                </a:solidFill>
                <a:latin typeface="Arial"/>
                <a:ea typeface="Arial"/>
                <a:cs typeface="Arial"/>
              </a:defRPr>
            </a:lvl5pPr>
            <a:lvl6pPr>
              <a:buNone/>
              <a:defRPr sz="1575" b="0">
                <a:solidFill>
                  <a:srgbClr val="A8BDD4"/>
                </a:solidFill>
                <a:latin typeface="Arial"/>
                <a:ea typeface="Arial"/>
                <a:cs typeface="Arial"/>
              </a:defRPr>
            </a:lvl6pPr>
            <a:lvl7pPr>
              <a:buNone/>
              <a:defRPr sz="1575" b="0">
                <a:solidFill>
                  <a:srgbClr val="A8BDD4"/>
                </a:solidFill>
                <a:latin typeface="Arial"/>
                <a:ea typeface="Arial"/>
                <a:cs typeface="Arial"/>
              </a:defRPr>
            </a:lvl7pPr>
            <a:lvl8pPr>
              <a:buNone/>
              <a:defRPr sz="1575" b="0">
                <a:solidFill>
                  <a:srgbClr val="A8BDD4"/>
                </a:solidFill>
                <a:latin typeface="Arial"/>
                <a:ea typeface="Arial"/>
                <a:cs typeface="Arial"/>
              </a:defRPr>
            </a:lvl8pPr>
            <a:lvl9pPr>
              <a:buNone/>
              <a:defRPr sz="1575" b="0">
                <a:solidFill>
                  <a:srgbClr val="A8BDD4"/>
                </a:solidFill>
                <a:latin typeface="Arial"/>
                <a:ea typeface="Arial"/>
                <a:cs typeface="Arial"/>
              </a:defRPr>
            </a:lvl9pPr>
          </a:lstStyle>
          <a:p xmlns:a="http://schemas.openxmlformats.org/drawingml/2006/main">
            <a:pPr>
              <a:buNone/>
              <a:defRPr sz="1575" b="0">
                <a:solidFill>
                  <a:srgbClr val="A8BDD4"/>
                </a:solidFill>
                <a:latin typeface="Arial"/>
                <a:ea typeface="Arial"/>
                <a:cs typeface="Arial"/>
              </a:defRPr>
            </a:pPr>
            <a:r>
              <a:rPr sz="1575" b="0">
                <a:solidFill>
                  <a:srgbClr val="A8BDD4"/>
                </a:solidFill>
                <a:latin typeface="Arial"/>
                <a:ea typeface="Arial"/>
                <a:cs typeface="Arial"/>
              </a:rPr>
              <a:t>Modeled contribution, $M. Baseline $141.23M. Volume, gallons and other costs fixed.</a:t>
            </a:r>
          </a:p>
        </p:txBody>
      </p:sp>
    </p:spTree>
    <p:extLst>
      <p:ext uri="{BB962C8B-B14F-4D97-AF65-F5344CB8AC3E}">
        <p14:creationId xmlns:p14="http://schemas.microsoft.com/office/powerpoint/2010/main" val="126088006"/>
      </p:ext>
    </p:extLst>
  </p:cSld>
</p:sld>
</file>

<file path=ppt/slides/slide23.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44a57f77e6344b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design-31">
            <a:extLst xmlns:a="http://schemas.openxmlformats.org/drawingml/2006/main">
              <a:ext uri="{FF2B5EF4-FFF2-40B4-BE49-F238E27FC236}">
                <a16:creationId xmlns:a16="http://schemas.microsoft.com/office/drawing/2014/main" id="{B9D76C85-D419-4403-8BA8-6D81CFA736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0812">
              <a:alpha val="50000"/>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46DDE76-0341-4C61-98B0-120D8B378944}"/>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WHAT THE EVIDENCE TOLD US</a:t>
            </a:r>
          </a:p>
        </p:txBody>
      </p:sp>
      <p:sp>
        <p:nvSpPr>
          <p:cNvPr id="2" name="">
            <a:extLst xmlns:a="http://schemas.openxmlformats.org/drawingml/2006/main">
              <a:ext uri="{FF2B5EF4-FFF2-40B4-BE49-F238E27FC236}">
                <a16:creationId xmlns:a16="http://schemas.microsoft.com/office/drawing/2014/main" id="{2C950DBE-D4AE-48E3-8369-D9CBF0D1697E}"/>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The strongest findings change the decision process</a:t>
            </a:r>
          </a:p>
        </p:txBody>
      </p:sp>
      <p:sp>
        <p:nvSpPr>
          <p:cNvPr id="10" name="">
            <a:extLst xmlns:a="http://schemas.openxmlformats.org/drawingml/2006/main">
              <a:ext uri="{FF2B5EF4-FFF2-40B4-BE49-F238E27FC236}">
                <a16:creationId xmlns:a16="http://schemas.microsoft.com/office/drawing/2014/main" id="{EF6D40C5-EAEC-42FB-9720-07F383B0CE70}"/>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23</a:t>
            </a:r>
          </a:p>
        </p:txBody>
      </p:sp>
      <p:sp>
        <p:nvSpPr>
          <p:cNvPr id="9" name="">
            <a:extLst xmlns:a="http://schemas.openxmlformats.org/drawingml/2006/main">
              <a:ext uri="{FF2B5EF4-FFF2-40B4-BE49-F238E27FC236}">
                <a16:creationId xmlns:a16="http://schemas.microsoft.com/office/drawing/2014/main" id="{6B2379CA-2B6C-45DC-8E25-E7EE08F89915}"/>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Rank findings by decision significance and evidence, not by the largest number</a:t>
            </a:r>
          </a:p>
        </p:txBody>
      </p:sp>
      <p:sp>
        <p:nvSpPr>
          <p:cNvPr id="3" name="">
            <a:extLst xmlns:a="http://schemas.openxmlformats.org/drawingml/2006/main">
              <a:ext uri="{FF2B5EF4-FFF2-40B4-BE49-F238E27FC236}">
                <a16:creationId xmlns:a16="http://schemas.microsoft.com/office/drawing/2014/main" id="{118BAC76-2581-41EE-B007-FAFDFAFEEB62}"/>
              </a:ext>
            </a:extLst>
          </p:cNvPr>
          <p:cNvSpPr>
            <a:spLocks xmlns:a="http://schemas.openxmlformats.org/drawingml/2006/main" noGrp="1"/>
          </p:cNvSpPr>
          <p:nvPr/>
        </p:nvSpPr>
        <p:spPr>
          <a:xfrm xmlns:a="http://schemas.openxmlformats.org/drawingml/2006/main">
            <a:off x="571500" y="2381250"/>
            <a:ext cx="4857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5400" b="1">
                <a:solidFill>
                  <a:srgbClr val="074E8C"/>
                </a:solidFill>
                <a:latin typeface="Arial"/>
                <a:ea typeface="Arial"/>
                <a:cs typeface="Arial"/>
              </a:defRPr>
            </a:lvl1pPr>
            <a:lvl2pPr>
              <a:buNone/>
              <a:defRPr sz="5400" b="1">
                <a:solidFill>
                  <a:srgbClr val="074E8C"/>
                </a:solidFill>
                <a:latin typeface="Arial"/>
                <a:ea typeface="Arial"/>
                <a:cs typeface="Arial"/>
              </a:defRPr>
            </a:lvl2pPr>
            <a:lvl3pPr>
              <a:buNone/>
              <a:defRPr sz="5400" b="1">
                <a:solidFill>
                  <a:srgbClr val="074E8C"/>
                </a:solidFill>
                <a:latin typeface="Arial"/>
                <a:ea typeface="Arial"/>
                <a:cs typeface="Arial"/>
              </a:defRPr>
            </a:lvl3pPr>
            <a:lvl4pPr>
              <a:buNone/>
              <a:defRPr sz="5400" b="1">
                <a:solidFill>
                  <a:srgbClr val="074E8C"/>
                </a:solidFill>
                <a:latin typeface="Arial"/>
                <a:ea typeface="Arial"/>
                <a:cs typeface="Arial"/>
              </a:defRPr>
            </a:lvl4pPr>
            <a:lvl5pPr>
              <a:buNone/>
              <a:defRPr sz="5400" b="1">
                <a:solidFill>
                  <a:srgbClr val="074E8C"/>
                </a:solidFill>
                <a:latin typeface="Arial"/>
                <a:ea typeface="Arial"/>
                <a:cs typeface="Arial"/>
              </a:defRPr>
            </a:lvl5pPr>
            <a:lvl6pPr>
              <a:buNone/>
              <a:defRPr sz="5400" b="1">
                <a:solidFill>
                  <a:srgbClr val="074E8C"/>
                </a:solidFill>
                <a:latin typeface="Arial"/>
                <a:ea typeface="Arial"/>
                <a:cs typeface="Arial"/>
              </a:defRPr>
            </a:lvl6pPr>
            <a:lvl7pPr>
              <a:buNone/>
              <a:defRPr sz="5400" b="1">
                <a:solidFill>
                  <a:srgbClr val="074E8C"/>
                </a:solidFill>
                <a:latin typeface="Arial"/>
                <a:ea typeface="Arial"/>
                <a:cs typeface="Arial"/>
              </a:defRPr>
            </a:lvl7pPr>
            <a:lvl8pPr>
              <a:buNone/>
              <a:defRPr sz="5400" b="1">
                <a:solidFill>
                  <a:srgbClr val="074E8C"/>
                </a:solidFill>
                <a:latin typeface="Arial"/>
                <a:ea typeface="Arial"/>
                <a:cs typeface="Arial"/>
              </a:defRPr>
            </a:lvl8pPr>
            <a:lvl9pPr>
              <a:buNone/>
              <a:defRPr sz="5400" b="1">
                <a:solidFill>
                  <a:srgbClr val="074E8C"/>
                </a:solidFill>
                <a:latin typeface="Arial"/>
                <a:ea typeface="Arial"/>
                <a:cs typeface="Arial"/>
              </a:defRPr>
            </a:lvl9pPr>
          </a:lstStyle>
          <a:p xmlns:a="http://schemas.openxmlformats.org/drawingml/2006/main">
            <a:pPr>
              <a:buNone/>
              <a:defRPr sz="7500" b="1">
                <a:solidFill>
                  <a:srgbClr val="3DDCF5"/>
                </a:solidFill>
                <a:latin typeface="Arial"/>
                <a:ea typeface="Arial"/>
                <a:cs typeface="Arial"/>
              </a:defRPr>
            </a:pPr>
            <a:r>
              <a:rPr sz="7500" b="1">
                <a:solidFill>
                  <a:srgbClr val="3DDCF5"/>
                </a:solidFill>
                <a:latin typeface="Arial"/>
                <a:ea typeface="Arial"/>
                <a:cs typeface="Arial"/>
              </a:rPr>
              <a:t>33.28%</a:t>
            </a:r>
          </a:p>
        </p:txBody>
      </p:sp>
      <p:sp>
        <p:nvSpPr>
          <p:cNvPr id="4" name="">
            <a:extLst xmlns:a="http://schemas.openxmlformats.org/drawingml/2006/main">
              <a:ext uri="{FF2B5EF4-FFF2-40B4-BE49-F238E27FC236}">
                <a16:creationId xmlns:a16="http://schemas.microsoft.com/office/drawing/2014/main" id="{1F99EB66-7D98-4069-9AC7-D1D9D298503F}"/>
              </a:ext>
            </a:extLst>
          </p:cNvPr>
          <p:cNvSpPr>
            <a:spLocks xmlns:a="http://schemas.openxmlformats.org/drawingml/2006/main" noGrp="1"/>
          </p:cNvSpPr>
          <p:nvPr/>
        </p:nvSpPr>
        <p:spPr>
          <a:xfrm xmlns:a="http://schemas.openxmlformats.org/drawingml/2006/main">
            <a:off x="619125" y="3924300"/>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546B7C"/>
                </a:solidFill>
                <a:latin typeface="Arial"/>
                <a:ea typeface="Arial"/>
                <a:cs typeface="Arial"/>
              </a:defRPr>
            </a:lvl1pPr>
            <a:lvl2pPr>
              <a:buNone/>
              <a:defRPr sz="1950" b="0">
                <a:solidFill>
                  <a:srgbClr val="546B7C"/>
                </a:solidFill>
                <a:latin typeface="Arial"/>
                <a:ea typeface="Arial"/>
                <a:cs typeface="Arial"/>
              </a:defRPr>
            </a:lvl2pPr>
            <a:lvl3pPr>
              <a:buNone/>
              <a:defRPr sz="1950" b="0">
                <a:solidFill>
                  <a:srgbClr val="546B7C"/>
                </a:solidFill>
                <a:latin typeface="Arial"/>
                <a:ea typeface="Arial"/>
                <a:cs typeface="Arial"/>
              </a:defRPr>
            </a:lvl3pPr>
            <a:lvl4pPr>
              <a:buNone/>
              <a:defRPr sz="1950" b="0">
                <a:solidFill>
                  <a:srgbClr val="546B7C"/>
                </a:solidFill>
                <a:latin typeface="Arial"/>
                <a:ea typeface="Arial"/>
                <a:cs typeface="Arial"/>
              </a:defRPr>
            </a:lvl4pPr>
            <a:lvl5pPr>
              <a:buNone/>
              <a:defRPr sz="1950" b="0">
                <a:solidFill>
                  <a:srgbClr val="546B7C"/>
                </a:solidFill>
                <a:latin typeface="Arial"/>
                <a:ea typeface="Arial"/>
                <a:cs typeface="Arial"/>
              </a:defRPr>
            </a:lvl5pPr>
            <a:lvl6pPr>
              <a:buNone/>
              <a:defRPr sz="1950" b="0">
                <a:solidFill>
                  <a:srgbClr val="546B7C"/>
                </a:solidFill>
                <a:latin typeface="Arial"/>
                <a:ea typeface="Arial"/>
                <a:cs typeface="Arial"/>
              </a:defRPr>
            </a:lvl6pPr>
            <a:lvl7pPr>
              <a:buNone/>
              <a:defRPr sz="1950" b="0">
                <a:solidFill>
                  <a:srgbClr val="546B7C"/>
                </a:solidFill>
                <a:latin typeface="Arial"/>
                <a:ea typeface="Arial"/>
                <a:cs typeface="Arial"/>
              </a:defRPr>
            </a:lvl7pPr>
            <a:lvl8pPr>
              <a:buNone/>
              <a:defRPr sz="1950" b="0">
                <a:solidFill>
                  <a:srgbClr val="546B7C"/>
                </a:solidFill>
                <a:latin typeface="Arial"/>
                <a:ea typeface="Arial"/>
                <a:cs typeface="Arial"/>
              </a:defRPr>
            </a:lvl8pPr>
            <a:lvl9pPr>
              <a:buNone/>
              <a:defRPr sz="1950" b="0">
                <a:solidFill>
                  <a:srgbClr val="546B7C"/>
                </a:solidFill>
                <a:latin typeface="Arial"/>
                <a:ea typeface="Arial"/>
                <a:cs typeface="Arial"/>
              </a:defRPr>
            </a:lvl9pPr>
          </a:lstStyle>
          <a:p xmlns:a="http://schemas.openxmlformats.org/drawingml/2006/main">
            <a:pPr>
              <a:buNone/>
              <a:defRPr sz="2100" b="0">
                <a:solidFill>
                  <a:srgbClr val="F2F6FF"/>
                </a:solidFill>
                <a:latin typeface="Arial"/>
                <a:ea typeface="Arial"/>
                <a:cs typeface="Arial"/>
              </a:defRPr>
            </a:pPr>
            <a:r>
              <a:rPr sz="2100" b="0">
                <a:solidFill>
                  <a:srgbClr val="F2F6FF"/>
                </a:solidFill>
                <a:latin typeface="Arial"/>
                <a:ea typeface="Arial"/>
                <a:cs typeface="Arial"/>
              </a:rPr>
              <a:t>timestamp-based delivery OTD</a:t>
            </a:r>
          </a:p>
        </p:txBody>
      </p:sp>
      <p:sp>
        <p:nvSpPr>
          <p:cNvPr id="5" name="">
            <a:extLst xmlns:a="http://schemas.openxmlformats.org/drawingml/2006/main">
              <a:ext uri="{FF2B5EF4-FFF2-40B4-BE49-F238E27FC236}">
                <a16:creationId xmlns:a16="http://schemas.microsoft.com/office/drawing/2014/main" id="{05DE76FC-2153-44F6-93B8-A0E3C9F93FE3}"/>
              </a:ext>
            </a:extLst>
          </p:cNvPr>
          <p:cNvSpPr>
            <a:spLocks xmlns:a="http://schemas.openxmlformats.org/drawingml/2006/main" noGrp="1"/>
          </p:cNvSpPr>
          <p:nvPr/>
        </p:nvSpPr>
        <p:spPr>
          <a:xfrm xmlns:a="http://schemas.openxmlformats.org/drawingml/2006/main">
            <a:off x="5810250" y="2124075"/>
            <a:ext cx="5667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1">
                <a:solidFill>
                  <a:srgbClr val="0A2B43"/>
                </a:solidFill>
                <a:latin typeface="Arial"/>
                <a:ea typeface="Arial"/>
                <a:cs typeface="Arial"/>
              </a:defRPr>
            </a:lvl1pPr>
            <a:lvl2pPr>
              <a:buNone/>
              <a:defRPr sz="2100" b="1">
                <a:solidFill>
                  <a:srgbClr val="0A2B43"/>
                </a:solidFill>
                <a:latin typeface="Arial"/>
                <a:ea typeface="Arial"/>
                <a:cs typeface="Arial"/>
              </a:defRPr>
            </a:lvl2pPr>
            <a:lvl3pPr>
              <a:buNone/>
              <a:defRPr sz="2100" b="1">
                <a:solidFill>
                  <a:srgbClr val="0A2B43"/>
                </a:solidFill>
                <a:latin typeface="Arial"/>
                <a:ea typeface="Arial"/>
                <a:cs typeface="Arial"/>
              </a:defRPr>
            </a:lvl3pPr>
            <a:lvl4pPr>
              <a:buNone/>
              <a:defRPr sz="2100" b="1">
                <a:solidFill>
                  <a:srgbClr val="0A2B43"/>
                </a:solidFill>
                <a:latin typeface="Arial"/>
                <a:ea typeface="Arial"/>
                <a:cs typeface="Arial"/>
              </a:defRPr>
            </a:lvl4pPr>
            <a:lvl5pPr>
              <a:buNone/>
              <a:defRPr sz="2100" b="1">
                <a:solidFill>
                  <a:srgbClr val="0A2B43"/>
                </a:solidFill>
                <a:latin typeface="Arial"/>
                <a:ea typeface="Arial"/>
                <a:cs typeface="Arial"/>
              </a:defRPr>
            </a:lvl5pPr>
            <a:lvl6pPr>
              <a:buNone/>
              <a:defRPr sz="2100" b="1">
                <a:solidFill>
                  <a:srgbClr val="0A2B43"/>
                </a:solidFill>
                <a:latin typeface="Arial"/>
                <a:ea typeface="Arial"/>
                <a:cs typeface="Arial"/>
              </a:defRPr>
            </a:lvl6pPr>
            <a:lvl7pPr>
              <a:buNone/>
              <a:defRPr sz="2100" b="1">
                <a:solidFill>
                  <a:srgbClr val="0A2B43"/>
                </a:solidFill>
                <a:latin typeface="Arial"/>
                <a:ea typeface="Arial"/>
                <a:cs typeface="Arial"/>
              </a:defRPr>
            </a:lvl7pPr>
            <a:lvl8pPr>
              <a:buNone/>
              <a:defRPr sz="2100" b="1">
                <a:solidFill>
                  <a:srgbClr val="0A2B43"/>
                </a:solidFill>
                <a:latin typeface="Arial"/>
                <a:ea typeface="Arial"/>
                <a:cs typeface="Arial"/>
              </a:defRPr>
            </a:lvl8pPr>
            <a:lvl9pPr>
              <a:buNone/>
              <a:defRPr sz="2100" b="1">
                <a:solidFill>
                  <a:srgbClr val="0A2B43"/>
                </a:solidFill>
                <a:latin typeface="Arial"/>
                <a:ea typeface="Arial"/>
                <a:cs typeface="Arial"/>
              </a:defRPr>
            </a:lvl9pPr>
          </a:lstStyle>
          <a:p xmlns:a="http://schemas.openxmlformats.org/drawingml/2006/main">
            <a:pPr>
              <a:buNone/>
              <a:defRPr sz="2025" b="1">
                <a:solidFill>
                  <a:srgbClr val="F2F6FF"/>
                </a:solidFill>
                <a:latin typeface="Arial"/>
                <a:ea typeface="Arial"/>
                <a:cs typeface="Arial"/>
              </a:defRPr>
            </a:pPr>
            <a:r>
              <a:rPr sz="2025" b="1">
                <a:solidFill>
                  <a:srgbClr val="F2F6FF"/>
                </a:solidFill>
                <a:latin typeface="Arial"/>
                <a:ea typeface="Arial"/>
                <a:cs typeface="Arial"/>
              </a:rPr>
              <a:t>1. Service weakness is broad; commitment meaning needs validation</a:t>
            </a:r>
          </a:p>
        </p:txBody>
      </p:sp>
      <p:sp>
        <p:nvSpPr>
          <p:cNvPr id="6" name="">
            <a:extLst xmlns:a="http://schemas.openxmlformats.org/drawingml/2006/main">
              <a:ext uri="{FF2B5EF4-FFF2-40B4-BE49-F238E27FC236}">
                <a16:creationId xmlns:a16="http://schemas.microsoft.com/office/drawing/2014/main" id="{BAF3D890-3767-461D-9397-56F61756F481}"/>
              </a:ext>
            </a:extLst>
          </p:cNvPr>
          <p:cNvSpPr>
            <a:spLocks xmlns:a="http://schemas.openxmlformats.org/drawingml/2006/main" noGrp="1"/>
          </p:cNvSpPr>
          <p:nvPr/>
        </p:nvSpPr>
        <p:spPr>
          <a:xfrm xmlns:a="http://schemas.openxmlformats.org/drawingml/2006/main">
            <a:off x="5810250" y="2981325"/>
            <a:ext cx="5667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025" b="0">
                <a:solidFill>
                  <a:srgbClr val="A8BDD4"/>
                </a:solidFill>
                <a:latin typeface="Arial"/>
                <a:ea typeface="Arial"/>
                <a:cs typeface="Arial"/>
              </a:defRPr>
            </a:pPr>
            <a:r>
              <a:rPr sz="2025" b="0">
                <a:solidFill>
                  <a:srgbClr val="A8BDD4"/>
                </a:solidFill>
                <a:latin typeface="Arial"/>
                <a:ea typeface="Arial"/>
                <a:cs typeface="Arial"/>
              </a:rPr>
              <a:t>2. Time capacity remains unverified by the source utilization index</a:t>
            </a:r>
          </a:p>
        </p:txBody>
      </p:sp>
      <p:sp>
        <p:nvSpPr>
          <p:cNvPr id="7" name="">
            <a:extLst xmlns:a="http://schemas.openxmlformats.org/drawingml/2006/main">
              <a:ext uri="{FF2B5EF4-FFF2-40B4-BE49-F238E27FC236}">
                <a16:creationId xmlns:a16="http://schemas.microsoft.com/office/drawing/2014/main" id="{2C19E6DF-38B6-4E87-AC7B-A07E04DC64D0}"/>
              </a:ext>
            </a:extLst>
          </p:cNvPr>
          <p:cNvSpPr>
            <a:spLocks xmlns:a="http://schemas.openxmlformats.org/drawingml/2006/main" noGrp="1"/>
          </p:cNvSpPr>
          <p:nvPr/>
        </p:nvSpPr>
        <p:spPr>
          <a:xfrm xmlns:a="http://schemas.openxmlformats.org/drawingml/2006/main">
            <a:off x="5810250" y="3838575"/>
            <a:ext cx="5667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025" b="0">
                <a:solidFill>
                  <a:srgbClr val="A8BDD4"/>
                </a:solidFill>
                <a:latin typeface="Arial"/>
                <a:ea typeface="Arial"/>
                <a:cs typeface="Arial"/>
              </a:defRPr>
            </a:pPr>
            <a:r>
              <a:rPr sz="2025" b="0">
                <a:solidFill>
                  <a:srgbClr val="A8BDD4"/>
                </a:solidFill>
                <a:latin typeface="Arial"/>
                <a:ea typeface="Arial"/>
                <a:cs typeface="Arial"/>
              </a:rPr>
              <a:t>3. Mix accounts for most of the revenue-per-load decline</a:t>
            </a:r>
          </a:p>
        </p:txBody>
      </p:sp>
      <p:sp>
        <p:nvSpPr>
          <p:cNvPr id="8" name="">
            <a:extLst xmlns:a="http://schemas.openxmlformats.org/drawingml/2006/main">
              <a:ext uri="{FF2B5EF4-FFF2-40B4-BE49-F238E27FC236}">
                <a16:creationId xmlns:a16="http://schemas.microsoft.com/office/drawing/2014/main" id="{A5A08C6A-3B6B-48F5-B690-026C100BC2D3}"/>
              </a:ext>
            </a:extLst>
          </p:cNvPr>
          <p:cNvSpPr>
            <a:spLocks xmlns:a="http://schemas.openxmlformats.org/drawingml/2006/main" noGrp="1"/>
          </p:cNvSpPr>
          <p:nvPr/>
        </p:nvSpPr>
        <p:spPr>
          <a:xfrm xmlns:a="http://schemas.openxmlformats.org/drawingml/2006/main">
            <a:off x="5810250" y="4695825"/>
            <a:ext cx="5667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025" b="0">
                <a:solidFill>
                  <a:srgbClr val="A8BDD4"/>
                </a:solidFill>
                <a:latin typeface="Arial"/>
                <a:ea typeface="Arial"/>
                <a:cs typeface="Arial"/>
              </a:defRPr>
            </a:pPr>
            <a:r>
              <a:rPr sz="2025" b="0">
                <a:solidFill>
                  <a:srgbClr val="A8BDD4"/>
                </a:solidFill>
                <a:latin typeface="Arial"/>
                <a:ea typeface="Arial"/>
                <a:cs typeface="Arial"/>
              </a:rPr>
              <a:t>4. Fuel difference persists after truck-month matching</a:t>
            </a:r>
          </a:p>
        </p:txBody>
      </p:sp>
    </p:spTree>
    <p:extLst>
      <p:ext uri="{BB962C8B-B14F-4D97-AF65-F5344CB8AC3E}">
        <p14:creationId xmlns:p14="http://schemas.microsoft.com/office/powerpoint/2010/main" val="729404436"/>
      </p:ext>
    </p:extLst>
  </p:cSld>
</p:sld>
</file>

<file path=ppt/slides/slide24.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624770-C15C-4326-A0CB-58077C9D7804}"/>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PROPOSED ACTIONS BASED ON THE FINDINGS</a:t>
            </a:r>
          </a:p>
        </p:txBody>
      </p:sp>
      <p:sp>
        <p:nvSpPr>
          <p:cNvPr id="2" name="">
            <a:extLst xmlns:a="http://schemas.openxmlformats.org/drawingml/2006/main">
              <a:ext uri="{FF2B5EF4-FFF2-40B4-BE49-F238E27FC236}">
                <a16:creationId xmlns:a16="http://schemas.microsoft.com/office/drawing/2014/main" id="{6B3528B4-8B30-4B4D-81C5-455BAD8B5E3E}"/>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150" b="1">
                <a:solidFill>
                  <a:srgbClr val="F2F6FF"/>
                </a:solidFill>
                <a:latin typeface="Arial"/>
                <a:ea typeface="Arial"/>
                <a:cs typeface="Arial"/>
              </a:defRPr>
            </a:pPr>
            <a:r>
              <a:rPr sz="3150" b="1">
                <a:solidFill>
                  <a:srgbClr val="F2F6FF"/>
                </a:solidFill>
                <a:latin typeface="Arial"/>
                <a:ea typeface="Arial"/>
                <a:cs typeface="Arial"/>
              </a:rPr>
              <a:t>Recommended actions have owners and testable outcomes</a:t>
            </a:r>
          </a:p>
        </p:txBody>
      </p:sp>
      <p:sp>
        <p:nvSpPr>
          <p:cNvPr id="10" name="">
            <a:extLst xmlns:a="http://schemas.openxmlformats.org/drawingml/2006/main">
              <a:ext uri="{FF2B5EF4-FFF2-40B4-BE49-F238E27FC236}">
                <a16:creationId xmlns:a16="http://schemas.microsoft.com/office/drawing/2014/main" id="{7090D94C-C2C3-4BE4-BBA1-3AD9594AB506}"/>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24</a:t>
            </a:r>
          </a:p>
        </p:txBody>
      </p:sp>
      <p:sp>
        <p:nvSpPr>
          <p:cNvPr id="9" name="">
            <a:extLst xmlns:a="http://schemas.openxmlformats.org/drawingml/2006/main">
              <a:ext uri="{FF2B5EF4-FFF2-40B4-BE49-F238E27FC236}">
                <a16:creationId xmlns:a16="http://schemas.microsoft.com/office/drawing/2014/main" id="{04027B01-CB6C-4A24-9A35-EA61E24F7A55}"/>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Each proposed action has an owner, a baseline and a follow-up KPI</a:t>
            </a:r>
          </a:p>
        </p:txBody>
      </p:sp>
      <p:sp>
        <p:nvSpPr>
          <p:cNvPr id="3" name="">
            <a:extLst xmlns:a="http://schemas.openxmlformats.org/drawingml/2006/main">
              <a:ext uri="{FF2B5EF4-FFF2-40B4-BE49-F238E27FC236}">
                <a16:creationId xmlns:a16="http://schemas.microsoft.com/office/drawing/2014/main" id="{A185D013-B6F7-4F87-B032-F8282E6F04FC}"/>
              </a:ext>
            </a:extLst>
          </p:cNvPr>
          <p:cNvSpPr>
            <a:spLocks xmlns:a="http://schemas.openxmlformats.org/drawingml/2006/main" noGrp="1"/>
          </p:cNvSpPr>
          <p:nvPr/>
        </p:nvSpPr>
        <p:spPr>
          <a:xfrm xmlns:a="http://schemas.openxmlformats.org/drawingml/2006/main">
            <a:off x="571500" y="2428875"/>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5400" b="1">
                <a:solidFill>
                  <a:srgbClr val="074E8C"/>
                </a:solidFill>
                <a:latin typeface="Arial"/>
                <a:ea typeface="Arial"/>
                <a:cs typeface="Arial"/>
              </a:defRPr>
            </a:lvl1pPr>
            <a:lvl2pPr>
              <a:buNone/>
              <a:defRPr sz="5400" b="1">
                <a:solidFill>
                  <a:srgbClr val="074E8C"/>
                </a:solidFill>
                <a:latin typeface="Arial"/>
                <a:ea typeface="Arial"/>
                <a:cs typeface="Arial"/>
              </a:defRPr>
            </a:lvl2pPr>
            <a:lvl3pPr>
              <a:buNone/>
              <a:defRPr sz="5400" b="1">
                <a:solidFill>
                  <a:srgbClr val="074E8C"/>
                </a:solidFill>
                <a:latin typeface="Arial"/>
                <a:ea typeface="Arial"/>
                <a:cs typeface="Arial"/>
              </a:defRPr>
            </a:lvl3pPr>
            <a:lvl4pPr>
              <a:buNone/>
              <a:defRPr sz="5400" b="1">
                <a:solidFill>
                  <a:srgbClr val="074E8C"/>
                </a:solidFill>
                <a:latin typeface="Arial"/>
                <a:ea typeface="Arial"/>
                <a:cs typeface="Arial"/>
              </a:defRPr>
            </a:lvl4pPr>
            <a:lvl5pPr>
              <a:buNone/>
              <a:defRPr sz="5400" b="1">
                <a:solidFill>
                  <a:srgbClr val="074E8C"/>
                </a:solidFill>
                <a:latin typeface="Arial"/>
                <a:ea typeface="Arial"/>
                <a:cs typeface="Arial"/>
              </a:defRPr>
            </a:lvl5pPr>
            <a:lvl6pPr>
              <a:buNone/>
              <a:defRPr sz="5400" b="1">
                <a:solidFill>
                  <a:srgbClr val="074E8C"/>
                </a:solidFill>
                <a:latin typeface="Arial"/>
                <a:ea typeface="Arial"/>
                <a:cs typeface="Arial"/>
              </a:defRPr>
            </a:lvl6pPr>
            <a:lvl7pPr>
              <a:buNone/>
              <a:defRPr sz="5400" b="1">
                <a:solidFill>
                  <a:srgbClr val="074E8C"/>
                </a:solidFill>
                <a:latin typeface="Arial"/>
                <a:ea typeface="Arial"/>
                <a:cs typeface="Arial"/>
              </a:defRPr>
            </a:lvl7pPr>
            <a:lvl8pPr>
              <a:buNone/>
              <a:defRPr sz="5400" b="1">
                <a:solidFill>
                  <a:srgbClr val="074E8C"/>
                </a:solidFill>
                <a:latin typeface="Arial"/>
                <a:ea typeface="Arial"/>
                <a:cs typeface="Arial"/>
              </a:defRPr>
            </a:lvl8pPr>
            <a:lvl9pPr>
              <a:buNone/>
              <a:defRPr sz="5400" b="1">
                <a:solidFill>
                  <a:srgbClr val="074E8C"/>
                </a:solidFill>
                <a:latin typeface="Arial"/>
                <a:ea typeface="Arial"/>
                <a:cs typeface="Arial"/>
              </a:defRPr>
            </a:lvl9pPr>
          </a:lstStyle>
          <a:p xmlns:a="http://schemas.openxmlformats.org/drawingml/2006/main">
            <a:pPr>
              <a:buNone/>
              <a:defRPr sz="10500" b="1">
                <a:solidFill>
                  <a:srgbClr val="3DDCF5"/>
                </a:solidFill>
                <a:latin typeface="Arial"/>
                <a:ea typeface="Arial"/>
                <a:cs typeface="Arial"/>
              </a:defRPr>
            </a:pPr>
            <a:r>
              <a:rPr sz="10500" b="1">
                <a:solidFill>
                  <a:srgbClr val="3DDCF5"/>
                </a:solidFill>
                <a:latin typeface="Arial"/>
                <a:ea typeface="Arial"/>
                <a:cs typeface="Arial"/>
              </a:rPr>
              <a:t>P0</a:t>
            </a:r>
          </a:p>
        </p:txBody>
      </p:sp>
      <p:sp>
        <p:nvSpPr>
          <p:cNvPr id="4" name="">
            <a:extLst xmlns:a="http://schemas.openxmlformats.org/drawingml/2006/main">
              <a:ext uri="{FF2B5EF4-FFF2-40B4-BE49-F238E27FC236}">
                <a16:creationId xmlns:a16="http://schemas.microsoft.com/office/drawing/2014/main" id="{E20F9BF6-1836-4AB9-BE6E-558E74562D95}"/>
              </a:ext>
            </a:extLst>
          </p:cNvPr>
          <p:cNvSpPr>
            <a:spLocks xmlns:a="http://schemas.openxmlformats.org/drawingml/2006/main" noGrp="1"/>
          </p:cNvSpPr>
          <p:nvPr/>
        </p:nvSpPr>
        <p:spPr>
          <a:xfrm xmlns:a="http://schemas.openxmlformats.org/drawingml/2006/main">
            <a:off x="619125" y="40957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546B7C"/>
                </a:solidFill>
                <a:latin typeface="Arial"/>
                <a:ea typeface="Arial"/>
                <a:cs typeface="Arial"/>
              </a:defRPr>
            </a:lvl1pPr>
            <a:lvl2pPr>
              <a:buNone/>
              <a:defRPr sz="1950" b="0">
                <a:solidFill>
                  <a:srgbClr val="546B7C"/>
                </a:solidFill>
                <a:latin typeface="Arial"/>
                <a:ea typeface="Arial"/>
                <a:cs typeface="Arial"/>
              </a:defRPr>
            </a:lvl2pPr>
            <a:lvl3pPr>
              <a:buNone/>
              <a:defRPr sz="1950" b="0">
                <a:solidFill>
                  <a:srgbClr val="546B7C"/>
                </a:solidFill>
                <a:latin typeface="Arial"/>
                <a:ea typeface="Arial"/>
                <a:cs typeface="Arial"/>
              </a:defRPr>
            </a:lvl3pPr>
            <a:lvl4pPr>
              <a:buNone/>
              <a:defRPr sz="1950" b="0">
                <a:solidFill>
                  <a:srgbClr val="546B7C"/>
                </a:solidFill>
                <a:latin typeface="Arial"/>
                <a:ea typeface="Arial"/>
                <a:cs typeface="Arial"/>
              </a:defRPr>
            </a:lvl4pPr>
            <a:lvl5pPr>
              <a:buNone/>
              <a:defRPr sz="1950" b="0">
                <a:solidFill>
                  <a:srgbClr val="546B7C"/>
                </a:solidFill>
                <a:latin typeface="Arial"/>
                <a:ea typeface="Arial"/>
                <a:cs typeface="Arial"/>
              </a:defRPr>
            </a:lvl5pPr>
            <a:lvl6pPr>
              <a:buNone/>
              <a:defRPr sz="1950" b="0">
                <a:solidFill>
                  <a:srgbClr val="546B7C"/>
                </a:solidFill>
                <a:latin typeface="Arial"/>
                <a:ea typeface="Arial"/>
                <a:cs typeface="Arial"/>
              </a:defRPr>
            </a:lvl6pPr>
            <a:lvl7pPr>
              <a:buNone/>
              <a:defRPr sz="1950" b="0">
                <a:solidFill>
                  <a:srgbClr val="546B7C"/>
                </a:solidFill>
                <a:latin typeface="Arial"/>
                <a:ea typeface="Arial"/>
                <a:cs typeface="Arial"/>
              </a:defRPr>
            </a:lvl7pPr>
            <a:lvl8pPr>
              <a:buNone/>
              <a:defRPr sz="1950" b="0">
                <a:solidFill>
                  <a:srgbClr val="546B7C"/>
                </a:solidFill>
                <a:latin typeface="Arial"/>
                <a:ea typeface="Arial"/>
                <a:cs typeface="Arial"/>
              </a:defRPr>
            </a:lvl8pPr>
            <a:lvl9pPr>
              <a:buNone/>
              <a:defRPr sz="1950" b="0">
                <a:solidFill>
                  <a:srgbClr val="546B7C"/>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model corrections</a:t>
            </a:r>
          </a:p>
        </p:txBody>
      </p:sp>
      <p:sp>
        <p:nvSpPr>
          <p:cNvPr id="5" name="">
            <a:extLst xmlns:a="http://schemas.openxmlformats.org/drawingml/2006/main">
              <a:ext uri="{FF2B5EF4-FFF2-40B4-BE49-F238E27FC236}">
                <a16:creationId xmlns:a16="http://schemas.microsoft.com/office/drawing/2014/main" id="{2C6F7C13-EAF2-493A-B0E5-8317D56DE0C4}"/>
              </a:ext>
            </a:extLst>
          </p:cNvPr>
          <p:cNvSpPr>
            <a:spLocks xmlns:a="http://schemas.openxmlformats.org/drawingml/2006/main" noGrp="1"/>
          </p:cNvSpPr>
          <p:nvPr/>
        </p:nvSpPr>
        <p:spPr>
          <a:xfrm xmlns:a="http://schemas.openxmlformats.org/drawingml/2006/main">
            <a:off x="5000625" y="2181225"/>
            <a:ext cx="652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1">
                <a:solidFill>
                  <a:srgbClr val="0A2B43"/>
                </a:solidFill>
                <a:latin typeface="Arial"/>
                <a:ea typeface="Arial"/>
                <a:cs typeface="Arial"/>
              </a:defRPr>
            </a:lvl1pPr>
            <a:lvl2pPr>
              <a:buNone/>
              <a:defRPr sz="2100" b="1">
                <a:solidFill>
                  <a:srgbClr val="0A2B43"/>
                </a:solidFill>
                <a:latin typeface="Arial"/>
                <a:ea typeface="Arial"/>
                <a:cs typeface="Arial"/>
              </a:defRPr>
            </a:lvl2pPr>
            <a:lvl3pPr>
              <a:buNone/>
              <a:defRPr sz="2100" b="1">
                <a:solidFill>
                  <a:srgbClr val="0A2B43"/>
                </a:solidFill>
                <a:latin typeface="Arial"/>
                <a:ea typeface="Arial"/>
                <a:cs typeface="Arial"/>
              </a:defRPr>
            </a:lvl3pPr>
            <a:lvl4pPr>
              <a:buNone/>
              <a:defRPr sz="2100" b="1">
                <a:solidFill>
                  <a:srgbClr val="0A2B43"/>
                </a:solidFill>
                <a:latin typeface="Arial"/>
                <a:ea typeface="Arial"/>
                <a:cs typeface="Arial"/>
              </a:defRPr>
            </a:lvl4pPr>
            <a:lvl5pPr>
              <a:buNone/>
              <a:defRPr sz="2100" b="1">
                <a:solidFill>
                  <a:srgbClr val="0A2B43"/>
                </a:solidFill>
                <a:latin typeface="Arial"/>
                <a:ea typeface="Arial"/>
                <a:cs typeface="Arial"/>
              </a:defRPr>
            </a:lvl5pPr>
            <a:lvl6pPr>
              <a:buNone/>
              <a:defRPr sz="2100" b="1">
                <a:solidFill>
                  <a:srgbClr val="0A2B43"/>
                </a:solidFill>
                <a:latin typeface="Arial"/>
                <a:ea typeface="Arial"/>
                <a:cs typeface="Arial"/>
              </a:defRPr>
            </a:lvl6pPr>
            <a:lvl7pPr>
              <a:buNone/>
              <a:defRPr sz="2100" b="1">
                <a:solidFill>
                  <a:srgbClr val="0A2B43"/>
                </a:solidFill>
                <a:latin typeface="Arial"/>
                <a:ea typeface="Arial"/>
                <a:cs typeface="Arial"/>
              </a:defRPr>
            </a:lvl7pPr>
            <a:lvl8pPr>
              <a:buNone/>
              <a:defRPr sz="2100" b="1">
                <a:solidFill>
                  <a:srgbClr val="0A2B43"/>
                </a:solidFill>
                <a:latin typeface="Arial"/>
                <a:ea typeface="Arial"/>
                <a:cs typeface="Arial"/>
              </a:defRPr>
            </a:lvl8pPr>
            <a:lvl9pPr>
              <a:buNone/>
              <a:defRPr sz="2100" b="1">
                <a:solidFill>
                  <a:srgbClr val="0A2B43"/>
                </a:solidFill>
                <a:latin typeface="Arial"/>
                <a:ea typeface="Arial"/>
                <a:cs typeface="Arial"/>
              </a:defRPr>
            </a:lvl9pPr>
          </a:lstStyle>
          <a:p xmlns:a="http://schemas.openxmlformats.org/drawingml/2006/main">
            <a:pPr>
              <a:buNone/>
              <a:defRPr sz="2100" b="1">
                <a:solidFill>
                  <a:srgbClr val="F2F6FF"/>
                </a:solidFill>
                <a:latin typeface="Arial"/>
                <a:ea typeface="Arial"/>
                <a:cs typeface="Arial"/>
              </a:defRPr>
            </a:pPr>
            <a:r>
              <a:rPr sz="2100" b="1">
                <a:solidFill>
                  <a:srgbClr val="F2F6FF"/>
                </a:solidFill>
                <a:latin typeface="Arial"/>
                <a:ea typeface="Arial"/>
                <a:cs typeface="Arial"/>
              </a:rPr>
              <a:t>BI + Operations: validate metric meaning, dates and stop mappings</a:t>
            </a:r>
          </a:p>
        </p:txBody>
      </p:sp>
      <p:sp>
        <p:nvSpPr>
          <p:cNvPr id="6" name="">
            <a:extLst xmlns:a="http://schemas.openxmlformats.org/drawingml/2006/main">
              <a:ext uri="{FF2B5EF4-FFF2-40B4-BE49-F238E27FC236}">
                <a16:creationId xmlns:a16="http://schemas.microsoft.com/office/drawing/2014/main" id="{6B9A97FA-CF38-495E-B1D6-B6C05A39D87B}"/>
              </a:ext>
            </a:extLst>
          </p:cNvPr>
          <p:cNvSpPr>
            <a:spLocks xmlns:a="http://schemas.openxmlformats.org/drawingml/2006/main" noGrp="1"/>
          </p:cNvSpPr>
          <p:nvPr/>
        </p:nvSpPr>
        <p:spPr>
          <a:xfrm xmlns:a="http://schemas.openxmlformats.org/drawingml/2006/main">
            <a:off x="5000625" y="3038475"/>
            <a:ext cx="652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Fleet + Finance: reconcile fuel balance and unknown keys</a:t>
            </a:r>
          </a:p>
        </p:txBody>
      </p:sp>
      <p:sp>
        <p:nvSpPr>
          <p:cNvPr id="7" name="">
            <a:extLst xmlns:a="http://schemas.openxmlformats.org/drawingml/2006/main">
              <a:ext uri="{FF2B5EF4-FFF2-40B4-BE49-F238E27FC236}">
                <a16:creationId xmlns:a16="http://schemas.microsoft.com/office/drawing/2014/main" id="{63E8E704-A560-422E-BA15-1DFF5E213966}"/>
              </a:ext>
            </a:extLst>
          </p:cNvPr>
          <p:cNvSpPr>
            <a:spLocks xmlns:a="http://schemas.openxmlformats.org/drawingml/2006/main" noGrp="1"/>
          </p:cNvSpPr>
          <p:nvPr/>
        </p:nvSpPr>
        <p:spPr>
          <a:xfrm xmlns:a="http://schemas.openxmlformats.org/drawingml/2006/main">
            <a:off x="5000625" y="3895725"/>
            <a:ext cx="652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Commercial: test matched yield and define the pricing lever</a:t>
            </a:r>
          </a:p>
        </p:txBody>
      </p:sp>
      <p:sp>
        <p:nvSpPr>
          <p:cNvPr id="8" name="">
            <a:extLst xmlns:a="http://schemas.openxmlformats.org/drawingml/2006/main">
              <a:ext uri="{FF2B5EF4-FFF2-40B4-BE49-F238E27FC236}">
                <a16:creationId xmlns:a16="http://schemas.microsoft.com/office/drawing/2014/main" id="{4FB2CDB9-2AAA-4232-9ED6-E04698A7EE2A}"/>
              </a:ext>
            </a:extLst>
          </p:cNvPr>
          <p:cNvSpPr>
            <a:spLocks xmlns:a="http://schemas.openxmlformats.org/drawingml/2006/main" noGrp="1"/>
          </p:cNvSpPr>
          <p:nvPr/>
        </p:nvSpPr>
        <p:spPr>
          <a:xfrm xmlns:a="http://schemas.openxmlformats.org/drawingml/2006/main">
            <a:off x="5000625" y="4752975"/>
            <a:ext cx="652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Operations + Safety: pilot supported changes and review cases</a:t>
            </a:r>
          </a:p>
        </p:txBody>
      </p:sp>
    </p:spTree>
    <p:extLst>
      <p:ext uri="{BB962C8B-B14F-4D97-AF65-F5344CB8AC3E}">
        <p14:creationId xmlns:p14="http://schemas.microsoft.com/office/powerpoint/2010/main" val="554565691"/>
      </p:ext>
    </p:extLst>
  </p:cSld>
</p:sld>
</file>

<file path=ppt/slides/slide25.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BBDA67-A194-4018-BE18-B23714145DE6}"/>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SUGGESTED SEQUENCE AND ACCOUNTABILITY</a:t>
            </a:r>
          </a:p>
        </p:txBody>
      </p:sp>
      <p:sp>
        <p:nvSpPr>
          <p:cNvPr id="2" name="">
            <a:extLst xmlns:a="http://schemas.openxmlformats.org/drawingml/2006/main">
              <a:ext uri="{FF2B5EF4-FFF2-40B4-BE49-F238E27FC236}">
                <a16:creationId xmlns:a16="http://schemas.microsoft.com/office/drawing/2014/main" id="{0473081F-79EF-4552-8E44-1B3A566F2884}"/>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A staged roadmap separates validation from optimization</a:t>
            </a:r>
          </a:p>
        </p:txBody>
      </p:sp>
      <p:sp>
        <p:nvSpPr>
          <p:cNvPr id="10" name="">
            <a:extLst xmlns:a="http://schemas.openxmlformats.org/drawingml/2006/main">
              <a:ext uri="{FF2B5EF4-FFF2-40B4-BE49-F238E27FC236}">
                <a16:creationId xmlns:a16="http://schemas.microsoft.com/office/drawing/2014/main" id="{8F2F142B-C849-4DAE-B92C-B7CA3EFC8554}"/>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25</a:t>
            </a:r>
          </a:p>
        </p:txBody>
      </p:sp>
      <p:sp>
        <p:nvSpPr>
          <p:cNvPr id="9" name="">
            <a:extLst xmlns:a="http://schemas.openxmlformats.org/drawingml/2006/main">
              <a:ext uri="{FF2B5EF4-FFF2-40B4-BE49-F238E27FC236}">
                <a16:creationId xmlns:a16="http://schemas.microsoft.com/office/drawing/2014/main" id="{3C72AD50-5088-4350-9561-EC2903A132DD}"/>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Timings are proposed; business owners must approve targets, resources and rollout</a:t>
            </a:r>
          </a:p>
        </p:txBody>
      </p:sp>
      <p:sp>
        <p:nvSpPr>
          <p:cNvPr id="3" name="">
            <a:extLst xmlns:a="http://schemas.openxmlformats.org/drawingml/2006/main">
              <a:ext uri="{FF2B5EF4-FFF2-40B4-BE49-F238E27FC236}">
                <a16:creationId xmlns:a16="http://schemas.microsoft.com/office/drawing/2014/main" id="{FA70B836-A6C3-4F9B-84F6-21D865E2343D}"/>
              </a:ext>
            </a:extLst>
          </p:cNvPr>
          <p:cNvSpPr>
            <a:spLocks xmlns:a="http://schemas.openxmlformats.org/drawingml/2006/main" noGrp="1"/>
          </p:cNvSpPr>
          <p:nvPr/>
        </p:nvSpPr>
        <p:spPr>
          <a:xfrm xmlns:a="http://schemas.openxmlformats.org/drawingml/2006/main">
            <a:off x="571500" y="1876425"/>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5400" b="1">
                <a:solidFill>
                  <a:srgbClr val="074E8C"/>
                </a:solidFill>
                <a:latin typeface="Arial"/>
                <a:ea typeface="Arial"/>
                <a:cs typeface="Arial"/>
              </a:defRPr>
            </a:lvl1pPr>
            <a:lvl2pPr>
              <a:buNone/>
              <a:defRPr sz="5400" b="1">
                <a:solidFill>
                  <a:srgbClr val="074E8C"/>
                </a:solidFill>
                <a:latin typeface="Arial"/>
                <a:ea typeface="Arial"/>
                <a:cs typeface="Arial"/>
              </a:defRPr>
            </a:lvl2pPr>
            <a:lvl3pPr>
              <a:buNone/>
              <a:defRPr sz="5400" b="1">
                <a:solidFill>
                  <a:srgbClr val="074E8C"/>
                </a:solidFill>
                <a:latin typeface="Arial"/>
                <a:ea typeface="Arial"/>
                <a:cs typeface="Arial"/>
              </a:defRPr>
            </a:lvl3pPr>
            <a:lvl4pPr>
              <a:buNone/>
              <a:defRPr sz="5400" b="1">
                <a:solidFill>
                  <a:srgbClr val="074E8C"/>
                </a:solidFill>
                <a:latin typeface="Arial"/>
                <a:ea typeface="Arial"/>
                <a:cs typeface="Arial"/>
              </a:defRPr>
            </a:lvl4pPr>
            <a:lvl5pPr>
              <a:buNone/>
              <a:defRPr sz="5400" b="1">
                <a:solidFill>
                  <a:srgbClr val="074E8C"/>
                </a:solidFill>
                <a:latin typeface="Arial"/>
                <a:ea typeface="Arial"/>
                <a:cs typeface="Arial"/>
              </a:defRPr>
            </a:lvl5pPr>
            <a:lvl6pPr>
              <a:buNone/>
              <a:defRPr sz="5400" b="1">
                <a:solidFill>
                  <a:srgbClr val="074E8C"/>
                </a:solidFill>
                <a:latin typeface="Arial"/>
                <a:ea typeface="Arial"/>
                <a:cs typeface="Arial"/>
              </a:defRPr>
            </a:lvl6pPr>
            <a:lvl7pPr>
              <a:buNone/>
              <a:defRPr sz="5400" b="1">
                <a:solidFill>
                  <a:srgbClr val="074E8C"/>
                </a:solidFill>
                <a:latin typeface="Arial"/>
                <a:ea typeface="Arial"/>
                <a:cs typeface="Arial"/>
              </a:defRPr>
            </a:lvl7pPr>
            <a:lvl8pPr>
              <a:buNone/>
              <a:defRPr sz="5400" b="1">
                <a:solidFill>
                  <a:srgbClr val="074E8C"/>
                </a:solidFill>
                <a:latin typeface="Arial"/>
                <a:ea typeface="Arial"/>
                <a:cs typeface="Arial"/>
              </a:defRPr>
            </a:lvl8pPr>
            <a:lvl9pPr>
              <a:buNone/>
              <a:defRPr sz="5400" b="1">
                <a:solidFill>
                  <a:srgbClr val="074E8C"/>
                </a:solidFill>
                <a:latin typeface="Arial"/>
                <a:ea typeface="Arial"/>
                <a:cs typeface="Arial"/>
              </a:defRPr>
            </a:lvl9pPr>
          </a:lstStyle>
          <a:p xmlns:a="http://schemas.openxmlformats.org/drawingml/2006/main">
            <a:pPr>
              <a:buNone/>
              <a:defRPr sz="5925" b="1">
                <a:solidFill>
                  <a:srgbClr val="3DDCF5"/>
                </a:solidFill>
                <a:latin typeface="Arial"/>
                <a:ea typeface="Arial"/>
                <a:cs typeface="Arial"/>
              </a:defRPr>
            </a:pPr>
            <a:r>
              <a:rPr sz="5925" b="1">
                <a:solidFill>
                  <a:srgbClr val="3DDCF5"/>
                </a:solidFill>
                <a:latin typeface="Arial"/>
                <a:ea typeface="Arial"/>
                <a:cs typeface="Arial"/>
              </a:rPr>
              <a:t>6 weeks</a:t>
            </a:r>
          </a:p>
        </p:txBody>
      </p:sp>
      <p:sp>
        <p:nvSpPr>
          <p:cNvPr id="4" name="">
            <a:extLst xmlns:a="http://schemas.openxmlformats.org/drawingml/2006/main">
              <a:ext uri="{FF2B5EF4-FFF2-40B4-BE49-F238E27FC236}">
                <a16:creationId xmlns:a16="http://schemas.microsoft.com/office/drawing/2014/main" id="{DD304E81-CD9C-4855-B0A8-B5F9A78D1F6A}"/>
              </a:ext>
            </a:extLst>
          </p:cNvPr>
          <p:cNvSpPr>
            <a:spLocks xmlns:a="http://schemas.openxmlformats.org/drawingml/2006/main" noGrp="1"/>
          </p:cNvSpPr>
          <p:nvPr/>
        </p:nvSpPr>
        <p:spPr>
          <a:xfrm xmlns:a="http://schemas.openxmlformats.org/drawingml/2006/main">
            <a:off x="4762500" y="220980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546B7C"/>
                </a:solidFill>
                <a:latin typeface="Arial"/>
                <a:ea typeface="Arial"/>
                <a:cs typeface="Arial"/>
              </a:defRPr>
            </a:lvl1pPr>
            <a:lvl2pPr>
              <a:buNone/>
              <a:defRPr sz="1950" b="0">
                <a:solidFill>
                  <a:srgbClr val="546B7C"/>
                </a:solidFill>
                <a:latin typeface="Arial"/>
                <a:ea typeface="Arial"/>
                <a:cs typeface="Arial"/>
              </a:defRPr>
            </a:lvl2pPr>
            <a:lvl3pPr>
              <a:buNone/>
              <a:defRPr sz="1950" b="0">
                <a:solidFill>
                  <a:srgbClr val="546B7C"/>
                </a:solidFill>
                <a:latin typeface="Arial"/>
                <a:ea typeface="Arial"/>
                <a:cs typeface="Arial"/>
              </a:defRPr>
            </a:lvl3pPr>
            <a:lvl4pPr>
              <a:buNone/>
              <a:defRPr sz="1950" b="0">
                <a:solidFill>
                  <a:srgbClr val="546B7C"/>
                </a:solidFill>
                <a:latin typeface="Arial"/>
                <a:ea typeface="Arial"/>
                <a:cs typeface="Arial"/>
              </a:defRPr>
            </a:lvl4pPr>
            <a:lvl5pPr>
              <a:buNone/>
              <a:defRPr sz="1950" b="0">
                <a:solidFill>
                  <a:srgbClr val="546B7C"/>
                </a:solidFill>
                <a:latin typeface="Arial"/>
                <a:ea typeface="Arial"/>
                <a:cs typeface="Arial"/>
              </a:defRPr>
            </a:lvl5pPr>
            <a:lvl6pPr>
              <a:buNone/>
              <a:defRPr sz="1950" b="0">
                <a:solidFill>
                  <a:srgbClr val="546B7C"/>
                </a:solidFill>
                <a:latin typeface="Arial"/>
                <a:ea typeface="Arial"/>
                <a:cs typeface="Arial"/>
              </a:defRPr>
            </a:lvl6pPr>
            <a:lvl7pPr>
              <a:buNone/>
              <a:defRPr sz="1950" b="0">
                <a:solidFill>
                  <a:srgbClr val="546B7C"/>
                </a:solidFill>
                <a:latin typeface="Arial"/>
                <a:ea typeface="Arial"/>
                <a:cs typeface="Arial"/>
              </a:defRPr>
            </a:lvl7pPr>
            <a:lvl8pPr>
              <a:buNone/>
              <a:defRPr sz="1950" b="0">
                <a:solidFill>
                  <a:srgbClr val="546B7C"/>
                </a:solidFill>
                <a:latin typeface="Arial"/>
                <a:ea typeface="Arial"/>
                <a:cs typeface="Arial"/>
              </a:defRPr>
            </a:lvl8pPr>
            <a:lvl9pPr>
              <a:buNone/>
              <a:defRPr sz="1950" b="0">
                <a:solidFill>
                  <a:srgbClr val="546B7C"/>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suggested initial validation and pilot period</a:t>
            </a:r>
          </a:p>
        </p:txBody>
      </p:sp>
      <p:sp>
        <p:nvSpPr>
          <p:cNvPr id="12" name="design-33">
            <a:extLst xmlns:a="http://schemas.openxmlformats.org/drawingml/2006/main">
              <a:ext uri="{FF2B5EF4-FFF2-40B4-BE49-F238E27FC236}">
                <a16:creationId xmlns:a16="http://schemas.microsoft.com/office/drawing/2014/main" id="{21683E07-6F46-477B-A4EB-A0318F2CBDAD}"/>
              </a:ext>
            </a:extLst>
          </p:cNvPr>
          <p:cNvSpPr>
            <a:spLocks xmlns:a="http://schemas.openxmlformats.org/drawingml/2006/main" noGrp="1"/>
          </p:cNvSpPr>
          <p:nvPr/>
        </p:nvSpPr>
        <p:spPr>
          <a:xfrm xmlns:a="http://schemas.openxmlformats.org/drawingml/2006/main">
            <a:off x="571500" y="3190875"/>
            <a:ext cx="10858500" cy="19050"/>
          </a:xfrm>
          <a:prstGeom xmlns:a="http://schemas.openxmlformats.org/drawingml/2006/main" prst="rect">
            <a:avLst/>
          </a:prstGeom>
          <a:solidFill xmlns:a="http://schemas.openxmlformats.org/drawingml/2006/main">
            <a:srgbClr val="3278FF"/>
          </a:solidFill>
          <a:ln xmlns:a="http://schemas.openxmlformats.org/drawingml/2006/main" w="0">
            <a:noFill/>
          </a:ln>
        </p:spPr>
      </p:sp>
      <p:sp>
        <p:nvSpPr>
          <p:cNvPr id="13" name="design-34">
            <a:extLst xmlns:a="http://schemas.openxmlformats.org/drawingml/2006/main">
              <a:ext uri="{FF2B5EF4-FFF2-40B4-BE49-F238E27FC236}">
                <a16:creationId xmlns:a16="http://schemas.microsoft.com/office/drawing/2014/main" id="{46E2D6F8-399C-4532-A335-07C5B746C035}"/>
              </a:ext>
            </a:extLst>
          </p:cNvPr>
          <p:cNvSpPr>
            <a:spLocks xmlns:a="http://schemas.openxmlformats.org/drawingml/2006/main" noGrp="1"/>
          </p:cNvSpPr>
          <p:nvPr/>
        </p:nvSpPr>
        <p:spPr>
          <a:xfrm xmlns:a="http://schemas.openxmlformats.org/drawingml/2006/main">
            <a:off x="571500" y="3124200"/>
            <a:ext cx="152400" cy="152400"/>
          </a:xfrm>
          <a:prstGeom xmlns:a="http://schemas.openxmlformats.org/drawingml/2006/main" prst="ellipse">
            <a:avLst/>
          </a:prstGeom>
          <a:solidFill xmlns:a="http://schemas.openxmlformats.org/drawingml/2006/main">
            <a:srgbClr val="3DDC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2DD585-7EDB-4957-B5DC-D79F62178D78}"/>
              </a:ext>
            </a:extLst>
          </p:cNvPr>
          <p:cNvSpPr>
            <a:spLocks xmlns:a="http://schemas.openxmlformats.org/drawingml/2006/main" noGrp="1"/>
          </p:cNvSpPr>
          <p:nvPr/>
        </p:nvSpPr>
        <p:spPr>
          <a:xfrm xmlns:a="http://schemas.openxmlformats.org/drawingml/2006/main">
            <a:off x="571500" y="35242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1">
                <a:solidFill>
                  <a:srgbClr val="0A2B43"/>
                </a:solidFill>
                <a:latin typeface="Arial"/>
                <a:ea typeface="Arial"/>
                <a:cs typeface="Arial"/>
              </a:defRPr>
            </a:lvl1pPr>
            <a:lvl2pPr>
              <a:buNone/>
              <a:defRPr sz="2100" b="1">
                <a:solidFill>
                  <a:srgbClr val="0A2B43"/>
                </a:solidFill>
                <a:latin typeface="Arial"/>
                <a:ea typeface="Arial"/>
                <a:cs typeface="Arial"/>
              </a:defRPr>
            </a:lvl2pPr>
            <a:lvl3pPr>
              <a:buNone/>
              <a:defRPr sz="2100" b="1">
                <a:solidFill>
                  <a:srgbClr val="0A2B43"/>
                </a:solidFill>
                <a:latin typeface="Arial"/>
                <a:ea typeface="Arial"/>
                <a:cs typeface="Arial"/>
              </a:defRPr>
            </a:lvl3pPr>
            <a:lvl4pPr>
              <a:buNone/>
              <a:defRPr sz="2100" b="1">
                <a:solidFill>
                  <a:srgbClr val="0A2B43"/>
                </a:solidFill>
                <a:latin typeface="Arial"/>
                <a:ea typeface="Arial"/>
                <a:cs typeface="Arial"/>
              </a:defRPr>
            </a:lvl4pPr>
            <a:lvl5pPr>
              <a:buNone/>
              <a:defRPr sz="2100" b="1">
                <a:solidFill>
                  <a:srgbClr val="0A2B43"/>
                </a:solidFill>
                <a:latin typeface="Arial"/>
                <a:ea typeface="Arial"/>
                <a:cs typeface="Arial"/>
              </a:defRPr>
            </a:lvl5pPr>
            <a:lvl6pPr>
              <a:buNone/>
              <a:defRPr sz="2100" b="1">
                <a:solidFill>
                  <a:srgbClr val="0A2B43"/>
                </a:solidFill>
                <a:latin typeface="Arial"/>
                <a:ea typeface="Arial"/>
                <a:cs typeface="Arial"/>
              </a:defRPr>
            </a:lvl6pPr>
            <a:lvl7pPr>
              <a:buNone/>
              <a:defRPr sz="2100" b="1">
                <a:solidFill>
                  <a:srgbClr val="0A2B43"/>
                </a:solidFill>
                <a:latin typeface="Arial"/>
                <a:ea typeface="Arial"/>
                <a:cs typeface="Arial"/>
              </a:defRPr>
            </a:lvl7pPr>
            <a:lvl8pPr>
              <a:buNone/>
              <a:defRPr sz="2100" b="1">
                <a:solidFill>
                  <a:srgbClr val="0A2B43"/>
                </a:solidFill>
                <a:latin typeface="Arial"/>
                <a:ea typeface="Arial"/>
                <a:cs typeface="Arial"/>
              </a:defRPr>
            </a:lvl8pPr>
            <a:lvl9pPr>
              <a:buNone/>
              <a:defRPr sz="2100" b="1">
                <a:solidFill>
                  <a:srgbClr val="0A2B43"/>
                </a:solidFill>
                <a:latin typeface="Arial"/>
                <a:ea typeface="Arial"/>
                <a:cs typeface="Arial"/>
              </a:defRPr>
            </a:lvl9pPr>
          </a:lstStyle>
          <a:p xmlns:a="http://schemas.openxmlformats.org/drawingml/2006/main">
            <a:pPr>
              <a:buNone/>
              <a:defRPr sz="2025" b="0">
                <a:solidFill>
                  <a:srgbClr val="F2F6FF"/>
                </a:solidFill>
                <a:latin typeface="Arial"/>
                <a:ea typeface="Arial"/>
                <a:cs typeface="Arial"/>
              </a:defRPr>
            </a:pPr>
            <a:r>
              <a:rPr sz="2025" b="0">
                <a:solidFill>
                  <a:srgbClr val="F2F6FF"/>
                </a:solidFill>
                <a:latin typeface="Arial"/>
                <a:ea typeface="Arial"/>
                <a:cs typeface="Arial"/>
              </a:rPr>
              <a:t>Short term: validate dates, keys and KPI definitions</a:t>
            </a:r>
          </a:p>
        </p:txBody>
      </p:sp>
      <p:sp>
        <p:nvSpPr>
          <p:cNvPr id="14" name="design-35">
            <a:extLst xmlns:a="http://schemas.openxmlformats.org/drawingml/2006/main">
              <a:ext uri="{FF2B5EF4-FFF2-40B4-BE49-F238E27FC236}">
                <a16:creationId xmlns:a16="http://schemas.microsoft.com/office/drawing/2014/main" id="{0334D62E-41C1-4B1F-98E5-4E48AD5E35CB}"/>
              </a:ext>
            </a:extLst>
          </p:cNvPr>
          <p:cNvSpPr>
            <a:spLocks xmlns:a="http://schemas.openxmlformats.org/drawingml/2006/main" noGrp="1"/>
          </p:cNvSpPr>
          <p:nvPr/>
        </p:nvSpPr>
        <p:spPr>
          <a:xfrm xmlns:a="http://schemas.openxmlformats.org/drawingml/2006/main">
            <a:off x="4343400" y="3124200"/>
            <a:ext cx="152400" cy="152400"/>
          </a:xfrm>
          <a:prstGeom xmlns:a="http://schemas.openxmlformats.org/drawingml/2006/main" prst="ellipse">
            <a:avLst/>
          </a:prstGeom>
          <a:solidFill xmlns:a="http://schemas.openxmlformats.org/drawingml/2006/main">
            <a:srgbClr val="3278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2564D62-F9B9-46B3-9493-31DC465FC8C5}"/>
              </a:ext>
            </a:extLst>
          </p:cNvPr>
          <p:cNvSpPr>
            <a:spLocks xmlns:a="http://schemas.openxmlformats.org/drawingml/2006/main" noGrp="1"/>
          </p:cNvSpPr>
          <p:nvPr/>
        </p:nvSpPr>
        <p:spPr>
          <a:xfrm xmlns:a="http://schemas.openxmlformats.org/drawingml/2006/main">
            <a:off x="4343400" y="35242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025" b="0">
                <a:solidFill>
                  <a:srgbClr val="F2F6FF"/>
                </a:solidFill>
                <a:latin typeface="Arial"/>
                <a:ea typeface="Arial"/>
                <a:cs typeface="Arial"/>
              </a:defRPr>
            </a:pPr>
            <a:r>
              <a:rPr sz="2025" b="0">
                <a:solidFill>
                  <a:srgbClr val="F2F6FF"/>
                </a:solidFill>
                <a:latin typeface="Arial"/>
                <a:ea typeface="Arial"/>
                <a:cs typeface="Arial"/>
              </a:rPr>
              <a:t>Medium term: reconcile fuel and pilot supported changes</a:t>
            </a:r>
          </a:p>
        </p:txBody>
      </p:sp>
      <p:sp>
        <p:nvSpPr>
          <p:cNvPr id="15" name="design-36">
            <a:extLst xmlns:a="http://schemas.openxmlformats.org/drawingml/2006/main">
              <a:ext uri="{FF2B5EF4-FFF2-40B4-BE49-F238E27FC236}">
                <a16:creationId xmlns:a16="http://schemas.microsoft.com/office/drawing/2014/main" id="{4178F835-A488-4982-A27B-4310824E91ED}"/>
              </a:ext>
            </a:extLst>
          </p:cNvPr>
          <p:cNvSpPr>
            <a:spLocks xmlns:a="http://schemas.openxmlformats.org/drawingml/2006/main" noGrp="1"/>
          </p:cNvSpPr>
          <p:nvPr/>
        </p:nvSpPr>
        <p:spPr>
          <a:xfrm xmlns:a="http://schemas.openxmlformats.org/drawingml/2006/main">
            <a:off x="8115300" y="3124200"/>
            <a:ext cx="152400" cy="152400"/>
          </a:xfrm>
          <a:prstGeom xmlns:a="http://schemas.openxmlformats.org/drawingml/2006/main" prst="ellipse">
            <a:avLst/>
          </a:prstGeom>
          <a:solidFill xmlns:a="http://schemas.openxmlformats.org/drawingml/2006/main">
            <a:srgbClr val="3DDC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C951808-6DFF-428F-9DFF-12A1A74F9E51}"/>
              </a:ext>
            </a:extLst>
          </p:cNvPr>
          <p:cNvSpPr>
            <a:spLocks xmlns:a="http://schemas.openxmlformats.org/drawingml/2006/main" noGrp="1"/>
          </p:cNvSpPr>
          <p:nvPr/>
        </p:nvSpPr>
        <p:spPr>
          <a:xfrm xmlns:a="http://schemas.openxmlformats.org/drawingml/2006/main">
            <a:off x="8115300" y="35242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025" b="0">
                <a:solidFill>
                  <a:srgbClr val="F2F6FF"/>
                </a:solidFill>
                <a:latin typeface="Arial"/>
                <a:ea typeface="Arial"/>
                <a:cs typeface="Arial"/>
              </a:defRPr>
            </a:pPr>
            <a:r>
              <a:rPr sz="2025" b="0">
                <a:solidFill>
                  <a:srgbClr val="F2F6FF"/>
                </a:solidFill>
                <a:latin typeface="Arial"/>
                <a:ea typeface="Arial"/>
                <a:cs typeface="Arial"/>
              </a:rPr>
              <a:t>Long term: add availability data and governed cost allocation</a:t>
            </a:r>
          </a:p>
        </p:txBody>
      </p:sp>
      <p:sp>
        <p:nvSpPr>
          <p:cNvPr id="8" name="">
            <a:extLst xmlns:a="http://schemas.openxmlformats.org/drawingml/2006/main">
              <a:ext uri="{FF2B5EF4-FFF2-40B4-BE49-F238E27FC236}">
                <a16:creationId xmlns:a16="http://schemas.microsoft.com/office/drawing/2014/main" id="{82E03D80-5822-4831-AF1A-8BF670D7F859}"/>
              </a:ext>
            </a:extLst>
          </p:cNvPr>
          <p:cNvSpPr>
            <a:spLocks xmlns:a="http://schemas.openxmlformats.org/drawingml/2006/main" noGrp="1"/>
          </p:cNvSpPr>
          <p:nvPr/>
        </p:nvSpPr>
        <p:spPr>
          <a:xfrm xmlns:a="http://schemas.openxmlformats.org/drawingml/2006/main">
            <a:off x="571500" y="50577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Weekly review: OTD, lateness, fuel variance and yield</a:t>
            </a:r>
          </a:p>
        </p:txBody>
      </p:sp>
    </p:spTree>
    <p:extLst>
      <p:ext uri="{BB962C8B-B14F-4D97-AF65-F5344CB8AC3E}">
        <p14:creationId xmlns:p14="http://schemas.microsoft.com/office/powerpoint/2010/main" val="271671885"/>
      </p:ext>
    </p:extLst>
  </p:cSld>
</p:sld>
</file>

<file path=ppt/slides/slide26.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B573FA-FE46-4C38-B050-FF490F00866E}"/>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WHAT THE CURRENT EVIDENCE CAN SUPPORT</a:t>
            </a:r>
          </a:p>
        </p:txBody>
      </p:sp>
      <p:sp>
        <p:nvSpPr>
          <p:cNvPr id="2" name="">
            <a:extLst xmlns:a="http://schemas.openxmlformats.org/drawingml/2006/main">
              <a:ext uri="{FF2B5EF4-FFF2-40B4-BE49-F238E27FC236}">
                <a16:creationId xmlns:a16="http://schemas.microsoft.com/office/drawing/2014/main" id="{41DAA03F-2ABE-4DAF-A28B-902833CF164E}"/>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Data limitations define the boundary of each conclusion</a:t>
            </a:r>
          </a:p>
        </p:txBody>
      </p:sp>
      <p:sp>
        <p:nvSpPr>
          <p:cNvPr id="10" name="">
            <a:extLst xmlns:a="http://schemas.openxmlformats.org/drawingml/2006/main">
              <a:ext uri="{FF2B5EF4-FFF2-40B4-BE49-F238E27FC236}">
                <a16:creationId xmlns:a16="http://schemas.microsoft.com/office/drawing/2014/main" id="{9C9853FC-0F16-453B-BACF-1FDF5E3BC01E}"/>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26</a:t>
            </a:r>
          </a:p>
        </p:txBody>
      </p:sp>
      <p:sp>
        <p:nvSpPr>
          <p:cNvPr id="9" name="">
            <a:extLst xmlns:a="http://schemas.openxmlformats.org/drawingml/2006/main">
              <a:ext uri="{FF2B5EF4-FFF2-40B4-BE49-F238E27FC236}">
                <a16:creationId xmlns:a16="http://schemas.microsoft.com/office/drawing/2014/main" id="{AB8A05EA-1C37-4961-9F69-56142692F729}"/>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Sensitivity tests preserve uncertain records; they do not establish a verified cleaning fix</a:t>
            </a:r>
          </a:p>
        </p:txBody>
      </p:sp>
      <p:sp>
        <p:nvSpPr>
          <p:cNvPr id="3" name="">
            <a:extLst xmlns:a="http://schemas.openxmlformats.org/drawingml/2006/main">
              <a:ext uri="{FF2B5EF4-FFF2-40B4-BE49-F238E27FC236}">
                <a16:creationId xmlns:a16="http://schemas.microsoft.com/office/drawing/2014/main" id="{6F244683-35C9-4941-B6F0-BFA058FD0F77}"/>
              </a:ext>
            </a:extLst>
          </p:cNvPr>
          <p:cNvSpPr>
            <a:spLocks xmlns:a="http://schemas.openxmlformats.org/drawingml/2006/main" noGrp="1"/>
          </p:cNvSpPr>
          <p:nvPr/>
        </p:nvSpPr>
        <p:spPr>
          <a:xfrm xmlns:a="http://schemas.openxmlformats.org/drawingml/2006/main">
            <a:off x="571500" y="2324100"/>
            <a:ext cx="438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5400" b="1">
                <a:solidFill>
                  <a:srgbClr val="074E8C"/>
                </a:solidFill>
                <a:latin typeface="Arial"/>
                <a:ea typeface="Arial"/>
                <a:cs typeface="Arial"/>
              </a:defRPr>
            </a:lvl1pPr>
            <a:lvl2pPr>
              <a:buNone/>
              <a:defRPr sz="5400" b="1">
                <a:solidFill>
                  <a:srgbClr val="074E8C"/>
                </a:solidFill>
                <a:latin typeface="Arial"/>
                <a:ea typeface="Arial"/>
                <a:cs typeface="Arial"/>
              </a:defRPr>
            </a:lvl2pPr>
            <a:lvl3pPr>
              <a:buNone/>
              <a:defRPr sz="5400" b="1">
                <a:solidFill>
                  <a:srgbClr val="074E8C"/>
                </a:solidFill>
                <a:latin typeface="Arial"/>
                <a:ea typeface="Arial"/>
                <a:cs typeface="Arial"/>
              </a:defRPr>
            </a:lvl3pPr>
            <a:lvl4pPr>
              <a:buNone/>
              <a:defRPr sz="5400" b="1">
                <a:solidFill>
                  <a:srgbClr val="074E8C"/>
                </a:solidFill>
                <a:latin typeface="Arial"/>
                <a:ea typeface="Arial"/>
                <a:cs typeface="Arial"/>
              </a:defRPr>
            </a:lvl4pPr>
            <a:lvl5pPr>
              <a:buNone/>
              <a:defRPr sz="5400" b="1">
                <a:solidFill>
                  <a:srgbClr val="074E8C"/>
                </a:solidFill>
                <a:latin typeface="Arial"/>
                <a:ea typeface="Arial"/>
                <a:cs typeface="Arial"/>
              </a:defRPr>
            </a:lvl5pPr>
            <a:lvl6pPr>
              <a:buNone/>
              <a:defRPr sz="5400" b="1">
                <a:solidFill>
                  <a:srgbClr val="074E8C"/>
                </a:solidFill>
                <a:latin typeface="Arial"/>
                <a:ea typeface="Arial"/>
                <a:cs typeface="Arial"/>
              </a:defRPr>
            </a:lvl6pPr>
            <a:lvl7pPr>
              <a:buNone/>
              <a:defRPr sz="5400" b="1">
                <a:solidFill>
                  <a:srgbClr val="074E8C"/>
                </a:solidFill>
                <a:latin typeface="Arial"/>
                <a:ea typeface="Arial"/>
                <a:cs typeface="Arial"/>
              </a:defRPr>
            </a:lvl7pPr>
            <a:lvl8pPr>
              <a:buNone/>
              <a:defRPr sz="5400" b="1">
                <a:solidFill>
                  <a:srgbClr val="074E8C"/>
                </a:solidFill>
                <a:latin typeface="Arial"/>
                <a:ea typeface="Arial"/>
                <a:cs typeface="Arial"/>
              </a:defRPr>
            </a:lvl8pPr>
            <a:lvl9pPr>
              <a:buNone/>
              <a:defRPr sz="5400" b="1">
                <a:solidFill>
                  <a:srgbClr val="074E8C"/>
                </a:solidFill>
                <a:latin typeface="Arial"/>
                <a:ea typeface="Arial"/>
                <a:cs typeface="Arial"/>
              </a:defRPr>
            </a:lvl9pPr>
          </a:lstStyle>
          <a:p xmlns:a="http://schemas.openxmlformats.org/drawingml/2006/main">
            <a:pPr>
              <a:buNone/>
              <a:defRPr sz="9150" b="1">
                <a:solidFill>
                  <a:srgbClr val="A381FF"/>
                </a:solidFill>
                <a:latin typeface="Arial"/>
                <a:ea typeface="Arial"/>
                <a:cs typeface="Arial"/>
              </a:defRPr>
            </a:pPr>
            <a:r>
              <a:rPr sz="9150" b="1">
                <a:solidFill>
                  <a:srgbClr val="A381FF"/>
                </a:solidFill>
                <a:latin typeface="Arial"/>
                <a:ea typeface="Arial"/>
                <a:cs typeface="Arial"/>
              </a:rPr>
              <a:t>1,714</a:t>
            </a:r>
          </a:p>
        </p:txBody>
      </p:sp>
      <p:sp>
        <p:nvSpPr>
          <p:cNvPr id="4" name="">
            <a:extLst xmlns:a="http://schemas.openxmlformats.org/drawingml/2006/main">
              <a:ext uri="{FF2B5EF4-FFF2-40B4-BE49-F238E27FC236}">
                <a16:creationId xmlns:a16="http://schemas.microsoft.com/office/drawing/2014/main" id="{3A549801-9697-4292-9E02-A565CB76CDC4}"/>
              </a:ext>
            </a:extLst>
          </p:cNvPr>
          <p:cNvSpPr>
            <a:spLocks xmlns:a="http://schemas.openxmlformats.org/drawingml/2006/main" noGrp="1"/>
          </p:cNvSpPr>
          <p:nvPr/>
        </p:nvSpPr>
        <p:spPr>
          <a:xfrm xmlns:a="http://schemas.openxmlformats.org/drawingml/2006/main">
            <a:off x="619125" y="3952875"/>
            <a:ext cx="4143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546B7C"/>
                </a:solidFill>
                <a:latin typeface="Arial"/>
                <a:ea typeface="Arial"/>
                <a:cs typeface="Arial"/>
              </a:defRPr>
            </a:lvl1pPr>
            <a:lvl2pPr>
              <a:buNone/>
              <a:defRPr sz="1950" b="0">
                <a:solidFill>
                  <a:srgbClr val="546B7C"/>
                </a:solidFill>
                <a:latin typeface="Arial"/>
                <a:ea typeface="Arial"/>
                <a:cs typeface="Arial"/>
              </a:defRPr>
            </a:lvl2pPr>
            <a:lvl3pPr>
              <a:buNone/>
              <a:defRPr sz="1950" b="0">
                <a:solidFill>
                  <a:srgbClr val="546B7C"/>
                </a:solidFill>
                <a:latin typeface="Arial"/>
                <a:ea typeface="Arial"/>
                <a:cs typeface="Arial"/>
              </a:defRPr>
            </a:lvl3pPr>
            <a:lvl4pPr>
              <a:buNone/>
              <a:defRPr sz="1950" b="0">
                <a:solidFill>
                  <a:srgbClr val="546B7C"/>
                </a:solidFill>
                <a:latin typeface="Arial"/>
                <a:ea typeface="Arial"/>
                <a:cs typeface="Arial"/>
              </a:defRPr>
            </a:lvl4pPr>
            <a:lvl5pPr>
              <a:buNone/>
              <a:defRPr sz="1950" b="0">
                <a:solidFill>
                  <a:srgbClr val="546B7C"/>
                </a:solidFill>
                <a:latin typeface="Arial"/>
                <a:ea typeface="Arial"/>
                <a:cs typeface="Arial"/>
              </a:defRPr>
            </a:lvl5pPr>
            <a:lvl6pPr>
              <a:buNone/>
              <a:defRPr sz="1950" b="0">
                <a:solidFill>
                  <a:srgbClr val="546B7C"/>
                </a:solidFill>
                <a:latin typeface="Arial"/>
                <a:ea typeface="Arial"/>
                <a:cs typeface="Arial"/>
              </a:defRPr>
            </a:lvl6pPr>
            <a:lvl7pPr>
              <a:buNone/>
              <a:defRPr sz="1950" b="0">
                <a:solidFill>
                  <a:srgbClr val="546B7C"/>
                </a:solidFill>
                <a:latin typeface="Arial"/>
                <a:ea typeface="Arial"/>
                <a:cs typeface="Arial"/>
              </a:defRPr>
            </a:lvl7pPr>
            <a:lvl8pPr>
              <a:buNone/>
              <a:defRPr sz="1950" b="0">
                <a:solidFill>
                  <a:srgbClr val="546B7C"/>
                </a:solidFill>
                <a:latin typeface="Arial"/>
                <a:ea typeface="Arial"/>
                <a:cs typeface="Arial"/>
              </a:defRPr>
            </a:lvl8pPr>
            <a:lvl9pPr>
              <a:buNone/>
              <a:defRPr sz="1950" b="0">
                <a:solidFill>
                  <a:srgbClr val="546B7C"/>
                </a:solidFill>
                <a:latin typeface="Arial"/>
                <a:ea typeface="Arial"/>
                <a:cs typeface="Arial"/>
              </a:defRPr>
            </a:lvl9pPr>
          </a:lstStyle>
          <a:p xmlns:a="http://schemas.openxmlformats.org/drawingml/2006/main">
            <a:pPr>
              <a:buNone/>
              <a:defRPr sz="2025" b="0">
                <a:solidFill>
                  <a:srgbClr val="A8BDD4"/>
                </a:solidFill>
                <a:latin typeface="Arial"/>
                <a:ea typeface="Arial"/>
                <a:cs typeface="Arial"/>
              </a:defRPr>
            </a:pPr>
            <a:r>
              <a:rPr sz="2025" b="0">
                <a:solidFill>
                  <a:srgbClr val="A8BDD4"/>
                </a:solidFill>
                <a:latin typeface="Arial"/>
                <a:ea typeface="Arial"/>
                <a:cs typeface="Arial"/>
              </a:rPr>
              <a:t>unmatched driver trip rows</a:t>
            </a:r>
          </a:p>
        </p:txBody>
      </p:sp>
      <p:sp>
        <p:nvSpPr>
          <p:cNvPr id="5" name="">
            <a:extLst xmlns:a="http://schemas.openxmlformats.org/drawingml/2006/main">
              <a:ext uri="{FF2B5EF4-FFF2-40B4-BE49-F238E27FC236}">
                <a16:creationId xmlns:a16="http://schemas.microsoft.com/office/drawing/2014/main" id="{410649F6-20D5-4F0B-B61C-1709E2E24C8D}"/>
              </a:ext>
            </a:extLst>
          </p:cNvPr>
          <p:cNvSpPr>
            <a:spLocks xmlns:a="http://schemas.openxmlformats.org/drawingml/2006/main" noGrp="1"/>
          </p:cNvSpPr>
          <p:nvPr/>
        </p:nvSpPr>
        <p:spPr>
          <a:xfrm xmlns:a="http://schemas.openxmlformats.org/drawingml/2006/main">
            <a:off x="5334000" y="219075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1">
                <a:solidFill>
                  <a:srgbClr val="0A2B43"/>
                </a:solidFill>
                <a:latin typeface="Arial"/>
                <a:ea typeface="Arial"/>
                <a:cs typeface="Arial"/>
              </a:defRPr>
            </a:lvl1pPr>
            <a:lvl2pPr>
              <a:buNone/>
              <a:defRPr sz="2100" b="1">
                <a:solidFill>
                  <a:srgbClr val="0A2B43"/>
                </a:solidFill>
                <a:latin typeface="Arial"/>
                <a:ea typeface="Arial"/>
                <a:cs typeface="Arial"/>
              </a:defRPr>
            </a:lvl2pPr>
            <a:lvl3pPr>
              <a:buNone/>
              <a:defRPr sz="2100" b="1">
                <a:solidFill>
                  <a:srgbClr val="0A2B43"/>
                </a:solidFill>
                <a:latin typeface="Arial"/>
                <a:ea typeface="Arial"/>
                <a:cs typeface="Arial"/>
              </a:defRPr>
            </a:lvl3pPr>
            <a:lvl4pPr>
              <a:buNone/>
              <a:defRPr sz="2100" b="1">
                <a:solidFill>
                  <a:srgbClr val="0A2B43"/>
                </a:solidFill>
                <a:latin typeface="Arial"/>
                <a:ea typeface="Arial"/>
                <a:cs typeface="Arial"/>
              </a:defRPr>
            </a:lvl4pPr>
            <a:lvl5pPr>
              <a:buNone/>
              <a:defRPr sz="2100" b="1">
                <a:solidFill>
                  <a:srgbClr val="0A2B43"/>
                </a:solidFill>
                <a:latin typeface="Arial"/>
                <a:ea typeface="Arial"/>
                <a:cs typeface="Arial"/>
              </a:defRPr>
            </a:lvl5pPr>
            <a:lvl6pPr>
              <a:buNone/>
              <a:defRPr sz="2100" b="1">
                <a:solidFill>
                  <a:srgbClr val="0A2B43"/>
                </a:solidFill>
                <a:latin typeface="Arial"/>
                <a:ea typeface="Arial"/>
                <a:cs typeface="Arial"/>
              </a:defRPr>
            </a:lvl6pPr>
            <a:lvl7pPr>
              <a:buNone/>
              <a:defRPr sz="2100" b="1">
                <a:solidFill>
                  <a:srgbClr val="0A2B43"/>
                </a:solidFill>
                <a:latin typeface="Arial"/>
                <a:ea typeface="Arial"/>
                <a:cs typeface="Arial"/>
              </a:defRPr>
            </a:lvl7pPr>
            <a:lvl8pPr>
              <a:buNone/>
              <a:defRPr sz="2100" b="1">
                <a:solidFill>
                  <a:srgbClr val="0A2B43"/>
                </a:solidFill>
                <a:latin typeface="Arial"/>
                <a:ea typeface="Arial"/>
                <a:cs typeface="Arial"/>
              </a:defRPr>
            </a:lvl8pPr>
            <a:lvl9pPr>
              <a:buNone/>
              <a:defRPr sz="2100" b="1">
                <a:solidFill>
                  <a:srgbClr val="0A2B43"/>
                </a:solidFill>
                <a:latin typeface="Arial"/>
                <a:ea typeface="Arial"/>
                <a:cs typeface="Arial"/>
              </a:defRPr>
            </a:lvl9pPr>
          </a:lstStyle>
          <a:p xmlns:a="http://schemas.openxmlformats.org/drawingml/2006/main">
            <a:pPr>
              <a:buNone/>
              <a:defRPr sz="2100" b="1">
                <a:solidFill>
                  <a:srgbClr val="F2F6FF"/>
                </a:solidFill>
                <a:latin typeface="Arial"/>
                <a:ea typeface="Arial"/>
                <a:cs typeface="Arial"/>
              </a:defRPr>
            </a:pPr>
            <a:r>
              <a:rPr sz="2100" b="1">
                <a:solidFill>
                  <a:srgbClr val="F2F6FF"/>
                </a:solidFill>
                <a:latin typeface="Arial"/>
                <a:ea typeface="Arial"/>
                <a:cs typeface="Arial"/>
              </a:rPr>
              <a:t>Original CSV refresh and live visual evaluation unavailable</a:t>
            </a:r>
          </a:p>
        </p:txBody>
      </p:sp>
      <p:sp>
        <p:nvSpPr>
          <p:cNvPr id="6" name="">
            <a:extLst xmlns:a="http://schemas.openxmlformats.org/drawingml/2006/main">
              <a:ext uri="{FF2B5EF4-FFF2-40B4-BE49-F238E27FC236}">
                <a16:creationId xmlns:a16="http://schemas.microsoft.com/office/drawing/2014/main" id="{F29E4442-449C-4E5F-825E-D2531BAD6120}"/>
              </a:ext>
            </a:extLst>
          </p:cNvPr>
          <p:cNvSpPr>
            <a:spLocks xmlns:a="http://schemas.openxmlformats.org/drawingml/2006/main" noGrp="1"/>
          </p:cNvSpPr>
          <p:nvPr/>
        </p:nvSpPr>
        <p:spPr>
          <a:xfrm xmlns:a="http://schemas.openxmlformats.org/drawingml/2006/main">
            <a:off x="5334000" y="3019425"/>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486 delivery/pickup pairs have actual chronology flags</a:t>
            </a:r>
          </a:p>
        </p:txBody>
      </p:sp>
      <p:sp>
        <p:nvSpPr>
          <p:cNvPr id="7" name="">
            <a:extLst xmlns:a="http://schemas.openxmlformats.org/drawingml/2006/main">
              <a:ext uri="{FF2B5EF4-FFF2-40B4-BE49-F238E27FC236}">
                <a16:creationId xmlns:a16="http://schemas.microsoft.com/office/drawing/2014/main" id="{12FE3789-F0AB-4A41-AC08-9CA7336FBCA2}"/>
              </a:ext>
            </a:extLst>
          </p:cNvPr>
          <p:cNvSpPr>
            <a:spLocks xmlns:a="http://schemas.openxmlformats.org/drawingml/2006/main" noGrp="1"/>
          </p:cNvSpPr>
          <p:nvPr/>
        </p:nvSpPr>
        <p:spPr>
          <a:xfrm xmlns:a="http://schemas.openxmlformats.org/drawingml/2006/main">
            <a:off x="5334000" y="384810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1,714 trips have unmatched driver keys</a:t>
            </a:r>
          </a:p>
        </p:txBody>
      </p:sp>
      <p:sp>
        <p:nvSpPr>
          <p:cNvPr id="8" name="">
            <a:extLst xmlns:a="http://schemas.openxmlformats.org/drawingml/2006/main">
              <a:ext uri="{FF2B5EF4-FFF2-40B4-BE49-F238E27FC236}">
                <a16:creationId xmlns:a16="http://schemas.microsoft.com/office/drawing/2014/main" id="{F1D5F159-C1B0-4806-BF5C-E85614C23619}"/>
              </a:ext>
            </a:extLst>
          </p:cNvPr>
          <p:cNvSpPr>
            <a:spLocks xmlns:a="http://schemas.openxmlformats.org/drawingml/2006/main" noGrp="1"/>
          </p:cNvSpPr>
          <p:nvPr/>
        </p:nvSpPr>
        <p:spPr>
          <a:xfrm xmlns:a="http://schemas.openxmlformats.org/drawingml/2006/main">
            <a:off x="5334000" y="4676775"/>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Stop mapping, time capacity and cost allocation need validation</a:t>
            </a:r>
          </a:p>
        </p:txBody>
      </p:sp>
    </p:spTree>
    <p:extLst>
      <p:ext uri="{BB962C8B-B14F-4D97-AF65-F5344CB8AC3E}">
        <p14:creationId xmlns:p14="http://schemas.microsoft.com/office/powerpoint/2010/main" val="1891606146"/>
      </p:ext>
    </p:extLst>
  </p:cSld>
</p:sld>
</file>

<file path=ppt/slides/slide27.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c7ccb852f864b1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design-37">
            <a:extLst xmlns:a="http://schemas.openxmlformats.org/drawingml/2006/main">
              <a:ext uri="{FF2B5EF4-FFF2-40B4-BE49-F238E27FC236}">
                <a16:creationId xmlns:a16="http://schemas.microsoft.com/office/drawing/2014/main" id="{86C47743-4503-4132-85E9-3DF8537D6D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0812">
              <a:alpha val="50000"/>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C661382-941E-4F02-B1E7-DEDEBF2CCC5E}"/>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 STRONGER ANALYTICAL FOUNDATION</a:t>
            </a:r>
          </a:p>
        </p:txBody>
      </p:sp>
      <p:sp>
        <p:nvSpPr>
          <p:cNvPr id="2" name="">
            <a:extLst xmlns:a="http://schemas.openxmlformats.org/drawingml/2006/main">
              <a:ext uri="{FF2B5EF4-FFF2-40B4-BE49-F238E27FC236}">
                <a16:creationId xmlns:a16="http://schemas.microsoft.com/office/drawing/2014/main" id="{E411A8FB-C9E5-4F68-8ED0-78DF3511E4B7}"/>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Lessons for reliable analytics and future development</a:t>
            </a:r>
          </a:p>
        </p:txBody>
      </p:sp>
      <p:sp>
        <p:nvSpPr>
          <p:cNvPr id="10" name="">
            <a:extLst xmlns:a="http://schemas.openxmlformats.org/drawingml/2006/main">
              <a:ext uri="{FF2B5EF4-FFF2-40B4-BE49-F238E27FC236}">
                <a16:creationId xmlns:a16="http://schemas.microsoft.com/office/drawing/2014/main" id="{BD3619B1-654E-4810-8DCB-3D31186AE1AB}"/>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27</a:t>
            </a:r>
          </a:p>
        </p:txBody>
      </p:sp>
      <p:sp>
        <p:nvSpPr>
          <p:cNvPr id="9" name="">
            <a:extLst xmlns:a="http://schemas.openxmlformats.org/drawingml/2006/main">
              <a:ext uri="{FF2B5EF4-FFF2-40B4-BE49-F238E27FC236}">
                <a16:creationId xmlns:a16="http://schemas.microsoft.com/office/drawing/2014/main" id="{11EC290A-0E48-44A1-AF2F-80393DE01B26}"/>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A reconciled model enables reliable drill-down analysis</a:t>
            </a:r>
          </a:p>
        </p:txBody>
      </p:sp>
      <p:sp>
        <p:nvSpPr>
          <p:cNvPr id="3" name="">
            <a:extLst xmlns:a="http://schemas.openxmlformats.org/drawingml/2006/main">
              <a:ext uri="{FF2B5EF4-FFF2-40B4-BE49-F238E27FC236}">
                <a16:creationId xmlns:a16="http://schemas.microsoft.com/office/drawing/2014/main" id="{4B406AB0-FB88-452E-85DC-5F4AA2B60A5B}"/>
              </a:ext>
            </a:extLst>
          </p:cNvPr>
          <p:cNvSpPr>
            <a:spLocks xmlns:a="http://schemas.openxmlformats.org/drawingml/2006/main" noGrp="1"/>
          </p:cNvSpPr>
          <p:nvPr/>
        </p:nvSpPr>
        <p:spPr>
          <a:xfrm xmlns:a="http://schemas.openxmlformats.org/drawingml/2006/main">
            <a:off x="571500" y="2362200"/>
            <a:ext cx="43815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5400" b="1">
                <a:solidFill>
                  <a:srgbClr val="074E8C"/>
                </a:solidFill>
                <a:latin typeface="Arial"/>
                <a:ea typeface="Arial"/>
                <a:cs typeface="Arial"/>
              </a:defRPr>
            </a:lvl1pPr>
            <a:lvl2pPr>
              <a:buNone/>
              <a:defRPr sz="5400" b="1">
                <a:solidFill>
                  <a:srgbClr val="074E8C"/>
                </a:solidFill>
                <a:latin typeface="Arial"/>
                <a:ea typeface="Arial"/>
                <a:cs typeface="Arial"/>
              </a:defRPr>
            </a:lvl2pPr>
            <a:lvl3pPr>
              <a:buNone/>
              <a:defRPr sz="5400" b="1">
                <a:solidFill>
                  <a:srgbClr val="074E8C"/>
                </a:solidFill>
                <a:latin typeface="Arial"/>
                <a:ea typeface="Arial"/>
                <a:cs typeface="Arial"/>
              </a:defRPr>
            </a:lvl3pPr>
            <a:lvl4pPr>
              <a:buNone/>
              <a:defRPr sz="5400" b="1">
                <a:solidFill>
                  <a:srgbClr val="074E8C"/>
                </a:solidFill>
                <a:latin typeface="Arial"/>
                <a:ea typeface="Arial"/>
                <a:cs typeface="Arial"/>
              </a:defRPr>
            </a:lvl4pPr>
            <a:lvl5pPr>
              <a:buNone/>
              <a:defRPr sz="5400" b="1">
                <a:solidFill>
                  <a:srgbClr val="074E8C"/>
                </a:solidFill>
                <a:latin typeface="Arial"/>
                <a:ea typeface="Arial"/>
                <a:cs typeface="Arial"/>
              </a:defRPr>
            </a:lvl5pPr>
            <a:lvl6pPr>
              <a:buNone/>
              <a:defRPr sz="5400" b="1">
                <a:solidFill>
                  <a:srgbClr val="074E8C"/>
                </a:solidFill>
                <a:latin typeface="Arial"/>
                <a:ea typeface="Arial"/>
                <a:cs typeface="Arial"/>
              </a:defRPr>
            </a:lvl6pPr>
            <a:lvl7pPr>
              <a:buNone/>
              <a:defRPr sz="5400" b="1">
                <a:solidFill>
                  <a:srgbClr val="074E8C"/>
                </a:solidFill>
                <a:latin typeface="Arial"/>
                <a:ea typeface="Arial"/>
                <a:cs typeface="Arial"/>
              </a:defRPr>
            </a:lvl7pPr>
            <a:lvl8pPr>
              <a:buNone/>
              <a:defRPr sz="5400" b="1">
                <a:solidFill>
                  <a:srgbClr val="074E8C"/>
                </a:solidFill>
                <a:latin typeface="Arial"/>
                <a:ea typeface="Arial"/>
                <a:cs typeface="Arial"/>
              </a:defRPr>
            </a:lvl8pPr>
            <a:lvl9pPr>
              <a:buNone/>
              <a:defRPr sz="5400" b="1">
                <a:solidFill>
                  <a:srgbClr val="074E8C"/>
                </a:solidFill>
                <a:latin typeface="Arial"/>
                <a:ea typeface="Arial"/>
                <a:cs typeface="Arial"/>
              </a:defRPr>
            </a:lvl9pPr>
          </a:lstStyle>
          <a:p xmlns:a="http://schemas.openxmlformats.org/drawingml/2006/main">
            <a:pPr>
              <a:buNone/>
              <a:defRPr sz="7800" b="1">
                <a:solidFill>
                  <a:srgbClr val="3DDCF5"/>
                </a:solidFill>
                <a:latin typeface="Arial"/>
                <a:ea typeface="Arial"/>
                <a:cs typeface="Arial"/>
              </a:defRPr>
            </a:pPr>
            <a:r>
              <a:rPr sz="7800" b="1">
                <a:solidFill>
                  <a:srgbClr val="3DDCF5"/>
                </a:solidFill>
                <a:latin typeface="Arial"/>
                <a:ea typeface="Arial"/>
                <a:cs typeface="Arial"/>
              </a:rPr>
              <a:t>1 KPI</a:t>
            </a:r>
          </a:p>
        </p:txBody>
      </p:sp>
      <p:sp>
        <p:nvSpPr>
          <p:cNvPr id="4" name="">
            <a:extLst xmlns:a="http://schemas.openxmlformats.org/drawingml/2006/main">
              <a:ext uri="{FF2B5EF4-FFF2-40B4-BE49-F238E27FC236}">
                <a16:creationId xmlns:a16="http://schemas.microsoft.com/office/drawing/2014/main" id="{079C733D-0676-4716-875A-8772B2D103A8}"/>
              </a:ext>
            </a:extLst>
          </p:cNvPr>
          <p:cNvSpPr>
            <a:spLocks xmlns:a="http://schemas.openxmlformats.org/drawingml/2006/main" noGrp="1"/>
          </p:cNvSpPr>
          <p:nvPr/>
        </p:nvSpPr>
        <p:spPr>
          <a:xfrm xmlns:a="http://schemas.openxmlformats.org/drawingml/2006/main">
            <a:off x="619125" y="3952875"/>
            <a:ext cx="4095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546B7C"/>
                </a:solidFill>
                <a:latin typeface="Arial"/>
                <a:ea typeface="Arial"/>
                <a:cs typeface="Arial"/>
              </a:defRPr>
            </a:lvl1pPr>
            <a:lvl2pPr>
              <a:buNone/>
              <a:defRPr sz="1950" b="0">
                <a:solidFill>
                  <a:srgbClr val="546B7C"/>
                </a:solidFill>
                <a:latin typeface="Arial"/>
                <a:ea typeface="Arial"/>
                <a:cs typeface="Arial"/>
              </a:defRPr>
            </a:lvl2pPr>
            <a:lvl3pPr>
              <a:buNone/>
              <a:defRPr sz="1950" b="0">
                <a:solidFill>
                  <a:srgbClr val="546B7C"/>
                </a:solidFill>
                <a:latin typeface="Arial"/>
                <a:ea typeface="Arial"/>
                <a:cs typeface="Arial"/>
              </a:defRPr>
            </a:lvl3pPr>
            <a:lvl4pPr>
              <a:buNone/>
              <a:defRPr sz="1950" b="0">
                <a:solidFill>
                  <a:srgbClr val="546B7C"/>
                </a:solidFill>
                <a:latin typeface="Arial"/>
                <a:ea typeface="Arial"/>
                <a:cs typeface="Arial"/>
              </a:defRPr>
            </a:lvl4pPr>
            <a:lvl5pPr>
              <a:buNone/>
              <a:defRPr sz="1950" b="0">
                <a:solidFill>
                  <a:srgbClr val="546B7C"/>
                </a:solidFill>
                <a:latin typeface="Arial"/>
                <a:ea typeface="Arial"/>
                <a:cs typeface="Arial"/>
              </a:defRPr>
            </a:lvl5pPr>
            <a:lvl6pPr>
              <a:buNone/>
              <a:defRPr sz="1950" b="0">
                <a:solidFill>
                  <a:srgbClr val="546B7C"/>
                </a:solidFill>
                <a:latin typeface="Arial"/>
                <a:ea typeface="Arial"/>
                <a:cs typeface="Arial"/>
              </a:defRPr>
            </a:lvl6pPr>
            <a:lvl7pPr>
              <a:buNone/>
              <a:defRPr sz="1950" b="0">
                <a:solidFill>
                  <a:srgbClr val="546B7C"/>
                </a:solidFill>
                <a:latin typeface="Arial"/>
                <a:ea typeface="Arial"/>
                <a:cs typeface="Arial"/>
              </a:defRPr>
            </a:lvl7pPr>
            <a:lvl8pPr>
              <a:buNone/>
              <a:defRPr sz="1950" b="0">
                <a:solidFill>
                  <a:srgbClr val="546B7C"/>
                </a:solidFill>
                <a:latin typeface="Arial"/>
                <a:ea typeface="Arial"/>
                <a:cs typeface="Arial"/>
              </a:defRPr>
            </a:lvl8pPr>
            <a:lvl9pPr>
              <a:buNone/>
              <a:defRPr sz="1950" b="0">
                <a:solidFill>
                  <a:srgbClr val="546B7C"/>
                </a:solidFill>
                <a:latin typeface="Arial"/>
                <a:ea typeface="Arial"/>
                <a:cs typeface="Arial"/>
              </a:defRPr>
            </a:lvl9pPr>
          </a:lstStyle>
          <a:p xmlns:a="http://schemas.openxmlformats.org/drawingml/2006/main">
            <a:pPr>
              <a:buNone/>
              <a:defRPr sz="2100" b="0">
                <a:solidFill>
                  <a:srgbClr val="F2F6FF"/>
                </a:solidFill>
                <a:latin typeface="Arial"/>
                <a:ea typeface="Arial"/>
                <a:cs typeface="Arial"/>
              </a:defRPr>
            </a:pPr>
            <a:r>
              <a:rPr sz="2100" b="0">
                <a:solidFill>
                  <a:srgbClr val="F2F6FF"/>
                </a:solidFill>
                <a:latin typeface="Arial"/>
                <a:ea typeface="Arial"/>
                <a:cs typeface="Arial"/>
              </a:rPr>
              <a:t>one certified definition</a:t>
            </a:r>
          </a:p>
        </p:txBody>
      </p:sp>
      <p:sp>
        <p:nvSpPr>
          <p:cNvPr id="5" name="">
            <a:extLst xmlns:a="http://schemas.openxmlformats.org/drawingml/2006/main">
              <a:ext uri="{FF2B5EF4-FFF2-40B4-BE49-F238E27FC236}">
                <a16:creationId xmlns:a16="http://schemas.microsoft.com/office/drawing/2014/main" id="{85DBF116-0CD5-4D46-BCB9-D1090A010349}"/>
              </a:ext>
            </a:extLst>
          </p:cNvPr>
          <p:cNvSpPr>
            <a:spLocks xmlns:a="http://schemas.openxmlformats.org/drawingml/2006/main" noGrp="1"/>
          </p:cNvSpPr>
          <p:nvPr/>
        </p:nvSpPr>
        <p:spPr>
          <a:xfrm xmlns:a="http://schemas.openxmlformats.org/drawingml/2006/main">
            <a:off x="5334000" y="2200275"/>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1">
                <a:solidFill>
                  <a:srgbClr val="0A2B43"/>
                </a:solidFill>
                <a:latin typeface="Arial"/>
                <a:ea typeface="Arial"/>
                <a:cs typeface="Arial"/>
              </a:defRPr>
            </a:lvl1pPr>
            <a:lvl2pPr>
              <a:buNone/>
              <a:defRPr sz="2100" b="1">
                <a:solidFill>
                  <a:srgbClr val="0A2B43"/>
                </a:solidFill>
                <a:latin typeface="Arial"/>
                <a:ea typeface="Arial"/>
                <a:cs typeface="Arial"/>
              </a:defRPr>
            </a:lvl2pPr>
            <a:lvl3pPr>
              <a:buNone/>
              <a:defRPr sz="2100" b="1">
                <a:solidFill>
                  <a:srgbClr val="0A2B43"/>
                </a:solidFill>
                <a:latin typeface="Arial"/>
                <a:ea typeface="Arial"/>
                <a:cs typeface="Arial"/>
              </a:defRPr>
            </a:lvl3pPr>
            <a:lvl4pPr>
              <a:buNone/>
              <a:defRPr sz="2100" b="1">
                <a:solidFill>
                  <a:srgbClr val="0A2B43"/>
                </a:solidFill>
                <a:latin typeface="Arial"/>
                <a:ea typeface="Arial"/>
                <a:cs typeface="Arial"/>
              </a:defRPr>
            </a:lvl4pPr>
            <a:lvl5pPr>
              <a:buNone/>
              <a:defRPr sz="2100" b="1">
                <a:solidFill>
                  <a:srgbClr val="0A2B43"/>
                </a:solidFill>
                <a:latin typeface="Arial"/>
                <a:ea typeface="Arial"/>
                <a:cs typeface="Arial"/>
              </a:defRPr>
            </a:lvl5pPr>
            <a:lvl6pPr>
              <a:buNone/>
              <a:defRPr sz="2100" b="1">
                <a:solidFill>
                  <a:srgbClr val="0A2B43"/>
                </a:solidFill>
                <a:latin typeface="Arial"/>
                <a:ea typeface="Arial"/>
                <a:cs typeface="Arial"/>
              </a:defRPr>
            </a:lvl6pPr>
            <a:lvl7pPr>
              <a:buNone/>
              <a:defRPr sz="2100" b="1">
                <a:solidFill>
                  <a:srgbClr val="0A2B43"/>
                </a:solidFill>
                <a:latin typeface="Arial"/>
                <a:ea typeface="Arial"/>
                <a:cs typeface="Arial"/>
              </a:defRPr>
            </a:lvl7pPr>
            <a:lvl8pPr>
              <a:buNone/>
              <a:defRPr sz="2100" b="1">
                <a:solidFill>
                  <a:srgbClr val="0A2B43"/>
                </a:solidFill>
                <a:latin typeface="Arial"/>
                <a:ea typeface="Arial"/>
                <a:cs typeface="Arial"/>
              </a:defRPr>
            </a:lvl8pPr>
            <a:lvl9pPr>
              <a:buNone/>
              <a:defRPr sz="2100" b="1">
                <a:solidFill>
                  <a:srgbClr val="0A2B43"/>
                </a:solidFill>
                <a:latin typeface="Arial"/>
                <a:ea typeface="Arial"/>
                <a:cs typeface="Arial"/>
              </a:defRPr>
            </a:lvl9pPr>
          </a:lstStyle>
          <a:p xmlns:a="http://schemas.openxmlformats.org/drawingml/2006/main">
            <a:pPr>
              <a:buNone/>
              <a:defRPr sz="2100" b="1">
                <a:solidFill>
                  <a:srgbClr val="F2F6FF"/>
                </a:solidFill>
                <a:latin typeface="Arial"/>
                <a:ea typeface="Arial"/>
                <a:cs typeface="Arial"/>
              </a:defRPr>
            </a:pPr>
            <a:r>
              <a:rPr sz="2100" b="1">
                <a:solidFill>
                  <a:srgbClr val="F2F6FF"/>
                </a:solidFill>
                <a:latin typeface="Arial"/>
                <a:ea typeface="Arial"/>
                <a:cs typeface="Arial"/>
              </a:rPr>
              <a:t>Date roles must connect before time-filter interpretation</a:t>
            </a:r>
          </a:p>
        </p:txBody>
      </p:sp>
      <p:sp>
        <p:nvSpPr>
          <p:cNvPr id="6" name="">
            <a:extLst xmlns:a="http://schemas.openxmlformats.org/drawingml/2006/main">
              <a:ext uri="{FF2B5EF4-FFF2-40B4-BE49-F238E27FC236}">
                <a16:creationId xmlns:a16="http://schemas.microsoft.com/office/drawing/2014/main" id="{52344F98-C1C2-4A3B-9658-260750B0C154}"/>
              </a:ext>
            </a:extLst>
          </p:cNvPr>
          <p:cNvSpPr>
            <a:spLocks xmlns:a="http://schemas.openxmlformats.org/drawingml/2006/main" noGrp="1"/>
          </p:cNvSpPr>
          <p:nvPr/>
        </p:nvSpPr>
        <p:spPr>
          <a:xfrm xmlns:a="http://schemas.openxmlformats.org/drawingml/2006/main">
            <a:off x="5334000" y="3028950"/>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One certified measure per KPI with documented units</a:t>
            </a:r>
          </a:p>
        </p:txBody>
      </p:sp>
      <p:sp>
        <p:nvSpPr>
          <p:cNvPr id="7" name="">
            <a:extLst xmlns:a="http://schemas.openxmlformats.org/drawingml/2006/main">
              <a:ext uri="{FF2B5EF4-FFF2-40B4-BE49-F238E27FC236}">
                <a16:creationId xmlns:a16="http://schemas.microsoft.com/office/drawing/2014/main" id="{4EC18C3A-EE4E-4B9E-A1FA-581BCDD2AC1A}"/>
              </a:ext>
            </a:extLst>
          </p:cNvPr>
          <p:cNvSpPr>
            <a:spLocks xmlns:a="http://schemas.openxmlformats.org/drawingml/2006/main" noGrp="1"/>
          </p:cNvSpPr>
          <p:nvPr/>
        </p:nvSpPr>
        <p:spPr>
          <a:xfrm xmlns:a="http://schemas.openxmlformats.org/drawingml/2006/main">
            <a:off x="5334000" y="3857625"/>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Allocated costs for customer and lane profitability</a:t>
            </a:r>
          </a:p>
        </p:txBody>
      </p:sp>
      <p:sp>
        <p:nvSpPr>
          <p:cNvPr id="8" name="">
            <a:extLst xmlns:a="http://schemas.openxmlformats.org/drawingml/2006/main">
              <a:ext uri="{FF2B5EF4-FFF2-40B4-BE49-F238E27FC236}">
                <a16:creationId xmlns:a16="http://schemas.microsoft.com/office/drawing/2014/main" id="{A8D56535-FE25-4054-B5BD-8A385D149E36}"/>
              </a:ext>
            </a:extLst>
          </p:cNvPr>
          <p:cNvSpPr>
            <a:spLocks xmlns:a="http://schemas.openxmlformats.org/drawingml/2006/main" noGrp="1"/>
          </p:cNvSpPr>
          <p:nvPr/>
        </p:nvSpPr>
        <p:spPr>
          <a:xfrm xmlns:a="http://schemas.openxmlformats.org/drawingml/2006/main">
            <a:off x="5334000" y="4686300"/>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Exposure-adjusted safety and validated scenario tests</a:t>
            </a:r>
          </a:p>
        </p:txBody>
      </p:sp>
    </p:spTree>
    <p:extLst>
      <p:ext uri="{BB962C8B-B14F-4D97-AF65-F5344CB8AC3E}">
        <p14:creationId xmlns:p14="http://schemas.microsoft.com/office/powerpoint/2010/main" val="1329870686"/>
      </p:ext>
    </p:extLst>
  </p:cSld>
</p:sld>
</file>

<file path=ppt/slides/slide28.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a49ed1f4413415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design-38">
            <a:extLst xmlns:a="http://schemas.openxmlformats.org/drawingml/2006/main">
              <a:ext uri="{FF2B5EF4-FFF2-40B4-BE49-F238E27FC236}">
                <a16:creationId xmlns:a16="http://schemas.microsoft.com/office/drawing/2014/main" id="{6A2A4322-3357-414E-8021-54912781C3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0812">
              <a:alpha val="50000"/>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5EA4B62-0256-4B6A-87A6-4E9AF7E57EB9}"/>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BUSINESS VALUE AND THE NEXT DECISION</a:t>
            </a:r>
          </a:p>
        </p:txBody>
      </p:sp>
      <p:sp>
        <p:nvSpPr>
          <p:cNvPr id="2" name="">
            <a:extLst xmlns:a="http://schemas.openxmlformats.org/drawingml/2006/main">
              <a:ext uri="{FF2B5EF4-FFF2-40B4-BE49-F238E27FC236}">
                <a16:creationId xmlns:a16="http://schemas.microsoft.com/office/drawing/2014/main" id="{0CA98252-EEE2-4B5F-8A55-52C86BACEE04}"/>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Reliable decisions start with verified analytical meaning</a:t>
            </a:r>
          </a:p>
        </p:txBody>
      </p:sp>
      <p:sp>
        <p:nvSpPr>
          <p:cNvPr id="10" name="">
            <a:extLst xmlns:a="http://schemas.openxmlformats.org/drawingml/2006/main">
              <a:ext uri="{FF2B5EF4-FFF2-40B4-BE49-F238E27FC236}">
                <a16:creationId xmlns:a16="http://schemas.microsoft.com/office/drawing/2014/main" id="{BED2949B-1C47-45ED-A0B8-9F4851D05FCC}"/>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28</a:t>
            </a:r>
          </a:p>
        </p:txBody>
      </p:sp>
      <p:sp>
        <p:nvSpPr>
          <p:cNvPr id="9" name="">
            <a:extLst xmlns:a="http://schemas.openxmlformats.org/drawingml/2006/main">
              <a:ext uri="{FF2B5EF4-FFF2-40B4-BE49-F238E27FC236}">
                <a16:creationId xmlns:a16="http://schemas.microsoft.com/office/drawing/2014/main" id="{EB691115-0AC3-4028-A1A8-DF04CE49844B}"/>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The strongest portfolio story includes both insights and validation</a:t>
            </a:r>
          </a:p>
        </p:txBody>
      </p:sp>
      <p:sp>
        <p:nvSpPr>
          <p:cNvPr id="3" name="">
            <a:extLst xmlns:a="http://schemas.openxmlformats.org/drawingml/2006/main">
              <a:ext uri="{FF2B5EF4-FFF2-40B4-BE49-F238E27FC236}">
                <a16:creationId xmlns:a16="http://schemas.microsoft.com/office/drawing/2014/main" id="{B6BFBE8A-F143-4CCD-A359-34C3181E1B67}"/>
              </a:ext>
            </a:extLst>
          </p:cNvPr>
          <p:cNvSpPr>
            <a:spLocks xmlns:a="http://schemas.openxmlformats.org/drawingml/2006/main" noGrp="1"/>
          </p:cNvSpPr>
          <p:nvPr/>
        </p:nvSpPr>
        <p:spPr>
          <a:xfrm xmlns:a="http://schemas.openxmlformats.org/drawingml/2006/main">
            <a:off x="571500" y="23241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800" b="1">
                <a:solidFill>
                  <a:srgbClr val="074E8C"/>
                </a:solidFill>
                <a:latin typeface="Arial"/>
                <a:ea typeface="Arial"/>
                <a:cs typeface="Arial"/>
              </a:defRPr>
            </a:lvl1pPr>
            <a:lvl2pPr>
              <a:buNone/>
              <a:defRPr sz="4800" b="1">
                <a:solidFill>
                  <a:srgbClr val="074E8C"/>
                </a:solidFill>
                <a:latin typeface="Arial"/>
                <a:ea typeface="Arial"/>
                <a:cs typeface="Arial"/>
              </a:defRPr>
            </a:lvl2pPr>
            <a:lvl3pPr>
              <a:buNone/>
              <a:defRPr sz="4800" b="1">
                <a:solidFill>
                  <a:srgbClr val="074E8C"/>
                </a:solidFill>
                <a:latin typeface="Arial"/>
                <a:ea typeface="Arial"/>
                <a:cs typeface="Arial"/>
              </a:defRPr>
            </a:lvl3pPr>
            <a:lvl4pPr>
              <a:buNone/>
              <a:defRPr sz="4800" b="1">
                <a:solidFill>
                  <a:srgbClr val="074E8C"/>
                </a:solidFill>
                <a:latin typeface="Arial"/>
                <a:ea typeface="Arial"/>
                <a:cs typeface="Arial"/>
              </a:defRPr>
            </a:lvl4pPr>
            <a:lvl5pPr>
              <a:buNone/>
              <a:defRPr sz="4800" b="1">
                <a:solidFill>
                  <a:srgbClr val="074E8C"/>
                </a:solidFill>
                <a:latin typeface="Arial"/>
                <a:ea typeface="Arial"/>
                <a:cs typeface="Arial"/>
              </a:defRPr>
            </a:lvl5pPr>
            <a:lvl6pPr>
              <a:buNone/>
              <a:defRPr sz="4800" b="1">
                <a:solidFill>
                  <a:srgbClr val="074E8C"/>
                </a:solidFill>
                <a:latin typeface="Arial"/>
                <a:ea typeface="Arial"/>
                <a:cs typeface="Arial"/>
              </a:defRPr>
            </a:lvl6pPr>
            <a:lvl7pPr>
              <a:buNone/>
              <a:defRPr sz="4800" b="1">
                <a:solidFill>
                  <a:srgbClr val="074E8C"/>
                </a:solidFill>
                <a:latin typeface="Arial"/>
                <a:ea typeface="Arial"/>
                <a:cs typeface="Arial"/>
              </a:defRPr>
            </a:lvl7pPr>
            <a:lvl8pPr>
              <a:buNone/>
              <a:defRPr sz="4800" b="1">
                <a:solidFill>
                  <a:srgbClr val="074E8C"/>
                </a:solidFill>
                <a:latin typeface="Arial"/>
                <a:ea typeface="Arial"/>
                <a:cs typeface="Arial"/>
              </a:defRPr>
            </a:lvl8pPr>
            <a:lvl9pPr>
              <a:buNone/>
              <a:defRPr sz="4800" b="1">
                <a:solidFill>
                  <a:srgbClr val="074E8C"/>
                </a:solidFill>
                <a:latin typeface="Arial"/>
                <a:ea typeface="Arial"/>
                <a:cs typeface="Arial"/>
              </a:defRPr>
            </a:lvl9pPr>
          </a:lstStyle>
          <a:p xmlns:a="http://schemas.openxmlformats.org/drawingml/2006/main">
            <a:pPr>
              <a:buNone/>
              <a:defRPr sz="7800" b="1">
                <a:solidFill>
                  <a:srgbClr val="3DDCF5"/>
                </a:solidFill>
                <a:latin typeface="Arial"/>
                <a:ea typeface="Arial"/>
                <a:cs typeface="Arial"/>
              </a:defRPr>
            </a:pPr>
            <a:r>
              <a:rPr sz="7800" b="1">
                <a:solidFill>
                  <a:srgbClr val="3DDCF5"/>
                </a:solidFill>
                <a:latin typeface="Arial"/>
                <a:ea typeface="Arial"/>
                <a:cs typeface="Arial"/>
              </a:rPr>
              <a:t>SERVICE</a:t>
            </a:r>
          </a:p>
        </p:txBody>
      </p:sp>
      <p:sp>
        <p:nvSpPr>
          <p:cNvPr id="4" name="">
            <a:extLst xmlns:a="http://schemas.openxmlformats.org/drawingml/2006/main">
              <a:ext uri="{FF2B5EF4-FFF2-40B4-BE49-F238E27FC236}">
                <a16:creationId xmlns:a16="http://schemas.microsoft.com/office/drawing/2014/main" id="{65B46C62-3E87-4C4B-9B3D-A94DAE1B125E}"/>
              </a:ext>
            </a:extLst>
          </p:cNvPr>
          <p:cNvSpPr>
            <a:spLocks xmlns:a="http://schemas.openxmlformats.org/drawingml/2006/main" noGrp="1"/>
          </p:cNvSpPr>
          <p:nvPr/>
        </p:nvSpPr>
        <p:spPr>
          <a:xfrm xmlns:a="http://schemas.openxmlformats.org/drawingml/2006/main">
            <a:off x="619125" y="3905250"/>
            <a:ext cx="442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546B7C"/>
                </a:solidFill>
                <a:latin typeface="Arial"/>
                <a:ea typeface="Arial"/>
                <a:cs typeface="Arial"/>
              </a:defRPr>
            </a:lvl1pPr>
            <a:lvl2pPr>
              <a:buNone/>
              <a:defRPr sz="1950" b="0">
                <a:solidFill>
                  <a:srgbClr val="546B7C"/>
                </a:solidFill>
                <a:latin typeface="Arial"/>
                <a:ea typeface="Arial"/>
                <a:cs typeface="Arial"/>
              </a:defRPr>
            </a:lvl2pPr>
            <a:lvl3pPr>
              <a:buNone/>
              <a:defRPr sz="1950" b="0">
                <a:solidFill>
                  <a:srgbClr val="546B7C"/>
                </a:solidFill>
                <a:latin typeface="Arial"/>
                <a:ea typeface="Arial"/>
                <a:cs typeface="Arial"/>
              </a:defRPr>
            </a:lvl3pPr>
            <a:lvl4pPr>
              <a:buNone/>
              <a:defRPr sz="1950" b="0">
                <a:solidFill>
                  <a:srgbClr val="546B7C"/>
                </a:solidFill>
                <a:latin typeface="Arial"/>
                <a:ea typeface="Arial"/>
                <a:cs typeface="Arial"/>
              </a:defRPr>
            </a:lvl4pPr>
            <a:lvl5pPr>
              <a:buNone/>
              <a:defRPr sz="1950" b="0">
                <a:solidFill>
                  <a:srgbClr val="546B7C"/>
                </a:solidFill>
                <a:latin typeface="Arial"/>
                <a:ea typeface="Arial"/>
                <a:cs typeface="Arial"/>
              </a:defRPr>
            </a:lvl5pPr>
            <a:lvl6pPr>
              <a:buNone/>
              <a:defRPr sz="1950" b="0">
                <a:solidFill>
                  <a:srgbClr val="546B7C"/>
                </a:solidFill>
                <a:latin typeface="Arial"/>
                <a:ea typeface="Arial"/>
                <a:cs typeface="Arial"/>
              </a:defRPr>
            </a:lvl6pPr>
            <a:lvl7pPr>
              <a:buNone/>
              <a:defRPr sz="1950" b="0">
                <a:solidFill>
                  <a:srgbClr val="546B7C"/>
                </a:solidFill>
                <a:latin typeface="Arial"/>
                <a:ea typeface="Arial"/>
                <a:cs typeface="Arial"/>
              </a:defRPr>
            </a:lvl7pPr>
            <a:lvl8pPr>
              <a:buNone/>
              <a:defRPr sz="1950" b="0">
                <a:solidFill>
                  <a:srgbClr val="546B7C"/>
                </a:solidFill>
                <a:latin typeface="Arial"/>
                <a:ea typeface="Arial"/>
                <a:cs typeface="Arial"/>
              </a:defRPr>
            </a:lvl8pPr>
            <a:lvl9pPr>
              <a:buNone/>
              <a:defRPr sz="1950" b="0">
                <a:solidFill>
                  <a:srgbClr val="546B7C"/>
                </a:solidFill>
                <a:latin typeface="Arial"/>
                <a:ea typeface="Arial"/>
                <a:cs typeface="Arial"/>
              </a:defRPr>
            </a:lvl9pPr>
          </a:lstStyle>
          <a:p xmlns:a="http://schemas.openxmlformats.org/drawingml/2006/main">
            <a:pPr>
              <a:buNone/>
              <a:defRPr sz="2100" b="0">
                <a:solidFill>
                  <a:srgbClr val="F2F6FF"/>
                </a:solidFill>
                <a:latin typeface="Arial"/>
                <a:ea typeface="Arial"/>
                <a:cs typeface="Arial"/>
              </a:defRPr>
            </a:pPr>
            <a:r>
              <a:rPr sz="2100" b="0">
                <a:solidFill>
                  <a:srgbClr val="F2F6FF"/>
                </a:solidFill>
                <a:latin typeface="Arial"/>
                <a:ea typeface="Arial"/>
                <a:cs typeface="Arial"/>
              </a:rPr>
              <a:t>the first operating priority</a:t>
            </a:r>
          </a:p>
        </p:txBody>
      </p:sp>
      <p:sp>
        <p:nvSpPr>
          <p:cNvPr id="5" name="">
            <a:extLst xmlns:a="http://schemas.openxmlformats.org/drawingml/2006/main">
              <a:ext uri="{FF2B5EF4-FFF2-40B4-BE49-F238E27FC236}">
                <a16:creationId xmlns:a16="http://schemas.microsoft.com/office/drawing/2014/main" id="{EFCC998B-129E-475F-ABA3-2B466D0716F8}"/>
              </a:ext>
            </a:extLst>
          </p:cNvPr>
          <p:cNvSpPr>
            <a:spLocks xmlns:a="http://schemas.openxmlformats.org/drawingml/2006/main" noGrp="1"/>
          </p:cNvSpPr>
          <p:nvPr/>
        </p:nvSpPr>
        <p:spPr>
          <a:xfrm xmlns:a="http://schemas.openxmlformats.org/drawingml/2006/main">
            <a:off x="5810250" y="2190750"/>
            <a:ext cx="5667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1">
                <a:solidFill>
                  <a:srgbClr val="0A2B43"/>
                </a:solidFill>
                <a:latin typeface="Arial"/>
                <a:ea typeface="Arial"/>
                <a:cs typeface="Arial"/>
              </a:defRPr>
            </a:lvl1pPr>
            <a:lvl2pPr>
              <a:buNone/>
              <a:defRPr sz="2100" b="1">
                <a:solidFill>
                  <a:srgbClr val="0A2B43"/>
                </a:solidFill>
                <a:latin typeface="Arial"/>
                <a:ea typeface="Arial"/>
                <a:cs typeface="Arial"/>
              </a:defRPr>
            </a:lvl2pPr>
            <a:lvl3pPr>
              <a:buNone/>
              <a:defRPr sz="2100" b="1">
                <a:solidFill>
                  <a:srgbClr val="0A2B43"/>
                </a:solidFill>
                <a:latin typeface="Arial"/>
                <a:ea typeface="Arial"/>
                <a:cs typeface="Arial"/>
              </a:defRPr>
            </a:lvl3pPr>
            <a:lvl4pPr>
              <a:buNone/>
              <a:defRPr sz="2100" b="1">
                <a:solidFill>
                  <a:srgbClr val="0A2B43"/>
                </a:solidFill>
                <a:latin typeface="Arial"/>
                <a:ea typeface="Arial"/>
                <a:cs typeface="Arial"/>
              </a:defRPr>
            </a:lvl4pPr>
            <a:lvl5pPr>
              <a:buNone/>
              <a:defRPr sz="2100" b="1">
                <a:solidFill>
                  <a:srgbClr val="0A2B43"/>
                </a:solidFill>
                <a:latin typeface="Arial"/>
                <a:ea typeface="Arial"/>
                <a:cs typeface="Arial"/>
              </a:defRPr>
            </a:lvl5pPr>
            <a:lvl6pPr>
              <a:buNone/>
              <a:defRPr sz="2100" b="1">
                <a:solidFill>
                  <a:srgbClr val="0A2B43"/>
                </a:solidFill>
                <a:latin typeface="Arial"/>
                <a:ea typeface="Arial"/>
                <a:cs typeface="Arial"/>
              </a:defRPr>
            </a:lvl6pPr>
            <a:lvl7pPr>
              <a:buNone/>
              <a:defRPr sz="2100" b="1">
                <a:solidFill>
                  <a:srgbClr val="0A2B43"/>
                </a:solidFill>
                <a:latin typeface="Arial"/>
                <a:ea typeface="Arial"/>
                <a:cs typeface="Arial"/>
              </a:defRPr>
            </a:lvl7pPr>
            <a:lvl8pPr>
              <a:buNone/>
              <a:defRPr sz="2100" b="1">
                <a:solidFill>
                  <a:srgbClr val="0A2B43"/>
                </a:solidFill>
                <a:latin typeface="Arial"/>
                <a:ea typeface="Arial"/>
                <a:cs typeface="Arial"/>
              </a:defRPr>
            </a:lvl8pPr>
            <a:lvl9pPr>
              <a:buNone/>
              <a:defRPr sz="2100" b="1">
                <a:solidFill>
                  <a:srgbClr val="0A2B43"/>
                </a:solidFill>
                <a:latin typeface="Arial"/>
                <a:ea typeface="Arial"/>
                <a:cs typeface="Arial"/>
              </a:defRPr>
            </a:lvl9pPr>
          </a:lstStyle>
          <a:p xmlns:a="http://schemas.openxmlformats.org/drawingml/2006/main">
            <a:pPr>
              <a:buNone/>
              <a:defRPr sz="2025" b="1">
                <a:solidFill>
                  <a:srgbClr val="F2F6FF"/>
                </a:solidFill>
                <a:latin typeface="Arial"/>
                <a:ea typeface="Arial"/>
                <a:cs typeface="Arial"/>
              </a:defRPr>
            </a:pPr>
            <a:r>
              <a:rPr sz="2025" b="1">
                <a:solidFill>
                  <a:srgbClr val="F2F6FF"/>
                </a:solidFill>
                <a:latin typeface="Arial"/>
                <a:ea typeface="Arial"/>
                <a:cs typeface="Arial"/>
              </a:rPr>
              <a:t>Verified definitions connect technical work to business decisions</a:t>
            </a:r>
          </a:p>
        </p:txBody>
      </p:sp>
      <p:sp>
        <p:nvSpPr>
          <p:cNvPr id="6" name="">
            <a:extLst xmlns:a="http://schemas.openxmlformats.org/drawingml/2006/main">
              <a:ext uri="{FF2B5EF4-FFF2-40B4-BE49-F238E27FC236}">
                <a16:creationId xmlns:a16="http://schemas.microsoft.com/office/drawing/2014/main" id="{B2EED9CC-F9B1-4080-9512-4255FA95D1B0}"/>
              </a:ext>
            </a:extLst>
          </p:cNvPr>
          <p:cNvSpPr>
            <a:spLocks xmlns:a="http://schemas.openxmlformats.org/drawingml/2006/main" noGrp="1"/>
          </p:cNvSpPr>
          <p:nvPr/>
        </p:nvSpPr>
        <p:spPr>
          <a:xfrm xmlns:a="http://schemas.openxmlformats.org/drawingml/2006/main">
            <a:off x="5810250" y="3048000"/>
            <a:ext cx="5667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025" b="0">
                <a:solidFill>
                  <a:srgbClr val="A8BDD4"/>
                </a:solidFill>
                <a:latin typeface="Arial"/>
                <a:ea typeface="Arial"/>
                <a:cs typeface="Arial"/>
              </a:defRPr>
            </a:pPr>
            <a:r>
              <a:rPr sz="2025" b="0">
                <a:solidFill>
                  <a:srgbClr val="A8BDD4"/>
                </a:solidFill>
                <a:latin typeface="Arial"/>
                <a:ea typeface="Arial"/>
                <a:cs typeface="Arial"/>
              </a:rPr>
              <a:t>Service, mix and fuel findings identify what to investigate</a:t>
            </a:r>
          </a:p>
        </p:txBody>
      </p:sp>
      <p:sp>
        <p:nvSpPr>
          <p:cNvPr id="7" name="">
            <a:extLst xmlns:a="http://schemas.openxmlformats.org/drawingml/2006/main">
              <a:ext uri="{FF2B5EF4-FFF2-40B4-BE49-F238E27FC236}">
                <a16:creationId xmlns:a16="http://schemas.microsoft.com/office/drawing/2014/main" id="{758F06AD-6C2E-4533-94FF-581E24F3C3D6}"/>
              </a:ext>
            </a:extLst>
          </p:cNvPr>
          <p:cNvSpPr>
            <a:spLocks xmlns:a="http://schemas.openxmlformats.org/drawingml/2006/main" noGrp="1"/>
          </p:cNvSpPr>
          <p:nvPr/>
        </p:nvSpPr>
        <p:spPr>
          <a:xfrm xmlns:a="http://schemas.openxmlformats.org/drawingml/2006/main">
            <a:off x="5810250" y="3905250"/>
            <a:ext cx="5667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025" b="0">
                <a:solidFill>
                  <a:srgbClr val="A8BDD4"/>
                </a:solidFill>
                <a:latin typeface="Arial"/>
                <a:ea typeface="Arial"/>
                <a:cs typeface="Arial"/>
              </a:defRPr>
            </a:pPr>
            <a:r>
              <a:rPr sz="2025" b="0">
                <a:solidFill>
                  <a:srgbClr val="A8BDD4"/>
                </a:solidFill>
                <a:latin typeface="Arial"/>
                <a:ea typeface="Arial"/>
                <a:cs typeface="Arial"/>
              </a:rPr>
              <a:t>Comparable scenarios make commercial trade-offs explicit</a:t>
            </a:r>
          </a:p>
        </p:txBody>
      </p:sp>
      <p:sp>
        <p:nvSpPr>
          <p:cNvPr id="8" name="">
            <a:extLst xmlns:a="http://schemas.openxmlformats.org/drawingml/2006/main">
              <a:ext uri="{FF2B5EF4-FFF2-40B4-BE49-F238E27FC236}">
                <a16:creationId xmlns:a16="http://schemas.microsoft.com/office/drawing/2014/main" id="{CD10856E-23C2-4F98-906E-50DBA1947A2F}"/>
              </a:ext>
            </a:extLst>
          </p:cNvPr>
          <p:cNvSpPr>
            <a:spLocks xmlns:a="http://schemas.openxmlformats.org/drawingml/2006/main" noGrp="1"/>
          </p:cNvSpPr>
          <p:nvPr/>
        </p:nvSpPr>
        <p:spPr>
          <a:xfrm xmlns:a="http://schemas.openxmlformats.org/drawingml/2006/main">
            <a:off x="5810250" y="4762500"/>
            <a:ext cx="5667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025" b="0">
                <a:solidFill>
                  <a:srgbClr val="A8BDD4"/>
                </a:solidFill>
                <a:latin typeface="Arial"/>
                <a:ea typeface="Arial"/>
                <a:cs typeface="Arial"/>
              </a:defRPr>
            </a:pPr>
            <a:r>
              <a:rPr sz="2025" b="0">
                <a:solidFill>
                  <a:srgbClr val="A8BDD4"/>
                </a:solidFill>
                <a:latin typeface="Arial"/>
                <a:ea typeface="Arial"/>
                <a:cs typeface="Arial"/>
              </a:rPr>
              <a:t>Controlled pilots can measure whether proposed actions help</a:t>
            </a:r>
          </a:p>
        </p:txBody>
      </p:sp>
    </p:spTree>
    <p:extLst>
      <p:ext uri="{BB962C8B-B14F-4D97-AF65-F5344CB8AC3E}">
        <p14:creationId xmlns:p14="http://schemas.microsoft.com/office/powerpoint/2010/main" val="1389847513"/>
      </p:ext>
    </p:extLst>
  </p:cSld>
</p:sld>
</file>

<file path=ppt/slides/slide29.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ba87432c336493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0" name="design-39">
            <a:extLst xmlns:a="http://schemas.openxmlformats.org/drawingml/2006/main">
              <a:ext uri="{FF2B5EF4-FFF2-40B4-BE49-F238E27FC236}">
                <a16:creationId xmlns:a16="http://schemas.microsoft.com/office/drawing/2014/main" id="{1E077DCF-1EB5-4F38-BA6A-60B753BB8A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0812">
              <a:alpha val="50000"/>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0F4AAA-1762-4B03-A1C3-452145E0B429}"/>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BD9D9"/>
                </a:solidFill>
                <a:latin typeface="Arial"/>
                <a:ea typeface="Arial"/>
                <a:cs typeface="Arial"/>
              </a:defRPr>
            </a:lvl1pPr>
            <a:lvl2pPr>
              <a:buNone/>
              <a:defRPr sz="1350" b="1">
                <a:solidFill>
                  <a:srgbClr val="0BD9D9"/>
                </a:solidFill>
                <a:latin typeface="Arial"/>
                <a:ea typeface="Arial"/>
                <a:cs typeface="Arial"/>
              </a:defRPr>
            </a:lvl2pPr>
            <a:lvl3pPr>
              <a:buNone/>
              <a:defRPr sz="1350" b="1">
                <a:solidFill>
                  <a:srgbClr val="0BD9D9"/>
                </a:solidFill>
                <a:latin typeface="Arial"/>
                <a:ea typeface="Arial"/>
                <a:cs typeface="Arial"/>
              </a:defRPr>
            </a:lvl3pPr>
            <a:lvl4pPr>
              <a:buNone/>
              <a:defRPr sz="1350" b="1">
                <a:solidFill>
                  <a:srgbClr val="0BD9D9"/>
                </a:solidFill>
                <a:latin typeface="Arial"/>
                <a:ea typeface="Arial"/>
                <a:cs typeface="Arial"/>
              </a:defRPr>
            </a:lvl4pPr>
            <a:lvl5pPr>
              <a:buNone/>
              <a:defRPr sz="1350" b="1">
                <a:solidFill>
                  <a:srgbClr val="0BD9D9"/>
                </a:solidFill>
                <a:latin typeface="Arial"/>
                <a:ea typeface="Arial"/>
                <a:cs typeface="Arial"/>
              </a:defRPr>
            </a:lvl5pPr>
            <a:lvl6pPr>
              <a:buNone/>
              <a:defRPr sz="1350" b="1">
                <a:solidFill>
                  <a:srgbClr val="0BD9D9"/>
                </a:solidFill>
                <a:latin typeface="Arial"/>
                <a:ea typeface="Arial"/>
                <a:cs typeface="Arial"/>
              </a:defRPr>
            </a:lvl6pPr>
            <a:lvl7pPr>
              <a:buNone/>
              <a:defRPr sz="1350" b="1">
                <a:solidFill>
                  <a:srgbClr val="0BD9D9"/>
                </a:solidFill>
                <a:latin typeface="Arial"/>
                <a:ea typeface="Arial"/>
                <a:cs typeface="Arial"/>
              </a:defRPr>
            </a:lvl7pPr>
            <a:lvl8pPr>
              <a:buNone/>
              <a:defRPr sz="1350" b="1">
                <a:solidFill>
                  <a:srgbClr val="0BD9D9"/>
                </a:solidFill>
                <a:latin typeface="Arial"/>
                <a:ea typeface="Arial"/>
                <a:cs typeface="Arial"/>
              </a:defRPr>
            </a:lvl8pPr>
            <a:lvl9pPr>
              <a:buNone/>
              <a:defRPr sz="1350" b="1">
                <a:solidFill>
                  <a:srgbClr val="0BD9D9"/>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DISCUSSION</a:t>
            </a:r>
          </a:p>
        </p:txBody>
      </p:sp>
      <p:sp>
        <p:nvSpPr>
          <p:cNvPr id="7" name="">
            <a:extLst xmlns:a="http://schemas.openxmlformats.org/drawingml/2006/main">
              <a:ext uri="{FF2B5EF4-FFF2-40B4-BE49-F238E27FC236}">
                <a16:creationId xmlns:a16="http://schemas.microsoft.com/office/drawing/2014/main" id="{4CFB8657-5862-4BB6-ACE2-F7CD32CB3737}"/>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FFFFFF"/>
                </a:solidFill>
                <a:latin typeface="Arial"/>
                <a:ea typeface="Arial"/>
                <a:cs typeface="Arial"/>
              </a:defRPr>
            </a:lvl1pPr>
            <a:lvl2pPr>
              <a:buNone/>
              <a:defRPr sz="1200" b="0">
                <a:solidFill>
                  <a:srgbClr val="FFFFFF"/>
                </a:solidFill>
                <a:latin typeface="Arial"/>
                <a:ea typeface="Arial"/>
                <a:cs typeface="Arial"/>
              </a:defRPr>
            </a:lvl2pPr>
            <a:lvl3pPr>
              <a:buNone/>
              <a:defRPr sz="1200" b="0">
                <a:solidFill>
                  <a:srgbClr val="FFFFFF"/>
                </a:solidFill>
                <a:latin typeface="Arial"/>
                <a:ea typeface="Arial"/>
                <a:cs typeface="Arial"/>
              </a:defRPr>
            </a:lvl3pPr>
            <a:lvl4pPr>
              <a:buNone/>
              <a:defRPr sz="1200" b="0">
                <a:solidFill>
                  <a:srgbClr val="FFFFFF"/>
                </a:solidFill>
                <a:latin typeface="Arial"/>
                <a:ea typeface="Arial"/>
                <a:cs typeface="Arial"/>
              </a:defRPr>
            </a:lvl4pPr>
            <a:lvl5pPr>
              <a:buNone/>
              <a:defRPr sz="1200" b="0">
                <a:solidFill>
                  <a:srgbClr val="FFFFFF"/>
                </a:solidFill>
                <a:latin typeface="Arial"/>
                <a:ea typeface="Arial"/>
                <a:cs typeface="Arial"/>
              </a:defRPr>
            </a:lvl5pPr>
            <a:lvl6pPr>
              <a:buNone/>
              <a:defRPr sz="1200" b="0">
                <a:solidFill>
                  <a:srgbClr val="FFFFFF"/>
                </a:solidFill>
                <a:latin typeface="Arial"/>
                <a:ea typeface="Arial"/>
                <a:cs typeface="Arial"/>
              </a:defRPr>
            </a:lvl6pPr>
            <a:lvl7pPr>
              <a:buNone/>
              <a:defRPr sz="1200" b="0">
                <a:solidFill>
                  <a:srgbClr val="FFFFFF"/>
                </a:solidFill>
                <a:latin typeface="Arial"/>
                <a:ea typeface="Arial"/>
                <a:cs typeface="Arial"/>
              </a:defRPr>
            </a:lvl7pPr>
            <a:lvl8pPr>
              <a:buNone/>
              <a:defRPr sz="1200" b="0">
                <a:solidFill>
                  <a:srgbClr val="FFFFFF"/>
                </a:solidFill>
                <a:latin typeface="Arial"/>
                <a:ea typeface="Arial"/>
                <a:cs typeface="Arial"/>
              </a:defRPr>
            </a:lvl8pPr>
            <a:lvl9pPr>
              <a:buNone/>
              <a:defRPr sz="1200" b="0">
                <a:solidFill>
                  <a:srgbClr val="FFFFFF"/>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29</a:t>
            </a:r>
          </a:p>
        </p:txBody>
      </p:sp>
      <p:sp>
        <p:nvSpPr>
          <p:cNvPr id="2" name="">
            <a:extLst xmlns:a="http://schemas.openxmlformats.org/drawingml/2006/main">
              <a:ext uri="{FF2B5EF4-FFF2-40B4-BE49-F238E27FC236}">
                <a16:creationId xmlns:a16="http://schemas.microsoft.com/office/drawing/2014/main" id="{40E3584B-5B8D-4144-A573-47CA910B2EB3}"/>
              </a:ext>
            </a:extLst>
          </p:cNvPr>
          <p:cNvSpPr>
            <a:spLocks xmlns:a="http://schemas.openxmlformats.org/drawingml/2006/main" noGrp="1"/>
          </p:cNvSpPr>
          <p:nvPr/>
        </p:nvSpPr>
        <p:spPr>
          <a:xfrm xmlns:a="http://schemas.openxmlformats.org/drawingml/2006/main">
            <a:off x="571500" y="2009775"/>
            <a:ext cx="49530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200" b="1">
                <a:solidFill>
                  <a:srgbClr val="FFFFFF"/>
                </a:solidFill>
                <a:latin typeface="Arial"/>
                <a:ea typeface="Arial"/>
                <a:cs typeface="Arial"/>
              </a:defRPr>
            </a:lvl1pPr>
            <a:lvl2pPr>
              <a:buNone/>
              <a:defRPr sz="4200" b="1">
                <a:solidFill>
                  <a:srgbClr val="FFFFFF"/>
                </a:solidFill>
                <a:latin typeface="Arial"/>
                <a:ea typeface="Arial"/>
                <a:cs typeface="Arial"/>
              </a:defRPr>
            </a:lvl2pPr>
            <a:lvl3pPr>
              <a:buNone/>
              <a:defRPr sz="4200" b="1">
                <a:solidFill>
                  <a:srgbClr val="FFFFFF"/>
                </a:solidFill>
                <a:latin typeface="Arial"/>
                <a:ea typeface="Arial"/>
                <a:cs typeface="Arial"/>
              </a:defRPr>
            </a:lvl3pPr>
            <a:lvl4pPr>
              <a:buNone/>
              <a:defRPr sz="4200" b="1">
                <a:solidFill>
                  <a:srgbClr val="FFFFFF"/>
                </a:solidFill>
                <a:latin typeface="Arial"/>
                <a:ea typeface="Arial"/>
                <a:cs typeface="Arial"/>
              </a:defRPr>
            </a:lvl4pPr>
            <a:lvl5pPr>
              <a:buNone/>
              <a:defRPr sz="4200" b="1">
                <a:solidFill>
                  <a:srgbClr val="FFFFFF"/>
                </a:solidFill>
                <a:latin typeface="Arial"/>
                <a:ea typeface="Arial"/>
                <a:cs typeface="Arial"/>
              </a:defRPr>
            </a:lvl5pPr>
            <a:lvl6pPr>
              <a:buNone/>
              <a:defRPr sz="4200" b="1">
                <a:solidFill>
                  <a:srgbClr val="FFFFFF"/>
                </a:solidFill>
                <a:latin typeface="Arial"/>
                <a:ea typeface="Arial"/>
                <a:cs typeface="Arial"/>
              </a:defRPr>
            </a:lvl6pPr>
            <a:lvl7pPr>
              <a:buNone/>
              <a:defRPr sz="4200" b="1">
                <a:solidFill>
                  <a:srgbClr val="FFFFFF"/>
                </a:solidFill>
                <a:latin typeface="Arial"/>
                <a:ea typeface="Arial"/>
                <a:cs typeface="Arial"/>
              </a:defRPr>
            </a:lvl7pPr>
            <a:lvl8pPr>
              <a:buNone/>
              <a:defRPr sz="4200" b="1">
                <a:solidFill>
                  <a:srgbClr val="FFFFFF"/>
                </a:solidFill>
                <a:latin typeface="Arial"/>
                <a:ea typeface="Arial"/>
                <a:cs typeface="Arial"/>
              </a:defRPr>
            </a:lvl8pPr>
            <a:lvl9pPr>
              <a:buNone/>
              <a:defRPr sz="4200" b="1">
                <a:solidFill>
                  <a:srgbClr val="FFFFFF"/>
                </a:solidFill>
                <a:latin typeface="Arial"/>
                <a:ea typeface="Arial"/>
                <a:cs typeface="Arial"/>
              </a:defRPr>
            </a:lvl9pPr>
          </a:lstStyle>
          <a:p xmlns:a="http://schemas.openxmlformats.org/drawingml/2006/main">
            <a:pPr>
              <a:buNone/>
              <a:defRPr sz="11250" b="1">
                <a:solidFill>
                  <a:srgbClr val="F2F6FF"/>
                </a:solidFill>
                <a:latin typeface="Arial"/>
                <a:ea typeface="Arial"/>
                <a:cs typeface="Arial"/>
              </a:defRPr>
            </a:pPr>
            <a:r>
              <a:rPr sz="11250" b="1">
                <a:solidFill>
                  <a:srgbClr val="F2F6FF"/>
                </a:solidFill>
                <a:latin typeface="Arial"/>
                <a:ea typeface="Arial"/>
                <a:cs typeface="Arial"/>
              </a:rPr>
              <a:t>Q&amp;A</a:t>
            </a:r>
          </a:p>
        </p:txBody>
      </p:sp>
      <p:sp>
        <p:nvSpPr>
          <p:cNvPr id="3" name="">
            <a:extLst xmlns:a="http://schemas.openxmlformats.org/drawingml/2006/main">
              <a:ext uri="{FF2B5EF4-FFF2-40B4-BE49-F238E27FC236}">
                <a16:creationId xmlns:a16="http://schemas.microsoft.com/office/drawing/2014/main" id="{F684E801-404B-42A9-947F-AF0F88FA4165}"/>
              </a:ext>
            </a:extLst>
          </p:cNvPr>
          <p:cNvSpPr>
            <a:spLocks xmlns:a="http://schemas.openxmlformats.org/drawingml/2006/main" noGrp="1"/>
          </p:cNvSpPr>
          <p:nvPr/>
        </p:nvSpPr>
        <p:spPr>
          <a:xfrm xmlns:a="http://schemas.openxmlformats.org/drawingml/2006/main">
            <a:off x="6191250" y="2333625"/>
            <a:ext cx="5000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325" b="0">
                <a:solidFill>
                  <a:srgbClr val="FFFFFF"/>
                </a:solidFill>
                <a:latin typeface="Arial"/>
                <a:ea typeface="Arial"/>
                <a:cs typeface="Arial"/>
              </a:defRPr>
            </a:lvl1pPr>
            <a:lvl2pPr>
              <a:buNone/>
              <a:defRPr sz="2325" b="0">
                <a:solidFill>
                  <a:srgbClr val="FFFFFF"/>
                </a:solidFill>
                <a:latin typeface="Arial"/>
                <a:ea typeface="Arial"/>
                <a:cs typeface="Arial"/>
              </a:defRPr>
            </a:lvl2pPr>
            <a:lvl3pPr>
              <a:buNone/>
              <a:defRPr sz="2325" b="0">
                <a:solidFill>
                  <a:srgbClr val="FFFFFF"/>
                </a:solidFill>
                <a:latin typeface="Arial"/>
                <a:ea typeface="Arial"/>
                <a:cs typeface="Arial"/>
              </a:defRPr>
            </a:lvl3pPr>
            <a:lvl4pPr>
              <a:buNone/>
              <a:defRPr sz="2325" b="0">
                <a:solidFill>
                  <a:srgbClr val="FFFFFF"/>
                </a:solidFill>
                <a:latin typeface="Arial"/>
                <a:ea typeface="Arial"/>
                <a:cs typeface="Arial"/>
              </a:defRPr>
            </a:lvl4pPr>
            <a:lvl5pPr>
              <a:buNone/>
              <a:defRPr sz="2325" b="0">
                <a:solidFill>
                  <a:srgbClr val="FFFFFF"/>
                </a:solidFill>
                <a:latin typeface="Arial"/>
                <a:ea typeface="Arial"/>
                <a:cs typeface="Arial"/>
              </a:defRPr>
            </a:lvl5pPr>
            <a:lvl6pPr>
              <a:buNone/>
              <a:defRPr sz="2325" b="0">
                <a:solidFill>
                  <a:srgbClr val="FFFFFF"/>
                </a:solidFill>
                <a:latin typeface="Arial"/>
                <a:ea typeface="Arial"/>
                <a:cs typeface="Arial"/>
              </a:defRPr>
            </a:lvl6pPr>
            <a:lvl7pPr>
              <a:buNone/>
              <a:defRPr sz="2325" b="0">
                <a:solidFill>
                  <a:srgbClr val="FFFFFF"/>
                </a:solidFill>
                <a:latin typeface="Arial"/>
                <a:ea typeface="Arial"/>
                <a:cs typeface="Arial"/>
              </a:defRPr>
            </a:lvl7pPr>
            <a:lvl8pPr>
              <a:buNone/>
              <a:defRPr sz="2325" b="0">
                <a:solidFill>
                  <a:srgbClr val="FFFFFF"/>
                </a:solidFill>
                <a:latin typeface="Arial"/>
                <a:ea typeface="Arial"/>
                <a:cs typeface="Arial"/>
              </a:defRPr>
            </a:lvl8pPr>
            <a:lvl9pPr>
              <a:buNone/>
              <a:defRPr sz="2325" b="0">
                <a:solidFill>
                  <a:srgbClr val="FFFFFF"/>
                </a:solidFill>
                <a:latin typeface="Arial"/>
                <a:ea typeface="Arial"/>
                <a:cs typeface="Arial"/>
              </a:defRPr>
            </a:lvl9pPr>
          </a:lstStyle>
          <a:p xmlns:a="http://schemas.openxmlformats.org/drawingml/2006/main">
            <a:pPr>
              <a:buNone/>
              <a:defRPr sz="2250" b="0">
                <a:solidFill>
                  <a:srgbClr val="F2F6FF"/>
                </a:solidFill>
                <a:latin typeface="Arial"/>
                <a:ea typeface="Arial"/>
                <a:cs typeface="Arial"/>
              </a:defRPr>
            </a:pPr>
            <a:r>
              <a:rPr sz="2250" b="0">
                <a:solidFill>
                  <a:srgbClr val="F2F6FF"/>
                </a:solidFill>
                <a:latin typeface="Arial"/>
                <a:ea typeface="Arial"/>
                <a:cs typeface="Arial"/>
              </a:rPr>
              <a:t>Which KPI should management address first?</a:t>
            </a:r>
          </a:p>
        </p:txBody>
      </p:sp>
      <p:sp>
        <p:nvSpPr>
          <p:cNvPr id="4" name="">
            <a:extLst xmlns:a="http://schemas.openxmlformats.org/drawingml/2006/main">
              <a:ext uri="{FF2B5EF4-FFF2-40B4-BE49-F238E27FC236}">
                <a16:creationId xmlns:a16="http://schemas.microsoft.com/office/drawing/2014/main" id="{9521DA57-4A87-4A02-BE60-33BB8E1F4B41}"/>
              </a:ext>
            </a:extLst>
          </p:cNvPr>
          <p:cNvSpPr>
            <a:spLocks xmlns:a="http://schemas.openxmlformats.org/drawingml/2006/main" noGrp="1"/>
          </p:cNvSpPr>
          <p:nvPr/>
        </p:nvSpPr>
        <p:spPr>
          <a:xfrm xmlns:a="http://schemas.openxmlformats.org/drawingml/2006/main">
            <a:off x="6191250" y="3400425"/>
            <a:ext cx="5000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325" b="0">
                <a:solidFill>
                  <a:srgbClr val="FFFFFF"/>
                </a:solidFill>
                <a:latin typeface="Arial"/>
                <a:ea typeface="Arial"/>
                <a:cs typeface="Arial"/>
              </a:defRPr>
            </a:lvl1pPr>
            <a:lvl2pPr>
              <a:buNone/>
              <a:defRPr sz="2325" b="0">
                <a:solidFill>
                  <a:srgbClr val="FFFFFF"/>
                </a:solidFill>
                <a:latin typeface="Arial"/>
                <a:ea typeface="Arial"/>
                <a:cs typeface="Arial"/>
              </a:defRPr>
            </a:lvl2pPr>
            <a:lvl3pPr>
              <a:buNone/>
              <a:defRPr sz="2325" b="0">
                <a:solidFill>
                  <a:srgbClr val="FFFFFF"/>
                </a:solidFill>
                <a:latin typeface="Arial"/>
                <a:ea typeface="Arial"/>
                <a:cs typeface="Arial"/>
              </a:defRPr>
            </a:lvl3pPr>
            <a:lvl4pPr>
              <a:buNone/>
              <a:defRPr sz="2325" b="0">
                <a:solidFill>
                  <a:srgbClr val="FFFFFF"/>
                </a:solidFill>
                <a:latin typeface="Arial"/>
                <a:ea typeface="Arial"/>
                <a:cs typeface="Arial"/>
              </a:defRPr>
            </a:lvl4pPr>
            <a:lvl5pPr>
              <a:buNone/>
              <a:defRPr sz="2325" b="0">
                <a:solidFill>
                  <a:srgbClr val="FFFFFF"/>
                </a:solidFill>
                <a:latin typeface="Arial"/>
                <a:ea typeface="Arial"/>
                <a:cs typeface="Arial"/>
              </a:defRPr>
            </a:lvl5pPr>
            <a:lvl6pPr>
              <a:buNone/>
              <a:defRPr sz="2325" b="0">
                <a:solidFill>
                  <a:srgbClr val="FFFFFF"/>
                </a:solidFill>
                <a:latin typeface="Arial"/>
                <a:ea typeface="Arial"/>
                <a:cs typeface="Arial"/>
              </a:defRPr>
            </a:lvl6pPr>
            <a:lvl7pPr>
              <a:buNone/>
              <a:defRPr sz="2325" b="0">
                <a:solidFill>
                  <a:srgbClr val="FFFFFF"/>
                </a:solidFill>
                <a:latin typeface="Arial"/>
                <a:ea typeface="Arial"/>
                <a:cs typeface="Arial"/>
              </a:defRPr>
            </a:lvl7pPr>
            <a:lvl8pPr>
              <a:buNone/>
              <a:defRPr sz="2325" b="0">
                <a:solidFill>
                  <a:srgbClr val="FFFFFF"/>
                </a:solidFill>
                <a:latin typeface="Arial"/>
                <a:ea typeface="Arial"/>
                <a:cs typeface="Arial"/>
              </a:defRPr>
            </a:lvl8pPr>
            <a:lvl9pPr>
              <a:buNone/>
              <a:defRPr sz="2325" b="0">
                <a:solidFill>
                  <a:srgbClr val="FFFFFF"/>
                </a:solidFill>
                <a:latin typeface="Arial"/>
                <a:ea typeface="Arial"/>
                <a:cs typeface="Arial"/>
              </a:defRPr>
            </a:lvl9pPr>
          </a:lstStyle>
          <a:p xmlns:a="http://schemas.openxmlformats.org/drawingml/2006/main">
            <a:pPr>
              <a:buNone/>
              <a:defRPr sz="2250" b="0">
                <a:solidFill>
                  <a:srgbClr val="A8BDD4"/>
                </a:solidFill>
                <a:latin typeface="Arial"/>
                <a:ea typeface="Arial"/>
                <a:cs typeface="Arial"/>
              </a:defRPr>
            </a:pPr>
            <a:r>
              <a:rPr sz="2250" b="0">
                <a:solidFill>
                  <a:srgbClr val="A8BDD4"/>
                </a:solidFill>
                <a:latin typeface="Arial"/>
                <a:ea typeface="Arial"/>
                <a:cs typeface="Arial"/>
              </a:rPr>
              <a:t>Why do the two on-time rates differ?</a:t>
            </a:r>
          </a:p>
        </p:txBody>
      </p:sp>
      <p:sp>
        <p:nvSpPr>
          <p:cNvPr id="5" name="">
            <a:extLst xmlns:a="http://schemas.openxmlformats.org/drawingml/2006/main">
              <a:ext uri="{FF2B5EF4-FFF2-40B4-BE49-F238E27FC236}">
                <a16:creationId xmlns:a16="http://schemas.microsoft.com/office/drawing/2014/main" id="{45BD4085-3502-4D49-83E2-21A72329101E}"/>
              </a:ext>
            </a:extLst>
          </p:cNvPr>
          <p:cNvSpPr>
            <a:spLocks xmlns:a="http://schemas.openxmlformats.org/drawingml/2006/main" noGrp="1"/>
          </p:cNvSpPr>
          <p:nvPr/>
        </p:nvSpPr>
        <p:spPr>
          <a:xfrm xmlns:a="http://schemas.openxmlformats.org/drawingml/2006/main">
            <a:off x="6191250" y="4467225"/>
            <a:ext cx="5000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325" b="0">
                <a:solidFill>
                  <a:srgbClr val="FFFFFF"/>
                </a:solidFill>
                <a:latin typeface="Arial"/>
                <a:ea typeface="Arial"/>
                <a:cs typeface="Arial"/>
              </a:defRPr>
            </a:lvl1pPr>
            <a:lvl2pPr>
              <a:buNone/>
              <a:defRPr sz="2325" b="0">
                <a:solidFill>
                  <a:srgbClr val="FFFFFF"/>
                </a:solidFill>
                <a:latin typeface="Arial"/>
                <a:ea typeface="Arial"/>
                <a:cs typeface="Arial"/>
              </a:defRPr>
            </a:lvl2pPr>
            <a:lvl3pPr>
              <a:buNone/>
              <a:defRPr sz="2325" b="0">
                <a:solidFill>
                  <a:srgbClr val="FFFFFF"/>
                </a:solidFill>
                <a:latin typeface="Arial"/>
                <a:ea typeface="Arial"/>
                <a:cs typeface="Arial"/>
              </a:defRPr>
            </a:lvl3pPr>
            <a:lvl4pPr>
              <a:buNone/>
              <a:defRPr sz="2325" b="0">
                <a:solidFill>
                  <a:srgbClr val="FFFFFF"/>
                </a:solidFill>
                <a:latin typeface="Arial"/>
                <a:ea typeface="Arial"/>
                <a:cs typeface="Arial"/>
              </a:defRPr>
            </a:lvl4pPr>
            <a:lvl5pPr>
              <a:buNone/>
              <a:defRPr sz="2325" b="0">
                <a:solidFill>
                  <a:srgbClr val="FFFFFF"/>
                </a:solidFill>
                <a:latin typeface="Arial"/>
                <a:ea typeface="Arial"/>
                <a:cs typeface="Arial"/>
              </a:defRPr>
            </a:lvl5pPr>
            <a:lvl6pPr>
              <a:buNone/>
              <a:defRPr sz="2325" b="0">
                <a:solidFill>
                  <a:srgbClr val="FFFFFF"/>
                </a:solidFill>
                <a:latin typeface="Arial"/>
                <a:ea typeface="Arial"/>
                <a:cs typeface="Arial"/>
              </a:defRPr>
            </a:lvl6pPr>
            <a:lvl7pPr>
              <a:buNone/>
              <a:defRPr sz="2325" b="0">
                <a:solidFill>
                  <a:srgbClr val="FFFFFF"/>
                </a:solidFill>
                <a:latin typeface="Arial"/>
                <a:ea typeface="Arial"/>
                <a:cs typeface="Arial"/>
              </a:defRPr>
            </a:lvl7pPr>
            <a:lvl8pPr>
              <a:buNone/>
              <a:defRPr sz="2325" b="0">
                <a:solidFill>
                  <a:srgbClr val="FFFFFF"/>
                </a:solidFill>
                <a:latin typeface="Arial"/>
                <a:ea typeface="Arial"/>
                <a:cs typeface="Arial"/>
              </a:defRPr>
            </a:lvl8pPr>
            <a:lvl9pPr>
              <a:buNone/>
              <a:defRPr sz="2325" b="0">
                <a:solidFill>
                  <a:srgbClr val="FFFFFF"/>
                </a:solidFill>
                <a:latin typeface="Arial"/>
                <a:ea typeface="Arial"/>
                <a:cs typeface="Arial"/>
              </a:defRPr>
            </a:lvl9pPr>
          </a:lstStyle>
          <a:p xmlns:a="http://schemas.openxmlformats.org/drawingml/2006/main">
            <a:pPr>
              <a:buNone/>
              <a:defRPr sz="2250" b="0">
                <a:solidFill>
                  <a:srgbClr val="F2F6FF"/>
                </a:solidFill>
                <a:latin typeface="Arial"/>
                <a:ea typeface="Arial"/>
                <a:cs typeface="Arial"/>
              </a:defRPr>
            </a:pPr>
            <a:r>
              <a:rPr sz="2250" b="0">
                <a:solidFill>
                  <a:srgbClr val="F2F6FF"/>
                </a:solidFill>
                <a:latin typeface="Arial"/>
                <a:ea typeface="Arial"/>
                <a:cs typeface="Arial"/>
              </a:rPr>
              <a:t>How should the WHAT-IF calculation change?</a:t>
            </a:r>
          </a:p>
        </p:txBody>
      </p:sp>
      <p:sp>
        <p:nvSpPr>
          <p:cNvPr id="6" name="">
            <a:extLst xmlns:a="http://schemas.openxmlformats.org/drawingml/2006/main">
              <a:ext uri="{FF2B5EF4-FFF2-40B4-BE49-F238E27FC236}">
                <a16:creationId xmlns:a16="http://schemas.microsoft.com/office/drawing/2014/main" id="{A2D5C129-9A89-4802-B1E7-0CA43E814EDE}"/>
              </a:ext>
            </a:extLst>
          </p:cNvPr>
          <p:cNvSpPr>
            <a:spLocks xmlns:a="http://schemas.openxmlformats.org/drawingml/2006/main" noGrp="1"/>
          </p:cNvSpPr>
          <p:nvPr/>
        </p:nvSpPr>
        <p:spPr>
          <a:xfrm xmlns:a="http://schemas.openxmlformats.org/drawingml/2006/main">
            <a:off x="619125" y="5334000"/>
            <a:ext cx="4857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BD9D9"/>
                </a:solidFill>
                <a:latin typeface="Arial"/>
                <a:ea typeface="Arial"/>
                <a:cs typeface="Arial"/>
              </a:defRPr>
            </a:lvl1pPr>
            <a:lvl2pPr>
              <a:buNone/>
              <a:defRPr sz="1875" b="1">
                <a:solidFill>
                  <a:srgbClr val="0BD9D9"/>
                </a:solidFill>
                <a:latin typeface="Arial"/>
                <a:ea typeface="Arial"/>
                <a:cs typeface="Arial"/>
              </a:defRPr>
            </a:lvl2pPr>
            <a:lvl3pPr>
              <a:buNone/>
              <a:defRPr sz="1875" b="1">
                <a:solidFill>
                  <a:srgbClr val="0BD9D9"/>
                </a:solidFill>
                <a:latin typeface="Arial"/>
                <a:ea typeface="Arial"/>
                <a:cs typeface="Arial"/>
              </a:defRPr>
            </a:lvl3pPr>
            <a:lvl4pPr>
              <a:buNone/>
              <a:defRPr sz="1875" b="1">
                <a:solidFill>
                  <a:srgbClr val="0BD9D9"/>
                </a:solidFill>
                <a:latin typeface="Arial"/>
                <a:ea typeface="Arial"/>
                <a:cs typeface="Arial"/>
              </a:defRPr>
            </a:lvl4pPr>
            <a:lvl5pPr>
              <a:buNone/>
              <a:defRPr sz="1875" b="1">
                <a:solidFill>
                  <a:srgbClr val="0BD9D9"/>
                </a:solidFill>
                <a:latin typeface="Arial"/>
                <a:ea typeface="Arial"/>
                <a:cs typeface="Arial"/>
              </a:defRPr>
            </a:lvl5pPr>
            <a:lvl6pPr>
              <a:buNone/>
              <a:defRPr sz="1875" b="1">
                <a:solidFill>
                  <a:srgbClr val="0BD9D9"/>
                </a:solidFill>
                <a:latin typeface="Arial"/>
                <a:ea typeface="Arial"/>
                <a:cs typeface="Arial"/>
              </a:defRPr>
            </a:lvl6pPr>
            <a:lvl7pPr>
              <a:buNone/>
              <a:defRPr sz="1875" b="1">
                <a:solidFill>
                  <a:srgbClr val="0BD9D9"/>
                </a:solidFill>
                <a:latin typeface="Arial"/>
                <a:ea typeface="Arial"/>
                <a:cs typeface="Arial"/>
              </a:defRPr>
            </a:lvl7pPr>
            <a:lvl8pPr>
              <a:buNone/>
              <a:defRPr sz="1875" b="1">
                <a:solidFill>
                  <a:srgbClr val="0BD9D9"/>
                </a:solidFill>
                <a:latin typeface="Arial"/>
                <a:ea typeface="Arial"/>
                <a:cs typeface="Arial"/>
              </a:defRPr>
            </a:lvl8pPr>
            <a:lvl9pPr>
              <a:buNone/>
              <a:defRPr sz="1875" b="1">
                <a:solidFill>
                  <a:srgbClr val="0BD9D9"/>
                </a:solidFill>
                <a:latin typeface="Arial"/>
                <a:ea typeface="Arial"/>
                <a:cs typeface="Arial"/>
              </a:defRPr>
            </a:lvl9pPr>
          </a:lstStyle>
          <a:p xmlns:a="http://schemas.openxmlformats.org/drawingml/2006/main">
            <a:pPr>
              <a:buNone/>
              <a:defRPr sz="2175" b="1">
                <a:solidFill>
                  <a:srgbClr val="3DDCF5"/>
                </a:solidFill>
                <a:latin typeface="Arial"/>
                <a:ea typeface="Arial"/>
                <a:cs typeface="Arial"/>
              </a:defRPr>
            </a:pPr>
            <a:r>
              <a:rPr sz="2175" b="1">
                <a:solidFill>
                  <a:srgbClr val="3DDCF5"/>
                </a:solidFill>
                <a:latin typeface="Arial"/>
                <a:ea typeface="Arial"/>
                <a:cs typeface="Arial"/>
              </a:rPr>
              <a:t>Evidence, definitions and business decisions</a:t>
            </a:r>
          </a:p>
        </p:txBody>
      </p:sp>
      <p:sp>
        <p:nvSpPr>
          <p:cNvPr id="11" name="design-40">
            <a:extLst xmlns:a="http://schemas.openxmlformats.org/drawingml/2006/main">
              <a:ext uri="{FF2B5EF4-FFF2-40B4-BE49-F238E27FC236}">
                <a16:creationId xmlns:a16="http://schemas.microsoft.com/office/drawing/2014/main" id="{A0105644-39DC-439A-986C-A7E8B550EE24}"/>
              </a:ext>
            </a:extLst>
          </p:cNvPr>
          <p:cNvSpPr>
            <a:spLocks xmlns:a="http://schemas.openxmlformats.org/drawingml/2006/main" noGrp="1"/>
          </p:cNvSpPr>
          <p:nvPr/>
        </p:nvSpPr>
        <p:spPr>
          <a:xfrm xmlns:a="http://schemas.openxmlformats.org/drawingml/2006/main">
            <a:off x="571500" y="1724025"/>
            <a:ext cx="1190625"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Tree>
    <p:extLst>
      <p:ext uri="{BB962C8B-B14F-4D97-AF65-F5344CB8AC3E}">
        <p14:creationId xmlns:p14="http://schemas.microsoft.com/office/powerpoint/2010/main" val="132476468"/>
      </p:ext>
    </p:extLst>
  </p:cSld>
</p:sld>
</file>

<file path=ppt/slides/slide30.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904E17-E242-4C99-B8DF-07EB32C29ABC}"/>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APPENDIX: SUPPORTING EVIDENCE</a:t>
            </a:r>
          </a:p>
        </p:txBody>
      </p:sp>
      <p:sp>
        <p:nvSpPr>
          <p:cNvPr id="2" name="">
            <a:extLst xmlns:a="http://schemas.openxmlformats.org/drawingml/2006/main">
              <a:ext uri="{FF2B5EF4-FFF2-40B4-BE49-F238E27FC236}">
                <a16:creationId xmlns:a16="http://schemas.microsoft.com/office/drawing/2014/main" id="{2E804F97-E3A2-4EE2-955E-0A25D47D9F61}"/>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Complete dataset inventory</a:t>
            </a:r>
          </a:p>
        </p:txBody>
      </p:sp>
      <p:sp>
        <p:nvSpPr>
          <p:cNvPr id="5" name="">
            <a:extLst xmlns:a="http://schemas.openxmlformats.org/drawingml/2006/main">
              <a:ext uri="{FF2B5EF4-FFF2-40B4-BE49-F238E27FC236}">
                <a16:creationId xmlns:a16="http://schemas.microsoft.com/office/drawing/2014/main" id="{5FC4D4DF-22C1-4A03-B3BD-A004C42D0DCA}"/>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A01</a:t>
            </a:r>
          </a:p>
        </p:txBody>
      </p:sp>
      <p:sp>
        <p:nvSpPr>
          <p:cNvPr id="4" name="">
            <a:extLst xmlns:a="http://schemas.openxmlformats.org/drawingml/2006/main">
              <a:ext uri="{FF2B5EF4-FFF2-40B4-BE49-F238E27FC236}">
                <a16:creationId xmlns:a16="http://schemas.microsoft.com/office/drawing/2014/main" id="{B3971894-9491-4FC8-9857-8C89C294D2F7}"/>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Business rows span transaction, dimension and monthly summary grains</a:t>
            </a:r>
          </a:p>
        </p:txBody>
      </p:sp>
      <p:graphicFrame>
        <p:nvGraphicFramePr>
          <p:cNvPr id="13" name=""/>
          <p:cNvGraphicFramePr/>
          <p:nvPr/>
        </p:nvGraphicFramePr>
        <p:xfrm>
          <a:off xmlns:a="http://schemas.openxmlformats.org/drawingml/2006/main" x="523875" y="2238375"/>
          <a:ext xmlns:a="http://schemas.openxmlformats.org/drawingml/2006/main" cx="5381625" cy="3505200"/>
        </p:xfrm>
        <a:graphic xmlns:a="http://schemas.openxmlformats.org/drawingml/2006/main">
          <a:graphicData uri="http://schemas.openxmlformats.org/drawingml/2006/table">
            <a:tbl>
              <a:tblPr/>
              <a:tblGrid>
                <a:gridCol w="3095625"/>
                <a:gridCol w="1381125"/>
                <a:gridCol w="904875"/>
              </a:tblGrid>
              <a:tr h="438150">
                <a:tc>
                  <a:txBody>
                    <a:bodyPr/>
                    <a:lstStyle/>
                    <a:p>
                      <a:r>
                        <a:rPr sz="1575" b="1">
                          <a:solidFill>
                            <a:srgbClr val="3DDCF5"/>
                          </a:solidFill>
                          <a:latin typeface="Arial"/>
                          <a:ea typeface="Arial"/>
                          <a:cs typeface="Arial"/>
                        </a:rPr>
                        <a:t>Source table</a:t>
                      </a:r>
                    </a:p>
                  </a:txBody>
                  <a:tcPr marL="91440" marR="91440" marT="45720" marB="45720">
                    <a:lnL w="6191">
                      <a:solidFill>
                        <a:srgbClr val="20364D"/>
                      </a:solidFill>
                      <a:prstDash val="solid"/>
                    </a:lnL>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575" b="1">
                          <a:solidFill>
                            <a:srgbClr val="3DDCF5"/>
                          </a:solidFill>
                          <a:latin typeface="Arial"/>
                          <a:ea typeface="Arial"/>
                          <a:cs typeface="Arial"/>
                        </a:rPr>
                        <a:t>Rows</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575" b="1">
                          <a:solidFill>
                            <a:srgbClr val="3DDCF5"/>
                          </a:solidFill>
                          <a:latin typeface="Arial"/>
                          <a:ea typeface="Arial"/>
                          <a:cs typeface="Arial"/>
                        </a:rPr>
                        <a:t>Fields</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r>
              <a:tr h="438150">
                <a:tc>
                  <a:txBody>
                    <a:bodyPr/>
                    <a:lstStyle/>
                    <a:p>
                      <a:r>
                        <a:rPr sz="1575" b="0">
                          <a:solidFill>
                            <a:srgbClr val="F2F6FF"/>
                          </a:solidFill>
                          <a:latin typeface="Arial"/>
                          <a:ea typeface="Arial"/>
                          <a:cs typeface="Arial"/>
                        </a:rPr>
                        <a:t>fuel_purchases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196,442</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12</a:t>
                      </a:r>
                    </a:p>
                  </a:txBody>
                  <a:tcPr marL="91440" marR="91440" marT="45720" marB="45720">
                    <a:lnR w="6191">
                      <a:solidFill>
                        <a:srgbClr val="20364D"/>
                      </a:solidFill>
                      <a:prstDash val="solid"/>
                    </a:lnR>
                    <a:lnB w="6191">
                      <a:solidFill>
                        <a:srgbClr val="20364D"/>
                      </a:solidFill>
                      <a:prstDash val="solid"/>
                    </a:lnB>
                    <a:solidFill>
                      <a:srgbClr val="0B1728"/>
                    </a:solidFill>
                  </a:tcPr>
                </a:tc>
              </a:tr>
              <a:tr h="438150">
                <a:tc>
                  <a:txBody>
                    <a:bodyPr/>
                    <a:lstStyle/>
                    <a:p>
                      <a:r>
                        <a:rPr sz="1575" b="0">
                          <a:solidFill>
                            <a:srgbClr val="F2F6FF"/>
                          </a:solidFill>
                          <a:latin typeface="Arial"/>
                          <a:ea typeface="Arial"/>
                          <a:cs typeface="Arial"/>
                        </a:rPr>
                        <a:t>delivery_events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575" b="0">
                          <a:solidFill>
                            <a:srgbClr val="F2F6FF"/>
                          </a:solidFill>
                          <a:latin typeface="Arial"/>
                          <a:ea typeface="Arial"/>
                          <a:cs typeface="Arial"/>
                        </a:rPr>
                        <a:t>170,820</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F2F6FF"/>
                          </a:solidFill>
                          <a:latin typeface="Arial"/>
                          <a:ea typeface="Arial"/>
                          <a:cs typeface="Arial"/>
                        </a:rPr>
                        <a:t>13</a:t>
                      </a:r>
                    </a:p>
                  </a:txBody>
                  <a:tcPr marL="91440" marR="91440" marT="45720" marB="45720">
                    <a:lnR w="6191">
                      <a:solidFill>
                        <a:srgbClr val="20364D"/>
                      </a:solidFill>
                      <a:prstDash val="solid"/>
                    </a:lnR>
                    <a:lnB w="6191">
                      <a:solidFill>
                        <a:srgbClr val="20364D"/>
                      </a:solidFill>
                      <a:prstDash val="solid"/>
                    </a:lnB>
                    <a:solidFill>
                      <a:srgbClr val="0D1B2E"/>
                    </a:solidFill>
                  </a:tcPr>
                </a:tc>
              </a:tr>
              <a:tr h="438150">
                <a:tc>
                  <a:txBody>
                    <a:bodyPr/>
                    <a:lstStyle/>
                    <a:p>
                      <a:r>
                        <a:rPr sz="1575" b="0">
                          <a:solidFill>
                            <a:srgbClr val="F2F6FF"/>
                          </a:solidFill>
                          <a:latin typeface="Arial"/>
                          <a:ea typeface="Arial"/>
                          <a:cs typeface="Arial"/>
                        </a:rPr>
                        <a:t>loads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85,410</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18</a:t>
                      </a:r>
                    </a:p>
                  </a:txBody>
                  <a:tcPr marL="91440" marR="91440" marT="45720" marB="45720">
                    <a:lnR w="6191">
                      <a:solidFill>
                        <a:srgbClr val="20364D"/>
                      </a:solidFill>
                      <a:prstDash val="solid"/>
                    </a:lnR>
                    <a:lnB w="6191">
                      <a:solidFill>
                        <a:srgbClr val="20364D"/>
                      </a:solidFill>
                      <a:prstDash val="solid"/>
                    </a:lnB>
                    <a:solidFill>
                      <a:srgbClr val="0B1728"/>
                    </a:solidFill>
                  </a:tcPr>
                </a:tc>
              </a:tr>
              <a:tr h="438150">
                <a:tc>
                  <a:txBody>
                    <a:bodyPr/>
                    <a:lstStyle/>
                    <a:p>
                      <a:r>
                        <a:rPr sz="1575" b="0">
                          <a:solidFill>
                            <a:srgbClr val="F2F6FF"/>
                          </a:solidFill>
                          <a:latin typeface="Arial"/>
                          <a:ea typeface="Arial"/>
                          <a:cs typeface="Arial"/>
                        </a:rPr>
                        <a:t>trips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575" b="0">
                          <a:solidFill>
                            <a:srgbClr val="F2F6FF"/>
                          </a:solidFill>
                          <a:latin typeface="Arial"/>
                          <a:ea typeface="Arial"/>
                          <a:cs typeface="Arial"/>
                        </a:rPr>
                        <a:t>85,410</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F2F6FF"/>
                          </a:solidFill>
                          <a:latin typeface="Arial"/>
                          <a:ea typeface="Arial"/>
                          <a:cs typeface="Arial"/>
                        </a:rPr>
                        <a:t>14</a:t>
                      </a:r>
                    </a:p>
                  </a:txBody>
                  <a:tcPr marL="91440" marR="91440" marT="45720" marB="45720">
                    <a:lnR w="6191">
                      <a:solidFill>
                        <a:srgbClr val="20364D"/>
                      </a:solidFill>
                      <a:prstDash val="solid"/>
                    </a:lnR>
                    <a:lnB w="6191">
                      <a:solidFill>
                        <a:srgbClr val="20364D"/>
                      </a:solidFill>
                      <a:prstDash val="solid"/>
                    </a:lnB>
                    <a:solidFill>
                      <a:srgbClr val="0D1B2E"/>
                    </a:solidFill>
                  </a:tcPr>
                </a:tc>
              </a:tr>
              <a:tr h="438150">
                <a:tc>
                  <a:txBody>
                    <a:bodyPr/>
                    <a:lstStyle/>
                    <a:p>
                      <a:r>
                        <a:rPr sz="1575" b="0">
                          <a:solidFill>
                            <a:srgbClr val="F2F6FF"/>
                          </a:solidFill>
                          <a:latin typeface="Arial"/>
                          <a:ea typeface="Arial"/>
                          <a:cs typeface="Arial"/>
                        </a:rPr>
                        <a:t>driver_monthly_metrics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4,464</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10</a:t>
                      </a:r>
                    </a:p>
                  </a:txBody>
                  <a:tcPr marL="91440" marR="91440" marT="45720" marB="45720">
                    <a:lnR w="6191">
                      <a:solidFill>
                        <a:srgbClr val="20364D"/>
                      </a:solidFill>
                      <a:prstDash val="solid"/>
                    </a:lnR>
                    <a:lnB w="6191">
                      <a:solidFill>
                        <a:srgbClr val="20364D"/>
                      </a:solidFill>
                      <a:prstDash val="solid"/>
                    </a:lnB>
                    <a:solidFill>
                      <a:srgbClr val="0B1728"/>
                    </a:solidFill>
                  </a:tcPr>
                </a:tc>
              </a:tr>
              <a:tr h="438150">
                <a:tc>
                  <a:txBody>
                    <a:bodyPr/>
                    <a:lstStyle/>
                    <a:p>
                      <a:r>
                        <a:rPr sz="1575" b="0">
                          <a:solidFill>
                            <a:srgbClr val="F2F6FF"/>
                          </a:solidFill>
                          <a:latin typeface="Arial"/>
                          <a:ea typeface="Arial"/>
                          <a:cs typeface="Arial"/>
                        </a:rPr>
                        <a:t>truck_utilization_metrics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575" b="0">
                          <a:solidFill>
                            <a:srgbClr val="F2F6FF"/>
                          </a:solidFill>
                          <a:latin typeface="Arial"/>
                          <a:ea typeface="Arial"/>
                          <a:cs typeface="Arial"/>
                        </a:rPr>
                        <a:t>3,312</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F2F6FF"/>
                          </a:solidFill>
                          <a:latin typeface="Arial"/>
                          <a:ea typeface="Arial"/>
                          <a:cs typeface="Arial"/>
                        </a:rPr>
                        <a:t>10</a:t>
                      </a:r>
                    </a:p>
                  </a:txBody>
                  <a:tcPr marL="91440" marR="91440" marT="45720" marB="45720">
                    <a:lnR w="6191">
                      <a:solidFill>
                        <a:srgbClr val="20364D"/>
                      </a:solidFill>
                      <a:prstDash val="solid"/>
                    </a:lnR>
                    <a:lnB w="6191">
                      <a:solidFill>
                        <a:srgbClr val="20364D"/>
                      </a:solidFill>
                      <a:prstDash val="solid"/>
                    </a:lnB>
                    <a:solidFill>
                      <a:srgbClr val="0D1B2E"/>
                    </a:solidFill>
                  </a:tcPr>
                </a:tc>
              </a:tr>
              <a:tr h="438150">
                <a:tc>
                  <a:txBody>
                    <a:bodyPr/>
                    <a:lstStyle/>
                    <a:p>
                      <a:r>
                        <a:rPr sz="1575" b="0">
                          <a:solidFill>
                            <a:srgbClr val="F2F6FF"/>
                          </a:solidFill>
                          <a:latin typeface="Arial"/>
                          <a:ea typeface="Arial"/>
                          <a:cs typeface="Arial"/>
                        </a:rPr>
                        <a:t>maintenance_records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2,920</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13</a:t>
                      </a:r>
                    </a:p>
                  </a:txBody>
                  <a:tcPr marL="91440" marR="91440" marT="45720" marB="45720">
                    <a:lnR w="6191">
                      <a:solidFill>
                        <a:srgbClr val="20364D"/>
                      </a:solidFill>
                      <a:prstDash val="solid"/>
                    </a:lnR>
                    <a:lnB w="6191">
                      <a:solidFill>
                        <a:srgbClr val="20364D"/>
                      </a:solidFill>
                      <a:prstDash val="solid"/>
                    </a:lnB>
                    <a:solidFill>
                      <a:srgbClr val="0B1728"/>
                    </a:solidFill>
                  </a:tcPr>
                </a:tc>
              </a:tr>
            </a:tbl>
          </a:graphicData>
        </a:graphic>
      </p:graphicFrame>
      <p:graphicFrame>
        <p:nvGraphicFramePr>
          <p:cNvPr id="14" name=""/>
          <p:cNvGraphicFramePr/>
          <p:nvPr/>
        </p:nvGraphicFramePr>
        <p:xfrm>
          <a:off xmlns:a="http://schemas.openxmlformats.org/drawingml/2006/main" x="6191250" y="2238375"/>
          <a:ext xmlns:a="http://schemas.openxmlformats.org/drawingml/2006/main" cx="5381625" cy="3505200"/>
        </p:xfrm>
        <a:graphic xmlns:a="http://schemas.openxmlformats.org/drawingml/2006/main">
          <a:graphicData uri="http://schemas.openxmlformats.org/drawingml/2006/table">
            <a:tbl>
              <a:tblPr/>
              <a:tblGrid>
                <a:gridCol w="3095625"/>
                <a:gridCol w="1381125"/>
                <a:gridCol w="904875"/>
              </a:tblGrid>
              <a:tr h="438150">
                <a:tc>
                  <a:txBody>
                    <a:bodyPr/>
                    <a:lstStyle/>
                    <a:p>
                      <a:r>
                        <a:rPr sz="1575" b="1">
                          <a:solidFill>
                            <a:srgbClr val="3DDCF5"/>
                          </a:solidFill>
                          <a:latin typeface="Arial"/>
                          <a:ea typeface="Arial"/>
                          <a:cs typeface="Arial"/>
                        </a:rPr>
                        <a:t>Source table</a:t>
                      </a:r>
                    </a:p>
                  </a:txBody>
                  <a:tcPr marL="91440" marR="91440" marT="45720" marB="45720">
                    <a:lnL w="6191">
                      <a:solidFill>
                        <a:srgbClr val="20364D"/>
                      </a:solidFill>
                      <a:prstDash val="solid"/>
                    </a:lnL>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575" b="1">
                          <a:solidFill>
                            <a:srgbClr val="3DDCF5"/>
                          </a:solidFill>
                          <a:latin typeface="Arial"/>
                          <a:ea typeface="Arial"/>
                          <a:cs typeface="Arial"/>
                        </a:rPr>
                        <a:t>Rows</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575" b="1">
                          <a:solidFill>
                            <a:srgbClr val="3DDCF5"/>
                          </a:solidFill>
                          <a:latin typeface="Arial"/>
                          <a:ea typeface="Arial"/>
                          <a:cs typeface="Arial"/>
                        </a:rPr>
                        <a:t>Fields</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r>
              <a:tr h="438150">
                <a:tc>
                  <a:txBody>
                    <a:bodyPr/>
                    <a:lstStyle/>
                    <a:p>
                      <a:r>
                        <a:rPr sz="1575" b="0">
                          <a:solidFill>
                            <a:srgbClr val="F2F6FF"/>
                          </a:solidFill>
                          <a:latin typeface="Arial"/>
                          <a:ea typeface="Arial"/>
                          <a:cs typeface="Arial"/>
                        </a:rPr>
                        <a:t>safety_incidents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170</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16</a:t>
                      </a:r>
                    </a:p>
                  </a:txBody>
                  <a:tcPr marL="91440" marR="91440" marT="45720" marB="45720">
                    <a:lnR w="6191">
                      <a:solidFill>
                        <a:srgbClr val="20364D"/>
                      </a:solidFill>
                      <a:prstDash val="solid"/>
                    </a:lnR>
                    <a:lnB w="6191">
                      <a:solidFill>
                        <a:srgbClr val="20364D"/>
                      </a:solidFill>
                      <a:prstDash val="solid"/>
                    </a:lnB>
                    <a:solidFill>
                      <a:srgbClr val="0B1728"/>
                    </a:solidFill>
                  </a:tcPr>
                </a:tc>
              </a:tr>
              <a:tr h="438150">
                <a:tc>
                  <a:txBody>
                    <a:bodyPr/>
                    <a:lstStyle/>
                    <a:p>
                      <a:r>
                        <a:rPr sz="1575" b="0">
                          <a:solidFill>
                            <a:srgbClr val="F2F6FF"/>
                          </a:solidFill>
                          <a:latin typeface="Arial"/>
                          <a:ea typeface="Arial"/>
                          <a:cs typeface="Arial"/>
                        </a:rPr>
                        <a:t>customers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575" b="0">
                          <a:solidFill>
                            <a:srgbClr val="F2F6FF"/>
                          </a:solidFill>
                          <a:latin typeface="Arial"/>
                          <a:ea typeface="Arial"/>
                          <a:cs typeface="Arial"/>
                        </a:rPr>
                        <a:t>200</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F2F6FF"/>
                          </a:solidFill>
                          <a:latin typeface="Arial"/>
                          <a:ea typeface="Arial"/>
                          <a:cs typeface="Arial"/>
                        </a:rPr>
                        <a:t>8</a:t>
                      </a:r>
                    </a:p>
                  </a:txBody>
                  <a:tcPr marL="91440" marR="91440" marT="45720" marB="45720">
                    <a:lnR w="6191">
                      <a:solidFill>
                        <a:srgbClr val="20364D"/>
                      </a:solidFill>
                      <a:prstDash val="solid"/>
                    </a:lnR>
                    <a:lnB w="6191">
                      <a:solidFill>
                        <a:srgbClr val="20364D"/>
                      </a:solidFill>
                      <a:prstDash val="solid"/>
                    </a:lnB>
                    <a:solidFill>
                      <a:srgbClr val="0D1B2E"/>
                    </a:solidFill>
                  </a:tcPr>
                </a:tc>
              </a:tr>
              <a:tr h="438150">
                <a:tc>
                  <a:txBody>
                    <a:bodyPr/>
                    <a:lstStyle/>
                    <a:p>
                      <a:r>
                        <a:rPr sz="1575" b="0">
                          <a:solidFill>
                            <a:srgbClr val="F2F6FF"/>
                          </a:solidFill>
                          <a:latin typeface="Arial"/>
                          <a:ea typeface="Arial"/>
                          <a:cs typeface="Arial"/>
                        </a:rPr>
                        <a:t>trailers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180</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9</a:t>
                      </a:r>
                    </a:p>
                  </a:txBody>
                  <a:tcPr marL="91440" marR="91440" marT="45720" marB="45720">
                    <a:lnR w="6191">
                      <a:solidFill>
                        <a:srgbClr val="20364D"/>
                      </a:solidFill>
                      <a:prstDash val="solid"/>
                    </a:lnR>
                    <a:lnB w="6191">
                      <a:solidFill>
                        <a:srgbClr val="20364D"/>
                      </a:solidFill>
                      <a:prstDash val="solid"/>
                    </a:lnB>
                    <a:solidFill>
                      <a:srgbClr val="0B1728"/>
                    </a:solidFill>
                  </a:tcPr>
                </a:tc>
              </a:tr>
              <a:tr h="438150">
                <a:tc>
                  <a:txBody>
                    <a:bodyPr/>
                    <a:lstStyle/>
                    <a:p>
                      <a:r>
                        <a:rPr sz="1575" b="0">
                          <a:solidFill>
                            <a:srgbClr val="F2F6FF"/>
                          </a:solidFill>
                          <a:latin typeface="Arial"/>
                          <a:ea typeface="Arial"/>
                          <a:cs typeface="Arial"/>
                        </a:rPr>
                        <a:t>drivers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575" b="0">
                          <a:solidFill>
                            <a:srgbClr val="F2F6FF"/>
                          </a:solidFill>
                          <a:latin typeface="Arial"/>
                          <a:ea typeface="Arial"/>
                          <a:cs typeface="Arial"/>
                        </a:rPr>
                        <a:t>150</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F2F6FF"/>
                          </a:solidFill>
                          <a:latin typeface="Arial"/>
                          <a:ea typeface="Arial"/>
                          <a:cs typeface="Arial"/>
                        </a:rPr>
                        <a:t>13</a:t>
                      </a:r>
                    </a:p>
                  </a:txBody>
                  <a:tcPr marL="91440" marR="91440" marT="45720" marB="45720">
                    <a:lnR w="6191">
                      <a:solidFill>
                        <a:srgbClr val="20364D"/>
                      </a:solidFill>
                      <a:prstDash val="solid"/>
                    </a:lnR>
                    <a:lnB w="6191">
                      <a:solidFill>
                        <a:srgbClr val="20364D"/>
                      </a:solidFill>
                      <a:prstDash val="solid"/>
                    </a:lnB>
                    <a:solidFill>
                      <a:srgbClr val="0D1B2E"/>
                    </a:solidFill>
                  </a:tcPr>
                </a:tc>
              </a:tr>
              <a:tr h="438150">
                <a:tc>
                  <a:txBody>
                    <a:bodyPr/>
                    <a:lstStyle/>
                    <a:p>
                      <a:r>
                        <a:rPr sz="1575" b="0">
                          <a:solidFill>
                            <a:srgbClr val="F2F6FF"/>
                          </a:solidFill>
                          <a:latin typeface="Arial"/>
                          <a:ea typeface="Arial"/>
                          <a:cs typeface="Arial"/>
                        </a:rPr>
                        <a:t>trucks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120</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11</a:t>
                      </a:r>
                    </a:p>
                  </a:txBody>
                  <a:tcPr marL="91440" marR="91440" marT="45720" marB="45720">
                    <a:lnR w="6191">
                      <a:solidFill>
                        <a:srgbClr val="20364D"/>
                      </a:solidFill>
                      <a:prstDash val="solid"/>
                    </a:lnR>
                    <a:lnB w="6191">
                      <a:solidFill>
                        <a:srgbClr val="20364D"/>
                      </a:solidFill>
                      <a:prstDash val="solid"/>
                    </a:lnB>
                    <a:solidFill>
                      <a:srgbClr val="0B1728"/>
                    </a:solidFill>
                  </a:tcPr>
                </a:tc>
              </a:tr>
              <a:tr h="438150">
                <a:tc>
                  <a:txBody>
                    <a:bodyPr/>
                    <a:lstStyle/>
                    <a:p>
                      <a:r>
                        <a:rPr sz="1575" b="0">
                          <a:solidFill>
                            <a:srgbClr val="F2F6FF"/>
                          </a:solidFill>
                          <a:latin typeface="Arial"/>
                          <a:ea typeface="Arial"/>
                          <a:cs typeface="Arial"/>
                        </a:rPr>
                        <a:t>routes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575" b="0">
                          <a:solidFill>
                            <a:srgbClr val="F2F6FF"/>
                          </a:solidFill>
                          <a:latin typeface="Arial"/>
                          <a:ea typeface="Arial"/>
                          <a:cs typeface="Arial"/>
                        </a:rPr>
                        <a:t>58</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575" b="0">
                          <a:solidFill>
                            <a:srgbClr val="F2F6FF"/>
                          </a:solidFill>
                          <a:latin typeface="Arial"/>
                          <a:ea typeface="Arial"/>
                          <a:cs typeface="Arial"/>
                        </a:rPr>
                        <a:t>9</a:t>
                      </a:r>
                    </a:p>
                  </a:txBody>
                  <a:tcPr marL="91440" marR="91440" marT="45720" marB="45720">
                    <a:lnR w="6191">
                      <a:solidFill>
                        <a:srgbClr val="20364D"/>
                      </a:solidFill>
                      <a:prstDash val="solid"/>
                    </a:lnR>
                    <a:lnB w="6191">
                      <a:solidFill>
                        <a:srgbClr val="20364D"/>
                      </a:solidFill>
                      <a:prstDash val="solid"/>
                    </a:lnB>
                    <a:solidFill>
                      <a:srgbClr val="0D1B2E"/>
                    </a:solidFill>
                  </a:tcPr>
                </a:tc>
              </a:tr>
              <a:tr h="438150">
                <a:tc>
                  <a:txBody>
                    <a:bodyPr/>
                    <a:lstStyle/>
                    <a:p>
                      <a:r>
                        <a:rPr sz="1575" b="0">
                          <a:solidFill>
                            <a:srgbClr val="F2F6FF"/>
                          </a:solidFill>
                          <a:latin typeface="Arial"/>
                          <a:ea typeface="Arial"/>
                          <a:cs typeface="Arial"/>
                        </a:rPr>
                        <a:t>facilities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50</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575" b="0">
                          <a:solidFill>
                            <a:srgbClr val="F2F6FF"/>
                          </a:solidFill>
                          <a:latin typeface="Arial"/>
                          <a:ea typeface="Arial"/>
                          <a:cs typeface="Arial"/>
                        </a:rPr>
                        <a:t>11</a:t>
                      </a:r>
                    </a:p>
                  </a:txBody>
                  <a:tcPr marL="91440" marR="91440" marT="45720" marB="45720">
                    <a:lnR w="6191">
                      <a:solidFill>
                        <a:srgbClr val="20364D"/>
                      </a:solidFill>
                      <a:prstDash val="solid"/>
                    </a:lnR>
                    <a:lnB w="6191">
                      <a:solidFill>
                        <a:srgbClr val="20364D"/>
                      </a:solidFill>
                      <a:prstDash val="solid"/>
                    </a:lnB>
                    <a:solidFill>
                      <a:srgbClr val="0B1728"/>
                    </a:solidFill>
                  </a:tcPr>
                </a:tc>
              </a:tr>
            </a:tbl>
          </a:graphicData>
        </a:graphic>
      </p:graphicFrame>
    </p:spTree>
    <p:extLst>
      <p:ext uri="{BB962C8B-B14F-4D97-AF65-F5344CB8AC3E}">
        <p14:creationId xmlns:p14="http://schemas.microsoft.com/office/powerpoint/2010/main" val="234497804"/>
      </p:ext>
    </p:extLst>
  </p:cSld>
</p:sld>
</file>

<file path=ppt/slides/slide31.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B92260-E0FE-49E7-97EE-CBEA9C8CF5CA}"/>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APPENDIX: SUPPORTING EVIDENCE</a:t>
            </a:r>
          </a:p>
        </p:txBody>
      </p:sp>
      <p:sp>
        <p:nvSpPr>
          <p:cNvPr id="2" name="">
            <a:extLst xmlns:a="http://schemas.openxmlformats.org/drawingml/2006/main">
              <a:ext uri="{FF2B5EF4-FFF2-40B4-BE49-F238E27FC236}">
                <a16:creationId xmlns:a16="http://schemas.microsoft.com/office/drawing/2014/main" id="{35202D58-2703-44E2-B769-07A66F04486E}"/>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Relationship and date-filtering audit</a:t>
            </a:r>
          </a:p>
        </p:txBody>
      </p:sp>
      <p:sp>
        <p:nvSpPr>
          <p:cNvPr id="5" name="">
            <a:extLst xmlns:a="http://schemas.openxmlformats.org/drawingml/2006/main">
              <a:ext uri="{FF2B5EF4-FFF2-40B4-BE49-F238E27FC236}">
                <a16:creationId xmlns:a16="http://schemas.microsoft.com/office/drawing/2014/main" id="{B324C5D9-D965-4BDE-9D19-3D76B3DCA96D}"/>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A02</a:t>
            </a:r>
          </a:p>
        </p:txBody>
      </p:sp>
      <p:sp>
        <p:nvSpPr>
          <p:cNvPr id="4" name="">
            <a:extLst xmlns:a="http://schemas.openxmlformats.org/drawingml/2006/main">
              <a:ext uri="{FF2B5EF4-FFF2-40B4-BE49-F238E27FC236}">
                <a16:creationId xmlns:a16="http://schemas.microsoft.com/office/drawing/2014/main" id="{97CA4E33-F899-4E04-BF34-4B653C6A71BB}"/>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Calendar filtering requires a model repair</a:t>
            </a:r>
          </a:p>
        </p:txBody>
      </p:sp>
      <p:graphicFrame>
        <p:nvGraphicFramePr>
          <p:cNvPr id="12" name=""/>
          <p:cNvGraphicFramePr/>
          <p:nvPr/>
        </p:nvGraphicFramePr>
        <p:xfrm>
          <a:off xmlns:a="http://schemas.openxmlformats.org/drawingml/2006/main" x="523875" y="2095500"/>
          <a:ext xmlns:a="http://schemas.openxmlformats.org/drawingml/2006/main" cx="11144250" cy="3028950"/>
        </p:xfrm>
        <a:graphic xmlns:a="http://schemas.openxmlformats.org/drawingml/2006/main">
          <a:graphicData uri="http://schemas.openxmlformats.org/drawingml/2006/table">
            <a:tbl>
              <a:tblPr/>
              <a:tblGrid>
                <a:gridCol w="5429250"/>
                <a:gridCol w="5429250"/>
              </a:tblGrid>
              <a:tr h="504825">
                <a:tc>
                  <a:txBody>
                    <a:bodyPr/>
                    <a:lstStyle/>
                    <a:p>
                      <a:r>
                        <a:rPr sz="1875" b="1">
                          <a:solidFill>
                            <a:srgbClr val="3DDCF5"/>
                          </a:solidFill>
                          <a:latin typeface="Arial"/>
                          <a:ea typeface="Arial"/>
                          <a:cs typeface="Arial"/>
                        </a:rPr>
                        <a:t>Model path</a:t>
                      </a:r>
                    </a:p>
                  </a:txBody>
                  <a:tcPr marL="91440" marR="91440" marT="45720" marB="45720">
                    <a:lnL w="6191">
                      <a:solidFill>
                        <a:srgbClr val="20364D"/>
                      </a:solidFill>
                      <a:prstDash val="solid"/>
                    </a:lnL>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Filter behavior</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r>
              <a:tr h="504825">
                <a:tc>
                  <a:txBody>
                    <a:bodyPr/>
                    <a:lstStyle/>
                    <a:p>
                      <a:r>
                        <a:rPr sz="1875" b="0">
                          <a:solidFill>
                            <a:srgbClr val="F2F6FF"/>
                          </a:solidFill>
                          <a:latin typeface="Arial"/>
                          <a:ea typeface="Arial"/>
                          <a:cs typeface="Arial"/>
                        </a:rPr>
                        <a:t>Customers / routes to loads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Single direction</a:t>
                      </a:r>
                    </a:p>
                  </a:txBody>
                  <a:tcPr marL="91440" marR="91440" marT="45720" marB="45720">
                    <a:lnR w="6191">
                      <a:solidFill>
                        <a:srgbClr val="20364D"/>
                      </a:solidFill>
                      <a:prstDash val="solid"/>
                    </a:lnR>
                    <a:lnB w="6191">
                      <a:solidFill>
                        <a:srgbClr val="20364D"/>
                      </a:solidFill>
                      <a:prstDash val="solid"/>
                    </a:lnB>
                    <a:solidFill>
                      <a:srgbClr val="0B1728"/>
                    </a:solidFill>
                  </a:tcPr>
                </a:tc>
              </a:tr>
              <a:tr h="504825">
                <a:tc>
                  <a:txBody>
                    <a:bodyPr/>
                    <a:lstStyle/>
                    <a:p>
                      <a:r>
                        <a:rPr sz="1875" b="0">
                          <a:solidFill>
                            <a:srgbClr val="F2F6FF"/>
                          </a:solidFill>
                          <a:latin typeface="Arial"/>
                          <a:ea typeface="Arial"/>
                          <a:cs typeface="Arial"/>
                        </a:rPr>
                        <a:t>Loads to trips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Both directions</a:t>
                      </a:r>
                    </a:p>
                  </a:txBody>
                  <a:tcPr marL="91440" marR="91440" marT="45720" marB="45720">
                    <a:lnR w="6191">
                      <a:solidFill>
                        <a:srgbClr val="20364D"/>
                      </a:solidFill>
                      <a:prstDash val="solid"/>
                    </a:lnR>
                    <a:lnB w="6191">
                      <a:solidFill>
                        <a:srgbClr val="20364D"/>
                      </a:solidFill>
                      <a:prstDash val="solid"/>
                    </a:lnB>
                    <a:solidFill>
                      <a:srgbClr val="0D1B2E"/>
                    </a:solidFill>
                  </a:tcPr>
                </a:tc>
              </a:tr>
              <a:tr h="504825">
                <a:tc>
                  <a:txBody>
                    <a:bodyPr/>
                    <a:lstStyle/>
                    <a:p>
                      <a:r>
                        <a:rPr sz="1875" b="0">
                          <a:solidFill>
                            <a:srgbClr val="F2F6FF"/>
                          </a:solidFill>
                          <a:latin typeface="Arial"/>
                          <a:ea typeface="Arial"/>
                          <a:cs typeface="Arial"/>
                        </a:rPr>
                        <a:t>Drivers / trucks / trailers to trips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Single direction</a:t>
                      </a:r>
                    </a:p>
                  </a:txBody>
                  <a:tcPr marL="91440" marR="91440" marT="45720" marB="45720">
                    <a:lnR w="6191">
                      <a:solidFill>
                        <a:srgbClr val="20364D"/>
                      </a:solidFill>
                      <a:prstDash val="solid"/>
                    </a:lnR>
                    <a:lnB w="6191">
                      <a:solidFill>
                        <a:srgbClr val="20364D"/>
                      </a:solidFill>
                      <a:prstDash val="solid"/>
                    </a:lnB>
                    <a:solidFill>
                      <a:srgbClr val="0B1728"/>
                    </a:solidFill>
                  </a:tcPr>
                </a:tc>
              </a:tr>
              <a:tr h="504825">
                <a:tc>
                  <a:txBody>
                    <a:bodyPr/>
                    <a:lstStyle/>
                    <a:p>
                      <a:r>
                        <a:rPr sz="1875" b="0">
                          <a:solidFill>
                            <a:srgbClr val="F2F6FF"/>
                          </a:solidFill>
                          <a:latin typeface="Arial"/>
                          <a:ea typeface="Arial"/>
                          <a:cs typeface="Arial"/>
                        </a:rPr>
                        <a:t>Trips and safety incidents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1:1, Both directions</a:t>
                      </a:r>
                    </a:p>
                  </a:txBody>
                  <a:tcPr marL="91440" marR="91440" marT="45720" marB="45720">
                    <a:lnR w="6191">
                      <a:solidFill>
                        <a:srgbClr val="20364D"/>
                      </a:solidFill>
                      <a:prstDash val="solid"/>
                    </a:lnR>
                    <a:lnB w="6191">
                      <a:solidFill>
                        <a:srgbClr val="20364D"/>
                      </a:solidFill>
                      <a:prstDash val="solid"/>
                    </a:lnB>
                    <a:solidFill>
                      <a:srgbClr val="0D1B2E"/>
                    </a:solidFill>
                  </a:tcPr>
                </a:tc>
              </a:tr>
              <a:tr h="504825">
                <a:tc>
                  <a:txBody>
                    <a:bodyPr/>
                    <a:lstStyle/>
                    <a:p>
                      <a:r>
                        <a:rPr sz="1875" b="1">
                          <a:solidFill>
                            <a:srgbClr val="3DDCF5"/>
                          </a:solidFill>
                          <a:latin typeface="Arial"/>
                          <a:ea typeface="Arial"/>
                          <a:cs typeface="Arial"/>
                        </a:rPr>
                        <a:t>Calendar to fact tables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15243D"/>
                    </a:solidFill>
                  </a:tcPr>
                </a:tc>
                <a:tc>
                  <a:txBody>
                    <a:bodyPr/>
                    <a:lstStyle/>
                    <a:p>
                      <a:r>
                        <a:rPr sz="1875" b="1">
                          <a:solidFill>
                            <a:srgbClr val="3DDCF5"/>
                          </a:solidFill>
                          <a:latin typeface="Arial"/>
                          <a:ea typeface="Arial"/>
                          <a:cs typeface="Arial"/>
                        </a:rPr>
                        <a:t>No relationship</a:t>
                      </a:r>
                    </a:p>
                  </a:txBody>
                  <a:tcPr marL="91440" marR="91440" marT="45720" marB="45720">
                    <a:lnR w="6191">
                      <a:solidFill>
                        <a:srgbClr val="20364D"/>
                      </a:solidFill>
                      <a:prstDash val="solid"/>
                    </a:lnR>
                    <a:lnB w="6191">
                      <a:solidFill>
                        <a:srgbClr val="20364D"/>
                      </a:solidFill>
                      <a:prstDash val="solid"/>
                    </a:lnB>
                    <a:solidFill>
                      <a:srgbClr val="15243D"/>
                    </a:solidFill>
                  </a:tcPr>
                </a:tc>
              </a:tr>
            </a:tbl>
          </a:graphicData>
        </a:graphic>
      </p:graphicFrame>
    </p:spTree>
    <p:extLst>
      <p:ext uri="{BB962C8B-B14F-4D97-AF65-F5344CB8AC3E}">
        <p14:creationId xmlns:p14="http://schemas.microsoft.com/office/powerpoint/2010/main" val="1665435749"/>
      </p:ext>
    </p:extLst>
  </p:cSld>
</p:sld>
</file>

<file path=ppt/slides/slide32.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5" name="integration-50">
            <a:extLst xmlns:a="http://schemas.openxmlformats.org/drawingml/2006/main">
              <a:ext uri="{FF2B5EF4-FFF2-40B4-BE49-F238E27FC236}">
                <a16:creationId xmlns:a16="http://schemas.microsoft.com/office/drawing/2014/main" id="{94499531-3F1A-43E9-A3B1-73330AD36020}"/>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APPENDIX: SUPPORTING EVIDENCE</a:t>
            </a:r>
          </a:p>
        </p:txBody>
      </p:sp>
      <p:sp>
        <p:nvSpPr>
          <p:cNvPr id="2" name="integration-51">
            <a:extLst xmlns:a="http://schemas.openxmlformats.org/drawingml/2006/main">
              <a:ext uri="{FF2B5EF4-FFF2-40B4-BE49-F238E27FC236}">
                <a16:creationId xmlns:a16="http://schemas.microsoft.com/office/drawing/2014/main" id="{9DEC6208-E036-4E2E-BC89-E8B07D6EA18D}"/>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225" b="1">
                <a:solidFill>
                  <a:srgbClr val="F2F6FF"/>
                </a:solidFill>
                <a:latin typeface="Arial"/>
                <a:ea typeface="Arial"/>
                <a:cs typeface="Arial"/>
              </a:defRPr>
            </a:lvl1pPr>
            <a:lvl2pPr>
              <a:buNone/>
              <a:defRPr sz="3225" b="1">
                <a:solidFill>
                  <a:srgbClr val="F2F6FF"/>
                </a:solidFill>
                <a:latin typeface="Arial"/>
                <a:ea typeface="Arial"/>
                <a:cs typeface="Arial"/>
              </a:defRPr>
            </a:lvl2pPr>
            <a:lvl3pPr>
              <a:buNone/>
              <a:defRPr sz="3225" b="1">
                <a:solidFill>
                  <a:srgbClr val="F2F6FF"/>
                </a:solidFill>
                <a:latin typeface="Arial"/>
                <a:ea typeface="Arial"/>
                <a:cs typeface="Arial"/>
              </a:defRPr>
            </a:lvl3pPr>
            <a:lvl4pPr>
              <a:buNone/>
              <a:defRPr sz="3225" b="1">
                <a:solidFill>
                  <a:srgbClr val="F2F6FF"/>
                </a:solidFill>
                <a:latin typeface="Arial"/>
                <a:ea typeface="Arial"/>
                <a:cs typeface="Arial"/>
              </a:defRPr>
            </a:lvl4pPr>
            <a:lvl5pPr>
              <a:buNone/>
              <a:defRPr sz="3225" b="1">
                <a:solidFill>
                  <a:srgbClr val="F2F6FF"/>
                </a:solidFill>
                <a:latin typeface="Arial"/>
                <a:ea typeface="Arial"/>
                <a:cs typeface="Arial"/>
              </a:defRPr>
            </a:lvl5pPr>
            <a:lvl6pPr>
              <a:buNone/>
              <a:defRPr sz="3225" b="1">
                <a:solidFill>
                  <a:srgbClr val="F2F6FF"/>
                </a:solidFill>
                <a:latin typeface="Arial"/>
                <a:ea typeface="Arial"/>
                <a:cs typeface="Arial"/>
              </a:defRPr>
            </a:lvl6pPr>
            <a:lvl7pPr>
              <a:buNone/>
              <a:defRPr sz="3225" b="1">
                <a:solidFill>
                  <a:srgbClr val="F2F6FF"/>
                </a:solidFill>
                <a:latin typeface="Arial"/>
                <a:ea typeface="Arial"/>
                <a:cs typeface="Arial"/>
              </a:defRPr>
            </a:lvl7pPr>
            <a:lvl8pPr>
              <a:buNone/>
              <a:defRPr sz="3225" b="1">
                <a:solidFill>
                  <a:srgbClr val="F2F6FF"/>
                </a:solidFill>
                <a:latin typeface="Arial"/>
                <a:ea typeface="Arial"/>
                <a:cs typeface="Arial"/>
              </a:defRPr>
            </a:lvl8pPr>
            <a:lvl9pPr>
              <a:buNone/>
              <a:defRPr sz="3225" b="1">
                <a:solidFill>
                  <a:srgbClr val="F2F6FF"/>
                </a:solidFill>
                <a:latin typeface="Arial"/>
                <a:ea typeface="Arial"/>
                <a:cs typeface="Arial"/>
              </a:defRPr>
            </a:lvl9pPr>
          </a:lstStyle>
          <a:p xmlns:a="http://schemas.openxmlformats.org/drawingml/2006/main">
            <a:pPr>
              <a:buNone/>
              <a:defRPr sz="3225" b="1">
                <a:solidFill>
                  <a:srgbClr val="F2F6FF"/>
                </a:solidFill>
                <a:latin typeface="Arial"/>
                <a:ea typeface="Arial"/>
                <a:cs typeface="Arial"/>
              </a:defRPr>
            </a:pPr>
            <a:r>
              <a:rPr sz="3225" b="1">
                <a:solidFill>
                  <a:srgbClr val="F2F6FF"/>
                </a:solidFill>
                <a:latin typeface="Arial"/>
                <a:ea typeface="Arial"/>
                <a:cs typeface="Arial"/>
              </a:rPr>
              <a:t>Prepared fields, DAX and scenario inputs</a:t>
            </a:r>
          </a:p>
        </p:txBody>
      </p:sp>
      <p:sp>
        <p:nvSpPr>
          <p:cNvPr id="3" name="integration-52">
            <a:extLst xmlns:a="http://schemas.openxmlformats.org/drawingml/2006/main">
              <a:ext uri="{FF2B5EF4-FFF2-40B4-BE49-F238E27FC236}">
                <a16:creationId xmlns:a16="http://schemas.microsoft.com/office/drawing/2014/main" id="{F1784C1F-5AD0-4BCB-A26F-6182207DB893}"/>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Prepared fields and DAX measures support analysis across nine report pages</a:t>
            </a:r>
          </a:p>
        </p:txBody>
      </p:sp>
      <p:sp>
        <p:nvSpPr>
          <p:cNvPr id="4" name="integration-53">
            <a:extLst xmlns:a="http://schemas.openxmlformats.org/drawingml/2006/main">
              <a:ext uri="{FF2B5EF4-FFF2-40B4-BE49-F238E27FC236}">
                <a16:creationId xmlns:a16="http://schemas.microsoft.com/office/drawing/2014/main" id="{F31068B2-7F0F-4785-99AF-E0E286895DCA}"/>
              </a:ext>
            </a:extLst>
          </p:cNvPr>
          <p:cNvSpPr>
            <a:spLocks xmlns:a="http://schemas.openxmlformats.org/drawingml/2006/main" noGrp="1"/>
          </p:cNvSpPr>
          <p:nvPr/>
        </p:nvSpPr>
        <p:spPr>
          <a:xfrm xmlns:a="http://schemas.openxmlformats.org/drawingml/2006/main">
            <a:off x="571500" y="20574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00" b="1">
                <a:solidFill>
                  <a:srgbClr val="3DDCF5"/>
                </a:solidFill>
                <a:latin typeface="Arial"/>
                <a:ea typeface="Arial"/>
                <a:cs typeface="Arial"/>
              </a:defRPr>
            </a:lvl1pPr>
            <a:lvl2pPr>
              <a:buNone/>
              <a:defRPr sz="1500" b="1">
                <a:solidFill>
                  <a:srgbClr val="3DDCF5"/>
                </a:solidFill>
                <a:latin typeface="Arial"/>
                <a:ea typeface="Arial"/>
                <a:cs typeface="Arial"/>
              </a:defRPr>
            </a:lvl2pPr>
            <a:lvl3pPr>
              <a:buNone/>
              <a:defRPr sz="1500" b="1">
                <a:solidFill>
                  <a:srgbClr val="3DDCF5"/>
                </a:solidFill>
                <a:latin typeface="Arial"/>
                <a:ea typeface="Arial"/>
                <a:cs typeface="Arial"/>
              </a:defRPr>
            </a:lvl3pPr>
            <a:lvl4pPr>
              <a:buNone/>
              <a:defRPr sz="1500" b="1">
                <a:solidFill>
                  <a:srgbClr val="3DDCF5"/>
                </a:solidFill>
                <a:latin typeface="Arial"/>
                <a:ea typeface="Arial"/>
                <a:cs typeface="Arial"/>
              </a:defRPr>
            </a:lvl4pPr>
            <a:lvl5pPr>
              <a:buNone/>
              <a:defRPr sz="1500" b="1">
                <a:solidFill>
                  <a:srgbClr val="3DDCF5"/>
                </a:solidFill>
                <a:latin typeface="Arial"/>
                <a:ea typeface="Arial"/>
                <a:cs typeface="Arial"/>
              </a:defRPr>
            </a:lvl5pPr>
            <a:lvl6pPr>
              <a:buNone/>
              <a:defRPr sz="1500" b="1">
                <a:solidFill>
                  <a:srgbClr val="3DDCF5"/>
                </a:solidFill>
                <a:latin typeface="Arial"/>
                <a:ea typeface="Arial"/>
                <a:cs typeface="Arial"/>
              </a:defRPr>
            </a:lvl6pPr>
            <a:lvl7pPr>
              <a:buNone/>
              <a:defRPr sz="1500" b="1">
                <a:solidFill>
                  <a:srgbClr val="3DDCF5"/>
                </a:solidFill>
                <a:latin typeface="Arial"/>
                <a:ea typeface="Arial"/>
                <a:cs typeface="Arial"/>
              </a:defRPr>
            </a:lvl7pPr>
            <a:lvl8pPr>
              <a:buNone/>
              <a:defRPr sz="1500" b="1">
                <a:solidFill>
                  <a:srgbClr val="3DDCF5"/>
                </a:solidFill>
                <a:latin typeface="Arial"/>
                <a:ea typeface="Arial"/>
                <a:cs typeface="Arial"/>
              </a:defRPr>
            </a:lvl8pPr>
            <a:lvl9pPr>
              <a:buNone/>
              <a:defRPr sz="1500" b="1">
                <a:solidFill>
                  <a:srgbClr val="3DDCF5"/>
                </a:solidFill>
                <a:latin typeface="Arial"/>
                <a:ea typeface="Arial"/>
                <a:cs typeface="Arial"/>
              </a:defRPr>
            </a:lvl9pPr>
          </a:lstStyle>
          <a:p xmlns:a="http://schemas.openxmlformats.org/drawingml/2006/main">
            <a:pPr>
              <a:buNone/>
              <a:defRPr sz="1500" b="1">
                <a:solidFill>
                  <a:srgbClr val="3DDCF5"/>
                </a:solidFill>
                <a:latin typeface="Arial"/>
                <a:ea typeface="Arial"/>
                <a:cs typeface="Arial"/>
              </a:defRPr>
            </a:pPr>
            <a:r>
              <a:rPr sz="1500" b="1">
                <a:solidFill>
                  <a:srgbClr val="3DDCF5"/>
                </a:solidFill>
                <a:latin typeface="Arial"/>
                <a:ea typeface="Arial"/>
                <a:cs typeface="Arial"/>
              </a:rPr>
              <a:t>POWER QUERY FEATURES</a:t>
            </a:r>
          </a:p>
        </p:txBody>
      </p:sp>
      <p:sp>
        <p:nvSpPr>
          <p:cNvPr id="5" name="integration-54">
            <a:extLst xmlns:a="http://schemas.openxmlformats.org/drawingml/2006/main">
              <a:ext uri="{FF2B5EF4-FFF2-40B4-BE49-F238E27FC236}">
                <a16:creationId xmlns:a16="http://schemas.microsoft.com/office/drawing/2014/main" id="{7BE6B58B-8351-4094-B93C-5B6BBDE13D45}"/>
              </a:ext>
            </a:extLst>
          </p:cNvPr>
          <p:cNvSpPr>
            <a:spLocks xmlns:a="http://schemas.openxmlformats.org/drawingml/2006/main" noGrp="1"/>
          </p:cNvSpPr>
          <p:nvPr/>
        </p:nvSpPr>
        <p:spPr>
          <a:xfrm xmlns:a="http://schemas.openxmlformats.org/drawingml/2006/main">
            <a:off x="6477000" y="2057400"/>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00" b="1">
                <a:solidFill>
                  <a:srgbClr val="A381FF"/>
                </a:solidFill>
                <a:latin typeface="Arial"/>
                <a:ea typeface="Arial"/>
                <a:cs typeface="Arial"/>
              </a:defRPr>
            </a:lvl1pPr>
            <a:lvl2pPr>
              <a:buNone/>
              <a:defRPr sz="1500" b="1">
                <a:solidFill>
                  <a:srgbClr val="A381FF"/>
                </a:solidFill>
                <a:latin typeface="Arial"/>
                <a:ea typeface="Arial"/>
                <a:cs typeface="Arial"/>
              </a:defRPr>
            </a:lvl2pPr>
            <a:lvl3pPr>
              <a:buNone/>
              <a:defRPr sz="1500" b="1">
                <a:solidFill>
                  <a:srgbClr val="A381FF"/>
                </a:solidFill>
                <a:latin typeface="Arial"/>
                <a:ea typeface="Arial"/>
                <a:cs typeface="Arial"/>
              </a:defRPr>
            </a:lvl3pPr>
            <a:lvl4pPr>
              <a:buNone/>
              <a:defRPr sz="1500" b="1">
                <a:solidFill>
                  <a:srgbClr val="A381FF"/>
                </a:solidFill>
                <a:latin typeface="Arial"/>
                <a:ea typeface="Arial"/>
                <a:cs typeface="Arial"/>
              </a:defRPr>
            </a:lvl4pPr>
            <a:lvl5pPr>
              <a:buNone/>
              <a:defRPr sz="1500" b="1">
                <a:solidFill>
                  <a:srgbClr val="A381FF"/>
                </a:solidFill>
                <a:latin typeface="Arial"/>
                <a:ea typeface="Arial"/>
                <a:cs typeface="Arial"/>
              </a:defRPr>
            </a:lvl5pPr>
            <a:lvl6pPr>
              <a:buNone/>
              <a:defRPr sz="1500" b="1">
                <a:solidFill>
                  <a:srgbClr val="A381FF"/>
                </a:solidFill>
                <a:latin typeface="Arial"/>
                <a:ea typeface="Arial"/>
                <a:cs typeface="Arial"/>
              </a:defRPr>
            </a:lvl6pPr>
            <a:lvl7pPr>
              <a:buNone/>
              <a:defRPr sz="1500" b="1">
                <a:solidFill>
                  <a:srgbClr val="A381FF"/>
                </a:solidFill>
                <a:latin typeface="Arial"/>
                <a:ea typeface="Arial"/>
                <a:cs typeface="Arial"/>
              </a:defRPr>
            </a:lvl7pPr>
            <a:lvl8pPr>
              <a:buNone/>
              <a:defRPr sz="1500" b="1">
                <a:solidFill>
                  <a:srgbClr val="A381FF"/>
                </a:solidFill>
                <a:latin typeface="Arial"/>
                <a:ea typeface="Arial"/>
                <a:cs typeface="Arial"/>
              </a:defRPr>
            </a:lvl8pPr>
            <a:lvl9pPr>
              <a:buNone/>
              <a:defRPr sz="1500" b="1">
                <a:solidFill>
                  <a:srgbClr val="A381FF"/>
                </a:solidFill>
                <a:latin typeface="Arial"/>
                <a:ea typeface="Arial"/>
                <a:cs typeface="Arial"/>
              </a:defRPr>
            </a:lvl9pPr>
          </a:lstStyle>
          <a:p xmlns:a="http://schemas.openxmlformats.org/drawingml/2006/main">
            <a:pPr>
              <a:buNone/>
              <a:defRPr sz="1500" b="1">
                <a:solidFill>
                  <a:srgbClr val="A381FF"/>
                </a:solidFill>
                <a:latin typeface="Arial"/>
                <a:ea typeface="Arial"/>
                <a:cs typeface="Arial"/>
              </a:defRPr>
            </a:pPr>
            <a:r>
              <a:rPr sz="1500" b="1">
                <a:solidFill>
                  <a:srgbClr val="A381FF"/>
                </a:solidFill>
                <a:latin typeface="Arial"/>
                <a:ea typeface="Arial"/>
                <a:cs typeface="Arial"/>
              </a:rPr>
              <a:t>DAX AND SCENARIO LOGIC</a:t>
            </a:r>
          </a:p>
        </p:txBody>
      </p:sp>
      <p:sp>
        <p:nvSpPr>
          <p:cNvPr id="6" name="integration-55">
            <a:extLst xmlns:a="http://schemas.openxmlformats.org/drawingml/2006/main">
              <a:ext uri="{FF2B5EF4-FFF2-40B4-BE49-F238E27FC236}">
                <a16:creationId xmlns:a16="http://schemas.microsoft.com/office/drawing/2014/main" id="{84AFDD0C-9892-4447-BD7F-F174F97A7AEB}"/>
              </a:ext>
            </a:extLst>
          </p:cNvPr>
          <p:cNvSpPr>
            <a:spLocks xmlns:a="http://schemas.openxmlformats.org/drawingml/2006/main" noGrp="1"/>
          </p:cNvSpPr>
          <p:nvPr/>
        </p:nvSpPr>
        <p:spPr>
          <a:xfrm xmlns:a="http://schemas.openxmlformats.org/drawingml/2006/main">
            <a:off x="571500" y="2609850"/>
            <a:ext cx="5191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1">
                <a:solidFill>
                  <a:srgbClr val="F2F6FF"/>
                </a:solidFill>
                <a:latin typeface="Arial"/>
                <a:ea typeface="Arial"/>
                <a:cs typeface="Arial"/>
              </a:defRPr>
            </a:lvl1pPr>
            <a:lvl2pPr>
              <a:buNone/>
              <a:defRPr sz="1950" b="1">
                <a:solidFill>
                  <a:srgbClr val="F2F6FF"/>
                </a:solidFill>
                <a:latin typeface="Arial"/>
                <a:ea typeface="Arial"/>
                <a:cs typeface="Arial"/>
              </a:defRPr>
            </a:lvl2pPr>
            <a:lvl3pPr>
              <a:buNone/>
              <a:defRPr sz="1950" b="1">
                <a:solidFill>
                  <a:srgbClr val="F2F6FF"/>
                </a:solidFill>
                <a:latin typeface="Arial"/>
                <a:ea typeface="Arial"/>
                <a:cs typeface="Arial"/>
              </a:defRPr>
            </a:lvl3pPr>
            <a:lvl4pPr>
              <a:buNone/>
              <a:defRPr sz="1950" b="1">
                <a:solidFill>
                  <a:srgbClr val="F2F6FF"/>
                </a:solidFill>
                <a:latin typeface="Arial"/>
                <a:ea typeface="Arial"/>
                <a:cs typeface="Arial"/>
              </a:defRPr>
            </a:lvl4pPr>
            <a:lvl5pPr>
              <a:buNone/>
              <a:defRPr sz="1950" b="1">
                <a:solidFill>
                  <a:srgbClr val="F2F6FF"/>
                </a:solidFill>
                <a:latin typeface="Arial"/>
                <a:ea typeface="Arial"/>
                <a:cs typeface="Arial"/>
              </a:defRPr>
            </a:lvl5pPr>
            <a:lvl6pPr>
              <a:buNone/>
              <a:defRPr sz="1950" b="1">
                <a:solidFill>
                  <a:srgbClr val="F2F6FF"/>
                </a:solidFill>
                <a:latin typeface="Arial"/>
                <a:ea typeface="Arial"/>
                <a:cs typeface="Arial"/>
              </a:defRPr>
            </a:lvl6pPr>
            <a:lvl7pPr>
              <a:buNone/>
              <a:defRPr sz="1950" b="1">
                <a:solidFill>
                  <a:srgbClr val="F2F6FF"/>
                </a:solidFill>
                <a:latin typeface="Arial"/>
                <a:ea typeface="Arial"/>
                <a:cs typeface="Arial"/>
              </a:defRPr>
            </a:lvl7pPr>
            <a:lvl8pPr>
              <a:buNone/>
              <a:defRPr sz="1950" b="1">
                <a:solidFill>
                  <a:srgbClr val="F2F6FF"/>
                </a:solidFill>
                <a:latin typeface="Arial"/>
                <a:ea typeface="Arial"/>
                <a:cs typeface="Arial"/>
              </a:defRPr>
            </a:lvl8pPr>
            <a:lvl9pPr>
              <a:buNone/>
              <a:defRPr sz="1950" b="1">
                <a:solidFill>
                  <a:srgbClr val="F2F6FF"/>
                </a:solidFill>
                <a:latin typeface="Arial"/>
                <a:ea typeface="Arial"/>
                <a:cs typeface="Arial"/>
              </a:defRPr>
            </a:lvl9pPr>
          </a:lstStyle>
          <a:p xmlns:a="http://schemas.openxmlformats.org/drawingml/2006/main">
            <a:pPr>
              <a:buNone/>
              <a:defRPr sz="1950" b="1">
                <a:solidFill>
                  <a:srgbClr val="F2F6FF"/>
                </a:solidFill>
                <a:latin typeface="Arial"/>
                <a:ea typeface="Arial"/>
                <a:cs typeface="Arial"/>
              </a:defRPr>
            </a:pPr>
            <a:r>
              <a:rPr sz="1950" b="1">
                <a:solidFill>
                  <a:srgbClr val="F2F6FF"/>
                </a:solidFill>
                <a:latin typeface="Arial"/>
                <a:ea typeface="Arial"/>
                <a:cs typeface="Arial"/>
              </a:rPr>
              <a:t>Total_Revenue combines freight, surcharge and accessorials</a:t>
            </a:r>
          </a:p>
        </p:txBody>
      </p:sp>
      <p:sp>
        <p:nvSpPr>
          <p:cNvPr id="7" name="integration-56">
            <a:extLst xmlns:a="http://schemas.openxmlformats.org/drawingml/2006/main">
              <a:ext uri="{FF2B5EF4-FFF2-40B4-BE49-F238E27FC236}">
                <a16:creationId xmlns:a16="http://schemas.microsoft.com/office/drawing/2014/main" id="{BED1A81E-F7EC-4DEB-A6E7-45D6B4E2257C}"/>
              </a:ext>
            </a:extLst>
          </p:cNvPr>
          <p:cNvSpPr>
            <a:spLocks xmlns:a="http://schemas.openxmlformats.org/drawingml/2006/main" noGrp="1"/>
          </p:cNvSpPr>
          <p:nvPr/>
        </p:nvSpPr>
        <p:spPr>
          <a:xfrm xmlns:a="http://schemas.openxmlformats.org/drawingml/2006/main">
            <a:off x="571500" y="3400425"/>
            <a:ext cx="5191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A8BDD4"/>
                </a:solidFill>
                <a:latin typeface="Arial"/>
                <a:ea typeface="Arial"/>
                <a:cs typeface="Arial"/>
              </a:defRPr>
            </a:lvl1pPr>
            <a:lvl2pPr>
              <a:buNone/>
              <a:defRPr sz="1950" b="0">
                <a:solidFill>
                  <a:srgbClr val="A8BDD4"/>
                </a:solidFill>
                <a:latin typeface="Arial"/>
                <a:ea typeface="Arial"/>
                <a:cs typeface="Arial"/>
              </a:defRPr>
            </a:lvl2pPr>
            <a:lvl3pPr>
              <a:buNone/>
              <a:defRPr sz="1950" b="0">
                <a:solidFill>
                  <a:srgbClr val="A8BDD4"/>
                </a:solidFill>
                <a:latin typeface="Arial"/>
                <a:ea typeface="Arial"/>
                <a:cs typeface="Arial"/>
              </a:defRPr>
            </a:lvl3pPr>
            <a:lvl4pPr>
              <a:buNone/>
              <a:defRPr sz="1950" b="0">
                <a:solidFill>
                  <a:srgbClr val="A8BDD4"/>
                </a:solidFill>
                <a:latin typeface="Arial"/>
                <a:ea typeface="Arial"/>
                <a:cs typeface="Arial"/>
              </a:defRPr>
            </a:lvl4pPr>
            <a:lvl5pPr>
              <a:buNone/>
              <a:defRPr sz="1950" b="0">
                <a:solidFill>
                  <a:srgbClr val="A8BDD4"/>
                </a:solidFill>
                <a:latin typeface="Arial"/>
                <a:ea typeface="Arial"/>
                <a:cs typeface="Arial"/>
              </a:defRPr>
            </a:lvl5pPr>
            <a:lvl6pPr>
              <a:buNone/>
              <a:defRPr sz="1950" b="0">
                <a:solidFill>
                  <a:srgbClr val="A8BDD4"/>
                </a:solidFill>
                <a:latin typeface="Arial"/>
                <a:ea typeface="Arial"/>
                <a:cs typeface="Arial"/>
              </a:defRPr>
            </a:lvl6pPr>
            <a:lvl7pPr>
              <a:buNone/>
              <a:defRPr sz="1950" b="0">
                <a:solidFill>
                  <a:srgbClr val="A8BDD4"/>
                </a:solidFill>
                <a:latin typeface="Arial"/>
                <a:ea typeface="Arial"/>
                <a:cs typeface="Arial"/>
              </a:defRPr>
            </a:lvl7pPr>
            <a:lvl8pPr>
              <a:buNone/>
              <a:defRPr sz="1950" b="0">
                <a:solidFill>
                  <a:srgbClr val="A8BDD4"/>
                </a:solidFill>
                <a:latin typeface="Arial"/>
                <a:ea typeface="Arial"/>
                <a:cs typeface="Arial"/>
              </a:defRPr>
            </a:lvl8pPr>
            <a:lvl9pPr>
              <a:buNone/>
              <a:defRPr sz="1950" b="0">
                <a:solidFill>
                  <a:srgbClr val="A8BDD4"/>
                </a:solidFill>
                <a:latin typeface="Arial"/>
                <a:ea typeface="Arial"/>
                <a:cs typeface="Arial"/>
              </a:defRPr>
            </a:lvl9pPr>
          </a:lstStyle>
          <a:p xmlns:a="http://schemas.openxmlformats.org/drawingml/2006/main">
            <a:pPr>
              <a:buNone/>
              <a:defRPr sz="1950" b="0">
                <a:solidFill>
                  <a:srgbClr val="A8BDD4"/>
                </a:solidFill>
                <a:latin typeface="Arial"/>
                <a:ea typeface="Arial"/>
                <a:cs typeface="Arial"/>
              </a:defRPr>
            </a:pPr>
            <a:r>
              <a:rPr sz="1950" b="0">
                <a:solidFill>
                  <a:srgbClr val="A8BDD4"/>
                </a:solidFill>
                <a:latin typeface="Arial"/>
                <a:ea typeface="Arial"/>
                <a:cs typeface="Arial"/>
              </a:rPr>
              <a:t>Weight_Category and guarded Load_Density describe load mix</a:t>
            </a:r>
          </a:p>
        </p:txBody>
      </p:sp>
      <p:sp>
        <p:nvSpPr>
          <p:cNvPr id="8" name="integration-57">
            <a:extLst xmlns:a="http://schemas.openxmlformats.org/drawingml/2006/main">
              <a:ext uri="{FF2B5EF4-FFF2-40B4-BE49-F238E27FC236}">
                <a16:creationId xmlns:a16="http://schemas.microsoft.com/office/drawing/2014/main" id="{8D644B76-72E0-4977-8233-0E58DE07FD36}"/>
              </a:ext>
            </a:extLst>
          </p:cNvPr>
          <p:cNvSpPr>
            <a:spLocks xmlns:a="http://schemas.openxmlformats.org/drawingml/2006/main" noGrp="1"/>
          </p:cNvSpPr>
          <p:nvPr/>
        </p:nvSpPr>
        <p:spPr>
          <a:xfrm xmlns:a="http://schemas.openxmlformats.org/drawingml/2006/main">
            <a:off x="571500" y="4191000"/>
            <a:ext cx="5191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A8BDD4"/>
                </a:solidFill>
                <a:latin typeface="Arial"/>
                <a:ea typeface="Arial"/>
                <a:cs typeface="Arial"/>
              </a:defRPr>
            </a:lvl1pPr>
            <a:lvl2pPr>
              <a:buNone/>
              <a:defRPr sz="1950" b="0">
                <a:solidFill>
                  <a:srgbClr val="A8BDD4"/>
                </a:solidFill>
                <a:latin typeface="Arial"/>
                <a:ea typeface="Arial"/>
                <a:cs typeface="Arial"/>
              </a:defRPr>
            </a:lvl2pPr>
            <a:lvl3pPr>
              <a:buNone/>
              <a:defRPr sz="1950" b="0">
                <a:solidFill>
                  <a:srgbClr val="A8BDD4"/>
                </a:solidFill>
                <a:latin typeface="Arial"/>
                <a:ea typeface="Arial"/>
                <a:cs typeface="Arial"/>
              </a:defRPr>
            </a:lvl3pPr>
            <a:lvl4pPr>
              <a:buNone/>
              <a:defRPr sz="1950" b="0">
                <a:solidFill>
                  <a:srgbClr val="A8BDD4"/>
                </a:solidFill>
                <a:latin typeface="Arial"/>
                <a:ea typeface="Arial"/>
                <a:cs typeface="Arial"/>
              </a:defRPr>
            </a:lvl4pPr>
            <a:lvl5pPr>
              <a:buNone/>
              <a:defRPr sz="1950" b="0">
                <a:solidFill>
                  <a:srgbClr val="A8BDD4"/>
                </a:solidFill>
                <a:latin typeface="Arial"/>
                <a:ea typeface="Arial"/>
                <a:cs typeface="Arial"/>
              </a:defRPr>
            </a:lvl5pPr>
            <a:lvl6pPr>
              <a:buNone/>
              <a:defRPr sz="1950" b="0">
                <a:solidFill>
                  <a:srgbClr val="A8BDD4"/>
                </a:solidFill>
                <a:latin typeface="Arial"/>
                <a:ea typeface="Arial"/>
                <a:cs typeface="Arial"/>
              </a:defRPr>
            </a:lvl6pPr>
            <a:lvl7pPr>
              <a:buNone/>
              <a:defRPr sz="1950" b="0">
                <a:solidFill>
                  <a:srgbClr val="A8BDD4"/>
                </a:solidFill>
                <a:latin typeface="Arial"/>
                <a:ea typeface="Arial"/>
                <a:cs typeface="Arial"/>
              </a:defRPr>
            </a:lvl7pPr>
            <a:lvl8pPr>
              <a:buNone/>
              <a:defRPr sz="1950" b="0">
                <a:solidFill>
                  <a:srgbClr val="A8BDD4"/>
                </a:solidFill>
                <a:latin typeface="Arial"/>
                <a:ea typeface="Arial"/>
                <a:cs typeface="Arial"/>
              </a:defRPr>
            </a:lvl8pPr>
            <a:lvl9pPr>
              <a:buNone/>
              <a:defRPr sz="1950" b="0">
                <a:solidFill>
                  <a:srgbClr val="A8BDD4"/>
                </a:solidFill>
                <a:latin typeface="Arial"/>
                <a:ea typeface="Arial"/>
                <a:cs typeface="Arial"/>
              </a:defRPr>
            </a:lvl9pPr>
          </a:lstStyle>
          <a:p xmlns:a="http://schemas.openxmlformats.org/drawingml/2006/main">
            <a:pPr>
              <a:buNone/>
              <a:defRPr sz="1950" b="0">
                <a:solidFill>
                  <a:srgbClr val="A8BDD4"/>
                </a:solidFill>
                <a:latin typeface="Arial"/>
                <a:ea typeface="Arial"/>
                <a:cs typeface="Arial"/>
              </a:defRPr>
            </a:pPr>
            <a:r>
              <a:rPr sz="1950" b="0">
                <a:solidFill>
                  <a:srgbClr val="A8BDD4"/>
                </a:solidFill>
                <a:latin typeface="Arial"/>
                <a:ea typeface="Arial"/>
                <a:cs typeface="Arial"/>
              </a:rPr>
              <a:t>real_on_time_flag and delay_minutes compare timestamps</a:t>
            </a:r>
          </a:p>
        </p:txBody>
      </p:sp>
      <p:sp>
        <p:nvSpPr>
          <p:cNvPr id="9" name="integration-58">
            <a:extLst xmlns:a="http://schemas.openxmlformats.org/drawingml/2006/main">
              <a:ext uri="{FF2B5EF4-FFF2-40B4-BE49-F238E27FC236}">
                <a16:creationId xmlns:a16="http://schemas.microsoft.com/office/drawing/2014/main" id="{4988EDA0-8118-460B-AA2D-D41A897ED59C}"/>
              </a:ext>
            </a:extLst>
          </p:cNvPr>
          <p:cNvSpPr>
            <a:spLocks xmlns:a="http://schemas.openxmlformats.org/drawingml/2006/main" noGrp="1"/>
          </p:cNvSpPr>
          <p:nvPr/>
        </p:nvSpPr>
        <p:spPr>
          <a:xfrm xmlns:a="http://schemas.openxmlformats.org/drawingml/2006/main">
            <a:off x="571500" y="4981575"/>
            <a:ext cx="5191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A8BDD4"/>
                </a:solidFill>
                <a:latin typeface="Arial"/>
                <a:ea typeface="Arial"/>
                <a:cs typeface="Arial"/>
              </a:defRPr>
            </a:lvl1pPr>
            <a:lvl2pPr>
              <a:buNone/>
              <a:defRPr sz="1950" b="0">
                <a:solidFill>
                  <a:srgbClr val="A8BDD4"/>
                </a:solidFill>
                <a:latin typeface="Arial"/>
                <a:ea typeface="Arial"/>
                <a:cs typeface="Arial"/>
              </a:defRPr>
            </a:lvl2pPr>
            <a:lvl3pPr>
              <a:buNone/>
              <a:defRPr sz="1950" b="0">
                <a:solidFill>
                  <a:srgbClr val="A8BDD4"/>
                </a:solidFill>
                <a:latin typeface="Arial"/>
                <a:ea typeface="Arial"/>
                <a:cs typeface="Arial"/>
              </a:defRPr>
            </a:lvl3pPr>
            <a:lvl4pPr>
              <a:buNone/>
              <a:defRPr sz="1950" b="0">
                <a:solidFill>
                  <a:srgbClr val="A8BDD4"/>
                </a:solidFill>
                <a:latin typeface="Arial"/>
                <a:ea typeface="Arial"/>
                <a:cs typeface="Arial"/>
              </a:defRPr>
            </a:lvl4pPr>
            <a:lvl5pPr>
              <a:buNone/>
              <a:defRPr sz="1950" b="0">
                <a:solidFill>
                  <a:srgbClr val="A8BDD4"/>
                </a:solidFill>
                <a:latin typeface="Arial"/>
                <a:ea typeface="Arial"/>
                <a:cs typeface="Arial"/>
              </a:defRPr>
            </a:lvl5pPr>
            <a:lvl6pPr>
              <a:buNone/>
              <a:defRPr sz="1950" b="0">
                <a:solidFill>
                  <a:srgbClr val="A8BDD4"/>
                </a:solidFill>
                <a:latin typeface="Arial"/>
                <a:ea typeface="Arial"/>
                <a:cs typeface="Arial"/>
              </a:defRPr>
            </a:lvl6pPr>
            <a:lvl7pPr>
              <a:buNone/>
              <a:defRPr sz="1950" b="0">
                <a:solidFill>
                  <a:srgbClr val="A8BDD4"/>
                </a:solidFill>
                <a:latin typeface="Arial"/>
                <a:ea typeface="Arial"/>
                <a:cs typeface="Arial"/>
              </a:defRPr>
            </a:lvl7pPr>
            <a:lvl8pPr>
              <a:buNone/>
              <a:defRPr sz="1950" b="0">
                <a:solidFill>
                  <a:srgbClr val="A8BDD4"/>
                </a:solidFill>
                <a:latin typeface="Arial"/>
                <a:ea typeface="Arial"/>
                <a:cs typeface="Arial"/>
              </a:defRPr>
            </a:lvl8pPr>
            <a:lvl9pPr>
              <a:buNone/>
              <a:defRPr sz="1950" b="0">
                <a:solidFill>
                  <a:srgbClr val="A8BDD4"/>
                </a:solidFill>
                <a:latin typeface="Arial"/>
                <a:ea typeface="Arial"/>
                <a:cs typeface="Arial"/>
              </a:defRPr>
            </a:lvl9pPr>
          </a:lstStyle>
          <a:p xmlns:a="http://schemas.openxmlformats.org/drawingml/2006/main">
            <a:pPr>
              <a:buNone/>
              <a:defRPr sz="1950" b="0">
                <a:solidFill>
                  <a:srgbClr val="A8BDD4"/>
                </a:solidFill>
                <a:latin typeface="Arial"/>
                <a:ea typeface="Arial"/>
                <a:cs typeface="Arial"/>
              </a:defRPr>
            </a:pPr>
            <a:r>
              <a:rPr sz="1950" b="0">
                <a:solidFill>
                  <a:srgbClr val="A8BDD4"/>
                </a:solidFill>
                <a:latin typeface="Arial"/>
                <a:ea typeface="Arial"/>
                <a:cs typeface="Arial"/>
              </a:rPr>
              <a:t>Month, quarter and year fields support date grouping</a:t>
            </a:r>
          </a:p>
        </p:txBody>
      </p:sp>
      <p:sp>
        <p:nvSpPr>
          <p:cNvPr id="10" name="integration-59">
            <a:extLst xmlns:a="http://schemas.openxmlformats.org/drawingml/2006/main">
              <a:ext uri="{FF2B5EF4-FFF2-40B4-BE49-F238E27FC236}">
                <a16:creationId xmlns:a16="http://schemas.microsoft.com/office/drawing/2014/main" id="{5DBF078D-EEC4-4053-ACC0-0C70BEECA2FE}"/>
              </a:ext>
            </a:extLst>
          </p:cNvPr>
          <p:cNvSpPr>
            <a:spLocks xmlns:a="http://schemas.openxmlformats.org/drawingml/2006/main" noGrp="1"/>
          </p:cNvSpPr>
          <p:nvPr/>
        </p:nvSpPr>
        <p:spPr>
          <a:xfrm xmlns:a="http://schemas.openxmlformats.org/drawingml/2006/main">
            <a:off x="6477000" y="2609850"/>
            <a:ext cx="5000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1">
                <a:solidFill>
                  <a:srgbClr val="F2F6FF"/>
                </a:solidFill>
                <a:latin typeface="Arial"/>
                <a:ea typeface="Arial"/>
                <a:cs typeface="Arial"/>
              </a:defRPr>
            </a:lvl1pPr>
            <a:lvl2pPr>
              <a:buNone/>
              <a:defRPr sz="1950" b="1">
                <a:solidFill>
                  <a:srgbClr val="F2F6FF"/>
                </a:solidFill>
                <a:latin typeface="Arial"/>
                <a:ea typeface="Arial"/>
                <a:cs typeface="Arial"/>
              </a:defRPr>
            </a:lvl2pPr>
            <a:lvl3pPr>
              <a:buNone/>
              <a:defRPr sz="1950" b="1">
                <a:solidFill>
                  <a:srgbClr val="F2F6FF"/>
                </a:solidFill>
                <a:latin typeface="Arial"/>
                <a:ea typeface="Arial"/>
                <a:cs typeface="Arial"/>
              </a:defRPr>
            </a:lvl3pPr>
            <a:lvl4pPr>
              <a:buNone/>
              <a:defRPr sz="1950" b="1">
                <a:solidFill>
                  <a:srgbClr val="F2F6FF"/>
                </a:solidFill>
                <a:latin typeface="Arial"/>
                <a:ea typeface="Arial"/>
                <a:cs typeface="Arial"/>
              </a:defRPr>
            </a:lvl4pPr>
            <a:lvl5pPr>
              <a:buNone/>
              <a:defRPr sz="1950" b="1">
                <a:solidFill>
                  <a:srgbClr val="F2F6FF"/>
                </a:solidFill>
                <a:latin typeface="Arial"/>
                <a:ea typeface="Arial"/>
                <a:cs typeface="Arial"/>
              </a:defRPr>
            </a:lvl5pPr>
            <a:lvl6pPr>
              <a:buNone/>
              <a:defRPr sz="1950" b="1">
                <a:solidFill>
                  <a:srgbClr val="F2F6FF"/>
                </a:solidFill>
                <a:latin typeface="Arial"/>
                <a:ea typeface="Arial"/>
                <a:cs typeface="Arial"/>
              </a:defRPr>
            </a:lvl6pPr>
            <a:lvl7pPr>
              <a:buNone/>
              <a:defRPr sz="1950" b="1">
                <a:solidFill>
                  <a:srgbClr val="F2F6FF"/>
                </a:solidFill>
                <a:latin typeface="Arial"/>
                <a:ea typeface="Arial"/>
                <a:cs typeface="Arial"/>
              </a:defRPr>
            </a:lvl7pPr>
            <a:lvl8pPr>
              <a:buNone/>
              <a:defRPr sz="1950" b="1">
                <a:solidFill>
                  <a:srgbClr val="F2F6FF"/>
                </a:solidFill>
                <a:latin typeface="Arial"/>
                <a:ea typeface="Arial"/>
                <a:cs typeface="Arial"/>
              </a:defRPr>
            </a:lvl8pPr>
            <a:lvl9pPr>
              <a:buNone/>
              <a:defRPr sz="1950" b="1">
                <a:solidFill>
                  <a:srgbClr val="F2F6FF"/>
                </a:solidFill>
                <a:latin typeface="Arial"/>
                <a:ea typeface="Arial"/>
                <a:cs typeface="Arial"/>
              </a:defRPr>
            </a:lvl9pPr>
          </a:lstStyle>
          <a:p xmlns:a="http://schemas.openxmlformats.org/drawingml/2006/main">
            <a:pPr>
              <a:buNone/>
              <a:defRPr sz="1950" b="1">
                <a:solidFill>
                  <a:srgbClr val="F2F6FF"/>
                </a:solidFill>
                <a:latin typeface="Arial"/>
                <a:ea typeface="Arial"/>
                <a:cs typeface="Arial"/>
              </a:defRPr>
            </a:pPr>
            <a:r>
              <a:rPr sz="1950" b="1">
                <a:solidFill>
                  <a:srgbClr val="F2F6FF"/>
                </a:solidFill>
                <a:latin typeface="Arial"/>
                <a:ea typeface="Arial"/>
                <a:cs typeface="Arial"/>
              </a:rPr>
              <a:t>Fleet MPG = trip miles / gallons burned</a:t>
            </a:r>
          </a:p>
        </p:txBody>
      </p:sp>
      <p:sp>
        <p:nvSpPr>
          <p:cNvPr id="11" name="integration-60">
            <a:extLst xmlns:a="http://schemas.openxmlformats.org/drawingml/2006/main">
              <a:ext uri="{FF2B5EF4-FFF2-40B4-BE49-F238E27FC236}">
                <a16:creationId xmlns:a16="http://schemas.microsoft.com/office/drawing/2014/main" id="{1761AB99-8BFB-4BEA-BD8A-EF6792FC3375}"/>
              </a:ext>
            </a:extLst>
          </p:cNvPr>
          <p:cNvSpPr>
            <a:spLocks xmlns:a="http://schemas.openxmlformats.org/drawingml/2006/main" noGrp="1"/>
          </p:cNvSpPr>
          <p:nvPr/>
        </p:nvSpPr>
        <p:spPr>
          <a:xfrm xmlns:a="http://schemas.openxmlformats.org/drawingml/2006/main">
            <a:off x="6477000" y="3400425"/>
            <a:ext cx="5000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A8BDD4"/>
                </a:solidFill>
                <a:latin typeface="Arial"/>
                <a:ea typeface="Arial"/>
                <a:cs typeface="Arial"/>
              </a:defRPr>
            </a:lvl1pPr>
            <a:lvl2pPr>
              <a:buNone/>
              <a:defRPr sz="1950" b="0">
                <a:solidFill>
                  <a:srgbClr val="A8BDD4"/>
                </a:solidFill>
                <a:latin typeface="Arial"/>
                <a:ea typeface="Arial"/>
                <a:cs typeface="Arial"/>
              </a:defRPr>
            </a:lvl2pPr>
            <a:lvl3pPr>
              <a:buNone/>
              <a:defRPr sz="1950" b="0">
                <a:solidFill>
                  <a:srgbClr val="A8BDD4"/>
                </a:solidFill>
                <a:latin typeface="Arial"/>
                <a:ea typeface="Arial"/>
                <a:cs typeface="Arial"/>
              </a:defRPr>
            </a:lvl3pPr>
            <a:lvl4pPr>
              <a:buNone/>
              <a:defRPr sz="1950" b="0">
                <a:solidFill>
                  <a:srgbClr val="A8BDD4"/>
                </a:solidFill>
                <a:latin typeface="Arial"/>
                <a:ea typeface="Arial"/>
                <a:cs typeface="Arial"/>
              </a:defRPr>
            </a:lvl4pPr>
            <a:lvl5pPr>
              <a:buNone/>
              <a:defRPr sz="1950" b="0">
                <a:solidFill>
                  <a:srgbClr val="A8BDD4"/>
                </a:solidFill>
                <a:latin typeface="Arial"/>
                <a:ea typeface="Arial"/>
                <a:cs typeface="Arial"/>
              </a:defRPr>
            </a:lvl5pPr>
            <a:lvl6pPr>
              <a:buNone/>
              <a:defRPr sz="1950" b="0">
                <a:solidFill>
                  <a:srgbClr val="A8BDD4"/>
                </a:solidFill>
                <a:latin typeface="Arial"/>
                <a:ea typeface="Arial"/>
                <a:cs typeface="Arial"/>
              </a:defRPr>
            </a:lvl6pPr>
            <a:lvl7pPr>
              <a:buNone/>
              <a:defRPr sz="1950" b="0">
                <a:solidFill>
                  <a:srgbClr val="A8BDD4"/>
                </a:solidFill>
                <a:latin typeface="Arial"/>
                <a:ea typeface="Arial"/>
                <a:cs typeface="Arial"/>
              </a:defRPr>
            </a:lvl7pPr>
            <a:lvl8pPr>
              <a:buNone/>
              <a:defRPr sz="1950" b="0">
                <a:solidFill>
                  <a:srgbClr val="A8BDD4"/>
                </a:solidFill>
                <a:latin typeface="Arial"/>
                <a:ea typeface="Arial"/>
                <a:cs typeface="Arial"/>
              </a:defRPr>
            </a:lvl8pPr>
            <a:lvl9pPr>
              <a:buNone/>
              <a:defRPr sz="1950" b="0">
                <a:solidFill>
                  <a:srgbClr val="A8BDD4"/>
                </a:solidFill>
                <a:latin typeface="Arial"/>
                <a:ea typeface="Arial"/>
                <a:cs typeface="Arial"/>
              </a:defRPr>
            </a:lvl9pPr>
          </a:lstStyle>
          <a:p xmlns:a="http://schemas.openxmlformats.org/drawingml/2006/main">
            <a:pPr>
              <a:buNone/>
              <a:defRPr sz="1950" b="0">
                <a:solidFill>
                  <a:srgbClr val="A8BDD4"/>
                </a:solidFill>
                <a:latin typeface="Arial"/>
                <a:ea typeface="Arial"/>
                <a:cs typeface="Arial"/>
              </a:defRPr>
            </a:pPr>
            <a:r>
              <a:rPr sz="1950" b="0">
                <a:solidFill>
                  <a:srgbClr val="A8BDD4"/>
                </a:solidFill>
                <a:latin typeface="Arial"/>
                <a:ea typeface="Arial"/>
                <a:cs typeface="Arial"/>
              </a:rPr>
              <a:t>Modeled cost includes fuel, maintenance, damage and wages</a:t>
            </a:r>
          </a:p>
        </p:txBody>
      </p:sp>
      <p:sp>
        <p:nvSpPr>
          <p:cNvPr id="12" name="integration-61">
            <a:extLst xmlns:a="http://schemas.openxmlformats.org/drawingml/2006/main">
              <a:ext uri="{FF2B5EF4-FFF2-40B4-BE49-F238E27FC236}">
                <a16:creationId xmlns:a16="http://schemas.microsoft.com/office/drawing/2014/main" id="{2D754655-6D6B-4535-BF0B-C7B2A89B27A6}"/>
              </a:ext>
            </a:extLst>
          </p:cNvPr>
          <p:cNvSpPr>
            <a:spLocks xmlns:a="http://schemas.openxmlformats.org/drawingml/2006/main" noGrp="1"/>
          </p:cNvSpPr>
          <p:nvPr/>
        </p:nvSpPr>
        <p:spPr>
          <a:xfrm xmlns:a="http://schemas.openxmlformats.org/drawingml/2006/main">
            <a:off x="6477000" y="4191000"/>
            <a:ext cx="5000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A8BDD4"/>
                </a:solidFill>
                <a:latin typeface="Arial"/>
                <a:ea typeface="Arial"/>
                <a:cs typeface="Arial"/>
              </a:defRPr>
            </a:lvl1pPr>
            <a:lvl2pPr>
              <a:buNone/>
              <a:defRPr sz="1950" b="0">
                <a:solidFill>
                  <a:srgbClr val="A8BDD4"/>
                </a:solidFill>
                <a:latin typeface="Arial"/>
                <a:ea typeface="Arial"/>
                <a:cs typeface="Arial"/>
              </a:defRPr>
            </a:lvl2pPr>
            <a:lvl3pPr>
              <a:buNone/>
              <a:defRPr sz="1950" b="0">
                <a:solidFill>
                  <a:srgbClr val="A8BDD4"/>
                </a:solidFill>
                <a:latin typeface="Arial"/>
                <a:ea typeface="Arial"/>
                <a:cs typeface="Arial"/>
              </a:defRPr>
            </a:lvl3pPr>
            <a:lvl4pPr>
              <a:buNone/>
              <a:defRPr sz="1950" b="0">
                <a:solidFill>
                  <a:srgbClr val="A8BDD4"/>
                </a:solidFill>
                <a:latin typeface="Arial"/>
                <a:ea typeface="Arial"/>
                <a:cs typeface="Arial"/>
              </a:defRPr>
            </a:lvl4pPr>
            <a:lvl5pPr>
              <a:buNone/>
              <a:defRPr sz="1950" b="0">
                <a:solidFill>
                  <a:srgbClr val="A8BDD4"/>
                </a:solidFill>
                <a:latin typeface="Arial"/>
                <a:ea typeface="Arial"/>
                <a:cs typeface="Arial"/>
              </a:defRPr>
            </a:lvl5pPr>
            <a:lvl6pPr>
              <a:buNone/>
              <a:defRPr sz="1950" b="0">
                <a:solidFill>
                  <a:srgbClr val="A8BDD4"/>
                </a:solidFill>
                <a:latin typeface="Arial"/>
                <a:ea typeface="Arial"/>
                <a:cs typeface="Arial"/>
              </a:defRPr>
            </a:lvl6pPr>
            <a:lvl7pPr>
              <a:buNone/>
              <a:defRPr sz="1950" b="0">
                <a:solidFill>
                  <a:srgbClr val="A8BDD4"/>
                </a:solidFill>
                <a:latin typeface="Arial"/>
                <a:ea typeface="Arial"/>
                <a:cs typeface="Arial"/>
              </a:defRPr>
            </a:lvl7pPr>
            <a:lvl8pPr>
              <a:buNone/>
              <a:defRPr sz="1950" b="0">
                <a:solidFill>
                  <a:srgbClr val="A8BDD4"/>
                </a:solidFill>
                <a:latin typeface="Arial"/>
                <a:ea typeface="Arial"/>
                <a:cs typeface="Arial"/>
              </a:defRPr>
            </a:lvl8pPr>
            <a:lvl9pPr>
              <a:buNone/>
              <a:defRPr sz="1950" b="0">
                <a:solidFill>
                  <a:srgbClr val="A8BDD4"/>
                </a:solidFill>
                <a:latin typeface="Arial"/>
                <a:ea typeface="Arial"/>
                <a:cs typeface="Arial"/>
              </a:defRPr>
            </a:lvl9pPr>
          </a:lstStyle>
          <a:p xmlns:a="http://schemas.openxmlformats.org/drawingml/2006/main">
            <a:pPr>
              <a:buNone/>
              <a:defRPr sz="1950" b="0">
                <a:solidFill>
                  <a:srgbClr val="A8BDD4"/>
                </a:solidFill>
                <a:latin typeface="Arial"/>
                <a:ea typeface="Arial"/>
                <a:cs typeface="Arial"/>
              </a:defRPr>
            </a:pPr>
            <a:r>
              <a:rPr sz="1950" b="0">
                <a:solidFill>
                  <a:srgbClr val="A8BDD4"/>
                </a:solidFill>
                <a:latin typeface="Arial"/>
                <a:ea typeface="Arial"/>
                <a:cs typeface="Arial"/>
              </a:rPr>
              <a:t>Rate Multiplier is defined from 0.80 to 1.50</a:t>
            </a:r>
          </a:p>
        </p:txBody>
      </p:sp>
      <p:sp>
        <p:nvSpPr>
          <p:cNvPr id="13" name="integration-62">
            <a:extLst xmlns:a="http://schemas.openxmlformats.org/drawingml/2006/main">
              <a:ext uri="{FF2B5EF4-FFF2-40B4-BE49-F238E27FC236}">
                <a16:creationId xmlns:a16="http://schemas.microsoft.com/office/drawing/2014/main" id="{4047FFDA-3A87-4709-BFBC-10A17567F71C}"/>
              </a:ext>
            </a:extLst>
          </p:cNvPr>
          <p:cNvSpPr>
            <a:spLocks xmlns:a="http://schemas.openxmlformats.org/drawingml/2006/main" noGrp="1"/>
          </p:cNvSpPr>
          <p:nvPr/>
        </p:nvSpPr>
        <p:spPr>
          <a:xfrm xmlns:a="http://schemas.openxmlformats.org/drawingml/2006/main">
            <a:off x="6477000" y="4981575"/>
            <a:ext cx="5000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A8BDD4"/>
                </a:solidFill>
                <a:latin typeface="Arial"/>
                <a:ea typeface="Arial"/>
                <a:cs typeface="Arial"/>
              </a:defRPr>
            </a:lvl1pPr>
            <a:lvl2pPr>
              <a:buNone/>
              <a:defRPr sz="1950" b="0">
                <a:solidFill>
                  <a:srgbClr val="A8BDD4"/>
                </a:solidFill>
                <a:latin typeface="Arial"/>
                <a:ea typeface="Arial"/>
                <a:cs typeface="Arial"/>
              </a:defRPr>
            </a:lvl2pPr>
            <a:lvl3pPr>
              <a:buNone/>
              <a:defRPr sz="1950" b="0">
                <a:solidFill>
                  <a:srgbClr val="A8BDD4"/>
                </a:solidFill>
                <a:latin typeface="Arial"/>
                <a:ea typeface="Arial"/>
                <a:cs typeface="Arial"/>
              </a:defRPr>
            </a:lvl3pPr>
            <a:lvl4pPr>
              <a:buNone/>
              <a:defRPr sz="1950" b="0">
                <a:solidFill>
                  <a:srgbClr val="A8BDD4"/>
                </a:solidFill>
                <a:latin typeface="Arial"/>
                <a:ea typeface="Arial"/>
                <a:cs typeface="Arial"/>
              </a:defRPr>
            </a:lvl4pPr>
            <a:lvl5pPr>
              <a:buNone/>
              <a:defRPr sz="1950" b="0">
                <a:solidFill>
                  <a:srgbClr val="A8BDD4"/>
                </a:solidFill>
                <a:latin typeface="Arial"/>
                <a:ea typeface="Arial"/>
                <a:cs typeface="Arial"/>
              </a:defRPr>
            </a:lvl5pPr>
            <a:lvl6pPr>
              <a:buNone/>
              <a:defRPr sz="1950" b="0">
                <a:solidFill>
                  <a:srgbClr val="A8BDD4"/>
                </a:solidFill>
                <a:latin typeface="Arial"/>
                <a:ea typeface="Arial"/>
                <a:cs typeface="Arial"/>
              </a:defRPr>
            </a:lvl6pPr>
            <a:lvl7pPr>
              <a:buNone/>
              <a:defRPr sz="1950" b="0">
                <a:solidFill>
                  <a:srgbClr val="A8BDD4"/>
                </a:solidFill>
                <a:latin typeface="Arial"/>
                <a:ea typeface="Arial"/>
                <a:cs typeface="Arial"/>
              </a:defRPr>
            </a:lvl7pPr>
            <a:lvl8pPr>
              <a:buNone/>
              <a:defRPr sz="1950" b="0">
                <a:solidFill>
                  <a:srgbClr val="A8BDD4"/>
                </a:solidFill>
                <a:latin typeface="Arial"/>
                <a:ea typeface="Arial"/>
                <a:cs typeface="Arial"/>
              </a:defRPr>
            </a:lvl8pPr>
            <a:lvl9pPr>
              <a:buNone/>
              <a:defRPr sz="1950" b="0">
                <a:solidFill>
                  <a:srgbClr val="A8BDD4"/>
                </a:solidFill>
                <a:latin typeface="Arial"/>
                <a:ea typeface="Arial"/>
                <a:cs typeface="Arial"/>
              </a:defRPr>
            </a:lvl9pPr>
          </a:lstStyle>
          <a:p xmlns:a="http://schemas.openxmlformats.org/drawingml/2006/main">
            <a:pPr>
              <a:buNone/>
              <a:defRPr sz="1950" b="0">
                <a:solidFill>
                  <a:srgbClr val="A8BDD4"/>
                </a:solidFill>
                <a:latin typeface="Arial"/>
                <a:ea typeface="Arial"/>
                <a:cs typeface="Arial"/>
              </a:defRPr>
            </a:pPr>
            <a:r>
              <a:rPr sz="1950" b="0">
                <a:solidFill>
                  <a:srgbClr val="A8BDD4"/>
                </a:solidFill>
                <a:latin typeface="Arial"/>
                <a:ea typeface="Arial"/>
                <a:cs typeface="Arial"/>
              </a:rPr>
              <a:t>Scenario Fuel Price spans $2.00 to $6.00</a:t>
            </a:r>
          </a:p>
        </p:txBody>
      </p:sp>
      <p:sp>
        <p:nvSpPr>
          <p:cNvPr id="14" name="integration-126">
            <a:extLst xmlns:a="http://schemas.openxmlformats.org/drawingml/2006/main">
              <a:ext uri="{FF2B5EF4-FFF2-40B4-BE49-F238E27FC236}">
                <a16:creationId xmlns:a16="http://schemas.microsoft.com/office/drawing/2014/main" id="{163D6D0C-1156-4E1D-9077-2BFDC5E61EDB}"/>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A03</a:t>
            </a:r>
          </a:p>
        </p:txBody>
      </p:sp>
    </p:spTree>
    <p:extLst>
      <p:ext uri="{BB962C8B-B14F-4D97-AF65-F5344CB8AC3E}">
        <p14:creationId xmlns:p14="http://schemas.microsoft.com/office/powerpoint/2010/main" val="1205505218"/>
      </p:ext>
    </p:extLst>
  </p:cSld>
</p:sld>
</file>

<file path=ppt/slides/slide33.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9" name="integration-84">
            <a:extLst xmlns:a="http://schemas.openxmlformats.org/drawingml/2006/main">
              <a:ext uri="{FF2B5EF4-FFF2-40B4-BE49-F238E27FC236}">
                <a16:creationId xmlns:a16="http://schemas.microsoft.com/office/drawing/2014/main" id="{35EB8F48-9FF3-4FA7-B00B-6A51A45C21C2}"/>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APPENDIX: SUPPORTING EVIDENCE</a:t>
            </a:r>
          </a:p>
        </p:txBody>
      </p:sp>
      <p:sp>
        <p:nvSpPr>
          <p:cNvPr id="2" name="integration-85">
            <a:extLst xmlns:a="http://schemas.openxmlformats.org/drawingml/2006/main">
              <a:ext uri="{FF2B5EF4-FFF2-40B4-BE49-F238E27FC236}">
                <a16:creationId xmlns:a16="http://schemas.microsoft.com/office/drawing/2014/main" id="{20D59B1B-FA9D-4236-96DB-5408A114D10D}"/>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225" b="1">
                <a:solidFill>
                  <a:srgbClr val="F2F6FF"/>
                </a:solidFill>
                <a:latin typeface="Arial"/>
                <a:ea typeface="Arial"/>
                <a:cs typeface="Arial"/>
              </a:defRPr>
            </a:lvl1pPr>
            <a:lvl2pPr>
              <a:buNone/>
              <a:defRPr sz="3225" b="1">
                <a:solidFill>
                  <a:srgbClr val="F2F6FF"/>
                </a:solidFill>
                <a:latin typeface="Arial"/>
                <a:ea typeface="Arial"/>
                <a:cs typeface="Arial"/>
              </a:defRPr>
            </a:lvl2pPr>
            <a:lvl3pPr>
              <a:buNone/>
              <a:defRPr sz="3225" b="1">
                <a:solidFill>
                  <a:srgbClr val="F2F6FF"/>
                </a:solidFill>
                <a:latin typeface="Arial"/>
                <a:ea typeface="Arial"/>
                <a:cs typeface="Arial"/>
              </a:defRPr>
            </a:lvl3pPr>
            <a:lvl4pPr>
              <a:buNone/>
              <a:defRPr sz="3225" b="1">
                <a:solidFill>
                  <a:srgbClr val="F2F6FF"/>
                </a:solidFill>
                <a:latin typeface="Arial"/>
                <a:ea typeface="Arial"/>
                <a:cs typeface="Arial"/>
              </a:defRPr>
            </a:lvl4pPr>
            <a:lvl5pPr>
              <a:buNone/>
              <a:defRPr sz="3225" b="1">
                <a:solidFill>
                  <a:srgbClr val="F2F6FF"/>
                </a:solidFill>
                <a:latin typeface="Arial"/>
                <a:ea typeface="Arial"/>
                <a:cs typeface="Arial"/>
              </a:defRPr>
            </a:lvl5pPr>
            <a:lvl6pPr>
              <a:buNone/>
              <a:defRPr sz="3225" b="1">
                <a:solidFill>
                  <a:srgbClr val="F2F6FF"/>
                </a:solidFill>
                <a:latin typeface="Arial"/>
                <a:ea typeface="Arial"/>
                <a:cs typeface="Arial"/>
              </a:defRPr>
            </a:lvl6pPr>
            <a:lvl7pPr>
              <a:buNone/>
              <a:defRPr sz="3225" b="1">
                <a:solidFill>
                  <a:srgbClr val="F2F6FF"/>
                </a:solidFill>
                <a:latin typeface="Arial"/>
                <a:ea typeface="Arial"/>
                <a:cs typeface="Arial"/>
              </a:defRPr>
            </a:lvl7pPr>
            <a:lvl8pPr>
              <a:buNone/>
              <a:defRPr sz="3225" b="1">
                <a:solidFill>
                  <a:srgbClr val="F2F6FF"/>
                </a:solidFill>
                <a:latin typeface="Arial"/>
                <a:ea typeface="Arial"/>
                <a:cs typeface="Arial"/>
              </a:defRPr>
            </a:lvl8pPr>
            <a:lvl9pPr>
              <a:buNone/>
              <a:defRPr sz="3225" b="1">
                <a:solidFill>
                  <a:srgbClr val="F2F6FF"/>
                </a:solidFill>
                <a:latin typeface="Arial"/>
                <a:ea typeface="Arial"/>
                <a:cs typeface="Arial"/>
              </a:defRPr>
            </a:lvl9pPr>
          </a:lstStyle>
          <a:p xmlns:a="http://schemas.openxmlformats.org/drawingml/2006/main">
            <a:pPr>
              <a:buNone/>
              <a:defRPr sz="3225" b="1">
                <a:solidFill>
                  <a:srgbClr val="F2F6FF"/>
                </a:solidFill>
                <a:latin typeface="Arial"/>
                <a:ea typeface="Arial"/>
                <a:cs typeface="Arial"/>
              </a:defRPr>
            </a:pPr>
            <a:r>
              <a:rPr sz="3225" b="1">
                <a:solidFill>
                  <a:srgbClr val="F2F6FF"/>
                </a:solidFill>
                <a:latin typeface="Arial"/>
                <a:ea typeface="Arial"/>
                <a:cs typeface="Arial"/>
              </a:rPr>
              <a:t>Revenue components and customer segments</a:t>
            </a:r>
          </a:p>
        </p:txBody>
      </p:sp>
      <p:sp>
        <p:nvSpPr>
          <p:cNvPr id="3" name="integration-86">
            <a:extLst xmlns:a="http://schemas.openxmlformats.org/drawingml/2006/main">
              <a:ext uri="{FF2B5EF4-FFF2-40B4-BE49-F238E27FC236}">
                <a16:creationId xmlns:a16="http://schemas.microsoft.com/office/drawing/2014/main" id="{D4310C4A-0D97-47CA-B863-00DCDD38A907}"/>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Revenue mix describes the book; profitability requires allocated costs</a:t>
            </a:r>
          </a:p>
        </p:txBody>
      </p:sp>
      <p:sp>
        <p:nvSpPr>
          <p:cNvPr id="4" name="integration-87">
            <a:extLst xmlns:a="http://schemas.openxmlformats.org/drawingml/2006/main">
              <a:ext uri="{FF2B5EF4-FFF2-40B4-BE49-F238E27FC236}">
                <a16:creationId xmlns:a16="http://schemas.microsoft.com/office/drawing/2014/main" id="{25772596-E1F0-4118-A690-915C6A1B4B14}"/>
              </a:ext>
            </a:extLst>
          </p:cNvPr>
          <p:cNvSpPr>
            <a:spLocks xmlns:a="http://schemas.openxmlformats.org/drawingml/2006/main" noGrp="1"/>
          </p:cNvSpPr>
          <p:nvPr/>
        </p:nvSpPr>
        <p:spPr>
          <a:xfrm xmlns:a="http://schemas.openxmlformats.org/drawingml/2006/main">
            <a:off x="571500" y="20574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00" b="1">
                <a:solidFill>
                  <a:srgbClr val="3DDCF5"/>
                </a:solidFill>
                <a:latin typeface="Arial"/>
                <a:ea typeface="Arial"/>
                <a:cs typeface="Arial"/>
              </a:defRPr>
            </a:lvl1pPr>
            <a:lvl2pPr>
              <a:buNone/>
              <a:defRPr sz="1500" b="1">
                <a:solidFill>
                  <a:srgbClr val="3DDCF5"/>
                </a:solidFill>
                <a:latin typeface="Arial"/>
                <a:ea typeface="Arial"/>
                <a:cs typeface="Arial"/>
              </a:defRPr>
            </a:lvl2pPr>
            <a:lvl3pPr>
              <a:buNone/>
              <a:defRPr sz="1500" b="1">
                <a:solidFill>
                  <a:srgbClr val="3DDCF5"/>
                </a:solidFill>
                <a:latin typeface="Arial"/>
                <a:ea typeface="Arial"/>
                <a:cs typeface="Arial"/>
              </a:defRPr>
            </a:lvl3pPr>
            <a:lvl4pPr>
              <a:buNone/>
              <a:defRPr sz="1500" b="1">
                <a:solidFill>
                  <a:srgbClr val="3DDCF5"/>
                </a:solidFill>
                <a:latin typeface="Arial"/>
                <a:ea typeface="Arial"/>
                <a:cs typeface="Arial"/>
              </a:defRPr>
            </a:lvl4pPr>
            <a:lvl5pPr>
              <a:buNone/>
              <a:defRPr sz="1500" b="1">
                <a:solidFill>
                  <a:srgbClr val="3DDCF5"/>
                </a:solidFill>
                <a:latin typeface="Arial"/>
                <a:ea typeface="Arial"/>
                <a:cs typeface="Arial"/>
              </a:defRPr>
            </a:lvl5pPr>
            <a:lvl6pPr>
              <a:buNone/>
              <a:defRPr sz="1500" b="1">
                <a:solidFill>
                  <a:srgbClr val="3DDCF5"/>
                </a:solidFill>
                <a:latin typeface="Arial"/>
                <a:ea typeface="Arial"/>
                <a:cs typeface="Arial"/>
              </a:defRPr>
            </a:lvl6pPr>
            <a:lvl7pPr>
              <a:buNone/>
              <a:defRPr sz="1500" b="1">
                <a:solidFill>
                  <a:srgbClr val="3DDCF5"/>
                </a:solidFill>
                <a:latin typeface="Arial"/>
                <a:ea typeface="Arial"/>
                <a:cs typeface="Arial"/>
              </a:defRPr>
            </a:lvl7pPr>
            <a:lvl8pPr>
              <a:buNone/>
              <a:defRPr sz="1500" b="1">
                <a:solidFill>
                  <a:srgbClr val="3DDCF5"/>
                </a:solidFill>
                <a:latin typeface="Arial"/>
                <a:ea typeface="Arial"/>
                <a:cs typeface="Arial"/>
              </a:defRPr>
            </a:lvl8pPr>
            <a:lvl9pPr>
              <a:buNone/>
              <a:defRPr sz="1500" b="1">
                <a:solidFill>
                  <a:srgbClr val="3DDCF5"/>
                </a:solidFill>
                <a:latin typeface="Arial"/>
                <a:ea typeface="Arial"/>
                <a:cs typeface="Arial"/>
              </a:defRPr>
            </a:lvl9pPr>
          </a:lstStyle>
          <a:p xmlns:a="http://schemas.openxmlformats.org/drawingml/2006/main">
            <a:pPr>
              <a:buNone/>
              <a:defRPr sz="1500" b="1">
                <a:solidFill>
                  <a:srgbClr val="3DDCF5"/>
                </a:solidFill>
                <a:latin typeface="Arial"/>
                <a:ea typeface="Arial"/>
                <a:cs typeface="Arial"/>
              </a:defRPr>
            </a:pPr>
            <a:r>
              <a:rPr sz="1500" b="1">
                <a:solidFill>
                  <a:srgbClr val="3DDCF5"/>
                </a:solidFill>
                <a:latin typeface="Arial"/>
                <a:ea typeface="Arial"/>
                <a:cs typeface="Arial"/>
              </a:rPr>
              <a:t>REVENUE COMPONENTS</a:t>
            </a:r>
          </a:p>
        </p:txBody>
      </p:sp>
      <p:sp>
        <p:nvSpPr>
          <p:cNvPr id="5" name="integration-88">
            <a:extLst xmlns:a="http://schemas.openxmlformats.org/drawingml/2006/main">
              <a:ext uri="{FF2B5EF4-FFF2-40B4-BE49-F238E27FC236}">
                <a16:creationId xmlns:a16="http://schemas.microsoft.com/office/drawing/2014/main" id="{6C1CD944-FFEE-4F72-8C8E-E6DB5EABD2CC}"/>
              </a:ext>
            </a:extLst>
          </p:cNvPr>
          <p:cNvSpPr>
            <a:spLocks xmlns:a="http://schemas.openxmlformats.org/drawingml/2006/main" noGrp="1"/>
          </p:cNvSpPr>
          <p:nvPr/>
        </p:nvSpPr>
        <p:spPr>
          <a:xfrm xmlns:a="http://schemas.openxmlformats.org/drawingml/2006/main">
            <a:off x="6381750" y="20574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00" b="1">
                <a:solidFill>
                  <a:srgbClr val="3DDCF5"/>
                </a:solidFill>
                <a:latin typeface="Arial"/>
                <a:ea typeface="Arial"/>
                <a:cs typeface="Arial"/>
              </a:defRPr>
            </a:lvl1pPr>
            <a:lvl2pPr>
              <a:buNone/>
              <a:defRPr sz="1500" b="1">
                <a:solidFill>
                  <a:srgbClr val="3DDCF5"/>
                </a:solidFill>
                <a:latin typeface="Arial"/>
                <a:ea typeface="Arial"/>
                <a:cs typeface="Arial"/>
              </a:defRPr>
            </a:lvl2pPr>
            <a:lvl3pPr>
              <a:buNone/>
              <a:defRPr sz="1500" b="1">
                <a:solidFill>
                  <a:srgbClr val="3DDCF5"/>
                </a:solidFill>
                <a:latin typeface="Arial"/>
                <a:ea typeface="Arial"/>
                <a:cs typeface="Arial"/>
              </a:defRPr>
            </a:lvl3pPr>
            <a:lvl4pPr>
              <a:buNone/>
              <a:defRPr sz="1500" b="1">
                <a:solidFill>
                  <a:srgbClr val="3DDCF5"/>
                </a:solidFill>
                <a:latin typeface="Arial"/>
                <a:ea typeface="Arial"/>
                <a:cs typeface="Arial"/>
              </a:defRPr>
            </a:lvl4pPr>
            <a:lvl5pPr>
              <a:buNone/>
              <a:defRPr sz="1500" b="1">
                <a:solidFill>
                  <a:srgbClr val="3DDCF5"/>
                </a:solidFill>
                <a:latin typeface="Arial"/>
                <a:ea typeface="Arial"/>
                <a:cs typeface="Arial"/>
              </a:defRPr>
            </a:lvl5pPr>
            <a:lvl6pPr>
              <a:buNone/>
              <a:defRPr sz="1500" b="1">
                <a:solidFill>
                  <a:srgbClr val="3DDCF5"/>
                </a:solidFill>
                <a:latin typeface="Arial"/>
                <a:ea typeface="Arial"/>
                <a:cs typeface="Arial"/>
              </a:defRPr>
            </a:lvl6pPr>
            <a:lvl7pPr>
              <a:buNone/>
              <a:defRPr sz="1500" b="1">
                <a:solidFill>
                  <a:srgbClr val="3DDCF5"/>
                </a:solidFill>
                <a:latin typeface="Arial"/>
                <a:ea typeface="Arial"/>
                <a:cs typeface="Arial"/>
              </a:defRPr>
            </a:lvl7pPr>
            <a:lvl8pPr>
              <a:buNone/>
              <a:defRPr sz="1500" b="1">
                <a:solidFill>
                  <a:srgbClr val="3DDCF5"/>
                </a:solidFill>
                <a:latin typeface="Arial"/>
                <a:ea typeface="Arial"/>
                <a:cs typeface="Arial"/>
              </a:defRPr>
            </a:lvl8pPr>
            <a:lvl9pPr>
              <a:buNone/>
              <a:defRPr sz="1500" b="1">
                <a:solidFill>
                  <a:srgbClr val="3DDCF5"/>
                </a:solidFill>
                <a:latin typeface="Arial"/>
                <a:ea typeface="Arial"/>
                <a:cs typeface="Arial"/>
              </a:defRPr>
            </a:lvl9pPr>
          </a:lstStyle>
          <a:p xmlns:a="http://schemas.openxmlformats.org/drawingml/2006/main">
            <a:pPr>
              <a:buNone/>
              <a:defRPr sz="1500" b="1">
                <a:solidFill>
                  <a:srgbClr val="3DDCF5"/>
                </a:solidFill>
                <a:latin typeface="Arial"/>
                <a:ea typeface="Arial"/>
                <a:cs typeface="Arial"/>
              </a:defRPr>
            </a:pPr>
            <a:r>
              <a:rPr sz="1500" b="1">
                <a:solidFill>
                  <a:srgbClr val="3DDCF5"/>
                </a:solidFill>
                <a:latin typeface="Arial"/>
                <a:ea typeface="Arial"/>
                <a:cs typeface="Arial"/>
              </a:rPr>
              <a:t>CUSTOMER TYPE</a:t>
            </a:r>
          </a:p>
        </p:txBody>
      </p:sp>
      <p:graphicFrame>
        <p:nvGraphicFramePr>
          <p:cNvPr id="17" name=""/>
          <p:cNvGraphicFramePr/>
          <p:nvPr/>
        </p:nvGraphicFramePr>
        <p:xfrm>
          <a:off xmlns:a="http://schemas.openxmlformats.org/drawingml/2006/main" x="523875" y="2609850"/>
          <a:ext xmlns:a="http://schemas.openxmlformats.org/drawingml/2006/main" cx="5476875" cy="2743200"/>
        </p:xfrm>
        <a:graphic xmlns:a="http://schemas.openxmlformats.org/drawingml/2006/main">
          <a:graphicData uri="http://schemas.openxmlformats.org/drawingml/2006/table">
            <a:tbl>
              <a:tblPr/>
              <a:tblGrid>
                <a:gridCol w="2857500"/>
                <a:gridCol w="1238250"/>
                <a:gridCol w="1381125"/>
              </a:tblGrid>
              <a:tr h="685800">
                <a:tc>
                  <a:txBody>
                    <a:bodyPr/>
                    <a:lstStyle/>
                    <a:p>
                      <a:r>
                        <a:rPr sz="1875" b="1">
                          <a:solidFill>
                            <a:srgbClr val="3DDCF5"/>
                          </a:solidFill>
                          <a:latin typeface="Arial"/>
                          <a:ea typeface="Arial"/>
                          <a:cs typeface="Arial"/>
                        </a:rPr>
                        <a:t>Component</a:t>
                      </a:r>
                    </a:p>
                  </a:txBody>
                  <a:tcPr marL="91440" marR="91440" marT="45720" marB="45720">
                    <a:lnL w="6191">
                      <a:solidFill>
                        <a:srgbClr val="20364D"/>
                      </a:solidFill>
                      <a:prstDash val="solid"/>
                    </a:lnL>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$M</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Share</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r>
              <a:tr h="685800">
                <a:tc>
                  <a:txBody>
                    <a:bodyPr/>
                    <a:lstStyle/>
                    <a:p>
                      <a:r>
                        <a:rPr sz="1875" b="0">
                          <a:solidFill>
                            <a:srgbClr val="F2F6FF"/>
                          </a:solidFill>
                          <a:latin typeface="Arial"/>
                          <a:ea typeface="Arial"/>
                          <a:cs typeface="Arial"/>
                        </a:rPr>
                        <a:t>Base freight</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262.53</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87.91%</a:t>
                      </a:r>
                    </a:p>
                  </a:txBody>
                  <a:tcPr marL="91440" marR="91440" marT="45720" marB="45720">
                    <a:lnR w="6191">
                      <a:solidFill>
                        <a:srgbClr val="20364D"/>
                      </a:solidFill>
                      <a:prstDash val="solid"/>
                    </a:lnR>
                    <a:lnB w="6191">
                      <a:solidFill>
                        <a:srgbClr val="20364D"/>
                      </a:solidFill>
                      <a:prstDash val="solid"/>
                    </a:lnB>
                    <a:solidFill>
                      <a:srgbClr val="0B1728"/>
                    </a:solidFill>
                  </a:tcPr>
                </a:tc>
              </a:tr>
              <a:tr h="685800">
                <a:tc>
                  <a:txBody>
                    <a:bodyPr/>
                    <a:lstStyle/>
                    <a:p>
                      <a:r>
                        <a:rPr sz="1875" b="0">
                          <a:solidFill>
                            <a:srgbClr val="F2F6FF"/>
                          </a:solidFill>
                          <a:latin typeface="Arial"/>
                          <a:ea typeface="Arial"/>
                          <a:cs typeface="Arial"/>
                        </a:rPr>
                        <a:t>Fuel surcharge</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29.98</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10.04%</a:t>
                      </a:r>
                    </a:p>
                  </a:txBody>
                  <a:tcPr marL="91440" marR="91440" marT="45720" marB="45720">
                    <a:lnR w="6191">
                      <a:solidFill>
                        <a:srgbClr val="20364D"/>
                      </a:solidFill>
                      <a:prstDash val="solid"/>
                    </a:lnR>
                    <a:lnB w="6191">
                      <a:solidFill>
                        <a:srgbClr val="20364D"/>
                      </a:solidFill>
                      <a:prstDash val="solid"/>
                    </a:lnB>
                    <a:solidFill>
                      <a:srgbClr val="0D1B2E"/>
                    </a:solidFill>
                  </a:tcPr>
                </a:tc>
              </a:tr>
              <a:tr h="685800">
                <a:tc>
                  <a:txBody>
                    <a:bodyPr/>
                    <a:lstStyle/>
                    <a:p>
                      <a:r>
                        <a:rPr sz="1875" b="0">
                          <a:solidFill>
                            <a:srgbClr val="F2F6FF"/>
                          </a:solidFill>
                          <a:latin typeface="Arial"/>
                          <a:ea typeface="Arial"/>
                          <a:cs typeface="Arial"/>
                        </a:rPr>
                        <a:t>Accessorials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6.12</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2.05%</a:t>
                      </a:r>
                    </a:p>
                  </a:txBody>
                  <a:tcPr marL="91440" marR="91440" marT="45720" marB="45720">
                    <a:lnR w="6191">
                      <a:solidFill>
                        <a:srgbClr val="20364D"/>
                      </a:solidFill>
                      <a:prstDash val="solid"/>
                    </a:lnR>
                    <a:lnB w="6191">
                      <a:solidFill>
                        <a:srgbClr val="20364D"/>
                      </a:solidFill>
                      <a:prstDash val="solid"/>
                    </a:lnB>
                    <a:solidFill>
                      <a:srgbClr val="0B1728"/>
                    </a:solidFill>
                  </a:tcPr>
                </a:tc>
              </a:tr>
            </a:tbl>
          </a:graphicData>
        </a:graphic>
      </p:graphicFrame>
      <p:graphicFrame>
        <p:nvGraphicFramePr>
          <p:cNvPr id="18" name=""/>
          <p:cNvGraphicFramePr/>
          <p:nvPr/>
        </p:nvGraphicFramePr>
        <p:xfrm>
          <a:off xmlns:a="http://schemas.openxmlformats.org/drawingml/2006/main" x="6191250" y="2609850"/>
          <a:ext xmlns:a="http://schemas.openxmlformats.org/drawingml/2006/main" cx="5381625" cy="2743200"/>
        </p:xfrm>
        <a:graphic xmlns:a="http://schemas.openxmlformats.org/drawingml/2006/main">
          <a:graphicData uri="http://schemas.openxmlformats.org/drawingml/2006/table">
            <a:tbl>
              <a:tblPr/>
              <a:tblGrid>
                <a:gridCol w="2714625"/>
                <a:gridCol w="1333500"/>
                <a:gridCol w="1333500"/>
              </a:tblGrid>
              <a:tr h="685800">
                <a:tc>
                  <a:txBody>
                    <a:bodyPr/>
                    <a:lstStyle/>
                    <a:p>
                      <a:r>
                        <a:rPr sz="1875" b="1">
                          <a:solidFill>
                            <a:srgbClr val="3DDCF5"/>
                          </a:solidFill>
                          <a:latin typeface="Arial"/>
                          <a:ea typeface="Arial"/>
                          <a:cs typeface="Arial"/>
                        </a:rPr>
                        <a:t>Segment</a:t>
                      </a:r>
                    </a:p>
                  </a:txBody>
                  <a:tcPr marL="91440" marR="91440" marT="45720" marB="45720">
                    <a:lnL w="6191">
                      <a:solidFill>
                        <a:srgbClr val="20364D"/>
                      </a:solidFill>
                      <a:prstDash val="solid"/>
                    </a:lnL>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$M</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Share</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r>
              <a:tr h="685800">
                <a:tc>
                  <a:txBody>
                    <a:bodyPr/>
                    <a:lstStyle/>
                    <a:p>
                      <a:r>
                        <a:rPr sz="1875" b="0">
                          <a:solidFill>
                            <a:srgbClr val="F2F6FF"/>
                          </a:solidFill>
                          <a:latin typeface="Arial"/>
                          <a:ea typeface="Arial"/>
                          <a:cs typeface="Arial"/>
                        </a:rPr>
                        <a:t>Contract</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112.40</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37.64%</a:t>
                      </a:r>
                    </a:p>
                  </a:txBody>
                  <a:tcPr marL="91440" marR="91440" marT="45720" marB="45720">
                    <a:lnR w="6191">
                      <a:solidFill>
                        <a:srgbClr val="20364D"/>
                      </a:solidFill>
                      <a:prstDash val="solid"/>
                    </a:lnR>
                    <a:lnB w="6191">
                      <a:solidFill>
                        <a:srgbClr val="20364D"/>
                      </a:solidFill>
                      <a:prstDash val="solid"/>
                    </a:lnB>
                    <a:solidFill>
                      <a:srgbClr val="0B1728"/>
                    </a:solidFill>
                  </a:tcPr>
                </a:tc>
              </a:tr>
              <a:tr h="685800">
                <a:tc>
                  <a:txBody>
                    <a:bodyPr/>
                    <a:lstStyle/>
                    <a:p>
                      <a:r>
                        <a:rPr sz="1875" b="0">
                          <a:solidFill>
                            <a:srgbClr val="F2F6FF"/>
                          </a:solidFill>
                          <a:latin typeface="Arial"/>
                          <a:ea typeface="Arial"/>
                          <a:cs typeface="Arial"/>
                        </a:rPr>
                        <a:t>Spot</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94.22</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31.55%</a:t>
                      </a:r>
                    </a:p>
                  </a:txBody>
                  <a:tcPr marL="91440" marR="91440" marT="45720" marB="45720">
                    <a:lnR w="6191">
                      <a:solidFill>
                        <a:srgbClr val="20364D"/>
                      </a:solidFill>
                      <a:prstDash val="solid"/>
                    </a:lnR>
                    <a:lnB w="6191">
                      <a:solidFill>
                        <a:srgbClr val="20364D"/>
                      </a:solidFill>
                      <a:prstDash val="solid"/>
                    </a:lnB>
                    <a:solidFill>
                      <a:srgbClr val="0D1B2E"/>
                    </a:solidFill>
                  </a:tcPr>
                </a:tc>
              </a:tr>
              <a:tr h="685800">
                <a:tc>
                  <a:txBody>
                    <a:bodyPr/>
                    <a:lstStyle/>
                    <a:p>
                      <a:r>
                        <a:rPr sz="1875" b="0">
                          <a:solidFill>
                            <a:srgbClr val="F2F6FF"/>
                          </a:solidFill>
                          <a:latin typeface="Arial"/>
                          <a:ea typeface="Arial"/>
                          <a:cs typeface="Arial"/>
                        </a:rPr>
                        <a:t>Dedicated</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92.00</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30.81%</a:t>
                      </a:r>
                    </a:p>
                  </a:txBody>
                  <a:tcPr marL="91440" marR="91440" marT="45720" marB="45720">
                    <a:lnR w="6191">
                      <a:solidFill>
                        <a:srgbClr val="20364D"/>
                      </a:solidFill>
                      <a:prstDash val="solid"/>
                    </a:lnR>
                    <a:lnB w="6191">
                      <a:solidFill>
                        <a:srgbClr val="20364D"/>
                      </a:solidFill>
                      <a:prstDash val="solid"/>
                    </a:lnB>
                    <a:solidFill>
                      <a:srgbClr val="0B1728"/>
                    </a:solidFill>
                  </a:tcPr>
                </a:tc>
              </a:tr>
            </a:tbl>
          </a:graphicData>
        </a:graphic>
      </p:graphicFrame>
      <p:sp>
        <p:nvSpPr>
          <p:cNvPr id="8" name="integration-128">
            <a:extLst xmlns:a="http://schemas.openxmlformats.org/drawingml/2006/main">
              <a:ext uri="{FF2B5EF4-FFF2-40B4-BE49-F238E27FC236}">
                <a16:creationId xmlns:a16="http://schemas.microsoft.com/office/drawing/2014/main" id="{43560409-7AC5-4A63-B391-494E217634F1}"/>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A04</a:t>
            </a:r>
          </a:p>
        </p:txBody>
      </p:sp>
    </p:spTree>
    <p:extLst>
      <p:ext uri="{BB962C8B-B14F-4D97-AF65-F5344CB8AC3E}">
        <p14:creationId xmlns:p14="http://schemas.microsoft.com/office/powerpoint/2010/main" val="1331310237"/>
      </p:ext>
    </p:extLst>
  </p:cSld>
</p:sld>
</file>

<file path=ppt/slides/slide34.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21" name="integration-89">
            <a:extLst xmlns:a="http://schemas.openxmlformats.org/drawingml/2006/main">
              <a:ext uri="{FF2B5EF4-FFF2-40B4-BE49-F238E27FC236}">
                <a16:creationId xmlns:a16="http://schemas.microsoft.com/office/drawing/2014/main" id="{8183E03E-27E5-4FDB-8C1E-5C47F50388D1}"/>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APPENDIX: SUPPORTING EVIDENCE</a:t>
            </a:r>
          </a:p>
        </p:txBody>
      </p:sp>
      <p:sp>
        <p:nvSpPr>
          <p:cNvPr id="2" name="integration-90">
            <a:extLst xmlns:a="http://schemas.openxmlformats.org/drawingml/2006/main">
              <a:ext uri="{FF2B5EF4-FFF2-40B4-BE49-F238E27FC236}">
                <a16:creationId xmlns:a16="http://schemas.microsoft.com/office/drawing/2014/main" id="{E5033A6B-9A70-4A6D-8B2A-8B019CF417C6}"/>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225" b="1">
                <a:solidFill>
                  <a:srgbClr val="F2F6FF"/>
                </a:solidFill>
                <a:latin typeface="Arial"/>
                <a:ea typeface="Arial"/>
                <a:cs typeface="Arial"/>
              </a:defRPr>
            </a:lvl1pPr>
            <a:lvl2pPr>
              <a:buNone/>
              <a:defRPr sz="3225" b="1">
                <a:solidFill>
                  <a:srgbClr val="F2F6FF"/>
                </a:solidFill>
                <a:latin typeface="Arial"/>
                <a:ea typeface="Arial"/>
                <a:cs typeface="Arial"/>
              </a:defRPr>
            </a:lvl2pPr>
            <a:lvl3pPr>
              <a:buNone/>
              <a:defRPr sz="3225" b="1">
                <a:solidFill>
                  <a:srgbClr val="F2F6FF"/>
                </a:solidFill>
                <a:latin typeface="Arial"/>
                <a:ea typeface="Arial"/>
                <a:cs typeface="Arial"/>
              </a:defRPr>
            </a:lvl3pPr>
            <a:lvl4pPr>
              <a:buNone/>
              <a:defRPr sz="3225" b="1">
                <a:solidFill>
                  <a:srgbClr val="F2F6FF"/>
                </a:solidFill>
                <a:latin typeface="Arial"/>
                <a:ea typeface="Arial"/>
                <a:cs typeface="Arial"/>
              </a:defRPr>
            </a:lvl4pPr>
            <a:lvl5pPr>
              <a:buNone/>
              <a:defRPr sz="3225" b="1">
                <a:solidFill>
                  <a:srgbClr val="F2F6FF"/>
                </a:solidFill>
                <a:latin typeface="Arial"/>
                <a:ea typeface="Arial"/>
                <a:cs typeface="Arial"/>
              </a:defRPr>
            </a:lvl5pPr>
            <a:lvl6pPr>
              <a:buNone/>
              <a:defRPr sz="3225" b="1">
                <a:solidFill>
                  <a:srgbClr val="F2F6FF"/>
                </a:solidFill>
                <a:latin typeface="Arial"/>
                <a:ea typeface="Arial"/>
                <a:cs typeface="Arial"/>
              </a:defRPr>
            </a:lvl6pPr>
            <a:lvl7pPr>
              <a:buNone/>
              <a:defRPr sz="3225" b="1">
                <a:solidFill>
                  <a:srgbClr val="F2F6FF"/>
                </a:solidFill>
                <a:latin typeface="Arial"/>
                <a:ea typeface="Arial"/>
                <a:cs typeface="Arial"/>
              </a:defRPr>
            </a:lvl7pPr>
            <a:lvl8pPr>
              <a:buNone/>
              <a:defRPr sz="3225" b="1">
                <a:solidFill>
                  <a:srgbClr val="F2F6FF"/>
                </a:solidFill>
                <a:latin typeface="Arial"/>
                <a:ea typeface="Arial"/>
                <a:cs typeface="Arial"/>
              </a:defRPr>
            </a:lvl8pPr>
            <a:lvl9pPr>
              <a:buNone/>
              <a:defRPr sz="3225" b="1">
                <a:solidFill>
                  <a:srgbClr val="F2F6FF"/>
                </a:solidFill>
                <a:latin typeface="Arial"/>
                <a:ea typeface="Arial"/>
                <a:cs typeface="Arial"/>
              </a:defRPr>
            </a:lvl9pPr>
          </a:lstStyle>
          <a:p xmlns:a="http://schemas.openxmlformats.org/drawingml/2006/main">
            <a:pPr>
              <a:buNone/>
              <a:defRPr sz="3225" b="1">
                <a:solidFill>
                  <a:srgbClr val="F2F6FF"/>
                </a:solidFill>
                <a:latin typeface="Arial"/>
                <a:ea typeface="Arial"/>
                <a:cs typeface="Arial"/>
              </a:defRPr>
            </a:pPr>
            <a:r>
              <a:rPr sz="3225" b="1">
                <a:solidFill>
                  <a:srgbClr val="F2F6FF"/>
                </a:solidFill>
                <a:latin typeface="Arial"/>
                <a:ea typeface="Arial"/>
                <a:cs typeface="Arial"/>
              </a:rPr>
              <a:t>Driver and truck status snapshot</a:t>
            </a:r>
          </a:p>
        </p:txBody>
      </p:sp>
      <p:sp>
        <p:nvSpPr>
          <p:cNvPr id="3" name="integration-91">
            <a:extLst xmlns:a="http://schemas.openxmlformats.org/drawingml/2006/main">
              <a:ext uri="{FF2B5EF4-FFF2-40B4-BE49-F238E27FC236}">
                <a16:creationId xmlns:a16="http://schemas.microsoft.com/office/drawing/2014/main" id="{1D51F395-0CBE-4106-B6E0-4E056EA73898}"/>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76.67% Active status differs from the 83.04% source trip-frequency index</a:t>
            </a:r>
          </a:p>
        </p:txBody>
      </p:sp>
      <p:sp>
        <p:nvSpPr>
          <p:cNvPr id="4" name="integration-92">
            <a:extLst xmlns:a="http://schemas.openxmlformats.org/drawingml/2006/main">
              <a:ext uri="{FF2B5EF4-FFF2-40B4-BE49-F238E27FC236}">
                <a16:creationId xmlns:a16="http://schemas.microsoft.com/office/drawing/2014/main" id="{00854F51-BC80-4B9A-A66D-CD89276DFB78}"/>
              </a:ext>
            </a:extLst>
          </p:cNvPr>
          <p:cNvSpPr>
            <a:spLocks xmlns:a="http://schemas.openxmlformats.org/drawingml/2006/main" noGrp="1"/>
          </p:cNvSpPr>
          <p:nvPr/>
        </p:nvSpPr>
        <p:spPr>
          <a:xfrm xmlns:a="http://schemas.openxmlformats.org/drawingml/2006/main">
            <a:off x="571500" y="2095500"/>
            <a:ext cx="195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975" b="1">
                <a:solidFill>
                  <a:srgbClr val="3DDCF5"/>
                </a:solidFill>
                <a:latin typeface="Arial"/>
                <a:ea typeface="Arial"/>
                <a:cs typeface="Arial"/>
              </a:defRPr>
            </a:lvl1pPr>
            <a:lvl2pPr>
              <a:buNone/>
              <a:defRPr sz="3975" b="1">
                <a:solidFill>
                  <a:srgbClr val="3DDCF5"/>
                </a:solidFill>
                <a:latin typeface="Arial"/>
                <a:ea typeface="Arial"/>
                <a:cs typeface="Arial"/>
              </a:defRPr>
            </a:lvl2pPr>
            <a:lvl3pPr>
              <a:buNone/>
              <a:defRPr sz="3975" b="1">
                <a:solidFill>
                  <a:srgbClr val="3DDCF5"/>
                </a:solidFill>
                <a:latin typeface="Arial"/>
                <a:ea typeface="Arial"/>
                <a:cs typeface="Arial"/>
              </a:defRPr>
            </a:lvl3pPr>
            <a:lvl4pPr>
              <a:buNone/>
              <a:defRPr sz="3975" b="1">
                <a:solidFill>
                  <a:srgbClr val="3DDCF5"/>
                </a:solidFill>
                <a:latin typeface="Arial"/>
                <a:ea typeface="Arial"/>
                <a:cs typeface="Arial"/>
              </a:defRPr>
            </a:lvl4pPr>
            <a:lvl5pPr>
              <a:buNone/>
              <a:defRPr sz="3975" b="1">
                <a:solidFill>
                  <a:srgbClr val="3DDCF5"/>
                </a:solidFill>
                <a:latin typeface="Arial"/>
                <a:ea typeface="Arial"/>
                <a:cs typeface="Arial"/>
              </a:defRPr>
            </a:lvl5pPr>
            <a:lvl6pPr>
              <a:buNone/>
              <a:defRPr sz="3975" b="1">
                <a:solidFill>
                  <a:srgbClr val="3DDCF5"/>
                </a:solidFill>
                <a:latin typeface="Arial"/>
                <a:ea typeface="Arial"/>
                <a:cs typeface="Arial"/>
              </a:defRPr>
            </a:lvl6pPr>
            <a:lvl7pPr>
              <a:buNone/>
              <a:defRPr sz="3975" b="1">
                <a:solidFill>
                  <a:srgbClr val="3DDCF5"/>
                </a:solidFill>
                <a:latin typeface="Arial"/>
                <a:ea typeface="Arial"/>
                <a:cs typeface="Arial"/>
              </a:defRPr>
            </a:lvl7pPr>
            <a:lvl8pPr>
              <a:buNone/>
              <a:defRPr sz="3975" b="1">
                <a:solidFill>
                  <a:srgbClr val="3DDCF5"/>
                </a:solidFill>
                <a:latin typeface="Arial"/>
                <a:ea typeface="Arial"/>
                <a:cs typeface="Arial"/>
              </a:defRPr>
            </a:lvl8pPr>
            <a:lvl9pPr>
              <a:buNone/>
              <a:defRPr sz="3975" b="1">
                <a:solidFill>
                  <a:srgbClr val="3DDCF5"/>
                </a:solidFill>
                <a:latin typeface="Arial"/>
                <a:ea typeface="Arial"/>
                <a:cs typeface="Arial"/>
              </a:defRPr>
            </a:lvl9pPr>
          </a:lstStyle>
          <a:p xmlns:a="http://schemas.openxmlformats.org/drawingml/2006/main">
            <a:pPr>
              <a:buNone/>
              <a:defRPr sz="3975" b="1">
                <a:solidFill>
                  <a:srgbClr val="3DDCF5"/>
                </a:solidFill>
                <a:latin typeface="Arial"/>
                <a:ea typeface="Arial"/>
                <a:cs typeface="Arial"/>
              </a:defRPr>
            </a:pPr>
            <a:r>
              <a:rPr sz="3975" b="1">
                <a:solidFill>
                  <a:srgbClr val="3DDCF5"/>
                </a:solidFill>
                <a:latin typeface="Arial"/>
                <a:ea typeface="Arial"/>
                <a:cs typeface="Arial"/>
              </a:rPr>
              <a:t>150</a:t>
            </a:r>
          </a:p>
        </p:txBody>
      </p:sp>
      <p:sp>
        <p:nvSpPr>
          <p:cNvPr id="5" name="integration-93">
            <a:extLst xmlns:a="http://schemas.openxmlformats.org/drawingml/2006/main">
              <a:ext uri="{FF2B5EF4-FFF2-40B4-BE49-F238E27FC236}">
                <a16:creationId xmlns:a16="http://schemas.microsoft.com/office/drawing/2014/main" id="{C422DAC0-C683-4D0E-ABC5-647857720E0C}"/>
              </a:ext>
            </a:extLst>
          </p:cNvPr>
          <p:cNvSpPr>
            <a:spLocks xmlns:a="http://schemas.openxmlformats.org/drawingml/2006/main" noGrp="1"/>
          </p:cNvSpPr>
          <p:nvPr/>
        </p:nvSpPr>
        <p:spPr>
          <a:xfrm xmlns:a="http://schemas.openxmlformats.org/drawingml/2006/main">
            <a:off x="2714625" y="22288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F2F6FF"/>
                </a:solidFill>
                <a:latin typeface="Arial"/>
                <a:ea typeface="Arial"/>
                <a:cs typeface="Arial"/>
              </a:defRPr>
            </a:lvl1pPr>
            <a:lvl2pPr>
              <a:buNone/>
              <a:defRPr sz="1950" b="0">
                <a:solidFill>
                  <a:srgbClr val="F2F6FF"/>
                </a:solidFill>
                <a:latin typeface="Arial"/>
                <a:ea typeface="Arial"/>
                <a:cs typeface="Arial"/>
              </a:defRPr>
            </a:lvl2pPr>
            <a:lvl3pPr>
              <a:buNone/>
              <a:defRPr sz="1950" b="0">
                <a:solidFill>
                  <a:srgbClr val="F2F6FF"/>
                </a:solidFill>
                <a:latin typeface="Arial"/>
                <a:ea typeface="Arial"/>
                <a:cs typeface="Arial"/>
              </a:defRPr>
            </a:lvl3pPr>
            <a:lvl4pPr>
              <a:buNone/>
              <a:defRPr sz="1950" b="0">
                <a:solidFill>
                  <a:srgbClr val="F2F6FF"/>
                </a:solidFill>
                <a:latin typeface="Arial"/>
                <a:ea typeface="Arial"/>
                <a:cs typeface="Arial"/>
              </a:defRPr>
            </a:lvl4pPr>
            <a:lvl5pPr>
              <a:buNone/>
              <a:defRPr sz="1950" b="0">
                <a:solidFill>
                  <a:srgbClr val="F2F6FF"/>
                </a:solidFill>
                <a:latin typeface="Arial"/>
                <a:ea typeface="Arial"/>
                <a:cs typeface="Arial"/>
              </a:defRPr>
            </a:lvl5pPr>
            <a:lvl6pPr>
              <a:buNone/>
              <a:defRPr sz="1950" b="0">
                <a:solidFill>
                  <a:srgbClr val="F2F6FF"/>
                </a:solidFill>
                <a:latin typeface="Arial"/>
                <a:ea typeface="Arial"/>
                <a:cs typeface="Arial"/>
              </a:defRPr>
            </a:lvl6pPr>
            <a:lvl7pPr>
              <a:buNone/>
              <a:defRPr sz="1950" b="0">
                <a:solidFill>
                  <a:srgbClr val="F2F6FF"/>
                </a:solidFill>
                <a:latin typeface="Arial"/>
                <a:ea typeface="Arial"/>
                <a:cs typeface="Arial"/>
              </a:defRPr>
            </a:lvl7pPr>
            <a:lvl8pPr>
              <a:buNone/>
              <a:defRPr sz="1950" b="0">
                <a:solidFill>
                  <a:srgbClr val="F2F6FF"/>
                </a:solidFill>
                <a:latin typeface="Arial"/>
                <a:ea typeface="Arial"/>
                <a:cs typeface="Arial"/>
              </a:defRPr>
            </a:lvl8pPr>
            <a:lvl9pPr>
              <a:buNone/>
              <a:defRPr sz="1950" b="0">
                <a:solidFill>
                  <a:srgbClr val="F2F6FF"/>
                </a:solidFill>
                <a:latin typeface="Arial"/>
                <a:ea typeface="Arial"/>
                <a:cs typeface="Arial"/>
              </a:defRPr>
            </a:lvl9pPr>
          </a:lstStyle>
          <a:p xmlns:a="http://schemas.openxmlformats.org/drawingml/2006/main">
            <a:pPr>
              <a:buNone/>
              <a:defRPr sz="1950" b="0">
                <a:solidFill>
                  <a:srgbClr val="F2F6FF"/>
                </a:solidFill>
                <a:latin typeface="Arial"/>
                <a:ea typeface="Arial"/>
                <a:cs typeface="Arial"/>
              </a:defRPr>
            </a:pPr>
            <a:r>
              <a:rPr sz="1950" b="0">
                <a:solidFill>
                  <a:srgbClr val="F2F6FF"/>
                </a:solidFill>
                <a:latin typeface="Arial"/>
                <a:ea typeface="Arial"/>
                <a:cs typeface="Arial"/>
              </a:rPr>
              <a:t>Drivers on file</a:t>
            </a:r>
          </a:p>
        </p:txBody>
      </p:sp>
      <p:sp>
        <p:nvSpPr>
          <p:cNvPr id="6" name="integration-94">
            <a:extLst xmlns:a="http://schemas.openxmlformats.org/drawingml/2006/main">
              <a:ext uri="{FF2B5EF4-FFF2-40B4-BE49-F238E27FC236}">
                <a16:creationId xmlns:a16="http://schemas.microsoft.com/office/drawing/2014/main" id="{E9AF76E3-B765-440E-9EAC-63EB27AA14F7}"/>
              </a:ext>
            </a:extLst>
          </p:cNvPr>
          <p:cNvSpPr>
            <a:spLocks xmlns:a="http://schemas.openxmlformats.org/drawingml/2006/main" noGrp="1"/>
          </p:cNvSpPr>
          <p:nvPr/>
        </p:nvSpPr>
        <p:spPr>
          <a:xfrm xmlns:a="http://schemas.openxmlformats.org/drawingml/2006/main">
            <a:off x="571500" y="3009900"/>
            <a:ext cx="195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975" b="1">
                <a:solidFill>
                  <a:srgbClr val="3DDCF5"/>
                </a:solidFill>
                <a:latin typeface="Arial"/>
                <a:ea typeface="Arial"/>
                <a:cs typeface="Arial"/>
              </a:defRPr>
            </a:lvl1pPr>
            <a:lvl2pPr>
              <a:buNone/>
              <a:defRPr sz="3975" b="1">
                <a:solidFill>
                  <a:srgbClr val="3DDCF5"/>
                </a:solidFill>
                <a:latin typeface="Arial"/>
                <a:ea typeface="Arial"/>
                <a:cs typeface="Arial"/>
              </a:defRPr>
            </a:lvl2pPr>
            <a:lvl3pPr>
              <a:buNone/>
              <a:defRPr sz="3975" b="1">
                <a:solidFill>
                  <a:srgbClr val="3DDCF5"/>
                </a:solidFill>
                <a:latin typeface="Arial"/>
                <a:ea typeface="Arial"/>
                <a:cs typeface="Arial"/>
              </a:defRPr>
            </a:lvl3pPr>
            <a:lvl4pPr>
              <a:buNone/>
              <a:defRPr sz="3975" b="1">
                <a:solidFill>
                  <a:srgbClr val="3DDCF5"/>
                </a:solidFill>
                <a:latin typeface="Arial"/>
                <a:ea typeface="Arial"/>
                <a:cs typeface="Arial"/>
              </a:defRPr>
            </a:lvl4pPr>
            <a:lvl5pPr>
              <a:buNone/>
              <a:defRPr sz="3975" b="1">
                <a:solidFill>
                  <a:srgbClr val="3DDCF5"/>
                </a:solidFill>
                <a:latin typeface="Arial"/>
                <a:ea typeface="Arial"/>
                <a:cs typeface="Arial"/>
              </a:defRPr>
            </a:lvl5pPr>
            <a:lvl6pPr>
              <a:buNone/>
              <a:defRPr sz="3975" b="1">
                <a:solidFill>
                  <a:srgbClr val="3DDCF5"/>
                </a:solidFill>
                <a:latin typeface="Arial"/>
                <a:ea typeface="Arial"/>
                <a:cs typeface="Arial"/>
              </a:defRPr>
            </a:lvl6pPr>
            <a:lvl7pPr>
              <a:buNone/>
              <a:defRPr sz="3975" b="1">
                <a:solidFill>
                  <a:srgbClr val="3DDCF5"/>
                </a:solidFill>
                <a:latin typeface="Arial"/>
                <a:ea typeface="Arial"/>
                <a:cs typeface="Arial"/>
              </a:defRPr>
            </a:lvl7pPr>
            <a:lvl8pPr>
              <a:buNone/>
              <a:defRPr sz="3975" b="1">
                <a:solidFill>
                  <a:srgbClr val="3DDCF5"/>
                </a:solidFill>
                <a:latin typeface="Arial"/>
                <a:ea typeface="Arial"/>
                <a:cs typeface="Arial"/>
              </a:defRPr>
            </a:lvl8pPr>
            <a:lvl9pPr>
              <a:buNone/>
              <a:defRPr sz="3975" b="1">
                <a:solidFill>
                  <a:srgbClr val="3DDCF5"/>
                </a:solidFill>
                <a:latin typeface="Arial"/>
                <a:ea typeface="Arial"/>
                <a:cs typeface="Arial"/>
              </a:defRPr>
            </a:lvl9pPr>
          </a:lstStyle>
          <a:p xmlns:a="http://schemas.openxmlformats.org/drawingml/2006/main">
            <a:pPr>
              <a:buNone/>
              <a:defRPr sz="3975" b="1">
                <a:solidFill>
                  <a:srgbClr val="3DDCF5"/>
                </a:solidFill>
                <a:latin typeface="Arial"/>
                <a:ea typeface="Arial"/>
                <a:cs typeface="Arial"/>
              </a:defRPr>
            </a:pPr>
            <a:r>
              <a:rPr sz="3975" b="1">
                <a:solidFill>
                  <a:srgbClr val="3DDCF5"/>
                </a:solidFill>
                <a:latin typeface="Arial"/>
                <a:ea typeface="Arial"/>
                <a:cs typeface="Arial"/>
              </a:rPr>
              <a:t>124</a:t>
            </a:r>
          </a:p>
        </p:txBody>
      </p:sp>
      <p:sp>
        <p:nvSpPr>
          <p:cNvPr id="7" name="integration-95">
            <a:extLst xmlns:a="http://schemas.openxmlformats.org/drawingml/2006/main">
              <a:ext uri="{FF2B5EF4-FFF2-40B4-BE49-F238E27FC236}">
                <a16:creationId xmlns:a16="http://schemas.microsoft.com/office/drawing/2014/main" id="{ACB625A3-E6CE-4367-B318-0C4A389D414F}"/>
              </a:ext>
            </a:extLst>
          </p:cNvPr>
          <p:cNvSpPr>
            <a:spLocks xmlns:a="http://schemas.openxmlformats.org/drawingml/2006/main" noGrp="1"/>
          </p:cNvSpPr>
          <p:nvPr/>
        </p:nvSpPr>
        <p:spPr>
          <a:xfrm xmlns:a="http://schemas.openxmlformats.org/drawingml/2006/main">
            <a:off x="2714625" y="31432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F2F6FF"/>
                </a:solidFill>
                <a:latin typeface="Arial"/>
                <a:ea typeface="Arial"/>
                <a:cs typeface="Arial"/>
              </a:defRPr>
            </a:lvl1pPr>
            <a:lvl2pPr>
              <a:buNone/>
              <a:defRPr sz="1950" b="0">
                <a:solidFill>
                  <a:srgbClr val="F2F6FF"/>
                </a:solidFill>
                <a:latin typeface="Arial"/>
                <a:ea typeface="Arial"/>
                <a:cs typeface="Arial"/>
              </a:defRPr>
            </a:lvl2pPr>
            <a:lvl3pPr>
              <a:buNone/>
              <a:defRPr sz="1950" b="0">
                <a:solidFill>
                  <a:srgbClr val="F2F6FF"/>
                </a:solidFill>
                <a:latin typeface="Arial"/>
                <a:ea typeface="Arial"/>
                <a:cs typeface="Arial"/>
              </a:defRPr>
            </a:lvl3pPr>
            <a:lvl4pPr>
              <a:buNone/>
              <a:defRPr sz="1950" b="0">
                <a:solidFill>
                  <a:srgbClr val="F2F6FF"/>
                </a:solidFill>
                <a:latin typeface="Arial"/>
                <a:ea typeface="Arial"/>
                <a:cs typeface="Arial"/>
              </a:defRPr>
            </a:lvl4pPr>
            <a:lvl5pPr>
              <a:buNone/>
              <a:defRPr sz="1950" b="0">
                <a:solidFill>
                  <a:srgbClr val="F2F6FF"/>
                </a:solidFill>
                <a:latin typeface="Arial"/>
                <a:ea typeface="Arial"/>
                <a:cs typeface="Arial"/>
              </a:defRPr>
            </a:lvl5pPr>
            <a:lvl6pPr>
              <a:buNone/>
              <a:defRPr sz="1950" b="0">
                <a:solidFill>
                  <a:srgbClr val="F2F6FF"/>
                </a:solidFill>
                <a:latin typeface="Arial"/>
                <a:ea typeface="Arial"/>
                <a:cs typeface="Arial"/>
              </a:defRPr>
            </a:lvl6pPr>
            <a:lvl7pPr>
              <a:buNone/>
              <a:defRPr sz="1950" b="0">
                <a:solidFill>
                  <a:srgbClr val="F2F6FF"/>
                </a:solidFill>
                <a:latin typeface="Arial"/>
                <a:ea typeface="Arial"/>
                <a:cs typeface="Arial"/>
              </a:defRPr>
            </a:lvl7pPr>
            <a:lvl8pPr>
              <a:buNone/>
              <a:defRPr sz="1950" b="0">
                <a:solidFill>
                  <a:srgbClr val="F2F6FF"/>
                </a:solidFill>
                <a:latin typeface="Arial"/>
                <a:ea typeface="Arial"/>
                <a:cs typeface="Arial"/>
              </a:defRPr>
            </a:lvl8pPr>
            <a:lvl9pPr>
              <a:buNone/>
              <a:defRPr sz="1950" b="0">
                <a:solidFill>
                  <a:srgbClr val="F2F6FF"/>
                </a:solidFill>
                <a:latin typeface="Arial"/>
                <a:ea typeface="Arial"/>
                <a:cs typeface="Arial"/>
              </a:defRPr>
            </a:lvl9pPr>
          </a:lstStyle>
          <a:p xmlns:a="http://schemas.openxmlformats.org/drawingml/2006/main">
            <a:pPr>
              <a:buNone/>
              <a:defRPr sz="1950" b="0">
                <a:solidFill>
                  <a:srgbClr val="F2F6FF"/>
                </a:solidFill>
                <a:latin typeface="Arial"/>
                <a:ea typeface="Arial"/>
                <a:cs typeface="Arial"/>
              </a:defRPr>
            </a:pPr>
            <a:r>
              <a:rPr sz="1950" b="0">
                <a:solidFill>
                  <a:srgbClr val="F2F6FF"/>
                </a:solidFill>
                <a:latin typeface="Arial"/>
                <a:ea typeface="Arial"/>
                <a:cs typeface="Arial"/>
              </a:rPr>
              <a:t>Active drivers</a:t>
            </a:r>
          </a:p>
        </p:txBody>
      </p:sp>
      <p:sp>
        <p:nvSpPr>
          <p:cNvPr id="8" name="integration-96">
            <a:extLst xmlns:a="http://schemas.openxmlformats.org/drawingml/2006/main">
              <a:ext uri="{FF2B5EF4-FFF2-40B4-BE49-F238E27FC236}">
                <a16:creationId xmlns:a16="http://schemas.microsoft.com/office/drawing/2014/main" id="{18D99EBB-3BDD-44EB-A0AD-0D09746962F6}"/>
              </a:ext>
            </a:extLst>
          </p:cNvPr>
          <p:cNvSpPr>
            <a:spLocks xmlns:a="http://schemas.openxmlformats.org/drawingml/2006/main" noGrp="1"/>
          </p:cNvSpPr>
          <p:nvPr/>
        </p:nvSpPr>
        <p:spPr>
          <a:xfrm xmlns:a="http://schemas.openxmlformats.org/drawingml/2006/main">
            <a:off x="571500" y="3924300"/>
            <a:ext cx="195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975" b="1">
                <a:solidFill>
                  <a:srgbClr val="3DDCF5"/>
                </a:solidFill>
                <a:latin typeface="Arial"/>
                <a:ea typeface="Arial"/>
                <a:cs typeface="Arial"/>
              </a:defRPr>
            </a:lvl1pPr>
            <a:lvl2pPr>
              <a:buNone/>
              <a:defRPr sz="3975" b="1">
                <a:solidFill>
                  <a:srgbClr val="3DDCF5"/>
                </a:solidFill>
                <a:latin typeface="Arial"/>
                <a:ea typeface="Arial"/>
                <a:cs typeface="Arial"/>
              </a:defRPr>
            </a:lvl2pPr>
            <a:lvl3pPr>
              <a:buNone/>
              <a:defRPr sz="3975" b="1">
                <a:solidFill>
                  <a:srgbClr val="3DDCF5"/>
                </a:solidFill>
                <a:latin typeface="Arial"/>
                <a:ea typeface="Arial"/>
                <a:cs typeface="Arial"/>
              </a:defRPr>
            </a:lvl3pPr>
            <a:lvl4pPr>
              <a:buNone/>
              <a:defRPr sz="3975" b="1">
                <a:solidFill>
                  <a:srgbClr val="3DDCF5"/>
                </a:solidFill>
                <a:latin typeface="Arial"/>
                <a:ea typeface="Arial"/>
                <a:cs typeface="Arial"/>
              </a:defRPr>
            </a:lvl4pPr>
            <a:lvl5pPr>
              <a:buNone/>
              <a:defRPr sz="3975" b="1">
                <a:solidFill>
                  <a:srgbClr val="3DDCF5"/>
                </a:solidFill>
                <a:latin typeface="Arial"/>
                <a:ea typeface="Arial"/>
                <a:cs typeface="Arial"/>
              </a:defRPr>
            </a:lvl5pPr>
            <a:lvl6pPr>
              <a:buNone/>
              <a:defRPr sz="3975" b="1">
                <a:solidFill>
                  <a:srgbClr val="3DDCF5"/>
                </a:solidFill>
                <a:latin typeface="Arial"/>
                <a:ea typeface="Arial"/>
                <a:cs typeface="Arial"/>
              </a:defRPr>
            </a:lvl6pPr>
            <a:lvl7pPr>
              <a:buNone/>
              <a:defRPr sz="3975" b="1">
                <a:solidFill>
                  <a:srgbClr val="3DDCF5"/>
                </a:solidFill>
                <a:latin typeface="Arial"/>
                <a:ea typeface="Arial"/>
                <a:cs typeface="Arial"/>
              </a:defRPr>
            </a:lvl7pPr>
            <a:lvl8pPr>
              <a:buNone/>
              <a:defRPr sz="3975" b="1">
                <a:solidFill>
                  <a:srgbClr val="3DDCF5"/>
                </a:solidFill>
                <a:latin typeface="Arial"/>
                <a:ea typeface="Arial"/>
                <a:cs typeface="Arial"/>
              </a:defRPr>
            </a:lvl8pPr>
            <a:lvl9pPr>
              <a:buNone/>
              <a:defRPr sz="3975" b="1">
                <a:solidFill>
                  <a:srgbClr val="3DDCF5"/>
                </a:solidFill>
                <a:latin typeface="Arial"/>
                <a:ea typeface="Arial"/>
                <a:cs typeface="Arial"/>
              </a:defRPr>
            </a:lvl9pPr>
          </a:lstStyle>
          <a:p xmlns:a="http://schemas.openxmlformats.org/drawingml/2006/main">
            <a:pPr>
              <a:buNone/>
              <a:defRPr sz="3975" b="1">
                <a:solidFill>
                  <a:srgbClr val="3DDCF5"/>
                </a:solidFill>
                <a:latin typeface="Arial"/>
                <a:ea typeface="Arial"/>
                <a:cs typeface="Arial"/>
              </a:defRPr>
            </a:pPr>
            <a:r>
              <a:rPr sz="3975" b="1">
                <a:solidFill>
                  <a:srgbClr val="3DDCF5"/>
                </a:solidFill>
                <a:latin typeface="Arial"/>
                <a:ea typeface="Arial"/>
                <a:cs typeface="Arial"/>
              </a:rPr>
              <a:t>26</a:t>
            </a:r>
          </a:p>
        </p:txBody>
      </p:sp>
      <p:sp>
        <p:nvSpPr>
          <p:cNvPr id="9" name="integration-97">
            <a:extLst xmlns:a="http://schemas.openxmlformats.org/drawingml/2006/main">
              <a:ext uri="{FF2B5EF4-FFF2-40B4-BE49-F238E27FC236}">
                <a16:creationId xmlns:a16="http://schemas.microsoft.com/office/drawing/2014/main" id="{450E6CBA-BBF1-45A2-8019-C8FF89214B3D}"/>
              </a:ext>
            </a:extLst>
          </p:cNvPr>
          <p:cNvSpPr>
            <a:spLocks xmlns:a="http://schemas.openxmlformats.org/drawingml/2006/main" noGrp="1"/>
          </p:cNvSpPr>
          <p:nvPr/>
        </p:nvSpPr>
        <p:spPr>
          <a:xfrm xmlns:a="http://schemas.openxmlformats.org/drawingml/2006/main">
            <a:off x="2714625" y="40576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F2F6FF"/>
                </a:solidFill>
                <a:latin typeface="Arial"/>
                <a:ea typeface="Arial"/>
                <a:cs typeface="Arial"/>
              </a:defRPr>
            </a:lvl1pPr>
            <a:lvl2pPr>
              <a:buNone/>
              <a:defRPr sz="1950" b="0">
                <a:solidFill>
                  <a:srgbClr val="F2F6FF"/>
                </a:solidFill>
                <a:latin typeface="Arial"/>
                <a:ea typeface="Arial"/>
                <a:cs typeface="Arial"/>
              </a:defRPr>
            </a:lvl2pPr>
            <a:lvl3pPr>
              <a:buNone/>
              <a:defRPr sz="1950" b="0">
                <a:solidFill>
                  <a:srgbClr val="F2F6FF"/>
                </a:solidFill>
                <a:latin typeface="Arial"/>
                <a:ea typeface="Arial"/>
                <a:cs typeface="Arial"/>
              </a:defRPr>
            </a:lvl3pPr>
            <a:lvl4pPr>
              <a:buNone/>
              <a:defRPr sz="1950" b="0">
                <a:solidFill>
                  <a:srgbClr val="F2F6FF"/>
                </a:solidFill>
                <a:latin typeface="Arial"/>
                <a:ea typeface="Arial"/>
                <a:cs typeface="Arial"/>
              </a:defRPr>
            </a:lvl4pPr>
            <a:lvl5pPr>
              <a:buNone/>
              <a:defRPr sz="1950" b="0">
                <a:solidFill>
                  <a:srgbClr val="F2F6FF"/>
                </a:solidFill>
                <a:latin typeface="Arial"/>
                <a:ea typeface="Arial"/>
                <a:cs typeface="Arial"/>
              </a:defRPr>
            </a:lvl5pPr>
            <a:lvl6pPr>
              <a:buNone/>
              <a:defRPr sz="1950" b="0">
                <a:solidFill>
                  <a:srgbClr val="F2F6FF"/>
                </a:solidFill>
                <a:latin typeface="Arial"/>
                <a:ea typeface="Arial"/>
                <a:cs typeface="Arial"/>
              </a:defRPr>
            </a:lvl6pPr>
            <a:lvl7pPr>
              <a:buNone/>
              <a:defRPr sz="1950" b="0">
                <a:solidFill>
                  <a:srgbClr val="F2F6FF"/>
                </a:solidFill>
                <a:latin typeface="Arial"/>
                <a:ea typeface="Arial"/>
                <a:cs typeface="Arial"/>
              </a:defRPr>
            </a:lvl7pPr>
            <a:lvl8pPr>
              <a:buNone/>
              <a:defRPr sz="1950" b="0">
                <a:solidFill>
                  <a:srgbClr val="F2F6FF"/>
                </a:solidFill>
                <a:latin typeface="Arial"/>
                <a:ea typeface="Arial"/>
                <a:cs typeface="Arial"/>
              </a:defRPr>
            </a:lvl8pPr>
            <a:lvl9pPr>
              <a:buNone/>
              <a:defRPr sz="1950" b="0">
                <a:solidFill>
                  <a:srgbClr val="F2F6FF"/>
                </a:solidFill>
                <a:latin typeface="Arial"/>
                <a:ea typeface="Arial"/>
                <a:cs typeface="Arial"/>
              </a:defRPr>
            </a:lvl9pPr>
          </a:lstStyle>
          <a:p xmlns:a="http://schemas.openxmlformats.org/drawingml/2006/main">
            <a:pPr>
              <a:buNone/>
              <a:defRPr sz="1950" b="0">
                <a:solidFill>
                  <a:srgbClr val="F2F6FF"/>
                </a:solidFill>
                <a:latin typeface="Arial"/>
                <a:ea typeface="Arial"/>
                <a:cs typeface="Arial"/>
              </a:defRPr>
            </a:pPr>
            <a:r>
              <a:rPr sz="1950" b="0">
                <a:solidFill>
                  <a:srgbClr val="F2F6FF"/>
                </a:solidFill>
                <a:latin typeface="Arial"/>
                <a:ea typeface="Arial"/>
                <a:cs typeface="Arial"/>
              </a:rPr>
              <a:t>Terminated drivers, 17.33%</a:t>
            </a:r>
          </a:p>
        </p:txBody>
      </p:sp>
      <p:sp>
        <p:nvSpPr>
          <p:cNvPr id="10" name="integration-98">
            <a:extLst xmlns:a="http://schemas.openxmlformats.org/drawingml/2006/main">
              <a:ext uri="{FF2B5EF4-FFF2-40B4-BE49-F238E27FC236}">
                <a16:creationId xmlns:a16="http://schemas.microsoft.com/office/drawing/2014/main" id="{34DFF872-49AD-4A3D-ABBD-DD3FFF25E903}"/>
              </a:ext>
            </a:extLst>
          </p:cNvPr>
          <p:cNvSpPr>
            <a:spLocks xmlns:a="http://schemas.openxmlformats.org/drawingml/2006/main" noGrp="1"/>
          </p:cNvSpPr>
          <p:nvPr/>
        </p:nvSpPr>
        <p:spPr>
          <a:xfrm xmlns:a="http://schemas.openxmlformats.org/drawingml/2006/main">
            <a:off x="571500" y="4838700"/>
            <a:ext cx="195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975" b="1">
                <a:solidFill>
                  <a:srgbClr val="3DDCF5"/>
                </a:solidFill>
                <a:latin typeface="Arial"/>
                <a:ea typeface="Arial"/>
                <a:cs typeface="Arial"/>
              </a:defRPr>
            </a:lvl1pPr>
            <a:lvl2pPr>
              <a:buNone/>
              <a:defRPr sz="3975" b="1">
                <a:solidFill>
                  <a:srgbClr val="3DDCF5"/>
                </a:solidFill>
                <a:latin typeface="Arial"/>
                <a:ea typeface="Arial"/>
                <a:cs typeface="Arial"/>
              </a:defRPr>
            </a:lvl2pPr>
            <a:lvl3pPr>
              <a:buNone/>
              <a:defRPr sz="3975" b="1">
                <a:solidFill>
                  <a:srgbClr val="3DDCF5"/>
                </a:solidFill>
                <a:latin typeface="Arial"/>
                <a:ea typeface="Arial"/>
                <a:cs typeface="Arial"/>
              </a:defRPr>
            </a:lvl3pPr>
            <a:lvl4pPr>
              <a:buNone/>
              <a:defRPr sz="3975" b="1">
                <a:solidFill>
                  <a:srgbClr val="3DDCF5"/>
                </a:solidFill>
                <a:latin typeface="Arial"/>
                <a:ea typeface="Arial"/>
                <a:cs typeface="Arial"/>
              </a:defRPr>
            </a:lvl4pPr>
            <a:lvl5pPr>
              <a:buNone/>
              <a:defRPr sz="3975" b="1">
                <a:solidFill>
                  <a:srgbClr val="3DDCF5"/>
                </a:solidFill>
                <a:latin typeface="Arial"/>
                <a:ea typeface="Arial"/>
                <a:cs typeface="Arial"/>
              </a:defRPr>
            </a:lvl5pPr>
            <a:lvl6pPr>
              <a:buNone/>
              <a:defRPr sz="3975" b="1">
                <a:solidFill>
                  <a:srgbClr val="3DDCF5"/>
                </a:solidFill>
                <a:latin typeface="Arial"/>
                <a:ea typeface="Arial"/>
                <a:cs typeface="Arial"/>
              </a:defRPr>
            </a:lvl6pPr>
            <a:lvl7pPr>
              <a:buNone/>
              <a:defRPr sz="3975" b="1">
                <a:solidFill>
                  <a:srgbClr val="3DDCF5"/>
                </a:solidFill>
                <a:latin typeface="Arial"/>
                <a:ea typeface="Arial"/>
                <a:cs typeface="Arial"/>
              </a:defRPr>
            </a:lvl7pPr>
            <a:lvl8pPr>
              <a:buNone/>
              <a:defRPr sz="3975" b="1">
                <a:solidFill>
                  <a:srgbClr val="3DDCF5"/>
                </a:solidFill>
                <a:latin typeface="Arial"/>
                <a:ea typeface="Arial"/>
                <a:cs typeface="Arial"/>
              </a:defRPr>
            </a:lvl8pPr>
            <a:lvl9pPr>
              <a:buNone/>
              <a:defRPr sz="3975" b="1">
                <a:solidFill>
                  <a:srgbClr val="3DDCF5"/>
                </a:solidFill>
                <a:latin typeface="Arial"/>
                <a:ea typeface="Arial"/>
                <a:cs typeface="Arial"/>
              </a:defRPr>
            </a:lvl9pPr>
          </a:lstStyle>
          <a:p xmlns:a="http://schemas.openxmlformats.org/drawingml/2006/main">
            <a:pPr>
              <a:buNone/>
              <a:defRPr sz="3975" b="1">
                <a:solidFill>
                  <a:srgbClr val="3DDCF5"/>
                </a:solidFill>
                <a:latin typeface="Arial"/>
                <a:ea typeface="Arial"/>
                <a:cs typeface="Arial"/>
              </a:defRPr>
            </a:pPr>
            <a:r>
              <a:rPr sz="3975" b="1">
                <a:solidFill>
                  <a:srgbClr val="3DDCF5"/>
                </a:solidFill>
                <a:latin typeface="Arial"/>
                <a:ea typeface="Arial"/>
                <a:cs typeface="Arial"/>
              </a:rPr>
              <a:t>7.01 h</a:t>
            </a:r>
          </a:p>
        </p:txBody>
      </p:sp>
      <p:sp>
        <p:nvSpPr>
          <p:cNvPr id="11" name="integration-99">
            <a:extLst xmlns:a="http://schemas.openxmlformats.org/drawingml/2006/main">
              <a:ext uri="{FF2B5EF4-FFF2-40B4-BE49-F238E27FC236}">
                <a16:creationId xmlns:a16="http://schemas.microsoft.com/office/drawing/2014/main" id="{853F40C0-6BDA-4D9E-93A2-08A1FF533984}"/>
              </a:ext>
            </a:extLst>
          </p:cNvPr>
          <p:cNvSpPr>
            <a:spLocks xmlns:a="http://schemas.openxmlformats.org/drawingml/2006/main" noGrp="1"/>
          </p:cNvSpPr>
          <p:nvPr/>
        </p:nvSpPr>
        <p:spPr>
          <a:xfrm xmlns:a="http://schemas.openxmlformats.org/drawingml/2006/main">
            <a:off x="2714625" y="49720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F2F6FF"/>
                </a:solidFill>
                <a:latin typeface="Arial"/>
                <a:ea typeface="Arial"/>
                <a:cs typeface="Arial"/>
              </a:defRPr>
            </a:lvl1pPr>
            <a:lvl2pPr>
              <a:buNone/>
              <a:defRPr sz="1950" b="0">
                <a:solidFill>
                  <a:srgbClr val="F2F6FF"/>
                </a:solidFill>
                <a:latin typeface="Arial"/>
                <a:ea typeface="Arial"/>
                <a:cs typeface="Arial"/>
              </a:defRPr>
            </a:lvl2pPr>
            <a:lvl3pPr>
              <a:buNone/>
              <a:defRPr sz="1950" b="0">
                <a:solidFill>
                  <a:srgbClr val="F2F6FF"/>
                </a:solidFill>
                <a:latin typeface="Arial"/>
                <a:ea typeface="Arial"/>
                <a:cs typeface="Arial"/>
              </a:defRPr>
            </a:lvl3pPr>
            <a:lvl4pPr>
              <a:buNone/>
              <a:defRPr sz="1950" b="0">
                <a:solidFill>
                  <a:srgbClr val="F2F6FF"/>
                </a:solidFill>
                <a:latin typeface="Arial"/>
                <a:ea typeface="Arial"/>
                <a:cs typeface="Arial"/>
              </a:defRPr>
            </a:lvl4pPr>
            <a:lvl5pPr>
              <a:buNone/>
              <a:defRPr sz="1950" b="0">
                <a:solidFill>
                  <a:srgbClr val="F2F6FF"/>
                </a:solidFill>
                <a:latin typeface="Arial"/>
                <a:ea typeface="Arial"/>
                <a:cs typeface="Arial"/>
              </a:defRPr>
            </a:lvl5pPr>
            <a:lvl6pPr>
              <a:buNone/>
              <a:defRPr sz="1950" b="0">
                <a:solidFill>
                  <a:srgbClr val="F2F6FF"/>
                </a:solidFill>
                <a:latin typeface="Arial"/>
                <a:ea typeface="Arial"/>
                <a:cs typeface="Arial"/>
              </a:defRPr>
            </a:lvl6pPr>
            <a:lvl7pPr>
              <a:buNone/>
              <a:defRPr sz="1950" b="0">
                <a:solidFill>
                  <a:srgbClr val="F2F6FF"/>
                </a:solidFill>
                <a:latin typeface="Arial"/>
                <a:ea typeface="Arial"/>
                <a:cs typeface="Arial"/>
              </a:defRPr>
            </a:lvl7pPr>
            <a:lvl8pPr>
              <a:buNone/>
              <a:defRPr sz="1950" b="0">
                <a:solidFill>
                  <a:srgbClr val="F2F6FF"/>
                </a:solidFill>
                <a:latin typeface="Arial"/>
                <a:ea typeface="Arial"/>
                <a:cs typeface="Arial"/>
              </a:defRPr>
            </a:lvl8pPr>
            <a:lvl9pPr>
              <a:buNone/>
              <a:defRPr sz="1950" b="0">
                <a:solidFill>
                  <a:srgbClr val="F2F6FF"/>
                </a:solidFill>
                <a:latin typeface="Arial"/>
                <a:ea typeface="Arial"/>
                <a:cs typeface="Arial"/>
              </a:defRPr>
            </a:lvl9pPr>
          </a:lstStyle>
          <a:p xmlns:a="http://schemas.openxmlformats.org/drawingml/2006/main">
            <a:pPr>
              <a:buNone/>
              <a:defRPr sz="1950" b="0">
                <a:solidFill>
                  <a:srgbClr val="F2F6FF"/>
                </a:solidFill>
                <a:latin typeface="Arial"/>
                <a:ea typeface="Arial"/>
                <a:cs typeface="Arial"/>
              </a:defRPr>
            </a:pPr>
            <a:r>
              <a:rPr sz="1950" b="0">
                <a:solidFill>
                  <a:srgbClr val="F2F6FF"/>
                </a:solidFill>
                <a:latin typeface="Arial"/>
                <a:ea typeface="Arial"/>
                <a:cs typeface="Arial"/>
              </a:rPr>
              <a:t>Mean driver idle-hours metric</a:t>
            </a:r>
          </a:p>
        </p:txBody>
      </p:sp>
      <p:sp>
        <p:nvSpPr>
          <p:cNvPr id="12" name="integration-100">
            <a:extLst xmlns:a="http://schemas.openxmlformats.org/drawingml/2006/main">
              <a:ext uri="{FF2B5EF4-FFF2-40B4-BE49-F238E27FC236}">
                <a16:creationId xmlns:a16="http://schemas.microsoft.com/office/drawing/2014/main" id="{7921E639-8629-455E-AD87-40A666299279}"/>
              </a:ext>
            </a:extLst>
          </p:cNvPr>
          <p:cNvSpPr>
            <a:spLocks xmlns:a="http://schemas.openxmlformats.org/drawingml/2006/main" noGrp="1"/>
          </p:cNvSpPr>
          <p:nvPr/>
        </p:nvSpPr>
        <p:spPr>
          <a:xfrm xmlns:a="http://schemas.openxmlformats.org/drawingml/2006/main">
            <a:off x="6477000" y="2095500"/>
            <a:ext cx="133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975" b="1">
                <a:solidFill>
                  <a:srgbClr val="A381FF"/>
                </a:solidFill>
                <a:latin typeface="Arial"/>
                <a:ea typeface="Arial"/>
                <a:cs typeface="Arial"/>
              </a:defRPr>
            </a:lvl1pPr>
            <a:lvl2pPr>
              <a:buNone/>
              <a:defRPr sz="3975" b="1">
                <a:solidFill>
                  <a:srgbClr val="A381FF"/>
                </a:solidFill>
                <a:latin typeface="Arial"/>
                <a:ea typeface="Arial"/>
                <a:cs typeface="Arial"/>
              </a:defRPr>
            </a:lvl2pPr>
            <a:lvl3pPr>
              <a:buNone/>
              <a:defRPr sz="3975" b="1">
                <a:solidFill>
                  <a:srgbClr val="A381FF"/>
                </a:solidFill>
                <a:latin typeface="Arial"/>
                <a:ea typeface="Arial"/>
                <a:cs typeface="Arial"/>
              </a:defRPr>
            </a:lvl3pPr>
            <a:lvl4pPr>
              <a:buNone/>
              <a:defRPr sz="3975" b="1">
                <a:solidFill>
                  <a:srgbClr val="A381FF"/>
                </a:solidFill>
                <a:latin typeface="Arial"/>
                <a:ea typeface="Arial"/>
                <a:cs typeface="Arial"/>
              </a:defRPr>
            </a:lvl4pPr>
            <a:lvl5pPr>
              <a:buNone/>
              <a:defRPr sz="3975" b="1">
                <a:solidFill>
                  <a:srgbClr val="A381FF"/>
                </a:solidFill>
                <a:latin typeface="Arial"/>
                <a:ea typeface="Arial"/>
                <a:cs typeface="Arial"/>
              </a:defRPr>
            </a:lvl5pPr>
            <a:lvl6pPr>
              <a:buNone/>
              <a:defRPr sz="3975" b="1">
                <a:solidFill>
                  <a:srgbClr val="A381FF"/>
                </a:solidFill>
                <a:latin typeface="Arial"/>
                <a:ea typeface="Arial"/>
                <a:cs typeface="Arial"/>
              </a:defRPr>
            </a:lvl6pPr>
            <a:lvl7pPr>
              <a:buNone/>
              <a:defRPr sz="3975" b="1">
                <a:solidFill>
                  <a:srgbClr val="A381FF"/>
                </a:solidFill>
                <a:latin typeface="Arial"/>
                <a:ea typeface="Arial"/>
                <a:cs typeface="Arial"/>
              </a:defRPr>
            </a:lvl7pPr>
            <a:lvl8pPr>
              <a:buNone/>
              <a:defRPr sz="3975" b="1">
                <a:solidFill>
                  <a:srgbClr val="A381FF"/>
                </a:solidFill>
                <a:latin typeface="Arial"/>
                <a:ea typeface="Arial"/>
                <a:cs typeface="Arial"/>
              </a:defRPr>
            </a:lvl8pPr>
            <a:lvl9pPr>
              <a:buNone/>
              <a:defRPr sz="3975" b="1">
                <a:solidFill>
                  <a:srgbClr val="A381FF"/>
                </a:solidFill>
                <a:latin typeface="Arial"/>
                <a:ea typeface="Arial"/>
                <a:cs typeface="Arial"/>
              </a:defRPr>
            </a:lvl9pPr>
          </a:lstStyle>
          <a:p xmlns:a="http://schemas.openxmlformats.org/drawingml/2006/main">
            <a:pPr>
              <a:buNone/>
              <a:defRPr sz="3975" b="1">
                <a:solidFill>
                  <a:srgbClr val="A381FF"/>
                </a:solidFill>
                <a:latin typeface="Arial"/>
                <a:ea typeface="Arial"/>
                <a:cs typeface="Arial"/>
              </a:defRPr>
            </a:pPr>
            <a:r>
              <a:rPr sz="3975" b="1">
                <a:solidFill>
                  <a:srgbClr val="A381FF"/>
                </a:solidFill>
                <a:latin typeface="Arial"/>
                <a:ea typeface="Arial"/>
                <a:cs typeface="Arial"/>
              </a:rPr>
              <a:t>120</a:t>
            </a:r>
          </a:p>
        </p:txBody>
      </p:sp>
      <p:sp>
        <p:nvSpPr>
          <p:cNvPr id="13" name="integration-101">
            <a:extLst xmlns:a="http://schemas.openxmlformats.org/drawingml/2006/main">
              <a:ext uri="{FF2B5EF4-FFF2-40B4-BE49-F238E27FC236}">
                <a16:creationId xmlns:a16="http://schemas.microsoft.com/office/drawing/2014/main" id="{FF23F4D3-62F1-4D9D-8AB1-532F0BC74B5D}"/>
              </a:ext>
            </a:extLst>
          </p:cNvPr>
          <p:cNvSpPr>
            <a:spLocks xmlns:a="http://schemas.openxmlformats.org/drawingml/2006/main" noGrp="1"/>
          </p:cNvSpPr>
          <p:nvPr/>
        </p:nvSpPr>
        <p:spPr>
          <a:xfrm xmlns:a="http://schemas.openxmlformats.org/drawingml/2006/main">
            <a:off x="8096250" y="22288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F2F6FF"/>
                </a:solidFill>
                <a:latin typeface="Arial"/>
                <a:ea typeface="Arial"/>
                <a:cs typeface="Arial"/>
              </a:defRPr>
            </a:lvl1pPr>
            <a:lvl2pPr>
              <a:buNone/>
              <a:defRPr sz="1950" b="0">
                <a:solidFill>
                  <a:srgbClr val="F2F6FF"/>
                </a:solidFill>
                <a:latin typeface="Arial"/>
                <a:ea typeface="Arial"/>
                <a:cs typeface="Arial"/>
              </a:defRPr>
            </a:lvl2pPr>
            <a:lvl3pPr>
              <a:buNone/>
              <a:defRPr sz="1950" b="0">
                <a:solidFill>
                  <a:srgbClr val="F2F6FF"/>
                </a:solidFill>
                <a:latin typeface="Arial"/>
                <a:ea typeface="Arial"/>
                <a:cs typeface="Arial"/>
              </a:defRPr>
            </a:lvl3pPr>
            <a:lvl4pPr>
              <a:buNone/>
              <a:defRPr sz="1950" b="0">
                <a:solidFill>
                  <a:srgbClr val="F2F6FF"/>
                </a:solidFill>
                <a:latin typeface="Arial"/>
                <a:ea typeface="Arial"/>
                <a:cs typeface="Arial"/>
              </a:defRPr>
            </a:lvl4pPr>
            <a:lvl5pPr>
              <a:buNone/>
              <a:defRPr sz="1950" b="0">
                <a:solidFill>
                  <a:srgbClr val="F2F6FF"/>
                </a:solidFill>
                <a:latin typeface="Arial"/>
                <a:ea typeface="Arial"/>
                <a:cs typeface="Arial"/>
              </a:defRPr>
            </a:lvl5pPr>
            <a:lvl6pPr>
              <a:buNone/>
              <a:defRPr sz="1950" b="0">
                <a:solidFill>
                  <a:srgbClr val="F2F6FF"/>
                </a:solidFill>
                <a:latin typeface="Arial"/>
                <a:ea typeface="Arial"/>
                <a:cs typeface="Arial"/>
              </a:defRPr>
            </a:lvl6pPr>
            <a:lvl7pPr>
              <a:buNone/>
              <a:defRPr sz="1950" b="0">
                <a:solidFill>
                  <a:srgbClr val="F2F6FF"/>
                </a:solidFill>
                <a:latin typeface="Arial"/>
                <a:ea typeface="Arial"/>
                <a:cs typeface="Arial"/>
              </a:defRPr>
            </a:lvl7pPr>
            <a:lvl8pPr>
              <a:buNone/>
              <a:defRPr sz="1950" b="0">
                <a:solidFill>
                  <a:srgbClr val="F2F6FF"/>
                </a:solidFill>
                <a:latin typeface="Arial"/>
                <a:ea typeface="Arial"/>
                <a:cs typeface="Arial"/>
              </a:defRPr>
            </a:lvl8pPr>
            <a:lvl9pPr>
              <a:buNone/>
              <a:defRPr sz="1950" b="0">
                <a:solidFill>
                  <a:srgbClr val="F2F6FF"/>
                </a:solidFill>
                <a:latin typeface="Arial"/>
                <a:ea typeface="Arial"/>
                <a:cs typeface="Arial"/>
              </a:defRPr>
            </a:lvl9pPr>
          </a:lstStyle>
          <a:p xmlns:a="http://schemas.openxmlformats.org/drawingml/2006/main">
            <a:pPr>
              <a:buNone/>
              <a:defRPr sz="1950" b="0">
                <a:solidFill>
                  <a:srgbClr val="F2F6FF"/>
                </a:solidFill>
                <a:latin typeface="Arial"/>
                <a:ea typeface="Arial"/>
                <a:cs typeface="Arial"/>
              </a:defRPr>
            </a:pPr>
            <a:r>
              <a:rPr sz="1950" b="0">
                <a:solidFill>
                  <a:srgbClr val="F2F6FF"/>
                </a:solidFill>
                <a:latin typeface="Arial"/>
                <a:ea typeface="Arial"/>
                <a:cs typeface="Arial"/>
              </a:rPr>
              <a:t>Trucks on file</a:t>
            </a:r>
          </a:p>
        </p:txBody>
      </p:sp>
      <p:sp>
        <p:nvSpPr>
          <p:cNvPr id="14" name="integration-102">
            <a:extLst xmlns:a="http://schemas.openxmlformats.org/drawingml/2006/main">
              <a:ext uri="{FF2B5EF4-FFF2-40B4-BE49-F238E27FC236}">
                <a16:creationId xmlns:a16="http://schemas.microsoft.com/office/drawing/2014/main" id="{2A0E6C5C-BFDB-4FD2-8F42-AF4E97EFA2D8}"/>
              </a:ext>
            </a:extLst>
          </p:cNvPr>
          <p:cNvSpPr>
            <a:spLocks xmlns:a="http://schemas.openxmlformats.org/drawingml/2006/main" noGrp="1"/>
          </p:cNvSpPr>
          <p:nvPr/>
        </p:nvSpPr>
        <p:spPr>
          <a:xfrm xmlns:a="http://schemas.openxmlformats.org/drawingml/2006/main">
            <a:off x="6477000" y="3009900"/>
            <a:ext cx="133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975" b="1">
                <a:solidFill>
                  <a:srgbClr val="A381FF"/>
                </a:solidFill>
                <a:latin typeface="Arial"/>
                <a:ea typeface="Arial"/>
                <a:cs typeface="Arial"/>
              </a:defRPr>
            </a:lvl1pPr>
            <a:lvl2pPr>
              <a:buNone/>
              <a:defRPr sz="3975" b="1">
                <a:solidFill>
                  <a:srgbClr val="A381FF"/>
                </a:solidFill>
                <a:latin typeface="Arial"/>
                <a:ea typeface="Arial"/>
                <a:cs typeface="Arial"/>
              </a:defRPr>
            </a:lvl2pPr>
            <a:lvl3pPr>
              <a:buNone/>
              <a:defRPr sz="3975" b="1">
                <a:solidFill>
                  <a:srgbClr val="A381FF"/>
                </a:solidFill>
                <a:latin typeface="Arial"/>
                <a:ea typeface="Arial"/>
                <a:cs typeface="Arial"/>
              </a:defRPr>
            </a:lvl3pPr>
            <a:lvl4pPr>
              <a:buNone/>
              <a:defRPr sz="3975" b="1">
                <a:solidFill>
                  <a:srgbClr val="A381FF"/>
                </a:solidFill>
                <a:latin typeface="Arial"/>
                <a:ea typeface="Arial"/>
                <a:cs typeface="Arial"/>
              </a:defRPr>
            </a:lvl4pPr>
            <a:lvl5pPr>
              <a:buNone/>
              <a:defRPr sz="3975" b="1">
                <a:solidFill>
                  <a:srgbClr val="A381FF"/>
                </a:solidFill>
                <a:latin typeface="Arial"/>
                <a:ea typeface="Arial"/>
                <a:cs typeface="Arial"/>
              </a:defRPr>
            </a:lvl5pPr>
            <a:lvl6pPr>
              <a:buNone/>
              <a:defRPr sz="3975" b="1">
                <a:solidFill>
                  <a:srgbClr val="A381FF"/>
                </a:solidFill>
                <a:latin typeface="Arial"/>
                <a:ea typeface="Arial"/>
                <a:cs typeface="Arial"/>
              </a:defRPr>
            </a:lvl6pPr>
            <a:lvl7pPr>
              <a:buNone/>
              <a:defRPr sz="3975" b="1">
                <a:solidFill>
                  <a:srgbClr val="A381FF"/>
                </a:solidFill>
                <a:latin typeface="Arial"/>
                <a:ea typeface="Arial"/>
                <a:cs typeface="Arial"/>
              </a:defRPr>
            </a:lvl7pPr>
            <a:lvl8pPr>
              <a:buNone/>
              <a:defRPr sz="3975" b="1">
                <a:solidFill>
                  <a:srgbClr val="A381FF"/>
                </a:solidFill>
                <a:latin typeface="Arial"/>
                <a:ea typeface="Arial"/>
                <a:cs typeface="Arial"/>
              </a:defRPr>
            </a:lvl8pPr>
            <a:lvl9pPr>
              <a:buNone/>
              <a:defRPr sz="3975" b="1">
                <a:solidFill>
                  <a:srgbClr val="A381FF"/>
                </a:solidFill>
                <a:latin typeface="Arial"/>
                <a:ea typeface="Arial"/>
                <a:cs typeface="Arial"/>
              </a:defRPr>
            </a:lvl9pPr>
          </a:lstStyle>
          <a:p xmlns:a="http://schemas.openxmlformats.org/drawingml/2006/main">
            <a:pPr>
              <a:buNone/>
              <a:defRPr sz="3975" b="1">
                <a:solidFill>
                  <a:srgbClr val="A381FF"/>
                </a:solidFill>
                <a:latin typeface="Arial"/>
                <a:ea typeface="Arial"/>
                <a:cs typeface="Arial"/>
              </a:defRPr>
            </a:pPr>
            <a:r>
              <a:rPr sz="3975" b="1">
                <a:solidFill>
                  <a:srgbClr val="A381FF"/>
                </a:solidFill>
                <a:latin typeface="Arial"/>
                <a:ea typeface="Arial"/>
                <a:cs typeface="Arial"/>
              </a:rPr>
              <a:t>92</a:t>
            </a:r>
          </a:p>
        </p:txBody>
      </p:sp>
      <p:sp>
        <p:nvSpPr>
          <p:cNvPr id="15" name="integration-103">
            <a:extLst xmlns:a="http://schemas.openxmlformats.org/drawingml/2006/main">
              <a:ext uri="{FF2B5EF4-FFF2-40B4-BE49-F238E27FC236}">
                <a16:creationId xmlns:a16="http://schemas.microsoft.com/office/drawing/2014/main" id="{1ED36A21-D650-4CB3-9D5A-22A8919ED586}"/>
              </a:ext>
            </a:extLst>
          </p:cNvPr>
          <p:cNvSpPr>
            <a:spLocks xmlns:a="http://schemas.openxmlformats.org/drawingml/2006/main" noGrp="1"/>
          </p:cNvSpPr>
          <p:nvPr/>
        </p:nvSpPr>
        <p:spPr>
          <a:xfrm xmlns:a="http://schemas.openxmlformats.org/drawingml/2006/main">
            <a:off x="8096250" y="31432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F2F6FF"/>
                </a:solidFill>
                <a:latin typeface="Arial"/>
                <a:ea typeface="Arial"/>
                <a:cs typeface="Arial"/>
              </a:defRPr>
            </a:lvl1pPr>
            <a:lvl2pPr>
              <a:buNone/>
              <a:defRPr sz="1950" b="0">
                <a:solidFill>
                  <a:srgbClr val="F2F6FF"/>
                </a:solidFill>
                <a:latin typeface="Arial"/>
                <a:ea typeface="Arial"/>
                <a:cs typeface="Arial"/>
              </a:defRPr>
            </a:lvl2pPr>
            <a:lvl3pPr>
              <a:buNone/>
              <a:defRPr sz="1950" b="0">
                <a:solidFill>
                  <a:srgbClr val="F2F6FF"/>
                </a:solidFill>
                <a:latin typeface="Arial"/>
                <a:ea typeface="Arial"/>
                <a:cs typeface="Arial"/>
              </a:defRPr>
            </a:lvl3pPr>
            <a:lvl4pPr>
              <a:buNone/>
              <a:defRPr sz="1950" b="0">
                <a:solidFill>
                  <a:srgbClr val="F2F6FF"/>
                </a:solidFill>
                <a:latin typeface="Arial"/>
                <a:ea typeface="Arial"/>
                <a:cs typeface="Arial"/>
              </a:defRPr>
            </a:lvl4pPr>
            <a:lvl5pPr>
              <a:buNone/>
              <a:defRPr sz="1950" b="0">
                <a:solidFill>
                  <a:srgbClr val="F2F6FF"/>
                </a:solidFill>
                <a:latin typeface="Arial"/>
                <a:ea typeface="Arial"/>
                <a:cs typeface="Arial"/>
              </a:defRPr>
            </a:lvl5pPr>
            <a:lvl6pPr>
              <a:buNone/>
              <a:defRPr sz="1950" b="0">
                <a:solidFill>
                  <a:srgbClr val="F2F6FF"/>
                </a:solidFill>
                <a:latin typeface="Arial"/>
                <a:ea typeface="Arial"/>
                <a:cs typeface="Arial"/>
              </a:defRPr>
            </a:lvl6pPr>
            <a:lvl7pPr>
              <a:buNone/>
              <a:defRPr sz="1950" b="0">
                <a:solidFill>
                  <a:srgbClr val="F2F6FF"/>
                </a:solidFill>
                <a:latin typeface="Arial"/>
                <a:ea typeface="Arial"/>
                <a:cs typeface="Arial"/>
              </a:defRPr>
            </a:lvl7pPr>
            <a:lvl8pPr>
              <a:buNone/>
              <a:defRPr sz="1950" b="0">
                <a:solidFill>
                  <a:srgbClr val="F2F6FF"/>
                </a:solidFill>
                <a:latin typeface="Arial"/>
                <a:ea typeface="Arial"/>
                <a:cs typeface="Arial"/>
              </a:defRPr>
            </a:lvl8pPr>
            <a:lvl9pPr>
              <a:buNone/>
              <a:defRPr sz="1950" b="0">
                <a:solidFill>
                  <a:srgbClr val="F2F6FF"/>
                </a:solidFill>
                <a:latin typeface="Arial"/>
                <a:ea typeface="Arial"/>
                <a:cs typeface="Arial"/>
              </a:defRPr>
            </a:lvl9pPr>
          </a:lstStyle>
          <a:p xmlns:a="http://schemas.openxmlformats.org/drawingml/2006/main">
            <a:pPr>
              <a:buNone/>
              <a:defRPr sz="1950" b="0">
                <a:solidFill>
                  <a:srgbClr val="F2F6FF"/>
                </a:solidFill>
                <a:latin typeface="Arial"/>
                <a:ea typeface="Arial"/>
                <a:cs typeface="Arial"/>
              </a:defRPr>
            </a:pPr>
            <a:r>
              <a:rPr sz="1950" b="0">
                <a:solidFill>
                  <a:srgbClr val="F2F6FF"/>
                </a:solidFill>
                <a:latin typeface="Arial"/>
                <a:ea typeface="Arial"/>
                <a:cs typeface="Arial"/>
              </a:rPr>
              <a:t>Active trucks, 76.67%</a:t>
            </a:r>
          </a:p>
        </p:txBody>
      </p:sp>
      <p:sp>
        <p:nvSpPr>
          <p:cNvPr id="16" name="integration-104">
            <a:extLst xmlns:a="http://schemas.openxmlformats.org/drawingml/2006/main">
              <a:ext uri="{FF2B5EF4-FFF2-40B4-BE49-F238E27FC236}">
                <a16:creationId xmlns:a16="http://schemas.microsoft.com/office/drawing/2014/main" id="{556445A5-2BFD-4550-AD57-A0605EA8AA09}"/>
              </a:ext>
            </a:extLst>
          </p:cNvPr>
          <p:cNvSpPr>
            <a:spLocks xmlns:a="http://schemas.openxmlformats.org/drawingml/2006/main" noGrp="1"/>
          </p:cNvSpPr>
          <p:nvPr/>
        </p:nvSpPr>
        <p:spPr>
          <a:xfrm xmlns:a="http://schemas.openxmlformats.org/drawingml/2006/main">
            <a:off x="6477000" y="3924300"/>
            <a:ext cx="133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975" b="1">
                <a:solidFill>
                  <a:srgbClr val="A381FF"/>
                </a:solidFill>
                <a:latin typeface="Arial"/>
                <a:ea typeface="Arial"/>
                <a:cs typeface="Arial"/>
              </a:defRPr>
            </a:lvl1pPr>
            <a:lvl2pPr>
              <a:buNone/>
              <a:defRPr sz="3975" b="1">
                <a:solidFill>
                  <a:srgbClr val="A381FF"/>
                </a:solidFill>
                <a:latin typeface="Arial"/>
                <a:ea typeface="Arial"/>
                <a:cs typeface="Arial"/>
              </a:defRPr>
            </a:lvl2pPr>
            <a:lvl3pPr>
              <a:buNone/>
              <a:defRPr sz="3975" b="1">
                <a:solidFill>
                  <a:srgbClr val="A381FF"/>
                </a:solidFill>
                <a:latin typeface="Arial"/>
                <a:ea typeface="Arial"/>
                <a:cs typeface="Arial"/>
              </a:defRPr>
            </a:lvl3pPr>
            <a:lvl4pPr>
              <a:buNone/>
              <a:defRPr sz="3975" b="1">
                <a:solidFill>
                  <a:srgbClr val="A381FF"/>
                </a:solidFill>
                <a:latin typeface="Arial"/>
                <a:ea typeface="Arial"/>
                <a:cs typeface="Arial"/>
              </a:defRPr>
            </a:lvl4pPr>
            <a:lvl5pPr>
              <a:buNone/>
              <a:defRPr sz="3975" b="1">
                <a:solidFill>
                  <a:srgbClr val="A381FF"/>
                </a:solidFill>
                <a:latin typeface="Arial"/>
                <a:ea typeface="Arial"/>
                <a:cs typeface="Arial"/>
              </a:defRPr>
            </a:lvl5pPr>
            <a:lvl6pPr>
              <a:buNone/>
              <a:defRPr sz="3975" b="1">
                <a:solidFill>
                  <a:srgbClr val="A381FF"/>
                </a:solidFill>
                <a:latin typeface="Arial"/>
                <a:ea typeface="Arial"/>
                <a:cs typeface="Arial"/>
              </a:defRPr>
            </a:lvl6pPr>
            <a:lvl7pPr>
              <a:buNone/>
              <a:defRPr sz="3975" b="1">
                <a:solidFill>
                  <a:srgbClr val="A381FF"/>
                </a:solidFill>
                <a:latin typeface="Arial"/>
                <a:ea typeface="Arial"/>
                <a:cs typeface="Arial"/>
              </a:defRPr>
            </a:lvl7pPr>
            <a:lvl8pPr>
              <a:buNone/>
              <a:defRPr sz="3975" b="1">
                <a:solidFill>
                  <a:srgbClr val="A381FF"/>
                </a:solidFill>
                <a:latin typeface="Arial"/>
                <a:ea typeface="Arial"/>
                <a:cs typeface="Arial"/>
              </a:defRPr>
            </a:lvl8pPr>
            <a:lvl9pPr>
              <a:buNone/>
              <a:defRPr sz="3975" b="1">
                <a:solidFill>
                  <a:srgbClr val="A381FF"/>
                </a:solidFill>
                <a:latin typeface="Arial"/>
                <a:ea typeface="Arial"/>
                <a:cs typeface="Arial"/>
              </a:defRPr>
            </a:lvl9pPr>
          </a:lstStyle>
          <a:p xmlns:a="http://schemas.openxmlformats.org/drawingml/2006/main">
            <a:pPr>
              <a:buNone/>
              <a:defRPr sz="3975" b="1">
                <a:solidFill>
                  <a:srgbClr val="A381FF"/>
                </a:solidFill>
                <a:latin typeface="Arial"/>
                <a:ea typeface="Arial"/>
                <a:cs typeface="Arial"/>
              </a:defRPr>
            </a:pPr>
            <a:r>
              <a:rPr sz="3975" b="1">
                <a:solidFill>
                  <a:srgbClr val="A381FF"/>
                </a:solidFill>
                <a:latin typeface="Arial"/>
                <a:ea typeface="Arial"/>
                <a:cs typeface="Arial"/>
              </a:rPr>
              <a:t>15</a:t>
            </a:r>
          </a:p>
        </p:txBody>
      </p:sp>
      <p:sp>
        <p:nvSpPr>
          <p:cNvPr id="17" name="integration-105">
            <a:extLst xmlns:a="http://schemas.openxmlformats.org/drawingml/2006/main">
              <a:ext uri="{FF2B5EF4-FFF2-40B4-BE49-F238E27FC236}">
                <a16:creationId xmlns:a16="http://schemas.microsoft.com/office/drawing/2014/main" id="{D15D439F-C7E7-4D6A-B2DD-CBAD528DAC5A}"/>
              </a:ext>
            </a:extLst>
          </p:cNvPr>
          <p:cNvSpPr>
            <a:spLocks xmlns:a="http://schemas.openxmlformats.org/drawingml/2006/main" noGrp="1"/>
          </p:cNvSpPr>
          <p:nvPr/>
        </p:nvSpPr>
        <p:spPr>
          <a:xfrm xmlns:a="http://schemas.openxmlformats.org/drawingml/2006/main">
            <a:off x="8096250" y="4057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F2F6FF"/>
                </a:solidFill>
                <a:latin typeface="Arial"/>
                <a:ea typeface="Arial"/>
                <a:cs typeface="Arial"/>
              </a:defRPr>
            </a:lvl1pPr>
            <a:lvl2pPr>
              <a:buNone/>
              <a:defRPr sz="1950" b="0">
                <a:solidFill>
                  <a:srgbClr val="F2F6FF"/>
                </a:solidFill>
                <a:latin typeface="Arial"/>
                <a:ea typeface="Arial"/>
                <a:cs typeface="Arial"/>
              </a:defRPr>
            </a:lvl2pPr>
            <a:lvl3pPr>
              <a:buNone/>
              <a:defRPr sz="1950" b="0">
                <a:solidFill>
                  <a:srgbClr val="F2F6FF"/>
                </a:solidFill>
                <a:latin typeface="Arial"/>
                <a:ea typeface="Arial"/>
                <a:cs typeface="Arial"/>
              </a:defRPr>
            </a:lvl3pPr>
            <a:lvl4pPr>
              <a:buNone/>
              <a:defRPr sz="1950" b="0">
                <a:solidFill>
                  <a:srgbClr val="F2F6FF"/>
                </a:solidFill>
                <a:latin typeface="Arial"/>
                <a:ea typeface="Arial"/>
                <a:cs typeface="Arial"/>
              </a:defRPr>
            </a:lvl4pPr>
            <a:lvl5pPr>
              <a:buNone/>
              <a:defRPr sz="1950" b="0">
                <a:solidFill>
                  <a:srgbClr val="F2F6FF"/>
                </a:solidFill>
                <a:latin typeface="Arial"/>
                <a:ea typeface="Arial"/>
                <a:cs typeface="Arial"/>
              </a:defRPr>
            </a:lvl5pPr>
            <a:lvl6pPr>
              <a:buNone/>
              <a:defRPr sz="1950" b="0">
                <a:solidFill>
                  <a:srgbClr val="F2F6FF"/>
                </a:solidFill>
                <a:latin typeface="Arial"/>
                <a:ea typeface="Arial"/>
                <a:cs typeface="Arial"/>
              </a:defRPr>
            </a:lvl6pPr>
            <a:lvl7pPr>
              <a:buNone/>
              <a:defRPr sz="1950" b="0">
                <a:solidFill>
                  <a:srgbClr val="F2F6FF"/>
                </a:solidFill>
                <a:latin typeface="Arial"/>
                <a:ea typeface="Arial"/>
                <a:cs typeface="Arial"/>
              </a:defRPr>
            </a:lvl7pPr>
            <a:lvl8pPr>
              <a:buNone/>
              <a:defRPr sz="1950" b="0">
                <a:solidFill>
                  <a:srgbClr val="F2F6FF"/>
                </a:solidFill>
                <a:latin typeface="Arial"/>
                <a:ea typeface="Arial"/>
                <a:cs typeface="Arial"/>
              </a:defRPr>
            </a:lvl8pPr>
            <a:lvl9pPr>
              <a:buNone/>
              <a:defRPr sz="1950" b="0">
                <a:solidFill>
                  <a:srgbClr val="F2F6FF"/>
                </a:solidFill>
                <a:latin typeface="Arial"/>
                <a:ea typeface="Arial"/>
                <a:cs typeface="Arial"/>
              </a:defRPr>
            </a:lvl9pPr>
          </a:lstStyle>
          <a:p xmlns:a="http://schemas.openxmlformats.org/drawingml/2006/main">
            <a:pPr>
              <a:buNone/>
              <a:defRPr sz="1950" b="0">
                <a:solidFill>
                  <a:srgbClr val="F2F6FF"/>
                </a:solidFill>
                <a:latin typeface="Arial"/>
                <a:ea typeface="Arial"/>
                <a:cs typeface="Arial"/>
              </a:defRPr>
            </a:pPr>
            <a:r>
              <a:rPr sz="1950" b="0">
                <a:solidFill>
                  <a:srgbClr val="F2F6FF"/>
                </a:solidFill>
                <a:latin typeface="Arial"/>
                <a:ea typeface="Arial"/>
                <a:cs typeface="Arial"/>
              </a:rPr>
              <a:t>Trucks in Maintenance status</a:t>
            </a:r>
          </a:p>
        </p:txBody>
      </p:sp>
      <p:sp>
        <p:nvSpPr>
          <p:cNvPr id="18" name="integration-106">
            <a:extLst xmlns:a="http://schemas.openxmlformats.org/drawingml/2006/main">
              <a:ext uri="{FF2B5EF4-FFF2-40B4-BE49-F238E27FC236}">
                <a16:creationId xmlns:a16="http://schemas.microsoft.com/office/drawing/2014/main" id="{1A2B836D-56E7-4D58-82C6-93B4B3846C44}"/>
              </a:ext>
            </a:extLst>
          </p:cNvPr>
          <p:cNvSpPr>
            <a:spLocks xmlns:a="http://schemas.openxmlformats.org/drawingml/2006/main" noGrp="1"/>
          </p:cNvSpPr>
          <p:nvPr/>
        </p:nvSpPr>
        <p:spPr>
          <a:xfrm xmlns:a="http://schemas.openxmlformats.org/drawingml/2006/main">
            <a:off x="6477000" y="4838700"/>
            <a:ext cx="133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975" b="1">
                <a:solidFill>
                  <a:srgbClr val="A381FF"/>
                </a:solidFill>
                <a:latin typeface="Arial"/>
                <a:ea typeface="Arial"/>
                <a:cs typeface="Arial"/>
              </a:defRPr>
            </a:lvl1pPr>
            <a:lvl2pPr>
              <a:buNone/>
              <a:defRPr sz="3975" b="1">
                <a:solidFill>
                  <a:srgbClr val="A381FF"/>
                </a:solidFill>
                <a:latin typeface="Arial"/>
                <a:ea typeface="Arial"/>
                <a:cs typeface="Arial"/>
              </a:defRPr>
            </a:lvl2pPr>
            <a:lvl3pPr>
              <a:buNone/>
              <a:defRPr sz="3975" b="1">
                <a:solidFill>
                  <a:srgbClr val="A381FF"/>
                </a:solidFill>
                <a:latin typeface="Arial"/>
                <a:ea typeface="Arial"/>
                <a:cs typeface="Arial"/>
              </a:defRPr>
            </a:lvl3pPr>
            <a:lvl4pPr>
              <a:buNone/>
              <a:defRPr sz="3975" b="1">
                <a:solidFill>
                  <a:srgbClr val="A381FF"/>
                </a:solidFill>
                <a:latin typeface="Arial"/>
                <a:ea typeface="Arial"/>
                <a:cs typeface="Arial"/>
              </a:defRPr>
            </a:lvl4pPr>
            <a:lvl5pPr>
              <a:buNone/>
              <a:defRPr sz="3975" b="1">
                <a:solidFill>
                  <a:srgbClr val="A381FF"/>
                </a:solidFill>
                <a:latin typeface="Arial"/>
                <a:ea typeface="Arial"/>
                <a:cs typeface="Arial"/>
              </a:defRPr>
            </a:lvl5pPr>
            <a:lvl6pPr>
              <a:buNone/>
              <a:defRPr sz="3975" b="1">
                <a:solidFill>
                  <a:srgbClr val="A381FF"/>
                </a:solidFill>
                <a:latin typeface="Arial"/>
                <a:ea typeface="Arial"/>
                <a:cs typeface="Arial"/>
              </a:defRPr>
            </a:lvl6pPr>
            <a:lvl7pPr>
              <a:buNone/>
              <a:defRPr sz="3975" b="1">
                <a:solidFill>
                  <a:srgbClr val="A381FF"/>
                </a:solidFill>
                <a:latin typeface="Arial"/>
                <a:ea typeface="Arial"/>
                <a:cs typeface="Arial"/>
              </a:defRPr>
            </a:lvl7pPr>
            <a:lvl8pPr>
              <a:buNone/>
              <a:defRPr sz="3975" b="1">
                <a:solidFill>
                  <a:srgbClr val="A381FF"/>
                </a:solidFill>
                <a:latin typeface="Arial"/>
                <a:ea typeface="Arial"/>
                <a:cs typeface="Arial"/>
              </a:defRPr>
            </a:lvl8pPr>
            <a:lvl9pPr>
              <a:buNone/>
              <a:defRPr sz="3975" b="1">
                <a:solidFill>
                  <a:srgbClr val="A381FF"/>
                </a:solidFill>
                <a:latin typeface="Arial"/>
                <a:ea typeface="Arial"/>
                <a:cs typeface="Arial"/>
              </a:defRPr>
            </a:lvl9pPr>
          </a:lstStyle>
          <a:p xmlns:a="http://schemas.openxmlformats.org/drawingml/2006/main">
            <a:pPr>
              <a:buNone/>
              <a:defRPr sz="3975" b="1">
                <a:solidFill>
                  <a:srgbClr val="A381FF"/>
                </a:solidFill>
                <a:latin typeface="Arial"/>
                <a:ea typeface="Arial"/>
                <a:cs typeface="Arial"/>
              </a:defRPr>
            </a:pPr>
            <a:r>
              <a:rPr sz="3975" b="1">
                <a:solidFill>
                  <a:srgbClr val="A381FF"/>
                </a:solidFill>
                <a:latin typeface="Arial"/>
                <a:ea typeface="Arial"/>
                <a:cs typeface="Arial"/>
              </a:rPr>
              <a:t>13</a:t>
            </a:r>
          </a:p>
        </p:txBody>
      </p:sp>
      <p:sp>
        <p:nvSpPr>
          <p:cNvPr id="19" name="integration-107">
            <a:extLst xmlns:a="http://schemas.openxmlformats.org/drawingml/2006/main">
              <a:ext uri="{FF2B5EF4-FFF2-40B4-BE49-F238E27FC236}">
                <a16:creationId xmlns:a16="http://schemas.microsoft.com/office/drawing/2014/main" id="{7F9EC699-65EB-4199-A937-98FDCE6DB0E5}"/>
              </a:ext>
            </a:extLst>
          </p:cNvPr>
          <p:cNvSpPr>
            <a:spLocks xmlns:a="http://schemas.openxmlformats.org/drawingml/2006/main" noGrp="1"/>
          </p:cNvSpPr>
          <p:nvPr/>
        </p:nvSpPr>
        <p:spPr>
          <a:xfrm xmlns:a="http://schemas.openxmlformats.org/drawingml/2006/main">
            <a:off x="8096250" y="49720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F2F6FF"/>
                </a:solidFill>
                <a:latin typeface="Arial"/>
                <a:ea typeface="Arial"/>
                <a:cs typeface="Arial"/>
              </a:defRPr>
            </a:lvl1pPr>
            <a:lvl2pPr>
              <a:buNone/>
              <a:defRPr sz="1950" b="0">
                <a:solidFill>
                  <a:srgbClr val="F2F6FF"/>
                </a:solidFill>
                <a:latin typeface="Arial"/>
                <a:ea typeface="Arial"/>
                <a:cs typeface="Arial"/>
              </a:defRPr>
            </a:lvl2pPr>
            <a:lvl3pPr>
              <a:buNone/>
              <a:defRPr sz="1950" b="0">
                <a:solidFill>
                  <a:srgbClr val="F2F6FF"/>
                </a:solidFill>
                <a:latin typeface="Arial"/>
                <a:ea typeface="Arial"/>
                <a:cs typeface="Arial"/>
              </a:defRPr>
            </a:lvl3pPr>
            <a:lvl4pPr>
              <a:buNone/>
              <a:defRPr sz="1950" b="0">
                <a:solidFill>
                  <a:srgbClr val="F2F6FF"/>
                </a:solidFill>
                <a:latin typeface="Arial"/>
                <a:ea typeface="Arial"/>
                <a:cs typeface="Arial"/>
              </a:defRPr>
            </a:lvl4pPr>
            <a:lvl5pPr>
              <a:buNone/>
              <a:defRPr sz="1950" b="0">
                <a:solidFill>
                  <a:srgbClr val="F2F6FF"/>
                </a:solidFill>
                <a:latin typeface="Arial"/>
                <a:ea typeface="Arial"/>
                <a:cs typeface="Arial"/>
              </a:defRPr>
            </a:lvl5pPr>
            <a:lvl6pPr>
              <a:buNone/>
              <a:defRPr sz="1950" b="0">
                <a:solidFill>
                  <a:srgbClr val="F2F6FF"/>
                </a:solidFill>
                <a:latin typeface="Arial"/>
                <a:ea typeface="Arial"/>
                <a:cs typeface="Arial"/>
              </a:defRPr>
            </a:lvl6pPr>
            <a:lvl7pPr>
              <a:buNone/>
              <a:defRPr sz="1950" b="0">
                <a:solidFill>
                  <a:srgbClr val="F2F6FF"/>
                </a:solidFill>
                <a:latin typeface="Arial"/>
                <a:ea typeface="Arial"/>
                <a:cs typeface="Arial"/>
              </a:defRPr>
            </a:lvl7pPr>
            <a:lvl8pPr>
              <a:buNone/>
              <a:defRPr sz="1950" b="0">
                <a:solidFill>
                  <a:srgbClr val="F2F6FF"/>
                </a:solidFill>
                <a:latin typeface="Arial"/>
                <a:ea typeface="Arial"/>
                <a:cs typeface="Arial"/>
              </a:defRPr>
            </a:lvl8pPr>
            <a:lvl9pPr>
              <a:buNone/>
              <a:defRPr sz="1950" b="0">
                <a:solidFill>
                  <a:srgbClr val="F2F6FF"/>
                </a:solidFill>
                <a:latin typeface="Arial"/>
                <a:ea typeface="Arial"/>
                <a:cs typeface="Arial"/>
              </a:defRPr>
            </a:lvl9pPr>
          </a:lstStyle>
          <a:p xmlns:a="http://schemas.openxmlformats.org/drawingml/2006/main">
            <a:pPr>
              <a:buNone/>
              <a:defRPr sz="1950" b="0">
                <a:solidFill>
                  <a:srgbClr val="F2F6FF"/>
                </a:solidFill>
                <a:latin typeface="Arial"/>
                <a:ea typeface="Arial"/>
                <a:cs typeface="Arial"/>
              </a:defRPr>
            </a:pPr>
            <a:r>
              <a:rPr sz="1950" b="0">
                <a:solidFill>
                  <a:srgbClr val="F2F6FF"/>
                </a:solidFill>
                <a:latin typeface="Arial"/>
                <a:ea typeface="Arial"/>
                <a:cs typeface="Arial"/>
              </a:rPr>
              <a:t>Trucks in Inactive status</a:t>
            </a:r>
          </a:p>
        </p:txBody>
      </p:sp>
      <p:sp>
        <p:nvSpPr>
          <p:cNvPr id="20" name="integration-129">
            <a:extLst xmlns:a="http://schemas.openxmlformats.org/drawingml/2006/main">
              <a:ext uri="{FF2B5EF4-FFF2-40B4-BE49-F238E27FC236}">
                <a16:creationId xmlns:a16="http://schemas.microsoft.com/office/drawing/2014/main" id="{E3B8BA3E-1488-4189-A51D-80F636B33FFA}"/>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A05</a:t>
            </a:r>
          </a:p>
        </p:txBody>
      </p:sp>
    </p:spTree>
    <p:extLst>
      <p:ext uri="{BB962C8B-B14F-4D97-AF65-F5344CB8AC3E}">
        <p14:creationId xmlns:p14="http://schemas.microsoft.com/office/powerpoint/2010/main" val="1112250774"/>
      </p:ext>
    </p:extLst>
  </p:cSld>
</p:sld>
</file>

<file path=ppt/slides/slide35.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7" name="integration-108">
            <a:extLst xmlns:a="http://schemas.openxmlformats.org/drawingml/2006/main">
              <a:ext uri="{FF2B5EF4-FFF2-40B4-BE49-F238E27FC236}">
                <a16:creationId xmlns:a16="http://schemas.microsoft.com/office/drawing/2014/main" id="{A6353A1D-442C-4ADA-A1A0-15DB1AA0958C}"/>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APPENDIX: SUPPORTING EVIDENCE</a:t>
            </a:r>
          </a:p>
        </p:txBody>
      </p:sp>
      <p:sp>
        <p:nvSpPr>
          <p:cNvPr id="2" name="integration-109">
            <a:extLst xmlns:a="http://schemas.openxmlformats.org/drawingml/2006/main">
              <a:ext uri="{FF2B5EF4-FFF2-40B4-BE49-F238E27FC236}">
                <a16:creationId xmlns:a16="http://schemas.microsoft.com/office/drawing/2014/main" id="{933C21CA-8F47-431C-A392-B61E7C60D122}"/>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225" b="1">
                <a:solidFill>
                  <a:srgbClr val="F2F6FF"/>
                </a:solidFill>
                <a:latin typeface="Arial"/>
                <a:ea typeface="Arial"/>
                <a:cs typeface="Arial"/>
              </a:defRPr>
            </a:lvl1pPr>
            <a:lvl2pPr>
              <a:buNone/>
              <a:defRPr sz="3225" b="1">
                <a:solidFill>
                  <a:srgbClr val="F2F6FF"/>
                </a:solidFill>
                <a:latin typeface="Arial"/>
                <a:ea typeface="Arial"/>
                <a:cs typeface="Arial"/>
              </a:defRPr>
            </a:lvl2pPr>
            <a:lvl3pPr>
              <a:buNone/>
              <a:defRPr sz="3225" b="1">
                <a:solidFill>
                  <a:srgbClr val="F2F6FF"/>
                </a:solidFill>
                <a:latin typeface="Arial"/>
                <a:ea typeface="Arial"/>
                <a:cs typeface="Arial"/>
              </a:defRPr>
            </a:lvl3pPr>
            <a:lvl4pPr>
              <a:buNone/>
              <a:defRPr sz="3225" b="1">
                <a:solidFill>
                  <a:srgbClr val="F2F6FF"/>
                </a:solidFill>
                <a:latin typeface="Arial"/>
                <a:ea typeface="Arial"/>
                <a:cs typeface="Arial"/>
              </a:defRPr>
            </a:lvl4pPr>
            <a:lvl5pPr>
              <a:buNone/>
              <a:defRPr sz="3225" b="1">
                <a:solidFill>
                  <a:srgbClr val="F2F6FF"/>
                </a:solidFill>
                <a:latin typeface="Arial"/>
                <a:ea typeface="Arial"/>
                <a:cs typeface="Arial"/>
              </a:defRPr>
            </a:lvl5pPr>
            <a:lvl6pPr>
              <a:buNone/>
              <a:defRPr sz="3225" b="1">
                <a:solidFill>
                  <a:srgbClr val="F2F6FF"/>
                </a:solidFill>
                <a:latin typeface="Arial"/>
                <a:ea typeface="Arial"/>
                <a:cs typeface="Arial"/>
              </a:defRPr>
            </a:lvl6pPr>
            <a:lvl7pPr>
              <a:buNone/>
              <a:defRPr sz="3225" b="1">
                <a:solidFill>
                  <a:srgbClr val="F2F6FF"/>
                </a:solidFill>
                <a:latin typeface="Arial"/>
                <a:ea typeface="Arial"/>
                <a:cs typeface="Arial"/>
              </a:defRPr>
            </a:lvl7pPr>
            <a:lvl8pPr>
              <a:buNone/>
              <a:defRPr sz="3225" b="1">
                <a:solidFill>
                  <a:srgbClr val="F2F6FF"/>
                </a:solidFill>
                <a:latin typeface="Arial"/>
                <a:ea typeface="Arial"/>
                <a:cs typeface="Arial"/>
              </a:defRPr>
            </a:lvl8pPr>
            <a:lvl9pPr>
              <a:buNone/>
              <a:defRPr sz="3225" b="1">
                <a:solidFill>
                  <a:srgbClr val="F2F6FF"/>
                </a:solidFill>
                <a:latin typeface="Arial"/>
                <a:ea typeface="Arial"/>
                <a:cs typeface="Arial"/>
              </a:defRPr>
            </a:lvl9pPr>
          </a:lstStyle>
          <a:p xmlns:a="http://schemas.openxmlformats.org/drawingml/2006/main">
            <a:pPr>
              <a:buNone/>
              <a:defRPr sz="3225" b="1">
                <a:solidFill>
                  <a:srgbClr val="F2F6FF"/>
                </a:solidFill>
                <a:latin typeface="Arial"/>
                <a:ea typeface="Arial"/>
                <a:cs typeface="Arial"/>
              </a:defRPr>
            </a:pPr>
            <a:r>
              <a:rPr sz="3225" b="1">
                <a:solidFill>
                  <a:srgbClr val="F2F6FF"/>
                </a:solidFill>
                <a:latin typeface="Arial"/>
                <a:ea typeface="Arial"/>
                <a:cs typeface="Arial"/>
              </a:rPr>
              <a:t>Safety composition and recorded damage</a:t>
            </a:r>
          </a:p>
        </p:txBody>
      </p:sp>
      <p:sp>
        <p:nvSpPr>
          <p:cNvPr id="3" name="integration-110">
            <a:extLst xmlns:a="http://schemas.openxmlformats.org/drawingml/2006/main">
              <a:ext uri="{FF2B5EF4-FFF2-40B4-BE49-F238E27FC236}">
                <a16:creationId xmlns:a16="http://schemas.microsoft.com/office/drawing/2014/main" id="{77C54423-A82E-47F2-9B5F-1A8E7AE2C6C0}"/>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The categories can overlap; the counts should not be added together</a:t>
            </a:r>
          </a:p>
        </p:txBody>
      </p:sp>
      <p:sp>
        <p:nvSpPr>
          <p:cNvPr id="4" name="integration-111">
            <a:extLst xmlns:a="http://schemas.openxmlformats.org/drawingml/2006/main">
              <a:ext uri="{FF2B5EF4-FFF2-40B4-BE49-F238E27FC236}">
                <a16:creationId xmlns:a16="http://schemas.microsoft.com/office/drawing/2014/main" id="{E199CF52-9ABF-4A35-9D75-70C86D266A91}"/>
              </a:ext>
            </a:extLst>
          </p:cNvPr>
          <p:cNvSpPr>
            <a:spLocks xmlns:a="http://schemas.openxmlformats.org/drawingml/2006/main" noGrp="1"/>
          </p:cNvSpPr>
          <p:nvPr/>
        </p:nvSpPr>
        <p:spPr>
          <a:xfrm xmlns:a="http://schemas.openxmlformats.org/drawingml/2006/main">
            <a:off x="571500" y="21812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800" b="1">
                <a:solidFill>
                  <a:srgbClr val="3DDCF5"/>
                </a:solidFill>
                <a:latin typeface="Arial"/>
                <a:ea typeface="Arial"/>
                <a:cs typeface="Arial"/>
              </a:defRPr>
            </a:lvl1pPr>
            <a:lvl2pPr>
              <a:buNone/>
              <a:defRPr sz="4800" b="1">
                <a:solidFill>
                  <a:srgbClr val="3DDCF5"/>
                </a:solidFill>
                <a:latin typeface="Arial"/>
                <a:ea typeface="Arial"/>
                <a:cs typeface="Arial"/>
              </a:defRPr>
            </a:lvl2pPr>
            <a:lvl3pPr>
              <a:buNone/>
              <a:defRPr sz="4800" b="1">
                <a:solidFill>
                  <a:srgbClr val="3DDCF5"/>
                </a:solidFill>
                <a:latin typeface="Arial"/>
                <a:ea typeface="Arial"/>
                <a:cs typeface="Arial"/>
              </a:defRPr>
            </a:lvl3pPr>
            <a:lvl4pPr>
              <a:buNone/>
              <a:defRPr sz="4800" b="1">
                <a:solidFill>
                  <a:srgbClr val="3DDCF5"/>
                </a:solidFill>
                <a:latin typeface="Arial"/>
                <a:ea typeface="Arial"/>
                <a:cs typeface="Arial"/>
              </a:defRPr>
            </a:lvl4pPr>
            <a:lvl5pPr>
              <a:buNone/>
              <a:defRPr sz="4800" b="1">
                <a:solidFill>
                  <a:srgbClr val="3DDCF5"/>
                </a:solidFill>
                <a:latin typeface="Arial"/>
                <a:ea typeface="Arial"/>
                <a:cs typeface="Arial"/>
              </a:defRPr>
            </a:lvl5pPr>
            <a:lvl6pPr>
              <a:buNone/>
              <a:defRPr sz="4800" b="1">
                <a:solidFill>
                  <a:srgbClr val="3DDCF5"/>
                </a:solidFill>
                <a:latin typeface="Arial"/>
                <a:ea typeface="Arial"/>
                <a:cs typeface="Arial"/>
              </a:defRPr>
            </a:lvl6pPr>
            <a:lvl7pPr>
              <a:buNone/>
              <a:defRPr sz="4800" b="1">
                <a:solidFill>
                  <a:srgbClr val="3DDCF5"/>
                </a:solidFill>
                <a:latin typeface="Arial"/>
                <a:ea typeface="Arial"/>
                <a:cs typeface="Arial"/>
              </a:defRPr>
            </a:lvl7pPr>
            <a:lvl8pPr>
              <a:buNone/>
              <a:defRPr sz="4800" b="1">
                <a:solidFill>
                  <a:srgbClr val="3DDCF5"/>
                </a:solidFill>
                <a:latin typeface="Arial"/>
                <a:ea typeface="Arial"/>
                <a:cs typeface="Arial"/>
              </a:defRPr>
            </a:lvl8pPr>
            <a:lvl9pPr>
              <a:buNone/>
              <a:defRPr sz="4800" b="1">
                <a:solidFill>
                  <a:srgbClr val="3DDCF5"/>
                </a:solidFill>
                <a:latin typeface="Arial"/>
                <a:ea typeface="Arial"/>
                <a:cs typeface="Arial"/>
              </a:defRPr>
            </a:lvl9pPr>
          </a:lstStyle>
          <a:p xmlns:a="http://schemas.openxmlformats.org/drawingml/2006/main">
            <a:pPr>
              <a:buNone/>
              <a:defRPr sz="4800" b="1">
                <a:solidFill>
                  <a:srgbClr val="3DDCF5"/>
                </a:solidFill>
                <a:latin typeface="Arial"/>
                <a:ea typeface="Arial"/>
                <a:cs typeface="Arial"/>
              </a:defRPr>
            </a:pPr>
            <a:r>
              <a:rPr sz="4800" b="1">
                <a:solidFill>
                  <a:srgbClr val="3DDCF5"/>
                </a:solidFill>
                <a:latin typeface="Arial"/>
                <a:ea typeface="Arial"/>
                <a:cs typeface="Arial"/>
              </a:rPr>
              <a:t>170</a:t>
            </a:r>
          </a:p>
        </p:txBody>
      </p:sp>
      <p:sp>
        <p:nvSpPr>
          <p:cNvPr id="5" name="integration-112">
            <a:extLst xmlns:a="http://schemas.openxmlformats.org/drawingml/2006/main">
              <a:ext uri="{FF2B5EF4-FFF2-40B4-BE49-F238E27FC236}">
                <a16:creationId xmlns:a16="http://schemas.microsoft.com/office/drawing/2014/main" id="{3BA7DE5A-9879-4794-99A0-6227ED87DAA8}"/>
              </a:ext>
            </a:extLst>
          </p:cNvPr>
          <p:cNvSpPr>
            <a:spLocks xmlns:a="http://schemas.openxmlformats.org/drawingml/2006/main" noGrp="1"/>
          </p:cNvSpPr>
          <p:nvPr/>
        </p:nvSpPr>
        <p:spPr>
          <a:xfrm xmlns:a="http://schemas.openxmlformats.org/drawingml/2006/main">
            <a:off x="571500" y="29432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Recorded incidents</a:t>
            </a:r>
          </a:p>
        </p:txBody>
      </p:sp>
      <p:sp>
        <p:nvSpPr>
          <p:cNvPr id="6" name="integration-113">
            <a:extLst xmlns:a="http://schemas.openxmlformats.org/drawingml/2006/main">
              <a:ext uri="{FF2B5EF4-FFF2-40B4-BE49-F238E27FC236}">
                <a16:creationId xmlns:a16="http://schemas.microsoft.com/office/drawing/2014/main" id="{89FE6E53-7702-451F-B1DE-5F73FE8D213A}"/>
              </a:ext>
            </a:extLst>
          </p:cNvPr>
          <p:cNvSpPr>
            <a:spLocks xmlns:a="http://schemas.openxmlformats.org/drawingml/2006/main" noGrp="1"/>
          </p:cNvSpPr>
          <p:nvPr/>
        </p:nvSpPr>
        <p:spPr>
          <a:xfrm xmlns:a="http://schemas.openxmlformats.org/drawingml/2006/main">
            <a:off x="4476750" y="21812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800" b="1">
                <a:solidFill>
                  <a:srgbClr val="3DDCF5"/>
                </a:solidFill>
                <a:latin typeface="Arial"/>
                <a:ea typeface="Arial"/>
                <a:cs typeface="Arial"/>
              </a:defRPr>
            </a:lvl1pPr>
            <a:lvl2pPr>
              <a:buNone/>
              <a:defRPr sz="4800" b="1">
                <a:solidFill>
                  <a:srgbClr val="3DDCF5"/>
                </a:solidFill>
                <a:latin typeface="Arial"/>
                <a:ea typeface="Arial"/>
                <a:cs typeface="Arial"/>
              </a:defRPr>
            </a:lvl2pPr>
            <a:lvl3pPr>
              <a:buNone/>
              <a:defRPr sz="4800" b="1">
                <a:solidFill>
                  <a:srgbClr val="3DDCF5"/>
                </a:solidFill>
                <a:latin typeface="Arial"/>
                <a:ea typeface="Arial"/>
                <a:cs typeface="Arial"/>
              </a:defRPr>
            </a:lvl3pPr>
            <a:lvl4pPr>
              <a:buNone/>
              <a:defRPr sz="4800" b="1">
                <a:solidFill>
                  <a:srgbClr val="3DDCF5"/>
                </a:solidFill>
                <a:latin typeface="Arial"/>
                <a:ea typeface="Arial"/>
                <a:cs typeface="Arial"/>
              </a:defRPr>
            </a:lvl4pPr>
            <a:lvl5pPr>
              <a:buNone/>
              <a:defRPr sz="4800" b="1">
                <a:solidFill>
                  <a:srgbClr val="3DDCF5"/>
                </a:solidFill>
                <a:latin typeface="Arial"/>
                <a:ea typeface="Arial"/>
                <a:cs typeface="Arial"/>
              </a:defRPr>
            </a:lvl5pPr>
            <a:lvl6pPr>
              <a:buNone/>
              <a:defRPr sz="4800" b="1">
                <a:solidFill>
                  <a:srgbClr val="3DDCF5"/>
                </a:solidFill>
                <a:latin typeface="Arial"/>
                <a:ea typeface="Arial"/>
                <a:cs typeface="Arial"/>
              </a:defRPr>
            </a:lvl6pPr>
            <a:lvl7pPr>
              <a:buNone/>
              <a:defRPr sz="4800" b="1">
                <a:solidFill>
                  <a:srgbClr val="3DDCF5"/>
                </a:solidFill>
                <a:latin typeface="Arial"/>
                <a:ea typeface="Arial"/>
                <a:cs typeface="Arial"/>
              </a:defRPr>
            </a:lvl7pPr>
            <a:lvl8pPr>
              <a:buNone/>
              <a:defRPr sz="4800" b="1">
                <a:solidFill>
                  <a:srgbClr val="3DDCF5"/>
                </a:solidFill>
                <a:latin typeface="Arial"/>
                <a:ea typeface="Arial"/>
                <a:cs typeface="Arial"/>
              </a:defRPr>
            </a:lvl8pPr>
            <a:lvl9pPr>
              <a:buNone/>
              <a:defRPr sz="4800" b="1">
                <a:solidFill>
                  <a:srgbClr val="3DDCF5"/>
                </a:solidFill>
                <a:latin typeface="Arial"/>
                <a:ea typeface="Arial"/>
                <a:cs typeface="Arial"/>
              </a:defRPr>
            </a:lvl9pPr>
          </a:lstStyle>
          <a:p xmlns:a="http://schemas.openxmlformats.org/drawingml/2006/main">
            <a:pPr>
              <a:buNone/>
              <a:defRPr sz="4800" b="1">
                <a:solidFill>
                  <a:srgbClr val="3DDCF5"/>
                </a:solidFill>
                <a:latin typeface="Arial"/>
                <a:ea typeface="Arial"/>
                <a:cs typeface="Arial"/>
              </a:defRPr>
            </a:pPr>
            <a:r>
              <a:rPr sz="4800" b="1">
                <a:solidFill>
                  <a:srgbClr val="3DDCF5"/>
                </a:solidFill>
                <a:latin typeface="Arial"/>
                <a:ea typeface="Arial"/>
                <a:cs typeface="Arial"/>
              </a:rPr>
              <a:t>64</a:t>
            </a:r>
          </a:p>
        </p:txBody>
      </p:sp>
      <p:sp>
        <p:nvSpPr>
          <p:cNvPr id="7" name="integration-114">
            <a:extLst xmlns:a="http://schemas.openxmlformats.org/drawingml/2006/main">
              <a:ext uri="{FF2B5EF4-FFF2-40B4-BE49-F238E27FC236}">
                <a16:creationId xmlns:a16="http://schemas.microsoft.com/office/drawing/2014/main" id="{7932D627-0A14-4FAD-8ADE-1AD0ECA25702}"/>
              </a:ext>
            </a:extLst>
          </p:cNvPr>
          <p:cNvSpPr>
            <a:spLocks xmlns:a="http://schemas.openxmlformats.org/drawingml/2006/main" noGrp="1"/>
          </p:cNvSpPr>
          <p:nvPr/>
        </p:nvSpPr>
        <p:spPr>
          <a:xfrm xmlns:a="http://schemas.openxmlformats.org/drawingml/2006/main">
            <a:off x="4476750" y="29432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Preventable cases, 37.65%</a:t>
            </a:r>
          </a:p>
        </p:txBody>
      </p:sp>
      <p:sp>
        <p:nvSpPr>
          <p:cNvPr id="8" name="integration-115">
            <a:extLst xmlns:a="http://schemas.openxmlformats.org/drawingml/2006/main">
              <a:ext uri="{FF2B5EF4-FFF2-40B4-BE49-F238E27FC236}">
                <a16:creationId xmlns:a16="http://schemas.microsoft.com/office/drawing/2014/main" id="{76C93EC0-7287-4CB2-AE75-16E2D3776C17}"/>
              </a:ext>
            </a:extLst>
          </p:cNvPr>
          <p:cNvSpPr>
            <a:spLocks xmlns:a="http://schemas.openxmlformats.org/drawingml/2006/main" noGrp="1"/>
          </p:cNvSpPr>
          <p:nvPr/>
        </p:nvSpPr>
        <p:spPr>
          <a:xfrm xmlns:a="http://schemas.openxmlformats.org/drawingml/2006/main">
            <a:off x="8382000" y="21812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800" b="1">
                <a:solidFill>
                  <a:srgbClr val="3DDCF5"/>
                </a:solidFill>
                <a:latin typeface="Arial"/>
                <a:ea typeface="Arial"/>
                <a:cs typeface="Arial"/>
              </a:defRPr>
            </a:lvl1pPr>
            <a:lvl2pPr>
              <a:buNone/>
              <a:defRPr sz="4800" b="1">
                <a:solidFill>
                  <a:srgbClr val="3DDCF5"/>
                </a:solidFill>
                <a:latin typeface="Arial"/>
                <a:ea typeface="Arial"/>
                <a:cs typeface="Arial"/>
              </a:defRPr>
            </a:lvl2pPr>
            <a:lvl3pPr>
              <a:buNone/>
              <a:defRPr sz="4800" b="1">
                <a:solidFill>
                  <a:srgbClr val="3DDCF5"/>
                </a:solidFill>
                <a:latin typeface="Arial"/>
                <a:ea typeface="Arial"/>
                <a:cs typeface="Arial"/>
              </a:defRPr>
            </a:lvl3pPr>
            <a:lvl4pPr>
              <a:buNone/>
              <a:defRPr sz="4800" b="1">
                <a:solidFill>
                  <a:srgbClr val="3DDCF5"/>
                </a:solidFill>
                <a:latin typeface="Arial"/>
                <a:ea typeface="Arial"/>
                <a:cs typeface="Arial"/>
              </a:defRPr>
            </a:lvl4pPr>
            <a:lvl5pPr>
              <a:buNone/>
              <a:defRPr sz="4800" b="1">
                <a:solidFill>
                  <a:srgbClr val="3DDCF5"/>
                </a:solidFill>
                <a:latin typeface="Arial"/>
                <a:ea typeface="Arial"/>
                <a:cs typeface="Arial"/>
              </a:defRPr>
            </a:lvl5pPr>
            <a:lvl6pPr>
              <a:buNone/>
              <a:defRPr sz="4800" b="1">
                <a:solidFill>
                  <a:srgbClr val="3DDCF5"/>
                </a:solidFill>
                <a:latin typeface="Arial"/>
                <a:ea typeface="Arial"/>
                <a:cs typeface="Arial"/>
              </a:defRPr>
            </a:lvl6pPr>
            <a:lvl7pPr>
              <a:buNone/>
              <a:defRPr sz="4800" b="1">
                <a:solidFill>
                  <a:srgbClr val="3DDCF5"/>
                </a:solidFill>
                <a:latin typeface="Arial"/>
                <a:ea typeface="Arial"/>
                <a:cs typeface="Arial"/>
              </a:defRPr>
            </a:lvl7pPr>
            <a:lvl8pPr>
              <a:buNone/>
              <a:defRPr sz="4800" b="1">
                <a:solidFill>
                  <a:srgbClr val="3DDCF5"/>
                </a:solidFill>
                <a:latin typeface="Arial"/>
                <a:ea typeface="Arial"/>
                <a:cs typeface="Arial"/>
              </a:defRPr>
            </a:lvl8pPr>
            <a:lvl9pPr>
              <a:buNone/>
              <a:defRPr sz="4800" b="1">
                <a:solidFill>
                  <a:srgbClr val="3DDCF5"/>
                </a:solidFill>
                <a:latin typeface="Arial"/>
                <a:ea typeface="Arial"/>
                <a:cs typeface="Arial"/>
              </a:defRPr>
            </a:lvl9pPr>
          </a:lstStyle>
          <a:p xmlns:a="http://schemas.openxmlformats.org/drawingml/2006/main">
            <a:pPr>
              <a:buNone/>
              <a:defRPr sz="4800" b="1">
                <a:solidFill>
                  <a:srgbClr val="3DDCF5"/>
                </a:solidFill>
                <a:latin typeface="Arial"/>
                <a:ea typeface="Arial"/>
                <a:cs typeface="Arial"/>
              </a:defRPr>
            </a:pPr>
            <a:r>
              <a:rPr sz="4800" b="1">
                <a:solidFill>
                  <a:srgbClr val="3DDCF5"/>
                </a:solidFill>
                <a:latin typeface="Arial"/>
                <a:ea typeface="Arial"/>
                <a:cs typeface="Arial"/>
              </a:rPr>
              <a:t>54</a:t>
            </a:r>
          </a:p>
        </p:txBody>
      </p:sp>
      <p:sp>
        <p:nvSpPr>
          <p:cNvPr id="9" name="integration-116">
            <a:extLst xmlns:a="http://schemas.openxmlformats.org/drawingml/2006/main">
              <a:ext uri="{FF2B5EF4-FFF2-40B4-BE49-F238E27FC236}">
                <a16:creationId xmlns:a16="http://schemas.microsoft.com/office/drawing/2014/main" id="{9E4A2385-AB6C-4029-8E1A-FCD80ACC389F}"/>
              </a:ext>
            </a:extLst>
          </p:cNvPr>
          <p:cNvSpPr>
            <a:spLocks xmlns:a="http://schemas.openxmlformats.org/drawingml/2006/main" noGrp="1"/>
          </p:cNvSpPr>
          <p:nvPr/>
        </p:nvSpPr>
        <p:spPr>
          <a:xfrm xmlns:a="http://schemas.openxmlformats.org/drawingml/2006/main">
            <a:off x="8382000" y="29432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At-fault cases, 31.76%</a:t>
            </a:r>
          </a:p>
        </p:txBody>
      </p:sp>
      <p:sp>
        <p:nvSpPr>
          <p:cNvPr id="10" name="integration-117">
            <a:extLst xmlns:a="http://schemas.openxmlformats.org/drawingml/2006/main">
              <a:ext uri="{FF2B5EF4-FFF2-40B4-BE49-F238E27FC236}">
                <a16:creationId xmlns:a16="http://schemas.microsoft.com/office/drawing/2014/main" id="{38AB6F58-8222-4BC2-95B5-C62E1E8028FC}"/>
              </a:ext>
            </a:extLst>
          </p:cNvPr>
          <p:cNvSpPr>
            <a:spLocks xmlns:a="http://schemas.openxmlformats.org/drawingml/2006/main" noGrp="1"/>
          </p:cNvSpPr>
          <p:nvPr/>
        </p:nvSpPr>
        <p:spPr>
          <a:xfrm xmlns:a="http://schemas.openxmlformats.org/drawingml/2006/main">
            <a:off x="571500" y="3962400"/>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800" b="1">
                <a:solidFill>
                  <a:srgbClr val="3DDCF5"/>
                </a:solidFill>
                <a:latin typeface="Arial"/>
                <a:ea typeface="Arial"/>
                <a:cs typeface="Arial"/>
              </a:defRPr>
            </a:lvl1pPr>
            <a:lvl2pPr>
              <a:buNone/>
              <a:defRPr sz="4800" b="1">
                <a:solidFill>
                  <a:srgbClr val="3DDCF5"/>
                </a:solidFill>
                <a:latin typeface="Arial"/>
                <a:ea typeface="Arial"/>
                <a:cs typeface="Arial"/>
              </a:defRPr>
            </a:lvl2pPr>
            <a:lvl3pPr>
              <a:buNone/>
              <a:defRPr sz="4800" b="1">
                <a:solidFill>
                  <a:srgbClr val="3DDCF5"/>
                </a:solidFill>
                <a:latin typeface="Arial"/>
                <a:ea typeface="Arial"/>
                <a:cs typeface="Arial"/>
              </a:defRPr>
            </a:lvl3pPr>
            <a:lvl4pPr>
              <a:buNone/>
              <a:defRPr sz="4800" b="1">
                <a:solidFill>
                  <a:srgbClr val="3DDCF5"/>
                </a:solidFill>
                <a:latin typeface="Arial"/>
                <a:ea typeface="Arial"/>
                <a:cs typeface="Arial"/>
              </a:defRPr>
            </a:lvl4pPr>
            <a:lvl5pPr>
              <a:buNone/>
              <a:defRPr sz="4800" b="1">
                <a:solidFill>
                  <a:srgbClr val="3DDCF5"/>
                </a:solidFill>
                <a:latin typeface="Arial"/>
                <a:ea typeface="Arial"/>
                <a:cs typeface="Arial"/>
              </a:defRPr>
            </a:lvl5pPr>
            <a:lvl6pPr>
              <a:buNone/>
              <a:defRPr sz="4800" b="1">
                <a:solidFill>
                  <a:srgbClr val="3DDCF5"/>
                </a:solidFill>
                <a:latin typeface="Arial"/>
                <a:ea typeface="Arial"/>
                <a:cs typeface="Arial"/>
              </a:defRPr>
            </a:lvl6pPr>
            <a:lvl7pPr>
              <a:buNone/>
              <a:defRPr sz="4800" b="1">
                <a:solidFill>
                  <a:srgbClr val="3DDCF5"/>
                </a:solidFill>
                <a:latin typeface="Arial"/>
                <a:ea typeface="Arial"/>
                <a:cs typeface="Arial"/>
              </a:defRPr>
            </a:lvl7pPr>
            <a:lvl8pPr>
              <a:buNone/>
              <a:defRPr sz="4800" b="1">
                <a:solidFill>
                  <a:srgbClr val="3DDCF5"/>
                </a:solidFill>
                <a:latin typeface="Arial"/>
                <a:ea typeface="Arial"/>
                <a:cs typeface="Arial"/>
              </a:defRPr>
            </a:lvl8pPr>
            <a:lvl9pPr>
              <a:buNone/>
              <a:defRPr sz="4800" b="1">
                <a:solidFill>
                  <a:srgbClr val="3DDCF5"/>
                </a:solidFill>
                <a:latin typeface="Arial"/>
                <a:ea typeface="Arial"/>
                <a:cs typeface="Arial"/>
              </a:defRPr>
            </a:lvl9pPr>
          </a:lstStyle>
          <a:p xmlns:a="http://schemas.openxmlformats.org/drawingml/2006/main">
            <a:pPr>
              <a:buNone/>
              <a:defRPr sz="4800" b="1">
                <a:solidFill>
                  <a:srgbClr val="3DDCF5"/>
                </a:solidFill>
                <a:latin typeface="Arial"/>
                <a:ea typeface="Arial"/>
                <a:cs typeface="Arial"/>
              </a:defRPr>
            </a:pPr>
            <a:r>
              <a:rPr sz="4800" b="1">
                <a:solidFill>
                  <a:srgbClr val="3DDCF5"/>
                </a:solidFill>
                <a:latin typeface="Arial"/>
                <a:ea typeface="Arial"/>
                <a:cs typeface="Arial"/>
              </a:rPr>
              <a:t>33</a:t>
            </a:r>
          </a:p>
        </p:txBody>
      </p:sp>
      <p:sp>
        <p:nvSpPr>
          <p:cNvPr id="11" name="integration-118">
            <a:extLst xmlns:a="http://schemas.openxmlformats.org/drawingml/2006/main">
              <a:ext uri="{FF2B5EF4-FFF2-40B4-BE49-F238E27FC236}">
                <a16:creationId xmlns:a16="http://schemas.microsoft.com/office/drawing/2014/main" id="{949E07FF-F2E6-4153-938E-1F380292B327}"/>
              </a:ext>
            </a:extLst>
          </p:cNvPr>
          <p:cNvSpPr>
            <a:spLocks xmlns:a="http://schemas.openxmlformats.org/drawingml/2006/main" noGrp="1"/>
          </p:cNvSpPr>
          <p:nvPr/>
        </p:nvSpPr>
        <p:spPr>
          <a:xfrm xmlns:a="http://schemas.openxmlformats.org/drawingml/2006/main">
            <a:off x="571500" y="47244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Cases involving injury, 19.41%</a:t>
            </a:r>
          </a:p>
        </p:txBody>
      </p:sp>
      <p:sp>
        <p:nvSpPr>
          <p:cNvPr id="12" name="integration-119">
            <a:extLst xmlns:a="http://schemas.openxmlformats.org/drawingml/2006/main">
              <a:ext uri="{FF2B5EF4-FFF2-40B4-BE49-F238E27FC236}">
                <a16:creationId xmlns:a16="http://schemas.microsoft.com/office/drawing/2014/main" id="{1AF1DA44-5EE7-4E52-836A-35B993AD22AE}"/>
              </a:ext>
            </a:extLst>
          </p:cNvPr>
          <p:cNvSpPr>
            <a:spLocks xmlns:a="http://schemas.openxmlformats.org/drawingml/2006/main" noGrp="1"/>
          </p:cNvSpPr>
          <p:nvPr/>
        </p:nvSpPr>
        <p:spPr>
          <a:xfrm xmlns:a="http://schemas.openxmlformats.org/drawingml/2006/main">
            <a:off x="4476750" y="3962400"/>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800" b="1">
                <a:solidFill>
                  <a:srgbClr val="3DDCF5"/>
                </a:solidFill>
                <a:latin typeface="Arial"/>
                <a:ea typeface="Arial"/>
                <a:cs typeface="Arial"/>
              </a:defRPr>
            </a:lvl1pPr>
            <a:lvl2pPr>
              <a:buNone/>
              <a:defRPr sz="4800" b="1">
                <a:solidFill>
                  <a:srgbClr val="3DDCF5"/>
                </a:solidFill>
                <a:latin typeface="Arial"/>
                <a:ea typeface="Arial"/>
                <a:cs typeface="Arial"/>
              </a:defRPr>
            </a:lvl2pPr>
            <a:lvl3pPr>
              <a:buNone/>
              <a:defRPr sz="4800" b="1">
                <a:solidFill>
                  <a:srgbClr val="3DDCF5"/>
                </a:solidFill>
                <a:latin typeface="Arial"/>
                <a:ea typeface="Arial"/>
                <a:cs typeface="Arial"/>
              </a:defRPr>
            </a:lvl3pPr>
            <a:lvl4pPr>
              <a:buNone/>
              <a:defRPr sz="4800" b="1">
                <a:solidFill>
                  <a:srgbClr val="3DDCF5"/>
                </a:solidFill>
                <a:latin typeface="Arial"/>
                <a:ea typeface="Arial"/>
                <a:cs typeface="Arial"/>
              </a:defRPr>
            </a:lvl4pPr>
            <a:lvl5pPr>
              <a:buNone/>
              <a:defRPr sz="4800" b="1">
                <a:solidFill>
                  <a:srgbClr val="3DDCF5"/>
                </a:solidFill>
                <a:latin typeface="Arial"/>
                <a:ea typeface="Arial"/>
                <a:cs typeface="Arial"/>
              </a:defRPr>
            </a:lvl5pPr>
            <a:lvl6pPr>
              <a:buNone/>
              <a:defRPr sz="4800" b="1">
                <a:solidFill>
                  <a:srgbClr val="3DDCF5"/>
                </a:solidFill>
                <a:latin typeface="Arial"/>
                <a:ea typeface="Arial"/>
                <a:cs typeface="Arial"/>
              </a:defRPr>
            </a:lvl6pPr>
            <a:lvl7pPr>
              <a:buNone/>
              <a:defRPr sz="4800" b="1">
                <a:solidFill>
                  <a:srgbClr val="3DDCF5"/>
                </a:solidFill>
                <a:latin typeface="Arial"/>
                <a:ea typeface="Arial"/>
                <a:cs typeface="Arial"/>
              </a:defRPr>
            </a:lvl7pPr>
            <a:lvl8pPr>
              <a:buNone/>
              <a:defRPr sz="4800" b="1">
                <a:solidFill>
                  <a:srgbClr val="3DDCF5"/>
                </a:solidFill>
                <a:latin typeface="Arial"/>
                <a:ea typeface="Arial"/>
                <a:cs typeface="Arial"/>
              </a:defRPr>
            </a:lvl8pPr>
            <a:lvl9pPr>
              <a:buNone/>
              <a:defRPr sz="4800" b="1">
                <a:solidFill>
                  <a:srgbClr val="3DDCF5"/>
                </a:solidFill>
                <a:latin typeface="Arial"/>
                <a:ea typeface="Arial"/>
                <a:cs typeface="Arial"/>
              </a:defRPr>
            </a:lvl9pPr>
          </a:lstStyle>
          <a:p xmlns:a="http://schemas.openxmlformats.org/drawingml/2006/main">
            <a:pPr>
              <a:buNone/>
              <a:defRPr sz="4800" b="1">
                <a:solidFill>
                  <a:srgbClr val="3DDCF5"/>
                </a:solidFill>
                <a:latin typeface="Arial"/>
                <a:ea typeface="Arial"/>
                <a:cs typeface="Arial"/>
              </a:defRPr>
            </a:pPr>
            <a:r>
              <a:rPr sz="4800" b="1">
                <a:solidFill>
                  <a:srgbClr val="3DDCF5"/>
                </a:solidFill>
                <a:latin typeface="Arial"/>
                <a:ea typeface="Arial"/>
                <a:cs typeface="Arial"/>
              </a:rPr>
              <a:t>$2.65M</a:t>
            </a:r>
          </a:p>
        </p:txBody>
      </p:sp>
      <p:sp>
        <p:nvSpPr>
          <p:cNvPr id="13" name="integration-120">
            <a:extLst xmlns:a="http://schemas.openxmlformats.org/drawingml/2006/main">
              <a:ext uri="{FF2B5EF4-FFF2-40B4-BE49-F238E27FC236}">
                <a16:creationId xmlns:a16="http://schemas.microsoft.com/office/drawing/2014/main" id="{93D26EE9-3EBC-46D8-9D1C-1AD778760DEA}"/>
              </a:ext>
            </a:extLst>
          </p:cNvPr>
          <p:cNvSpPr>
            <a:spLocks xmlns:a="http://schemas.openxmlformats.org/drawingml/2006/main" noGrp="1"/>
          </p:cNvSpPr>
          <p:nvPr/>
        </p:nvSpPr>
        <p:spPr>
          <a:xfrm xmlns:a="http://schemas.openxmlformats.org/drawingml/2006/main">
            <a:off x="4476750" y="47244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Recorded vehicle and cargo damage</a:t>
            </a:r>
          </a:p>
        </p:txBody>
      </p:sp>
      <p:sp>
        <p:nvSpPr>
          <p:cNvPr id="14" name="integration-121">
            <a:extLst xmlns:a="http://schemas.openxmlformats.org/drawingml/2006/main">
              <a:ext uri="{FF2B5EF4-FFF2-40B4-BE49-F238E27FC236}">
                <a16:creationId xmlns:a16="http://schemas.microsoft.com/office/drawing/2014/main" id="{DAC1F986-FDE1-48C4-951A-A08F54E5AA94}"/>
              </a:ext>
            </a:extLst>
          </p:cNvPr>
          <p:cNvSpPr>
            <a:spLocks xmlns:a="http://schemas.openxmlformats.org/drawingml/2006/main" noGrp="1"/>
          </p:cNvSpPr>
          <p:nvPr/>
        </p:nvSpPr>
        <p:spPr>
          <a:xfrm xmlns:a="http://schemas.openxmlformats.org/drawingml/2006/main">
            <a:off x="8382000" y="3962400"/>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4800" b="1">
                <a:solidFill>
                  <a:srgbClr val="3DDCF5"/>
                </a:solidFill>
                <a:latin typeface="Arial"/>
                <a:ea typeface="Arial"/>
                <a:cs typeface="Arial"/>
              </a:defRPr>
            </a:lvl1pPr>
            <a:lvl2pPr>
              <a:buNone/>
              <a:defRPr sz="4800" b="1">
                <a:solidFill>
                  <a:srgbClr val="3DDCF5"/>
                </a:solidFill>
                <a:latin typeface="Arial"/>
                <a:ea typeface="Arial"/>
                <a:cs typeface="Arial"/>
              </a:defRPr>
            </a:lvl2pPr>
            <a:lvl3pPr>
              <a:buNone/>
              <a:defRPr sz="4800" b="1">
                <a:solidFill>
                  <a:srgbClr val="3DDCF5"/>
                </a:solidFill>
                <a:latin typeface="Arial"/>
                <a:ea typeface="Arial"/>
                <a:cs typeface="Arial"/>
              </a:defRPr>
            </a:lvl3pPr>
            <a:lvl4pPr>
              <a:buNone/>
              <a:defRPr sz="4800" b="1">
                <a:solidFill>
                  <a:srgbClr val="3DDCF5"/>
                </a:solidFill>
                <a:latin typeface="Arial"/>
                <a:ea typeface="Arial"/>
                <a:cs typeface="Arial"/>
              </a:defRPr>
            </a:lvl4pPr>
            <a:lvl5pPr>
              <a:buNone/>
              <a:defRPr sz="4800" b="1">
                <a:solidFill>
                  <a:srgbClr val="3DDCF5"/>
                </a:solidFill>
                <a:latin typeface="Arial"/>
                <a:ea typeface="Arial"/>
                <a:cs typeface="Arial"/>
              </a:defRPr>
            </a:lvl5pPr>
            <a:lvl6pPr>
              <a:buNone/>
              <a:defRPr sz="4800" b="1">
                <a:solidFill>
                  <a:srgbClr val="3DDCF5"/>
                </a:solidFill>
                <a:latin typeface="Arial"/>
                <a:ea typeface="Arial"/>
                <a:cs typeface="Arial"/>
              </a:defRPr>
            </a:lvl6pPr>
            <a:lvl7pPr>
              <a:buNone/>
              <a:defRPr sz="4800" b="1">
                <a:solidFill>
                  <a:srgbClr val="3DDCF5"/>
                </a:solidFill>
                <a:latin typeface="Arial"/>
                <a:ea typeface="Arial"/>
                <a:cs typeface="Arial"/>
              </a:defRPr>
            </a:lvl7pPr>
            <a:lvl8pPr>
              <a:buNone/>
              <a:defRPr sz="4800" b="1">
                <a:solidFill>
                  <a:srgbClr val="3DDCF5"/>
                </a:solidFill>
                <a:latin typeface="Arial"/>
                <a:ea typeface="Arial"/>
                <a:cs typeface="Arial"/>
              </a:defRPr>
            </a:lvl8pPr>
            <a:lvl9pPr>
              <a:buNone/>
              <a:defRPr sz="4800" b="1">
                <a:solidFill>
                  <a:srgbClr val="3DDCF5"/>
                </a:solidFill>
                <a:latin typeface="Arial"/>
                <a:ea typeface="Arial"/>
                <a:cs typeface="Arial"/>
              </a:defRPr>
            </a:lvl9pPr>
          </a:lstStyle>
          <a:p xmlns:a="http://schemas.openxmlformats.org/drawingml/2006/main">
            <a:pPr>
              <a:buNone/>
              <a:defRPr sz="4800" b="1">
                <a:solidFill>
                  <a:srgbClr val="3DDCF5"/>
                </a:solidFill>
                <a:latin typeface="Arial"/>
                <a:ea typeface="Arial"/>
                <a:cs typeface="Arial"/>
              </a:defRPr>
            </a:pPr>
            <a:r>
              <a:rPr sz="4800" b="1">
                <a:solidFill>
                  <a:srgbClr val="3DDCF5"/>
                </a:solidFill>
                <a:latin typeface="Arial"/>
                <a:ea typeface="Arial"/>
                <a:cs typeface="Arial"/>
              </a:rPr>
              <a:t>0.89%</a:t>
            </a:r>
          </a:p>
        </p:txBody>
      </p:sp>
      <p:sp>
        <p:nvSpPr>
          <p:cNvPr id="15" name="integration-122">
            <a:extLst xmlns:a="http://schemas.openxmlformats.org/drawingml/2006/main">
              <a:ext uri="{FF2B5EF4-FFF2-40B4-BE49-F238E27FC236}">
                <a16:creationId xmlns:a16="http://schemas.microsoft.com/office/drawing/2014/main" id="{9E866510-D2E0-4BBA-B55C-0DBCC12D726D}"/>
              </a:ext>
            </a:extLst>
          </p:cNvPr>
          <p:cNvSpPr>
            <a:spLocks xmlns:a="http://schemas.openxmlformats.org/drawingml/2006/main" noGrp="1"/>
          </p:cNvSpPr>
          <p:nvPr/>
        </p:nvSpPr>
        <p:spPr>
          <a:xfrm xmlns:a="http://schemas.openxmlformats.org/drawingml/2006/main">
            <a:off x="8382000" y="47244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0">
                <a:solidFill>
                  <a:srgbClr val="A8BDD4"/>
                </a:solidFill>
                <a:latin typeface="Arial"/>
                <a:ea typeface="Arial"/>
                <a:cs typeface="Arial"/>
              </a:defRPr>
            </a:lvl1pPr>
            <a:lvl2pPr>
              <a:buNone/>
              <a:defRPr sz="1650" b="0">
                <a:solidFill>
                  <a:srgbClr val="A8BDD4"/>
                </a:solidFill>
                <a:latin typeface="Arial"/>
                <a:ea typeface="Arial"/>
                <a:cs typeface="Arial"/>
              </a:defRPr>
            </a:lvl2pPr>
            <a:lvl3pPr>
              <a:buNone/>
              <a:defRPr sz="1650" b="0">
                <a:solidFill>
                  <a:srgbClr val="A8BDD4"/>
                </a:solidFill>
                <a:latin typeface="Arial"/>
                <a:ea typeface="Arial"/>
                <a:cs typeface="Arial"/>
              </a:defRPr>
            </a:lvl3pPr>
            <a:lvl4pPr>
              <a:buNone/>
              <a:defRPr sz="1650" b="0">
                <a:solidFill>
                  <a:srgbClr val="A8BDD4"/>
                </a:solidFill>
                <a:latin typeface="Arial"/>
                <a:ea typeface="Arial"/>
                <a:cs typeface="Arial"/>
              </a:defRPr>
            </a:lvl4pPr>
            <a:lvl5pPr>
              <a:buNone/>
              <a:defRPr sz="1650" b="0">
                <a:solidFill>
                  <a:srgbClr val="A8BDD4"/>
                </a:solidFill>
                <a:latin typeface="Arial"/>
                <a:ea typeface="Arial"/>
                <a:cs typeface="Arial"/>
              </a:defRPr>
            </a:lvl5pPr>
            <a:lvl6pPr>
              <a:buNone/>
              <a:defRPr sz="1650" b="0">
                <a:solidFill>
                  <a:srgbClr val="A8BDD4"/>
                </a:solidFill>
                <a:latin typeface="Arial"/>
                <a:ea typeface="Arial"/>
                <a:cs typeface="Arial"/>
              </a:defRPr>
            </a:lvl6pPr>
            <a:lvl7pPr>
              <a:buNone/>
              <a:defRPr sz="1650" b="0">
                <a:solidFill>
                  <a:srgbClr val="A8BDD4"/>
                </a:solidFill>
                <a:latin typeface="Arial"/>
                <a:ea typeface="Arial"/>
                <a:cs typeface="Arial"/>
              </a:defRPr>
            </a:lvl7pPr>
            <a:lvl8pPr>
              <a:buNone/>
              <a:defRPr sz="1650" b="0">
                <a:solidFill>
                  <a:srgbClr val="A8BDD4"/>
                </a:solidFill>
                <a:latin typeface="Arial"/>
                <a:ea typeface="Arial"/>
                <a:cs typeface="Arial"/>
              </a:defRPr>
            </a:lvl8pPr>
            <a:lvl9pPr>
              <a:buNone/>
              <a:defRPr sz="1650" b="0">
                <a:solidFill>
                  <a:srgbClr val="A8BDD4"/>
                </a:solidFill>
                <a:latin typeface="Arial"/>
                <a:ea typeface="Arial"/>
                <a:cs typeface="Arial"/>
              </a:defRPr>
            </a:lvl9pPr>
          </a:lstStyle>
          <a:p xmlns:a="http://schemas.openxmlformats.org/drawingml/2006/main">
            <a:pPr>
              <a:buNone/>
              <a:defRPr sz="1650" b="0">
                <a:solidFill>
                  <a:srgbClr val="A8BDD4"/>
                </a:solidFill>
                <a:latin typeface="Arial"/>
                <a:ea typeface="Arial"/>
                <a:cs typeface="Arial"/>
              </a:defRPr>
            </a:pPr>
            <a:r>
              <a:rPr sz="1650" b="0">
                <a:solidFill>
                  <a:srgbClr val="A8BDD4"/>
                </a:solidFill>
                <a:latin typeface="Arial"/>
                <a:ea typeface="Arial"/>
                <a:cs typeface="Arial"/>
              </a:rPr>
              <a:t>Damage cost / total revenue</a:t>
            </a:r>
          </a:p>
        </p:txBody>
      </p:sp>
      <p:sp>
        <p:nvSpPr>
          <p:cNvPr id="16" name="integration-130">
            <a:extLst xmlns:a="http://schemas.openxmlformats.org/drawingml/2006/main">
              <a:ext uri="{FF2B5EF4-FFF2-40B4-BE49-F238E27FC236}">
                <a16:creationId xmlns:a16="http://schemas.microsoft.com/office/drawing/2014/main" id="{6ACDACB9-BAC1-4988-9FD4-99FA2D529C14}"/>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A06</a:t>
            </a:r>
          </a:p>
        </p:txBody>
      </p:sp>
    </p:spTree>
    <p:extLst>
      <p:ext uri="{BB962C8B-B14F-4D97-AF65-F5344CB8AC3E}">
        <p14:creationId xmlns:p14="http://schemas.microsoft.com/office/powerpoint/2010/main" val="994801516"/>
      </p:ext>
    </p:extLst>
  </p:cSld>
</p:sld>
</file>

<file path=ppt/slides/slide36.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graphicFrame>
        <p:nvGraphicFramePr>
          <p:cNvPr id="20" name="Chart"/>
          <p:cNvGraphicFramePr/>
          <p:nvPr/>
        </p:nvGraphicFramePr>
        <p:xfrm>
          <a:off xmlns:a="http://schemas.openxmlformats.org/drawingml/2006/main" x="381000" y="2362200"/>
          <a:ext xmlns:a="http://schemas.openxmlformats.org/drawingml/2006/main" cx="7143750" cy="3333750"/>
        </p:xfrm>
        <a:graphic xmlns:a="http://schemas.openxmlformats.org/drawingml/2006/main">
          <a:graphicData uri="http://schemas.openxmlformats.org/drawingml/2006/chart">
            <c:chart xmlns:r="http://schemas.openxmlformats.org/officeDocument/2006/relationships" xmlns:c="http://schemas.openxmlformats.org/drawingml/2006/chart" r:id="R229a59f76743434e"/>
          </a:graphicData>
        </a:graphic>
      </p:graphicFrame>
      <p:sp>
        <p:nvSpPr>
          <p:cNvPr id="11" name="">
            <a:extLst xmlns:a="http://schemas.openxmlformats.org/drawingml/2006/main">
              <a:ext uri="{FF2B5EF4-FFF2-40B4-BE49-F238E27FC236}">
                <a16:creationId xmlns:a16="http://schemas.microsoft.com/office/drawing/2014/main" id="{04E7F99B-E9C6-44B0-BDC0-B2AA1639FB91}"/>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APPENDIX: SUPPORTING EVIDENCE</a:t>
            </a:r>
          </a:p>
        </p:txBody>
      </p:sp>
      <p:sp>
        <p:nvSpPr>
          <p:cNvPr id="2" name="">
            <a:extLst xmlns:a="http://schemas.openxmlformats.org/drawingml/2006/main">
              <a:ext uri="{FF2B5EF4-FFF2-40B4-BE49-F238E27FC236}">
                <a16:creationId xmlns:a16="http://schemas.microsoft.com/office/drawing/2014/main" id="{99E2401B-7DDE-42C6-84D8-05D42486A8ED}"/>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150" b="1">
                <a:solidFill>
                  <a:srgbClr val="F2F6FF"/>
                </a:solidFill>
                <a:latin typeface="Arial"/>
                <a:ea typeface="Arial"/>
                <a:cs typeface="Arial"/>
              </a:defRPr>
            </a:pPr>
            <a:r>
              <a:rPr sz="3150" b="1">
                <a:solidFill>
                  <a:srgbClr val="F2F6FF"/>
                </a:solidFill>
                <a:latin typeface="Arial"/>
                <a:ea typeface="Arial"/>
                <a:cs typeface="Arial"/>
              </a:rPr>
              <a:t>Scenario audit at fallback inputs</a:t>
            </a:r>
          </a:p>
        </p:txBody>
      </p:sp>
      <p:sp>
        <p:nvSpPr>
          <p:cNvPr id="10" name="">
            <a:extLst xmlns:a="http://schemas.openxmlformats.org/drawingml/2006/main">
              <a:ext uri="{FF2B5EF4-FFF2-40B4-BE49-F238E27FC236}">
                <a16:creationId xmlns:a16="http://schemas.microsoft.com/office/drawing/2014/main" id="{C55ED8E5-0B74-453C-BC32-FD6E09F508DA}"/>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A07</a:t>
            </a:r>
          </a:p>
        </p:txBody>
      </p:sp>
      <p:sp>
        <p:nvSpPr>
          <p:cNvPr id="9" name="">
            <a:extLst xmlns:a="http://schemas.openxmlformats.org/drawingml/2006/main">
              <a:ext uri="{FF2B5EF4-FFF2-40B4-BE49-F238E27FC236}">
                <a16:creationId xmlns:a16="http://schemas.microsoft.com/office/drawing/2014/main" id="{02304D5F-E44A-481A-B950-F4E06CC08AD1}"/>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Baseline fuel: $3.8987/gal. Fallback scenario fuel: $3.25/gal.</a:t>
            </a:r>
          </a:p>
        </p:txBody>
      </p:sp>
      <p:sp>
        <p:nvSpPr>
          <p:cNvPr id="3" name="">
            <a:extLst xmlns:a="http://schemas.openxmlformats.org/drawingml/2006/main">
              <a:ext uri="{FF2B5EF4-FFF2-40B4-BE49-F238E27FC236}">
                <a16:creationId xmlns:a16="http://schemas.microsoft.com/office/drawing/2014/main" id="{761D4685-3ACD-4181-A74B-0EE6947A015C}"/>
              </a:ext>
            </a:extLst>
          </p:cNvPr>
          <p:cNvSpPr>
            <a:spLocks xmlns:a="http://schemas.openxmlformats.org/drawingml/2006/main" noGrp="1"/>
          </p:cNvSpPr>
          <p:nvPr/>
        </p:nvSpPr>
        <p:spPr>
          <a:xfrm xmlns:a="http://schemas.openxmlformats.org/drawingml/2006/main">
            <a:off x="571500" y="2009775"/>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650" b="1">
                <a:solidFill>
                  <a:srgbClr val="546B7C"/>
                </a:solidFill>
                <a:latin typeface="Arial"/>
                <a:ea typeface="Arial"/>
                <a:cs typeface="Arial"/>
              </a:defRPr>
            </a:lvl1pPr>
            <a:lvl2pPr>
              <a:buNone/>
              <a:defRPr sz="1650" b="1">
                <a:solidFill>
                  <a:srgbClr val="546B7C"/>
                </a:solidFill>
                <a:latin typeface="Arial"/>
                <a:ea typeface="Arial"/>
                <a:cs typeface="Arial"/>
              </a:defRPr>
            </a:lvl2pPr>
            <a:lvl3pPr>
              <a:buNone/>
              <a:defRPr sz="1650" b="1">
                <a:solidFill>
                  <a:srgbClr val="546B7C"/>
                </a:solidFill>
                <a:latin typeface="Arial"/>
                <a:ea typeface="Arial"/>
                <a:cs typeface="Arial"/>
              </a:defRPr>
            </a:lvl3pPr>
            <a:lvl4pPr>
              <a:buNone/>
              <a:defRPr sz="1650" b="1">
                <a:solidFill>
                  <a:srgbClr val="546B7C"/>
                </a:solidFill>
                <a:latin typeface="Arial"/>
                <a:ea typeface="Arial"/>
                <a:cs typeface="Arial"/>
              </a:defRPr>
            </a:lvl4pPr>
            <a:lvl5pPr>
              <a:buNone/>
              <a:defRPr sz="1650" b="1">
                <a:solidFill>
                  <a:srgbClr val="546B7C"/>
                </a:solidFill>
                <a:latin typeface="Arial"/>
                <a:ea typeface="Arial"/>
                <a:cs typeface="Arial"/>
              </a:defRPr>
            </a:lvl5pPr>
            <a:lvl6pPr>
              <a:buNone/>
              <a:defRPr sz="1650" b="1">
                <a:solidFill>
                  <a:srgbClr val="546B7C"/>
                </a:solidFill>
                <a:latin typeface="Arial"/>
                <a:ea typeface="Arial"/>
                <a:cs typeface="Arial"/>
              </a:defRPr>
            </a:lvl6pPr>
            <a:lvl7pPr>
              <a:buNone/>
              <a:defRPr sz="1650" b="1">
                <a:solidFill>
                  <a:srgbClr val="546B7C"/>
                </a:solidFill>
                <a:latin typeface="Arial"/>
                <a:ea typeface="Arial"/>
                <a:cs typeface="Arial"/>
              </a:defRPr>
            </a:lvl7pPr>
            <a:lvl8pPr>
              <a:buNone/>
              <a:defRPr sz="1650" b="1">
                <a:solidFill>
                  <a:srgbClr val="546B7C"/>
                </a:solidFill>
                <a:latin typeface="Arial"/>
                <a:ea typeface="Arial"/>
                <a:cs typeface="Arial"/>
              </a:defRPr>
            </a:lvl8pPr>
            <a:lvl9pPr>
              <a:buNone/>
              <a:defRPr sz="1650" b="1">
                <a:solidFill>
                  <a:srgbClr val="546B7C"/>
                </a:solidFill>
                <a:latin typeface="Arial"/>
                <a:ea typeface="Arial"/>
                <a:cs typeface="Arial"/>
              </a:defRPr>
            </a:lvl9pPr>
          </a:lstStyle>
          <a:p xmlns:a="http://schemas.openxmlformats.org/drawingml/2006/main">
            <a:pPr>
              <a:buNone/>
              <a:defRPr sz="1575" b="1">
                <a:solidFill>
                  <a:srgbClr val="A8BDD4"/>
                </a:solidFill>
                <a:latin typeface="Arial"/>
                <a:ea typeface="Arial"/>
                <a:cs typeface="Arial"/>
              </a:defRPr>
            </a:pPr>
            <a:r>
              <a:rPr sz="1575" b="1">
                <a:solidFill>
                  <a:srgbClr val="A8BDD4"/>
                </a:solidFill>
                <a:latin typeface="Arial"/>
                <a:ea typeface="Arial"/>
                <a:cs typeface="Arial"/>
              </a:rPr>
              <a:t>Baseline and fallback scenarios, $M</a:t>
            </a:r>
          </a:p>
        </p:txBody>
      </p:sp>
      <p:sp>
        <p:nvSpPr>
          <p:cNvPr id="12" name="callout-panel-88">
            <a:extLst xmlns:a="http://schemas.openxmlformats.org/drawingml/2006/main">
              <a:ext uri="{FF2B5EF4-FFF2-40B4-BE49-F238E27FC236}">
                <a16:creationId xmlns:a16="http://schemas.microsoft.com/office/drawing/2014/main" id="{04EE58AF-262B-42F4-83DD-3B44FAF3D67F}"/>
              </a:ext>
            </a:extLst>
          </p:cNvPr>
          <p:cNvSpPr>
            <a:spLocks xmlns:a="http://schemas.openxmlformats.org/drawingml/2006/main" noGrp="1"/>
          </p:cNvSpPr>
          <p:nvPr/>
        </p:nvSpPr>
        <p:spPr>
          <a:xfrm xmlns:a="http://schemas.openxmlformats.org/drawingml/2006/main">
            <a:off x="7762875" y="1943100"/>
            <a:ext cx="4000500" cy="3838575"/>
          </a:xfrm>
          <a:prstGeom xmlns:a="http://schemas.openxmlformats.org/drawingml/2006/main" prst="rect">
            <a:avLst/>
          </a:prstGeom>
          <a:solidFill xmlns:a="http://schemas.openxmlformats.org/drawingml/2006/main">
            <a:srgbClr val="0B182A"/>
          </a:solidFill>
          <a:ln xmlns:a="http://schemas.openxmlformats.org/drawingml/2006/main" w="0">
            <a:noFill/>
          </a:ln>
        </p:spPr>
      </p:sp>
      <p:sp>
        <p:nvSpPr>
          <p:cNvPr id="13" name="callout-rule-89">
            <a:extLst xmlns:a="http://schemas.openxmlformats.org/drawingml/2006/main">
              <a:ext uri="{FF2B5EF4-FFF2-40B4-BE49-F238E27FC236}">
                <a16:creationId xmlns:a16="http://schemas.microsoft.com/office/drawing/2014/main" id="{E8DE32FF-19F5-4EA1-8A50-D377A68F2660}"/>
              </a:ext>
            </a:extLst>
          </p:cNvPr>
          <p:cNvSpPr>
            <a:spLocks xmlns:a="http://schemas.openxmlformats.org/drawingml/2006/main" noGrp="1"/>
          </p:cNvSpPr>
          <p:nvPr/>
        </p:nvSpPr>
        <p:spPr>
          <a:xfrm xmlns:a="http://schemas.openxmlformats.org/drawingml/2006/main">
            <a:off x="7762875" y="1943100"/>
            <a:ext cx="495300" cy="19050"/>
          </a:xfrm>
          <a:prstGeom xmlns:a="http://schemas.openxmlformats.org/drawingml/2006/main" prst="rect">
            <a:avLst/>
          </a:prstGeom>
          <a:solidFill xmlns:a="http://schemas.openxmlformats.org/drawingml/2006/main">
            <a:srgbClr val="3278FF"/>
          </a:solidFill>
          <a:ln xmlns:a="http://schemas.openxmlformats.org/drawingml/2006/main" w="0">
            <a:noFill/>
          </a:ln>
        </p:spPr>
      </p:sp>
      <p:sp>
        <p:nvSpPr>
          <p:cNvPr id="14" name="callout-rule-90">
            <a:extLst xmlns:a="http://schemas.openxmlformats.org/drawingml/2006/main">
              <a:ext uri="{FF2B5EF4-FFF2-40B4-BE49-F238E27FC236}">
                <a16:creationId xmlns:a16="http://schemas.microsoft.com/office/drawing/2014/main" id="{A49E64F8-CC72-4D35-9CFC-BF69EF180D54}"/>
              </a:ext>
            </a:extLst>
          </p:cNvPr>
          <p:cNvSpPr>
            <a:spLocks xmlns:a="http://schemas.openxmlformats.org/drawingml/2006/main" noGrp="1"/>
          </p:cNvSpPr>
          <p:nvPr/>
        </p:nvSpPr>
        <p:spPr>
          <a:xfrm xmlns:a="http://schemas.openxmlformats.org/drawingml/2006/main">
            <a:off x="7762875" y="3895725"/>
            <a:ext cx="49530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
        <p:nvSpPr>
          <p:cNvPr id="15" name="enhancement-91">
            <a:extLst xmlns:a="http://schemas.openxmlformats.org/drawingml/2006/main">
              <a:ext uri="{FF2B5EF4-FFF2-40B4-BE49-F238E27FC236}">
                <a16:creationId xmlns:a16="http://schemas.microsoft.com/office/drawing/2014/main" id="{3EBC0152-3686-4E05-9F57-26D73319C43F}"/>
              </a:ext>
            </a:extLst>
          </p:cNvPr>
          <p:cNvSpPr>
            <a:spLocks xmlns:a="http://schemas.openxmlformats.org/drawingml/2006/main" noGrp="1"/>
          </p:cNvSpPr>
          <p:nvPr/>
        </p:nvSpPr>
        <p:spPr>
          <a:xfrm xmlns:a="http://schemas.openxmlformats.org/drawingml/2006/main">
            <a:off x="7972425" y="2028825"/>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278FF"/>
                </a:solidFill>
                <a:latin typeface="Arial"/>
                <a:ea typeface="Arial"/>
                <a:cs typeface="Arial"/>
              </a:defRPr>
            </a:lvl1pPr>
            <a:lvl2pPr>
              <a:buNone/>
              <a:defRPr sz="1575" b="1">
                <a:solidFill>
                  <a:srgbClr val="3278FF"/>
                </a:solidFill>
                <a:latin typeface="Arial"/>
                <a:ea typeface="Arial"/>
                <a:cs typeface="Arial"/>
              </a:defRPr>
            </a:lvl2pPr>
            <a:lvl3pPr>
              <a:buNone/>
              <a:defRPr sz="1575" b="1">
                <a:solidFill>
                  <a:srgbClr val="3278FF"/>
                </a:solidFill>
                <a:latin typeface="Arial"/>
                <a:ea typeface="Arial"/>
                <a:cs typeface="Arial"/>
              </a:defRPr>
            </a:lvl3pPr>
            <a:lvl4pPr>
              <a:buNone/>
              <a:defRPr sz="1575" b="1">
                <a:solidFill>
                  <a:srgbClr val="3278FF"/>
                </a:solidFill>
                <a:latin typeface="Arial"/>
                <a:ea typeface="Arial"/>
                <a:cs typeface="Arial"/>
              </a:defRPr>
            </a:lvl4pPr>
            <a:lvl5pPr>
              <a:buNone/>
              <a:defRPr sz="1575" b="1">
                <a:solidFill>
                  <a:srgbClr val="3278FF"/>
                </a:solidFill>
                <a:latin typeface="Arial"/>
                <a:ea typeface="Arial"/>
                <a:cs typeface="Arial"/>
              </a:defRPr>
            </a:lvl5pPr>
            <a:lvl6pPr>
              <a:buNone/>
              <a:defRPr sz="1575" b="1">
                <a:solidFill>
                  <a:srgbClr val="3278FF"/>
                </a:solidFill>
                <a:latin typeface="Arial"/>
                <a:ea typeface="Arial"/>
                <a:cs typeface="Arial"/>
              </a:defRPr>
            </a:lvl6pPr>
            <a:lvl7pPr>
              <a:buNone/>
              <a:defRPr sz="1575" b="1">
                <a:solidFill>
                  <a:srgbClr val="3278FF"/>
                </a:solidFill>
                <a:latin typeface="Arial"/>
                <a:ea typeface="Arial"/>
                <a:cs typeface="Arial"/>
              </a:defRPr>
            </a:lvl7pPr>
            <a:lvl8pPr>
              <a:buNone/>
              <a:defRPr sz="1575" b="1">
                <a:solidFill>
                  <a:srgbClr val="3278FF"/>
                </a:solidFill>
                <a:latin typeface="Arial"/>
                <a:ea typeface="Arial"/>
                <a:cs typeface="Arial"/>
              </a:defRPr>
            </a:lvl8pPr>
            <a:lvl9pPr>
              <a:buNone/>
              <a:defRPr sz="1575" b="1">
                <a:solidFill>
                  <a:srgbClr val="3278FF"/>
                </a:solidFill>
                <a:latin typeface="Arial"/>
                <a:ea typeface="Arial"/>
                <a:cs typeface="Arial"/>
              </a:defRPr>
            </a:lvl9pPr>
          </a:lstStyle>
          <a:p xmlns:a="http://schemas.openxmlformats.org/drawingml/2006/main">
            <a:pPr>
              <a:buNone/>
              <a:defRPr sz="1575" b="1">
                <a:solidFill>
                  <a:srgbClr val="3278FF"/>
                </a:solidFill>
                <a:latin typeface="Arial"/>
                <a:ea typeface="Arial"/>
                <a:cs typeface="Arial"/>
              </a:defRPr>
            </a:pPr>
            <a:r>
              <a:rPr sz="1575" b="1">
                <a:solidFill>
                  <a:srgbClr val="3278FF"/>
                </a:solidFill>
                <a:latin typeface="Arial"/>
                <a:ea typeface="Arial"/>
                <a:cs typeface="Arial"/>
              </a:rPr>
              <a:t>PROBLEM</a:t>
            </a:r>
          </a:p>
        </p:txBody>
      </p:sp>
      <p:sp>
        <p:nvSpPr>
          <p:cNvPr id="16" name="enhancement-92">
            <a:extLst xmlns:a="http://schemas.openxmlformats.org/drawingml/2006/main">
              <a:ext uri="{FF2B5EF4-FFF2-40B4-BE49-F238E27FC236}">
                <a16:creationId xmlns:a16="http://schemas.microsoft.com/office/drawing/2014/main" id="{2178B880-1660-44D6-816A-83A5857834E4}"/>
              </a:ext>
            </a:extLst>
          </p:cNvPr>
          <p:cNvSpPr>
            <a:spLocks xmlns:a="http://schemas.openxmlformats.org/drawingml/2006/main" noGrp="1"/>
          </p:cNvSpPr>
          <p:nvPr/>
        </p:nvSpPr>
        <p:spPr>
          <a:xfrm xmlns:a="http://schemas.openxmlformats.org/drawingml/2006/main">
            <a:off x="7972425" y="2514600"/>
            <a:ext cx="3581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F2F6FF"/>
                </a:solidFill>
                <a:latin typeface="Arial"/>
                <a:ea typeface="Arial"/>
                <a:cs typeface="Arial"/>
              </a:defRPr>
            </a:lvl1pPr>
            <a:lvl2pPr>
              <a:buNone/>
              <a:defRPr sz="1875" b="0">
                <a:solidFill>
                  <a:srgbClr val="F2F6FF"/>
                </a:solidFill>
                <a:latin typeface="Arial"/>
                <a:ea typeface="Arial"/>
                <a:cs typeface="Arial"/>
              </a:defRPr>
            </a:lvl2pPr>
            <a:lvl3pPr>
              <a:buNone/>
              <a:defRPr sz="1875" b="0">
                <a:solidFill>
                  <a:srgbClr val="F2F6FF"/>
                </a:solidFill>
                <a:latin typeface="Arial"/>
                <a:ea typeface="Arial"/>
                <a:cs typeface="Arial"/>
              </a:defRPr>
            </a:lvl3pPr>
            <a:lvl4pPr>
              <a:buNone/>
              <a:defRPr sz="1875" b="0">
                <a:solidFill>
                  <a:srgbClr val="F2F6FF"/>
                </a:solidFill>
                <a:latin typeface="Arial"/>
                <a:ea typeface="Arial"/>
                <a:cs typeface="Arial"/>
              </a:defRPr>
            </a:lvl4pPr>
            <a:lvl5pPr>
              <a:buNone/>
              <a:defRPr sz="1875" b="0">
                <a:solidFill>
                  <a:srgbClr val="F2F6FF"/>
                </a:solidFill>
                <a:latin typeface="Arial"/>
                <a:ea typeface="Arial"/>
                <a:cs typeface="Arial"/>
              </a:defRPr>
            </a:lvl5pPr>
            <a:lvl6pPr>
              <a:buNone/>
              <a:defRPr sz="1875" b="0">
                <a:solidFill>
                  <a:srgbClr val="F2F6FF"/>
                </a:solidFill>
                <a:latin typeface="Arial"/>
                <a:ea typeface="Arial"/>
                <a:cs typeface="Arial"/>
              </a:defRPr>
            </a:lvl6pPr>
            <a:lvl7pPr>
              <a:buNone/>
              <a:defRPr sz="1875" b="0">
                <a:solidFill>
                  <a:srgbClr val="F2F6FF"/>
                </a:solidFill>
                <a:latin typeface="Arial"/>
                <a:ea typeface="Arial"/>
                <a:cs typeface="Arial"/>
              </a:defRPr>
            </a:lvl7pPr>
            <a:lvl8pPr>
              <a:buNone/>
              <a:defRPr sz="1875" b="0">
                <a:solidFill>
                  <a:srgbClr val="F2F6FF"/>
                </a:solidFill>
                <a:latin typeface="Arial"/>
                <a:ea typeface="Arial"/>
                <a:cs typeface="Arial"/>
              </a:defRPr>
            </a:lvl8pPr>
            <a:lvl9pPr>
              <a:buNone/>
              <a:defRPr sz="1875" b="0">
                <a:solidFill>
                  <a:srgbClr val="F2F6FF"/>
                </a:solidFill>
                <a:latin typeface="Arial"/>
                <a:ea typeface="Arial"/>
                <a:cs typeface="Arial"/>
              </a:defRPr>
            </a:lvl9pPr>
          </a:lstStyle>
          <a:p xmlns:a="http://schemas.openxmlformats.org/drawingml/2006/main">
            <a:pPr>
              <a:buNone/>
              <a:defRPr sz="1875" b="0">
                <a:solidFill>
                  <a:srgbClr val="F2F6FF"/>
                </a:solidFill>
                <a:latin typeface="Arial"/>
                <a:ea typeface="Arial"/>
                <a:cs typeface="Arial"/>
              </a:defRPr>
            </a:pPr>
            <a:r>
              <a:rPr sz="1875" b="0">
                <a:solidFill>
                  <a:srgbClr val="F2F6FF"/>
                </a:solidFill>
                <a:latin typeface="Arial"/>
                <a:ea typeface="Arial"/>
                <a:cs typeface="Arial"/>
              </a:rPr>
              <a:t>Scenario Profit omits $53.41M of wages. Baseline fuel is $3.8987/gal versus $3.25 in fallback scenarios.</a:t>
            </a:r>
          </a:p>
        </p:txBody>
      </p:sp>
      <p:sp>
        <p:nvSpPr>
          <p:cNvPr id="17" name="enhancement-93">
            <a:extLst xmlns:a="http://schemas.openxmlformats.org/drawingml/2006/main">
              <a:ext uri="{FF2B5EF4-FFF2-40B4-BE49-F238E27FC236}">
                <a16:creationId xmlns:a16="http://schemas.microsoft.com/office/drawing/2014/main" id="{41AACED2-334E-4F3C-8AB1-CC2C12C4C85C}"/>
              </a:ext>
            </a:extLst>
          </p:cNvPr>
          <p:cNvSpPr>
            <a:spLocks xmlns:a="http://schemas.openxmlformats.org/drawingml/2006/main" noGrp="1"/>
          </p:cNvSpPr>
          <p:nvPr/>
        </p:nvSpPr>
        <p:spPr>
          <a:xfrm xmlns:a="http://schemas.openxmlformats.org/drawingml/2006/main">
            <a:off x="7972425" y="39814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1">
                <a:solidFill>
                  <a:srgbClr val="3DDCF5"/>
                </a:solidFill>
                <a:latin typeface="Arial"/>
                <a:ea typeface="Arial"/>
                <a:cs typeface="Arial"/>
              </a:defRPr>
            </a:lvl1pPr>
            <a:lvl2pPr>
              <a:buNone/>
              <a:defRPr sz="1575" b="1">
                <a:solidFill>
                  <a:srgbClr val="3DDCF5"/>
                </a:solidFill>
                <a:latin typeface="Arial"/>
                <a:ea typeface="Arial"/>
                <a:cs typeface="Arial"/>
              </a:defRPr>
            </a:lvl2pPr>
            <a:lvl3pPr>
              <a:buNone/>
              <a:defRPr sz="1575" b="1">
                <a:solidFill>
                  <a:srgbClr val="3DDCF5"/>
                </a:solidFill>
                <a:latin typeface="Arial"/>
                <a:ea typeface="Arial"/>
                <a:cs typeface="Arial"/>
              </a:defRPr>
            </a:lvl3pPr>
            <a:lvl4pPr>
              <a:buNone/>
              <a:defRPr sz="1575" b="1">
                <a:solidFill>
                  <a:srgbClr val="3DDCF5"/>
                </a:solidFill>
                <a:latin typeface="Arial"/>
                <a:ea typeface="Arial"/>
                <a:cs typeface="Arial"/>
              </a:defRPr>
            </a:lvl4pPr>
            <a:lvl5pPr>
              <a:buNone/>
              <a:defRPr sz="1575" b="1">
                <a:solidFill>
                  <a:srgbClr val="3DDCF5"/>
                </a:solidFill>
                <a:latin typeface="Arial"/>
                <a:ea typeface="Arial"/>
                <a:cs typeface="Arial"/>
              </a:defRPr>
            </a:lvl5pPr>
            <a:lvl6pPr>
              <a:buNone/>
              <a:defRPr sz="1575" b="1">
                <a:solidFill>
                  <a:srgbClr val="3DDCF5"/>
                </a:solidFill>
                <a:latin typeface="Arial"/>
                <a:ea typeface="Arial"/>
                <a:cs typeface="Arial"/>
              </a:defRPr>
            </a:lvl6pPr>
            <a:lvl7pPr>
              <a:buNone/>
              <a:defRPr sz="1575" b="1">
                <a:solidFill>
                  <a:srgbClr val="3DDCF5"/>
                </a:solidFill>
                <a:latin typeface="Arial"/>
                <a:ea typeface="Arial"/>
                <a:cs typeface="Arial"/>
              </a:defRPr>
            </a:lvl7pPr>
            <a:lvl8pPr>
              <a:buNone/>
              <a:defRPr sz="1575" b="1">
                <a:solidFill>
                  <a:srgbClr val="3DDCF5"/>
                </a:solidFill>
                <a:latin typeface="Arial"/>
                <a:ea typeface="Arial"/>
                <a:cs typeface="Arial"/>
              </a:defRPr>
            </a:lvl8pPr>
            <a:lvl9pPr>
              <a:buNone/>
              <a:defRPr sz="1575" b="1">
                <a:solidFill>
                  <a:srgbClr val="3DDCF5"/>
                </a:solidFill>
                <a:latin typeface="Arial"/>
                <a:ea typeface="Arial"/>
                <a:cs typeface="Arial"/>
              </a:defRPr>
            </a:lvl9pPr>
          </a:lstStyle>
          <a:p xmlns:a="http://schemas.openxmlformats.org/drawingml/2006/main">
            <a:pPr>
              <a:buNone/>
              <a:defRPr sz="1575" b="1">
                <a:solidFill>
                  <a:srgbClr val="3DDCF5"/>
                </a:solidFill>
                <a:latin typeface="Arial"/>
                <a:ea typeface="Arial"/>
                <a:cs typeface="Arial"/>
              </a:defRPr>
            </a:pPr>
            <a:r>
              <a:rPr sz="1575" b="1">
                <a:solidFill>
                  <a:srgbClr val="3DDCF5"/>
                </a:solidFill>
                <a:latin typeface="Arial"/>
                <a:ea typeface="Arial"/>
                <a:cs typeface="Arial"/>
              </a:rPr>
              <a:t>PROPOSED SOLUTION</a:t>
            </a:r>
          </a:p>
        </p:txBody>
      </p:sp>
      <p:sp>
        <p:nvSpPr>
          <p:cNvPr id="18" name="enhancement-94">
            <a:extLst xmlns:a="http://schemas.openxmlformats.org/drawingml/2006/main">
              <a:ext uri="{FF2B5EF4-FFF2-40B4-BE49-F238E27FC236}">
                <a16:creationId xmlns:a16="http://schemas.microsoft.com/office/drawing/2014/main" id="{1DE0E521-8DEF-4D5F-AC39-A4EDCC49E120}"/>
              </a:ext>
            </a:extLst>
          </p:cNvPr>
          <p:cNvSpPr>
            <a:spLocks xmlns:a="http://schemas.openxmlformats.org/drawingml/2006/main" noGrp="1"/>
          </p:cNvSpPr>
          <p:nvPr/>
        </p:nvSpPr>
        <p:spPr>
          <a:xfrm xmlns:a="http://schemas.openxmlformats.org/drawingml/2006/main">
            <a:off x="7972425" y="4448175"/>
            <a:ext cx="3581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0">
                <a:solidFill>
                  <a:srgbClr val="A8BDD4"/>
                </a:solidFill>
                <a:latin typeface="Arial"/>
                <a:ea typeface="Arial"/>
                <a:cs typeface="Arial"/>
              </a:defRPr>
            </a:lvl1pPr>
            <a:lvl2pPr>
              <a:buNone/>
              <a:defRPr sz="1875" b="0">
                <a:solidFill>
                  <a:srgbClr val="A8BDD4"/>
                </a:solidFill>
                <a:latin typeface="Arial"/>
                <a:ea typeface="Arial"/>
                <a:cs typeface="Arial"/>
              </a:defRPr>
            </a:lvl2pPr>
            <a:lvl3pPr>
              <a:buNone/>
              <a:defRPr sz="1875" b="0">
                <a:solidFill>
                  <a:srgbClr val="A8BDD4"/>
                </a:solidFill>
                <a:latin typeface="Arial"/>
                <a:ea typeface="Arial"/>
                <a:cs typeface="Arial"/>
              </a:defRPr>
            </a:lvl3pPr>
            <a:lvl4pPr>
              <a:buNone/>
              <a:defRPr sz="1875" b="0">
                <a:solidFill>
                  <a:srgbClr val="A8BDD4"/>
                </a:solidFill>
                <a:latin typeface="Arial"/>
                <a:ea typeface="Arial"/>
                <a:cs typeface="Arial"/>
              </a:defRPr>
            </a:lvl4pPr>
            <a:lvl5pPr>
              <a:buNone/>
              <a:defRPr sz="1875" b="0">
                <a:solidFill>
                  <a:srgbClr val="A8BDD4"/>
                </a:solidFill>
                <a:latin typeface="Arial"/>
                <a:ea typeface="Arial"/>
                <a:cs typeface="Arial"/>
              </a:defRPr>
            </a:lvl5pPr>
            <a:lvl6pPr>
              <a:buNone/>
              <a:defRPr sz="1875" b="0">
                <a:solidFill>
                  <a:srgbClr val="A8BDD4"/>
                </a:solidFill>
                <a:latin typeface="Arial"/>
                <a:ea typeface="Arial"/>
                <a:cs typeface="Arial"/>
              </a:defRPr>
            </a:lvl6pPr>
            <a:lvl7pPr>
              <a:buNone/>
              <a:defRPr sz="1875" b="0">
                <a:solidFill>
                  <a:srgbClr val="A8BDD4"/>
                </a:solidFill>
                <a:latin typeface="Arial"/>
                <a:ea typeface="Arial"/>
                <a:cs typeface="Arial"/>
              </a:defRPr>
            </a:lvl7pPr>
            <a:lvl8pPr>
              <a:buNone/>
              <a:defRPr sz="1875" b="0">
                <a:solidFill>
                  <a:srgbClr val="A8BDD4"/>
                </a:solidFill>
                <a:latin typeface="Arial"/>
                <a:ea typeface="Arial"/>
                <a:cs typeface="Arial"/>
              </a:defRPr>
            </a:lvl8pPr>
            <a:lvl9pPr>
              <a:buNone/>
              <a:defRPr sz="1875" b="0">
                <a:solidFill>
                  <a:srgbClr val="A8BDD4"/>
                </a:solidFill>
                <a:latin typeface="Arial"/>
                <a:ea typeface="Arial"/>
                <a:cs typeface="Arial"/>
              </a:defRPr>
            </a:lvl9pPr>
          </a:lstStyle>
          <a:p xmlns:a="http://schemas.openxmlformats.org/drawingml/2006/main">
            <a:pPr>
              <a:buNone/>
              <a:defRPr sz="1875" b="0">
                <a:solidFill>
                  <a:srgbClr val="A8BDD4"/>
                </a:solidFill>
                <a:latin typeface="Arial"/>
                <a:ea typeface="Arial"/>
                <a:cs typeface="Arial"/>
              </a:defRPr>
            </a:pPr>
            <a:r>
              <a:rPr sz="1875" b="0">
                <a:solidFill>
                  <a:srgbClr val="A8BDD4"/>
                </a:solidFill>
                <a:latin typeface="Arial"/>
                <a:ea typeface="Arial"/>
                <a:cs typeface="Arial"/>
              </a:rPr>
              <a:t>Include wages in both cases. Match fuel price and all baseline inputs, then test for zero contribution delta.</a:t>
            </a:r>
          </a:p>
        </p:txBody>
      </p:sp>
    </p:spTree>
    <p:extLst>
      <p:ext uri="{BB962C8B-B14F-4D97-AF65-F5344CB8AC3E}">
        <p14:creationId xmlns:p14="http://schemas.microsoft.com/office/powerpoint/2010/main" val="1018552907"/>
      </p:ext>
    </p:extLst>
  </p:cSld>
</p:sld>
</file>

<file path=ppt/slides/slide37.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7C7726-33B6-49C0-8510-7D2D1E0DE0A2}"/>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APPENDIX: SUPPORTING EVIDENCE</a:t>
            </a:r>
          </a:p>
        </p:txBody>
      </p:sp>
      <p:sp>
        <p:nvSpPr>
          <p:cNvPr id="2" name="">
            <a:extLst xmlns:a="http://schemas.openxmlformats.org/drawingml/2006/main">
              <a:ext uri="{FF2B5EF4-FFF2-40B4-BE49-F238E27FC236}">
                <a16:creationId xmlns:a16="http://schemas.microsoft.com/office/drawing/2014/main" id="{F83DF314-DADC-4C43-845D-7F540C4660C0}"/>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What the current measures can support</a:t>
            </a:r>
          </a:p>
        </p:txBody>
      </p:sp>
      <p:sp>
        <p:nvSpPr>
          <p:cNvPr id="10" name="">
            <a:extLst xmlns:a="http://schemas.openxmlformats.org/drawingml/2006/main">
              <a:ext uri="{FF2B5EF4-FFF2-40B4-BE49-F238E27FC236}">
                <a16:creationId xmlns:a16="http://schemas.microsoft.com/office/drawing/2014/main" id="{BDDAA6EF-7D9C-41E8-AA17-B4E9E4FD3420}"/>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A08</a:t>
            </a:r>
          </a:p>
        </p:txBody>
      </p:sp>
      <p:sp>
        <p:nvSpPr>
          <p:cNvPr id="9" name="">
            <a:extLst xmlns:a="http://schemas.openxmlformats.org/drawingml/2006/main">
              <a:ext uri="{FF2B5EF4-FFF2-40B4-BE49-F238E27FC236}">
                <a16:creationId xmlns:a16="http://schemas.microsoft.com/office/drawing/2014/main" id="{73B5A3E1-EA88-4D29-B752-58AE161B373D}"/>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Completion and revenue size describe the dataset; they do not prove profitability</a:t>
            </a:r>
          </a:p>
        </p:txBody>
      </p:sp>
      <p:sp>
        <p:nvSpPr>
          <p:cNvPr id="3" name="">
            <a:extLst xmlns:a="http://schemas.openxmlformats.org/drawingml/2006/main">
              <a:ext uri="{FF2B5EF4-FFF2-40B4-BE49-F238E27FC236}">
                <a16:creationId xmlns:a16="http://schemas.microsoft.com/office/drawing/2014/main" id="{83042461-1EF1-4C13-9EEB-C7B81A17B426}"/>
              </a:ext>
            </a:extLst>
          </p:cNvPr>
          <p:cNvSpPr>
            <a:spLocks xmlns:a="http://schemas.openxmlformats.org/drawingml/2006/main" noGrp="1"/>
          </p:cNvSpPr>
          <p:nvPr/>
        </p:nvSpPr>
        <p:spPr>
          <a:xfrm xmlns:a="http://schemas.openxmlformats.org/drawingml/2006/main">
            <a:off x="571500" y="226695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5400" b="1">
                <a:solidFill>
                  <a:srgbClr val="074E8C"/>
                </a:solidFill>
                <a:latin typeface="Arial"/>
                <a:ea typeface="Arial"/>
                <a:cs typeface="Arial"/>
              </a:defRPr>
            </a:lvl1pPr>
            <a:lvl2pPr>
              <a:buNone/>
              <a:defRPr sz="5400" b="1">
                <a:solidFill>
                  <a:srgbClr val="074E8C"/>
                </a:solidFill>
                <a:latin typeface="Arial"/>
                <a:ea typeface="Arial"/>
                <a:cs typeface="Arial"/>
              </a:defRPr>
            </a:lvl2pPr>
            <a:lvl3pPr>
              <a:buNone/>
              <a:defRPr sz="5400" b="1">
                <a:solidFill>
                  <a:srgbClr val="074E8C"/>
                </a:solidFill>
                <a:latin typeface="Arial"/>
                <a:ea typeface="Arial"/>
                <a:cs typeface="Arial"/>
              </a:defRPr>
            </a:lvl3pPr>
            <a:lvl4pPr>
              <a:buNone/>
              <a:defRPr sz="5400" b="1">
                <a:solidFill>
                  <a:srgbClr val="074E8C"/>
                </a:solidFill>
                <a:latin typeface="Arial"/>
                <a:ea typeface="Arial"/>
                <a:cs typeface="Arial"/>
              </a:defRPr>
            </a:lvl4pPr>
            <a:lvl5pPr>
              <a:buNone/>
              <a:defRPr sz="5400" b="1">
                <a:solidFill>
                  <a:srgbClr val="074E8C"/>
                </a:solidFill>
                <a:latin typeface="Arial"/>
                <a:ea typeface="Arial"/>
                <a:cs typeface="Arial"/>
              </a:defRPr>
            </a:lvl5pPr>
            <a:lvl6pPr>
              <a:buNone/>
              <a:defRPr sz="5400" b="1">
                <a:solidFill>
                  <a:srgbClr val="074E8C"/>
                </a:solidFill>
                <a:latin typeface="Arial"/>
                <a:ea typeface="Arial"/>
                <a:cs typeface="Arial"/>
              </a:defRPr>
            </a:lvl6pPr>
            <a:lvl7pPr>
              <a:buNone/>
              <a:defRPr sz="5400" b="1">
                <a:solidFill>
                  <a:srgbClr val="074E8C"/>
                </a:solidFill>
                <a:latin typeface="Arial"/>
                <a:ea typeface="Arial"/>
                <a:cs typeface="Arial"/>
              </a:defRPr>
            </a:lvl7pPr>
            <a:lvl8pPr>
              <a:buNone/>
              <a:defRPr sz="5400" b="1">
                <a:solidFill>
                  <a:srgbClr val="074E8C"/>
                </a:solidFill>
                <a:latin typeface="Arial"/>
                <a:ea typeface="Arial"/>
                <a:cs typeface="Arial"/>
              </a:defRPr>
            </a:lvl8pPr>
            <a:lvl9pPr>
              <a:buNone/>
              <a:defRPr sz="5400" b="1">
                <a:solidFill>
                  <a:srgbClr val="074E8C"/>
                </a:solidFill>
                <a:latin typeface="Arial"/>
                <a:ea typeface="Arial"/>
                <a:cs typeface="Arial"/>
              </a:defRPr>
            </a:lvl9pPr>
          </a:lstStyle>
          <a:p xmlns:a="http://schemas.openxmlformats.org/drawingml/2006/main">
            <a:pPr>
              <a:buNone/>
              <a:defRPr sz="7800" b="1">
                <a:solidFill>
                  <a:srgbClr val="F2F6FF"/>
                </a:solidFill>
                <a:latin typeface="Arial"/>
                <a:ea typeface="Arial"/>
                <a:cs typeface="Arial"/>
              </a:defRPr>
            </a:pPr>
            <a:r>
              <a:rPr sz="7800" b="1">
                <a:solidFill>
                  <a:srgbClr val="F2F6FF"/>
                </a:solidFill>
                <a:latin typeface="Arial"/>
                <a:ea typeface="Arial"/>
                <a:cs typeface="Arial"/>
              </a:rPr>
              <a:t>85,410</a:t>
            </a:r>
          </a:p>
        </p:txBody>
      </p:sp>
      <p:sp>
        <p:nvSpPr>
          <p:cNvPr id="4" name="">
            <a:extLst xmlns:a="http://schemas.openxmlformats.org/drawingml/2006/main">
              <a:ext uri="{FF2B5EF4-FFF2-40B4-BE49-F238E27FC236}">
                <a16:creationId xmlns:a16="http://schemas.microsoft.com/office/drawing/2014/main" id="{D1EBF69E-6144-4401-BFBC-CAB61F7219A7}"/>
              </a:ext>
            </a:extLst>
          </p:cNvPr>
          <p:cNvSpPr>
            <a:spLocks xmlns:a="http://schemas.openxmlformats.org/drawingml/2006/main" noGrp="1"/>
          </p:cNvSpPr>
          <p:nvPr/>
        </p:nvSpPr>
        <p:spPr>
          <a:xfrm xmlns:a="http://schemas.openxmlformats.org/drawingml/2006/main">
            <a:off x="619125" y="3905250"/>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950" b="0">
                <a:solidFill>
                  <a:srgbClr val="546B7C"/>
                </a:solidFill>
                <a:latin typeface="Arial"/>
                <a:ea typeface="Arial"/>
                <a:cs typeface="Arial"/>
              </a:defRPr>
            </a:lvl1pPr>
            <a:lvl2pPr>
              <a:buNone/>
              <a:defRPr sz="1950" b="0">
                <a:solidFill>
                  <a:srgbClr val="546B7C"/>
                </a:solidFill>
                <a:latin typeface="Arial"/>
                <a:ea typeface="Arial"/>
                <a:cs typeface="Arial"/>
              </a:defRPr>
            </a:lvl2pPr>
            <a:lvl3pPr>
              <a:buNone/>
              <a:defRPr sz="1950" b="0">
                <a:solidFill>
                  <a:srgbClr val="546B7C"/>
                </a:solidFill>
                <a:latin typeface="Arial"/>
                <a:ea typeface="Arial"/>
                <a:cs typeface="Arial"/>
              </a:defRPr>
            </a:lvl3pPr>
            <a:lvl4pPr>
              <a:buNone/>
              <a:defRPr sz="1950" b="0">
                <a:solidFill>
                  <a:srgbClr val="546B7C"/>
                </a:solidFill>
                <a:latin typeface="Arial"/>
                <a:ea typeface="Arial"/>
                <a:cs typeface="Arial"/>
              </a:defRPr>
            </a:lvl4pPr>
            <a:lvl5pPr>
              <a:buNone/>
              <a:defRPr sz="1950" b="0">
                <a:solidFill>
                  <a:srgbClr val="546B7C"/>
                </a:solidFill>
                <a:latin typeface="Arial"/>
                <a:ea typeface="Arial"/>
                <a:cs typeface="Arial"/>
              </a:defRPr>
            </a:lvl5pPr>
            <a:lvl6pPr>
              <a:buNone/>
              <a:defRPr sz="1950" b="0">
                <a:solidFill>
                  <a:srgbClr val="546B7C"/>
                </a:solidFill>
                <a:latin typeface="Arial"/>
                <a:ea typeface="Arial"/>
                <a:cs typeface="Arial"/>
              </a:defRPr>
            </a:lvl6pPr>
            <a:lvl7pPr>
              <a:buNone/>
              <a:defRPr sz="1950" b="0">
                <a:solidFill>
                  <a:srgbClr val="546B7C"/>
                </a:solidFill>
                <a:latin typeface="Arial"/>
                <a:ea typeface="Arial"/>
                <a:cs typeface="Arial"/>
              </a:defRPr>
            </a:lvl7pPr>
            <a:lvl8pPr>
              <a:buNone/>
              <a:defRPr sz="1950" b="0">
                <a:solidFill>
                  <a:srgbClr val="546B7C"/>
                </a:solidFill>
                <a:latin typeface="Arial"/>
                <a:ea typeface="Arial"/>
                <a:cs typeface="Arial"/>
              </a:defRPr>
            </a:lvl8pPr>
            <a:lvl9pPr>
              <a:buNone/>
              <a:defRPr sz="1950" b="0">
                <a:solidFill>
                  <a:srgbClr val="546B7C"/>
                </a:solidFill>
                <a:latin typeface="Arial"/>
                <a:ea typeface="Arial"/>
                <a:cs typeface="Arial"/>
              </a:defRPr>
            </a:lvl9pPr>
          </a:lstStyle>
          <a:p xmlns:a="http://schemas.openxmlformats.org/drawingml/2006/main">
            <a:pPr>
              <a:buNone/>
              <a:defRPr sz="2100" b="0">
                <a:solidFill>
                  <a:srgbClr val="3DDCF5"/>
                </a:solidFill>
                <a:latin typeface="Arial"/>
                <a:ea typeface="Arial"/>
                <a:cs typeface="Arial"/>
              </a:defRPr>
            </a:pPr>
            <a:r>
              <a:rPr sz="2100" b="0">
                <a:solidFill>
                  <a:srgbClr val="3DDCF5"/>
                </a:solidFill>
                <a:latin typeface="Arial"/>
                <a:ea typeface="Arial"/>
                <a:cs typeface="Arial"/>
              </a:rPr>
              <a:t>completed loads</a:t>
            </a:r>
          </a:p>
        </p:txBody>
      </p:sp>
      <p:sp>
        <p:nvSpPr>
          <p:cNvPr id="5" name="">
            <a:extLst xmlns:a="http://schemas.openxmlformats.org/drawingml/2006/main">
              <a:ext uri="{FF2B5EF4-FFF2-40B4-BE49-F238E27FC236}">
                <a16:creationId xmlns:a16="http://schemas.microsoft.com/office/drawing/2014/main" id="{D1DC5AC6-AF5B-4B2B-B7C3-87A5A5B085C7}"/>
              </a:ext>
            </a:extLst>
          </p:cNvPr>
          <p:cNvSpPr>
            <a:spLocks xmlns:a="http://schemas.openxmlformats.org/drawingml/2006/main" noGrp="1"/>
          </p:cNvSpPr>
          <p:nvPr/>
        </p:nvSpPr>
        <p:spPr>
          <a:xfrm xmlns:a="http://schemas.openxmlformats.org/drawingml/2006/main">
            <a:off x="5381625" y="2124075"/>
            <a:ext cx="609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1">
                <a:solidFill>
                  <a:srgbClr val="0A2B43"/>
                </a:solidFill>
                <a:latin typeface="Arial"/>
                <a:ea typeface="Arial"/>
                <a:cs typeface="Arial"/>
              </a:defRPr>
            </a:lvl1pPr>
            <a:lvl2pPr>
              <a:buNone/>
              <a:defRPr sz="2100" b="1">
                <a:solidFill>
                  <a:srgbClr val="0A2B43"/>
                </a:solidFill>
                <a:latin typeface="Arial"/>
                <a:ea typeface="Arial"/>
                <a:cs typeface="Arial"/>
              </a:defRPr>
            </a:lvl2pPr>
            <a:lvl3pPr>
              <a:buNone/>
              <a:defRPr sz="2100" b="1">
                <a:solidFill>
                  <a:srgbClr val="0A2B43"/>
                </a:solidFill>
                <a:latin typeface="Arial"/>
                <a:ea typeface="Arial"/>
                <a:cs typeface="Arial"/>
              </a:defRPr>
            </a:lvl3pPr>
            <a:lvl4pPr>
              <a:buNone/>
              <a:defRPr sz="2100" b="1">
                <a:solidFill>
                  <a:srgbClr val="0A2B43"/>
                </a:solidFill>
                <a:latin typeface="Arial"/>
                <a:ea typeface="Arial"/>
                <a:cs typeface="Arial"/>
              </a:defRPr>
            </a:lvl4pPr>
            <a:lvl5pPr>
              <a:buNone/>
              <a:defRPr sz="2100" b="1">
                <a:solidFill>
                  <a:srgbClr val="0A2B43"/>
                </a:solidFill>
                <a:latin typeface="Arial"/>
                <a:ea typeface="Arial"/>
                <a:cs typeface="Arial"/>
              </a:defRPr>
            </a:lvl5pPr>
            <a:lvl6pPr>
              <a:buNone/>
              <a:defRPr sz="2100" b="1">
                <a:solidFill>
                  <a:srgbClr val="0A2B43"/>
                </a:solidFill>
                <a:latin typeface="Arial"/>
                <a:ea typeface="Arial"/>
                <a:cs typeface="Arial"/>
              </a:defRPr>
            </a:lvl6pPr>
            <a:lvl7pPr>
              <a:buNone/>
              <a:defRPr sz="2100" b="1">
                <a:solidFill>
                  <a:srgbClr val="0A2B43"/>
                </a:solidFill>
                <a:latin typeface="Arial"/>
                <a:ea typeface="Arial"/>
                <a:cs typeface="Arial"/>
              </a:defRPr>
            </a:lvl7pPr>
            <a:lvl8pPr>
              <a:buNone/>
              <a:defRPr sz="2100" b="1">
                <a:solidFill>
                  <a:srgbClr val="0A2B43"/>
                </a:solidFill>
                <a:latin typeface="Arial"/>
                <a:ea typeface="Arial"/>
                <a:cs typeface="Arial"/>
              </a:defRPr>
            </a:lvl8pPr>
            <a:lvl9pPr>
              <a:buNone/>
              <a:defRPr sz="2100" b="1">
                <a:solidFill>
                  <a:srgbClr val="0A2B43"/>
                </a:solidFill>
                <a:latin typeface="Arial"/>
                <a:ea typeface="Arial"/>
                <a:cs typeface="Arial"/>
              </a:defRPr>
            </a:lvl9pPr>
          </a:lstStyle>
          <a:p xmlns:a="http://schemas.openxmlformats.org/drawingml/2006/main">
            <a:pPr>
              <a:buNone/>
              <a:defRPr sz="2100" b="1">
                <a:solidFill>
                  <a:srgbClr val="F2F6FF"/>
                </a:solidFill>
                <a:latin typeface="Arial"/>
                <a:ea typeface="Arial"/>
                <a:cs typeface="Arial"/>
              </a:defRPr>
            </a:pPr>
            <a:r>
              <a:rPr sz="2100" b="1">
                <a:solidFill>
                  <a:srgbClr val="F2F6FF"/>
                </a:solidFill>
                <a:latin typeface="Arial"/>
                <a:ea typeface="Arial"/>
                <a:cs typeface="Arial"/>
              </a:rPr>
              <a:t>Scope: all 85,410 loads and trips are recorded as completed</a:t>
            </a:r>
          </a:p>
        </p:txBody>
      </p:sp>
      <p:sp>
        <p:nvSpPr>
          <p:cNvPr id="6" name="">
            <a:extLst xmlns:a="http://schemas.openxmlformats.org/drawingml/2006/main">
              <a:ext uri="{FF2B5EF4-FFF2-40B4-BE49-F238E27FC236}">
                <a16:creationId xmlns:a16="http://schemas.microsoft.com/office/drawing/2014/main" id="{6FA5027D-208D-4698-8846-36C96672D776}"/>
              </a:ext>
            </a:extLst>
          </p:cNvPr>
          <p:cNvSpPr>
            <a:spLocks xmlns:a="http://schemas.openxmlformats.org/drawingml/2006/main" noGrp="1"/>
          </p:cNvSpPr>
          <p:nvPr/>
        </p:nvSpPr>
        <p:spPr>
          <a:xfrm xmlns:a="http://schemas.openxmlformats.org/drawingml/2006/main">
            <a:off x="5381625" y="2981325"/>
            <a:ext cx="609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Mix: Contract customers generate $112.40M revenue</a:t>
            </a:r>
          </a:p>
        </p:txBody>
      </p:sp>
      <p:sp>
        <p:nvSpPr>
          <p:cNvPr id="7" name="">
            <a:extLst xmlns:a="http://schemas.openxmlformats.org/drawingml/2006/main">
              <a:ext uri="{FF2B5EF4-FFF2-40B4-BE49-F238E27FC236}">
                <a16:creationId xmlns:a16="http://schemas.microsoft.com/office/drawing/2014/main" id="{346198BD-60E6-4BCC-8551-F3CF5849C42E}"/>
              </a:ext>
            </a:extLst>
          </p:cNvPr>
          <p:cNvSpPr>
            <a:spLocks xmlns:a="http://schemas.openxmlformats.org/drawingml/2006/main" noGrp="1"/>
          </p:cNvSpPr>
          <p:nvPr/>
        </p:nvSpPr>
        <p:spPr>
          <a:xfrm xmlns:a="http://schemas.openxmlformats.org/drawingml/2006/main">
            <a:off x="5381625" y="3838575"/>
            <a:ext cx="609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Service: 66.72% of Delivery timestamps are late</a:t>
            </a:r>
          </a:p>
        </p:txBody>
      </p:sp>
      <p:sp>
        <p:nvSpPr>
          <p:cNvPr id="8" name="">
            <a:extLst xmlns:a="http://schemas.openxmlformats.org/drawingml/2006/main">
              <a:ext uri="{FF2B5EF4-FFF2-40B4-BE49-F238E27FC236}">
                <a16:creationId xmlns:a16="http://schemas.microsoft.com/office/drawing/2014/main" id="{49E0A457-B68E-44B5-B008-2BE1458F3C4D}"/>
              </a:ext>
            </a:extLst>
          </p:cNvPr>
          <p:cNvSpPr>
            <a:spLocks xmlns:a="http://schemas.openxmlformats.org/drawingml/2006/main" noGrp="1"/>
          </p:cNvSpPr>
          <p:nvPr/>
        </p:nvSpPr>
        <p:spPr>
          <a:xfrm xmlns:a="http://schemas.openxmlformats.org/drawingml/2006/main">
            <a:off x="5381625" y="4695825"/>
            <a:ext cx="609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2100" b="0">
                <a:solidFill>
                  <a:srgbClr val="0A2B43"/>
                </a:solidFill>
                <a:latin typeface="Arial"/>
                <a:ea typeface="Arial"/>
                <a:cs typeface="Arial"/>
              </a:defRPr>
            </a:lvl1pPr>
            <a:lvl2pPr>
              <a:buNone/>
              <a:defRPr sz="2100" b="0">
                <a:solidFill>
                  <a:srgbClr val="0A2B43"/>
                </a:solidFill>
                <a:latin typeface="Arial"/>
                <a:ea typeface="Arial"/>
                <a:cs typeface="Arial"/>
              </a:defRPr>
            </a:lvl2pPr>
            <a:lvl3pPr>
              <a:buNone/>
              <a:defRPr sz="2100" b="0">
                <a:solidFill>
                  <a:srgbClr val="0A2B43"/>
                </a:solidFill>
                <a:latin typeface="Arial"/>
                <a:ea typeface="Arial"/>
                <a:cs typeface="Arial"/>
              </a:defRPr>
            </a:lvl3pPr>
            <a:lvl4pPr>
              <a:buNone/>
              <a:defRPr sz="2100" b="0">
                <a:solidFill>
                  <a:srgbClr val="0A2B43"/>
                </a:solidFill>
                <a:latin typeface="Arial"/>
                <a:ea typeface="Arial"/>
                <a:cs typeface="Arial"/>
              </a:defRPr>
            </a:lvl4pPr>
            <a:lvl5pPr>
              <a:buNone/>
              <a:defRPr sz="2100" b="0">
                <a:solidFill>
                  <a:srgbClr val="0A2B43"/>
                </a:solidFill>
                <a:latin typeface="Arial"/>
                <a:ea typeface="Arial"/>
                <a:cs typeface="Arial"/>
              </a:defRPr>
            </a:lvl5pPr>
            <a:lvl6pPr>
              <a:buNone/>
              <a:defRPr sz="2100" b="0">
                <a:solidFill>
                  <a:srgbClr val="0A2B43"/>
                </a:solidFill>
                <a:latin typeface="Arial"/>
                <a:ea typeface="Arial"/>
                <a:cs typeface="Arial"/>
              </a:defRPr>
            </a:lvl6pPr>
            <a:lvl7pPr>
              <a:buNone/>
              <a:defRPr sz="2100" b="0">
                <a:solidFill>
                  <a:srgbClr val="0A2B43"/>
                </a:solidFill>
                <a:latin typeface="Arial"/>
                <a:ea typeface="Arial"/>
                <a:cs typeface="Arial"/>
              </a:defRPr>
            </a:lvl7pPr>
            <a:lvl8pPr>
              <a:buNone/>
              <a:defRPr sz="2100" b="0">
                <a:solidFill>
                  <a:srgbClr val="0A2B43"/>
                </a:solidFill>
                <a:latin typeface="Arial"/>
                <a:ea typeface="Arial"/>
                <a:cs typeface="Arial"/>
              </a:defRPr>
            </a:lvl8pPr>
            <a:lvl9pPr>
              <a:buNone/>
              <a:defRPr sz="2100" b="0">
                <a:solidFill>
                  <a:srgbClr val="0A2B43"/>
                </a:solidFill>
                <a:latin typeface="Arial"/>
                <a:ea typeface="Arial"/>
                <a:cs typeface="Arial"/>
              </a:defRPr>
            </a:lvl9pPr>
          </a:lstStyle>
          <a:p xmlns:a="http://schemas.openxmlformats.org/drawingml/2006/main">
            <a:pPr>
              <a:buNone/>
              <a:defRPr sz="2100" b="0">
                <a:solidFill>
                  <a:srgbClr val="A8BDD4"/>
                </a:solidFill>
                <a:latin typeface="Arial"/>
                <a:ea typeface="Arial"/>
                <a:cs typeface="Arial"/>
              </a:defRPr>
            </a:pPr>
            <a:r>
              <a:rPr sz="2100" b="0">
                <a:solidFill>
                  <a:srgbClr val="A8BDD4"/>
                </a:solidFill>
                <a:latin typeface="Arial"/>
                <a:ea typeface="Arial"/>
                <a:cs typeface="Arial"/>
              </a:rPr>
              <a:t>Next tests: matched yield, fuel balance and commitment rules</a:t>
            </a:r>
          </a:p>
        </p:txBody>
      </p:sp>
      <p:sp>
        <p:nvSpPr>
          <p:cNvPr id="12" name="design-32">
            <a:extLst xmlns:a="http://schemas.openxmlformats.org/drawingml/2006/main">
              <a:ext uri="{FF2B5EF4-FFF2-40B4-BE49-F238E27FC236}">
                <a16:creationId xmlns:a16="http://schemas.microsoft.com/office/drawing/2014/main" id="{DD6412D5-C17D-4DDE-B5C5-2026FFA93DF6}"/>
              </a:ext>
            </a:extLst>
          </p:cNvPr>
          <p:cNvSpPr>
            <a:spLocks xmlns:a="http://schemas.openxmlformats.org/drawingml/2006/main" noGrp="1"/>
          </p:cNvSpPr>
          <p:nvPr/>
        </p:nvSpPr>
        <p:spPr>
          <a:xfrm xmlns:a="http://schemas.openxmlformats.org/drawingml/2006/main">
            <a:off x="571500" y="2095500"/>
            <a:ext cx="1619250" cy="19050"/>
          </a:xfrm>
          <a:prstGeom xmlns:a="http://schemas.openxmlformats.org/drawingml/2006/main" prst="rect">
            <a:avLst/>
          </a:prstGeom>
          <a:solidFill xmlns:a="http://schemas.openxmlformats.org/drawingml/2006/main">
            <a:srgbClr val="3DDCF5"/>
          </a:solidFill>
          <a:ln xmlns:a="http://schemas.openxmlformats.org/drawingml/2006/main" w="0">
            <a:noFill/>
          </a:ln>
        </p:spPr>
      </p:sp>
    </p:spTree>
    <p:extLst>
      <p:ext uri="{BB962C8B-B14F-4D97-AF65-F5344CB8AC3E}">
        <p14:creationId xmlns:p14="http://schemas.microsoft.com/office/powerpoint/2010/main" val="396267520"/>
      </p:ext>
    </p:extLst>
  </p:cSld>
</p:sld>
</file>

<file path=ppt/slides/slide38.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EC4337-17E5-4999-B141-6987BD9BD519}"/>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APPENDIX: SUPPORTING EVIDENCE</a:t>
            </a:r>
          </a:p>
        </p:txBody>
      </p:sp>
      <p:sp>
        <p:nvSpPr>
          <p:cNvPr id="2" name="">
            <a:extLst xmlns:a="http://schemas.openxmlformats.org/drawingml/2006/main">
              <a:ext uri="{FF2B5EF4-FFF2-40B4-BE49-F238E27FC236}">
                <a16:creationId xmlns:a16="http://schemas.microsoft.com/office/drawing/2014/main" id="{CF1FC512-2DF4-4CEE-A5D2-06211E667C1C}"/>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150" b="1">
                <a:solidFill>
                  <a:srgbClr val="F2F6FF"/>
                </a:solidFill>
                <a:latin typeface="Arial"/>
                <a:ea typeface="Arial"/>
                <a:cs typeface="Arial"/>
              </a:defRPr>
            </a:pPr>
            <a:r>
              <a:rPr sz="3150" b="1">
                <a:solidFill>
                  <a:srgbClr val="F2F6FF"/>
                </a:solidFill>
                <a:latin typeface="Arial"/>
                <a:ea typeface="Arial"/>
                <a:cs typeface="Arial"/>
              </a:rPr>
              <a:t>Operational and safety actions with follow-up KPIs</a:t>
            </a:r>
          </a:p>
        </p:txBody>
      </p:sp>
      <p:sp>
        <p:nvSpPr>
          <p:cNvPr id="5" name="">
            <a:extLst xmlns:a="http://schemas.openxmlformats.org/drawingml/2006/main">
              <a:ext uri="{FF2B5EF4-FFF2-40B4-BE49-F238E27FC236}">
                <a16:creationId xmlns:a16="http://schemas.microsoft.com/office/drawing/2014/main" id="{B376AAC4-7E50-4537-9BCE-C46236547522}"/>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A09</a:t>
            </a:r>
          </a:p>
        </p:txBody>
      </p:sp>
      <p:sp>
        <p:nvSpPr>
          <p:cNvPr id="4" name="">
            <a:extLst xmlns:a="http://schemas.openxmlformats.org/drawingml/2006/main">
              <a:ext uri="{FF2B5EF4-FFF2-40B4-BE49-F238E27FC236}">
                <a16:creationId xmlns:a16="http://schemas.microsoft.com/office/drawing/2014/main" id="{537C08F7-B914-4F0F-8F76-2B99EFF16E66}"/>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A case-based pilot can test the causes behind the service gap</a:t>
            </a:r>
          </a:p>
        </p:txBody>
      </p:sp>
      <p:graphicFrame>
        <p:nvGraphicFramePr>
          <p:cNvPr id="12" name=""/>
          <p:cNvGraphicFramePr/>
          <p:nvPr/>
        </p:nvGraphicFramePr>
        <p:xfrm>
          <a:off xmlns:a="http://schemas.openxmlformats.org/drawingml/2006/main" x="523875" y="2133600"/>
          <a:ext xmlns:a="http://schemas.openxmlformats.org/drawingml/2006/main" cx="11144250" cy="3390900"/>
        </p:xfrm>
        <a:graphic xmlns:a="http://schemas.openxmlformats.org/drawingml/2006/main">
          <a:graphicData uri="http://schemas.openxmlformats.org/drawingml/2006/table">
            <a:tbl>
              <a:tblPr/>
              <a:tblGrid>
                <a:gridCol w="4857750"/>
                <a:gridCol w="2333625"/>
                <a:gridCol w="3952875"/>
              </a:tblGrid>
              <a:tr h="847725">
                <a:tc>
                  <a:txBody>
                    <a:bodyPr/>
                    <a:lstStyle/>
                    <a:p>
                      <a:r>
                        <a:rPr sz="1875" b="1">
                          <a:solidFill>
                            <a:srgbClr val="3DDCF5"/>
                          </a:solidFill>
                          <a:latin typeface="Arial"/>
                          <a:ea typeface="Arial"/>
                          <a:cs typeface="Arial"/>
                        </a:rPr>
                        <a:t>Proposed action</a:t>
                      </a:r>
                    </a:p>
                  </a:txBody>
                  <a:tcPr marL="91440" marR="91440" marT="45720" marB="45720">
                    <a:lnL w="6191">
                      <a:solidFill>
                        <a:srgbClr val="20364D"/>
                      </a:solidFill>
                      <a:prstDash val="solid"/>
                    </a:lnL>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Suggested owner</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Follow-up KPI</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r>
              <a:tr h="847725">
                <a:tc>
                  <a:txBody>
                    <a:bodyPr/>
                    <a:lstStyle/>
                    <a:p>
                      <a:r>
                        <a:rPr sz="1875" b="0">
                          <a:solidFill>
                            <a:srgbClr val="F2F6FF"/>
                          </a:solidFill>
                          <a:latin typeface="Arial"/>
                          <a:ea typeface="Arial"/>
                          <a:cs typeface="Arial"/>
                        </a:rPr>
                        <a:t>Weekly late-case review</a:t>
                      </a:r>
                    </a:p>
                    <a:p>
                      <a:r>
                        <a:rPr sz="1875" b="0">
                          <a:solidFill>
                            <a:srgbClr val="F2F6FF"/>
                          </a:solidFill>
                          <a:latin typeface="Arial"/>
                          <a:ea typeface="Arial"/>
                          <a:cs typeface="Arial"/>
                        </a:rPr>
                        <a:t>by lane and facility</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Operations</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Delivery OTD</a:t>
                      </a:r>
                    </a:p>
                    <a:p>
                      <a:r>
                        <a:rPr sz="1875" b="0">
                          <a:solidFill>
                            <a:srgbClr val="F2F6FF"/>
                          </a:solidFill>
                          <a:latin typeface="Arial"/>
                          <a:ea typeface="Arial"/>
                          <a:cs typeface="Arial"/>
                        </a:rPr>
                        <a:t>Late minutes</a:t>
                      </a:r>
                    </a:p>
                  </a:txBody>
                  <a:tcPr marL="91440" marR="91440" marT="45720" marB="45720">
                    <a:lnR w="6191">
                      <a:solidFill>
                        <a:srgbClr val="20364D"/>
                      </a:solidFill>
                      <a:prstDash val="solid"/>
                    </a:lnR>
                    <a:lnB w="6191">
                      <a:solidFill>
                        <a:srgbClr val="20364D"/>
                      </a:solidFill>
                      <a:prstDash val="solid"/>
                    </a:lnB>
                    <a:solidFill>
                      <a:srgbClr val="0B1728"/>
                    </a:solidFill>
                  </a:tcPr>
                </a:tc>
              </a:tr>
              <a:tr h="847725">
                <a:tc>
                  <a:txBody>
                    <a:bodyPr/>
                    <a:lstStyle/>
                    <a:p>
                      <a:r>
                        <a:rPr sz="1875" b="0">
                          <a:solidFill>
                            <a:srgbClr val="F2F6FF"/>
                          </a:solidFill>
                          <a:latin typeface="Arial"/>
                          <a:ea typeface="Arial"/>
                          <a:cs typeface="Arial"/>
                        </a:rPr>
                        <a:t>Pilot validated schedule</a:t>
                      </a:r>
                    </a:p>
                    <a:p>
                      <a:r>
                        <a:rPr sz="1875" b="0">
                          <a:solidFill>
                            <a:srgbClr val="F2F6FF"/>
                          </a:solidFill>
                          <a:latin typeface="Arial"/>
                          <a:ea typeface="Arial"/>
                          <a:cs typeface="Arial"/>
                        </a:rPr>
                        <a:t>or dispatch changes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Dispatch + Facilities</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OTD on pilot lanes</a:t>
                      </a:r>
                    </a:p>
                    <a:p>
                      <a:r>
                        <a:rPr sz="1875" b="0">
                          <a:solidFill>
                            <a:srgbClr val="F2F6FF"/>
                          </a:solidFill>
                          <a:latin typeface="Arial"/>
                          <a:ea typeface="Arial"/>
                          <a:cs typeface="Arial"/>
                        </a:rPr>
                        <a:t>Detention minutes</a:t>
                      </a:r>
                    </a:p>
                  </a:txBody>
                  <a:tcPr marL="91440" marR="91440" marT="45720" marB="45720">
                    <a:lnR w="6191">
                      <a:solidFill>
                        <a:srgbClr val="20364D"/>
                      </a:solidFill>
                      <a:prstDash val="solid"/>
                    </a:lnR>
                    <a:lnB w="6191">
                      <a:solidFill>
                        <a:srgbClr val="20364D"/>
                      </a:solidFill>
                      <a:prstDash val="solid"/>
                    </a:lnB>
                    <a:solidFill>
                      <a:srgbClr val="0D1B2E"/>
                    </a:solidFill>
                  </a:tcPr>
                </a:tc>
              </a:tr>
              <a:tr h="847725">
                <a:tc>
                  <a:txBody>
                    <a:bodyPr/>
                    <a:lstStyle/>
                    <a:p>
                      <a:r>
                        <a:rPr sz="1875" b="0">
                          <a:solidFill>
                            <a:srgbClr val="F2F6FF"/>
                          </a:solidFill>
                          <a:latin typeface="Arial"/>
                          <a:ea typeface="Arial"/>
                          <a:cs typeface="Arial"/>
                        </a:rPr>
                        <a:t>Review 64 preventable</a:t>
                      </a:r>
                    </a:p>
                    <a:p>
                      <a:r>
                        <a:rPr sz="1875" b="0">
                          <a:solidFill>
                            <a:srgbClr val="F2F6FF"/>
                          </a:solidFill>
                          <a:latin typeface="Arial"/>
                          <a:ea typeface="Arial"/>
                          <a:cs typeface="Arial"/>
                        </a:rPr>
                        <a:t>cases and target coaching</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Safety + Fleet</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Preventable cases</a:t>
                      </a:r>
                    </a:p>
                    <a:p>
                      <a:r>
                        <a:rPr sz="1875" b="0">
                          <a:solidFill>
                            <a:srgbClr val="F2F6FF"/>
                          </a:solidFill>
                          <a:latin typeface="Arial"/>
                          <a:ea typeface="Arial"/>
                          <a:cs typeface="Arial"/>
                        </a:rPr>
                        <a:t>Incidents / million miles</a:t>
                      </a:r>
                    </a:p>
                  </a:txBody>
                  <a:tcPr marL="91440" marR="91440" marT="45720" marB="45720">
                    <a:lnR w="6191">
                      <a:solidFill>
                        <a:srgbClr val="20364D"/>
                      </a:solidFill>
                      <a:prstDash val="solid"/>
                    </a:lnR>
                    <a:lnB w="6191">
                      <a:solidFill>
                        <a:srgbClr val="20364D"/>
                      </a:solidFill>
                      <a:prstDash val="solid"/>
                    </a:lnB>
                    <a:solidFill>
                      <a:srgbClr val="0B1728"/>
                    </a:solidFill>
                  </a:tcPr>
                </a:tc>
              </a:tr>
            </a:tbl>
          </a:graphicData>
        </a:graphic>
      </p:graphicFrame>
    </p:spTree>
    <p:extLst>
      <p:ext uri="{BB962C8B-B14F-4D97-AF65-F5344CB8AC3E}">
        <p14:creationId xmlns:p14="http://schemas.microsoft.com/office/powerpoint/2010/main" val="126088006"/>
      </p:ext>
    </p:extLst>
  </p:cSld>
</p:sld>
</file>

<file path=ppt/slides/slide39.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74FE2E-2051-448E-84F8-53A0A938849B}"/>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350" b="1">
                <a:solidFill>
                  <a:srgbClr val="074E8C"/>
                </a:solidFill>
                <a:latin typeface="Arial"/>
                <a:ea typeface="Arial"/>
                <a:cs typeface="Arial"/>
              </a:defRPr>
            </a:lvl1pPr>
            <a:lvl2pPr>
              <a:buNone/>
              <a:defRPr sz="1350" b="1">
                <a:solidFill>
                  <a:srgbClr val="074E8C"/>
                </a:solidFill>
                <a:latin typeface="Arial"/>
                <a:ea typeface="Arial"/>
                <a:cs typeface="Arial"/>
              </a:defRPr>
            </a:lvl2pPr>
            <a:lvl3pPr>
              <a:buNone/>
              <a:defRPr sz="1350" b="1">
                <a:solidFill>
                  <a:srgbClr val="074E8C"/>
                </a:solidFill>
                <a:latin typeface="Arial"/>
                <a:ea typeface="Arial"/>
                <a:cs typeface="Arial"/>
              </a:defRPr>
            </a:lvl3pPr>
            <a:lvl4pPr>
              <a:buNone/>
              <a:defRPr sz="1350" b="1">
                <a:solidFill>
                  <a:srgbClr val="074E8C"/>
                </a:solidFill>
                <a:latin typeface="Arial"/>
                <a:ea typeface="Arial"/>
                <a:cs typeface="Arial"/>
              </a:defRPr>
            </a:lvl4pPr>
            <a:lvl5pPr>
              <a:buNone/>
              <a:defRPr sz="1350" b="1">
                <a:solidFill>
                  <a:srgbClr val="074E8C"/>
                </a:solidFill>
                <a:latin typeface="Arial"/>
                <a:ea typeface="Arial"/>
                <a:cs typeface="Arial"/>
              </a:defRPr>
            </a:lvl5pPr>
            <a:lvl6pPr>
              <a:buNone/>
              <a:defRPr sz="1350" b="1">
                <a:solidFill>
                  <a:srgbClr val="074E8C"/>
                </a:solidFill>
                <a:latin typeface="Arial"/>
                <a:ea typeface="Arial"/>
                <a:cs typeface="Arial"/>
              </a:defRPr>
            </a:lvl6pPr>
            <a:lvl7pPr>
              <a:buNone/>
              <a:defRPr sz="1350" b="1">
                <a:solidFill>
                  <a:srgbClr val="074E8C"/>
                </a:solidFill>
                <a:latin typeface="Arial"/>
                <a:ea typeface="Arial"/>
                <a:cs typeface="Arial"/>
              </a:defRPr>
            </a:lvl7pPr>
            <a:lvl8pPr>
              <a:buNone/>
              <a:defRPr sz="1350" b="1">
                <a:solidFill>
                  <a:srgbClr val="074E8C"/>
                </a:solidFill>
                <a:latin typeface="Arial"/>
                <a:ea typeface="Arial"/>
                <a:cs typeface="Arial"/>
              </a:defRPr>
            </a:lvl8pPr>
            <a:lvl9pPr>
              <a:buNone/>
              <a:defRPr sz="1350" b="1">
                <a:solidFill>
                  <a:srgbClr val="074E8C"/>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APPENDIX: SUPPORTING EVIDENCE</a:t>
            </a:r>
          </a:p>
        </p:txBody>
      </p:sp>
      <p:sp>
        <p:nvSpPr>
          <p:cNvPr id="2" name="">
            <a:extLst xmlns:a="http://schemas.openxmlformats.org/drawingml/2006/main">
              <a:ext uri="{FF2B5EF4-FFF2-40B4-BE49-F238E27FC236}">
                <a16:creationId xmlns:a16="http://schemas.microsoft.com/office/drawing/2014/main" id="{BA44C89D-A2C4-4150-87D8-70D3A7C49003}"/>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000" b="1">
                <a:solidFill>
                  <a:srgbClr val="0A2B43"/>
                </a:solidFill>
                <a:latin typeface="Arial"/>
                <a:ea typeface="Arial"/>
                <a:cs typeface="Arial"/>
              </a:defRPr>
            </a:lvl1pPr>
            <a:lvl2pPr>
              <a:buNone/>
              <a:defRPr sz="3000" b="1">
                <a:solidFill>
                  <a:srgbClr val="0A2B43"/>
                </a:solidFill>
                <a:latin typeface="Arial"/>
                <a:ea typeface="Arial"/>
                <a:cs typeface="Arial"/>
              </a:defRPr>
            </a:lvl2pPr>
            <a:lvl3pPr>
              <a:buNone/>
              <a:defRPr sz="3000" b="1">
                <a:solidFill>
                  <a:srgbClr val="0A2B43"/>
                </a:solidFill>
                <a:latin typeface="Arial"/>
                <a:ea typeface="Arial"/>
                <a:cs typeface="Arial"/>
              </a:defRPr>
            </a:lvl3pPr>
            <a:lvl4pPr>
              <a:buNone/>
              <a:defRPr sz="3000" b="1">
                <a:solidFill>
                  <a:srgbClr val="0A2B43"/>
                </a:solidFill>
                <a:latin typeface="Arial"/>
                <a:ea typeface="Arial"/>
                <a:cs typeface="Arial"/>
              </a:defRPr>
            </a:lvl4pPr>
            <a:lvl5pPr>
              <a:buNone/>
              <a:defRPr sz="3000" b="1">
                <a:solidFill>
                  <a:srgbClr val="0A2B43"/>
                </a:solidFill>
                <a:latin typeface="Arial"/>
                <a:ea typeface="Arial"/>
                <a:cs typeface="Arial"/>
              </a:defRPr>
            </a:lvl5pPr>
            <a:lvl6pPr>
              <a:buNone/>
              <a:defRPr sz="3000" b="1">
                <a:solidFill>
                  <a:srgbClr val="0A2B43"/>
                </a:solidFill>
                <a:latin typeface="Arial"/>
                <a:ea typeface="Arial"/>
                <a:cs typeface="Arial"/>
              </a:defRPr>
            </a:lvl6pPr>
            <a:lvl7pPr>
              <a:buNone/>
              <a:defRPr sz="3000" b="1">
                <a:solidFill>
                  <a:srgbClr val="0A2B43"/>
                </a:solidFill>
                <a:latin typeface="Arial"/>
                <a:ea typeface="Arial"/>
                <a:cs typeface="Arial"/>
              </a:defRPr>
            </a:lvl7pPr>
            <a:lvl8pPr>
              <a:buNone/>
              <a:defRPr sz="3000" b="1">
                <a:solidFill>
                  <a:srgbClr val="0A2B43"/>
                </a:solidFill>
                <a:latin typeface="Arial"/>
                <a:ea typeface="Arial"/>
                <a:cs typeface="Arial"/>
              </a:defRPr>
            </a:lvl8pPr>
            <a:lvl9pPr>
              <a:buNone/>
              <a:defRPr sz="3000" b="1">
                <a:solidFill>
                  <a:srgbClr val="0A2B43"/>
                </a:solidFill>
                <a:latin typeface="Arial"/>
                <a:ea typeface="Arial"/>
                <a:cs typeface="Arial"/>
              </a:defRPr>
            </a:lvl9pPr>
          </a:lstStyle>
          <a:p xmlns:a="http://schemas.openxmlformats.org/drawingml/2006/main">
            <a:pPr>
              <a:buNone/>
              <a:defRPr sz="3300" b="1">
                <a:solidFill>
                  <a:srgbClr val="F2F6FF"/>
                </a:solidFill>
                <a:latin typeface="Arial"/>
                <a:ea typeface="Arial"/>
                <a:cs typeface="Arial"/>
              </a:defRPr>
            </a:pPr>
            <a:r>
              <a:rPr sz="3300" b="1">
                <a:solidFill>
                  <a:srgbClr val="F2F6FF"/>
                </a:solidFill>
                <a:latin typeface="Arial"/>
                <a:ea typeface="Arial"/>
                <a:cs typeface="Arial"/>
              </a:rPr>
              <a:t>Fuel and commercial actions with matched evidence</a:t>
            </a:r>
          </a:p>
        </p:txBody>
      </p:sp>
      <p:sp>
        <p:nvSpPr>
          <p:cNvPr id="5" name="">
            <a:extLst xmlns:a="http://schemas.openxmlformats.org/drawingml/2006/main">
              <a:ext uri="{FF2B5EF4-FFF2-40B4-BE49-F238E27FC236}">
                <a16:creationId xmlns:a16="http://schemas.microsoft.com/office/drawing/2014/main" id="{6E51EFEB-AB56-4445-99F5-0DFECF723A14}"/>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546B7C"/>
                </a:solidFill>
                <a:latin typeface="Arial"/>
                <a:ea typeface="Arial"/>
                <a:cs typeface="Arial"/>
              </a:defRPr>
            </a:lvl1pPr>
            <a:lvl2pPr>
              <a:buNone/>
              <a:defRPr sz="1200" b="0">
                <a:solidFill>
                  <a:srgbClr val="546B7C"/>
                </a:solidFill>
                <a:latin typeface="Arial"/>
                <a:ea typeface="Arial"/>
                <a:cs typeface="Arial"/>
              </a:defRPr>
            </a:lvl2pPr>
            <a:lvl3pPr>
              <a:buNone/>
              <a:defRPr sz="1200" b="0">
                <a:solidFill>
                  <a:srgbClr val="546B7C"/>
                </a:solidFill>
                <a:latin typeface="Arial"/>
                <a:ea typeface="Arial"/>
                <a:cs typeface="Arial"/>
              </a:defRPr>
            </a:lvl3pPr>
            <a:lvl4pPr>
              <a:buNone/>
              <a:defRPr sz="1200" b="0">
                <a:solidFill>
                  <a:srgbClr val="546B7C"/>
                </a:solidFill>
                <a:latin typeface="Arial"/>
                <a:ea typeface="Arial"/>
                <a:cs typeface="Arial"/>
              </a:defRPr>
            </a:lvl4pPr>
            <a:lvl5pPr>
              <a:buNone/>
              <a:defRPr sz="1200" b="0">
                <a:solidFill>
                  <a:srgbClr val="546B7C"/>
                </a:solidFill>
                <a:latin typeface="Arial"/>
                <a:ea typeface="Arial"/>
                <a:cs typeface="Arial"/>
              </a:defRPr>
            </a:lvl5pPr>
            <a:lvl6pPr>
              <a:buNone/>
              <a:defRPr sz="1200" b="0">
                <a:solidFill>
                  <a:srgbClr val="546B7C"/>
                </a:solidFill>
                <a:latin typeface="Arial"/>
                <a:ea typeface="Arial"/>
                <a:cs typeface="Arial"/>
              </a:defRPr>
            </a:lvl6pPr>
            <a:lvl7pPr>
              <a:buNone/>
              <a:defRPr sz="1200" b="0">
                <a:solidFill>
                  <a:srgbClr val="546B7C"/>
                </a:solidFill>
                <a:latin typeface="Arial"/>
                <a:ea typeface="Arial"/>
                <a:cs typeface="Arial"/>
              </a:defRPr>
            </a:lvl7pPr>
            <a:lvl8pPr>
              <a:buNone/>
              <a:defRPr sz="1200" b="0">
                <a:solidFill>
                  <a:srgbClr val="546B7C"/>
                </a:solidFill>
                <a:latin typeface="Arial"/>
                <a:ea typeface="Arial"/>
                <a:cs typeface="Arial"/>
              </a:defRPr>
            </a:lvl8pPr>
            <a:lvl9pPr>
              <a:buNone/>
              <a:defRPr sz="1200" b="0">
                <a:solidFill>
                  <a:srgbClr val="546B7C"/>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A10</a:t>
            </a:r>
          </a:p>
        </p:txBody>
      </p:sp>
      <p:sp>
        <p:nvSpPr>
          <p:cNvPr id="4" name="">
            <a:extLst xmlns:a="http://schemas.openxmlformats.org/drawingml/2006/main">
              <a:ext uri="{FF2B5EF4-FFF2-40B4-BE49-F238E27FC236}">
                <a16:creationId xmlns:a16="http://schemas.microsoft.com/office/drawing/2014/main" id="{74A6DD92-6FE3-4679-8136-EC0ECFAB14C6}"/>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75" b="1">
                <a:solidFill>
                  <a:srgbClr val="074E8C"/>
                </a:solidFill>
                <a:latin typeface="Arial"/>
                <a:ea typeface="Arial"/>
                <a:cs typeface="Arial"/>
              </a:defRPr>
            </a:lvl1pPr>
            <a:lvl2pPr>
              <a:buNone/>
              <a:defRPr sz="1875" b="1">
                <a:solidFill>
                  <a:srgbClr val="074E8C"/>
                </a:solidFill>
                <a:latin typeface="Arial"/>
                <a:ea typeface="Arial"/>
                <a:cs typeface="Arial"/>
              </a:defRPr>
            </a:lvl2pPr>
            <a:lvl3pPr>
              <a:buNone/>
              <a:defRPr sz="1875" b="1">
                <a:solidFill>
                  <a:srgbClr val="074E8C"/>
                </a:solidFill>
                <a:latin typeface="Arial"/>
                <a:ea typeface="Arial"/>
                <a:cs typeface="Arial"/>
              </a:defRPr>
            </a:lvl3pPr>
            <a:lvl4pPr>
              <a:buNone/>
              <a:defRPr sz="1875" b="1">
                <a:solidFill>
                  <a:srgbClr val="074E8C"/>
                </a:solidFill>
                <a:latin typeface="Arial"/>
                <a:ea typeface="Arial"/>
                <a:cs typeface="Arial"/>
              </a:defRPr>
            </a:lvl4pPr>
            <a:lvl5pPr>
              <a:buNone/>
              <a:defRPr sz="1875" b="1">
                <a:solidFill>
                  <a:srgbClr val="074E8C"/>
                </a:solidFill>
                <a:latin typeface="Arial"/>
                <a:ea typeface="Arial"/>
                <a:cs typeface="Arial"/>
              </a:defRPr>
            </a:lvl5pPr>
            <a:lvl6pPr>
              <a:buNone/>
              <a:defRPr sz="1875" b="1">
                <a:solidFill>
                  <a:srgbClr val="074E8C"/>
                </a:solidFill>
                <a:latin typeface="Arial"/>
                <a:ea typeface="Arial"/>
                <a:cs typeface="Arial"/>
              </a:defRPr>
            </a:lvl6pPr>
            <a:lvl7pPr>
              <a:buNone/>
              <a:defRPr sz="1875" b="1">
                <a:solidFill>
                  <a:srgbClr val="074E8C"/>
                </a:solidFill>
                <a:latin typeface="Arial"/>
                <a:ea typeface="Arial"/>
                <a:cs typeface="Arial"/>
              </a:defRPr>
            </a:lvl7pPr>
            <a:lvl8pPr>
              <a:buNone/>
              <a:defRPr sz="1875" b="1">
                <a:solidFill>
                  <a:srgbClr val="074E8C"/>
                </a:solidFill>
                <a:latin typeface="Arial"/>
                <a:ea typeface="Arial"/>
                <a:cs typeface="Arial"/>
              </a:defRPr>
            </a:lvl8pPr>
            <a:lvl9pPr>
              <a:buNone/>
              <a:defRPr sz="1875" b="1">
                <a:solidFill>
                  <a:srgbClr val="074E8C"/>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Matched records and comparable segments make the next decision clearer</a:t>
            </a:r>
          </a:p>
        </p:txBody>
      </p:sp>
      <p:graphicFrame>
        <p:nvGraphicFramePr>
          <p:cNvPr id="12" name=""/>
          <p:cNvGraphicFramePr/>
          <p:nvPr/>
        </p:nvGraphicFramePr>
        <p:xfrm>
          <a:off xmlns:a="http://schemas.openxmlformats.org/drawingml/2006/main" x="523875" y="2133600"/>
          <a:ext xmlns:a="http://schemas.openxmlformats.org/drawingml/2006/main" cx="11144250" cy="3390900"/>
        </p:xfrm>
        <a:graphic xmlns:a="http://schemas.openxmlformats.org/drawingml/2006/main">
          <a:graphicData uri="http://schemas.openxmlformats.org/drawingml/2006/table">
            <a:tbl>
              <a:tblPr/>
              <a:tblGrid>
                <a:gridCol w="4857750"/>
                <a:gridCol w="2333625"/>
                <a:gridCol w="3952875"/>
              </a:tblGrid>
              <a:tr h="847725">
                <a:tc>
                  <a:txBody>
                    <a:bodyPr/>
                    <a:lstStyle/>
                    <a:p>
                      <a:r>
                        <a:rPr sz="1875" b="1">
                          <a:solidFill>
                            <a:srgbClr val="3DDCF5"/>
                          </a:solidFill>
                          <a:latin typeface="Arial"/>
                          <a:ea typeface="Arial"/>
                          <a:cs typeface="Arial"/>
                        </a:rPr>
                        <a:t>Proposed action</a:t>
                      </a:r>
                    </a:p>
                  </a:txBody>
                  <a:tcPr marL="91440" marR="91440" marT="45720" marB="45720">
                    <a:lnL w="6191">
                      <a:solidFill>
                        <a:srgbClr val="20364D"/>
                      </a:solidFill>
                      <a:prstDash val="solid"/>
                    </a:lnL>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Suggested owner</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c>
                  <a:txBody>
                    <a:bodyPr/>
                    <a:lstStyle/>
                    <a:p>
                      <a:r>
                        <a:rPr sz="1875" b="1">
                          <a:solidFill>
                            <a:srgbClr val="3DDCF5"/>
                          </a:solidFill>
                          <a:latin typeface="Arial"/>
                          <a:ea typeface="Arial"/>
                          <a:cs typeface="Arial"/>
                        </a:rPr>
                        <a:t>Follow-up KPI</a:t>
                      </a:r>
                    </a:p>
                  </a:txBody>
                  <a:tcPr marL="91440" marR="91440" marT="45720" marB="45720">
                    <a:lnR w="6191">
                      <a:solidFill>
                        <a:srgbClr val="20364D"/>
                      </a:solidFill>
                      <a:prstDash val="solid"/>
                    </a:lnR>
                    <a:lnT w="6191">
                      <a:solidFill>
                        <a:srgbClr val="20364D"/>
                      </a:solidFill>
                      <a:prstDash val="solid"/>
                    </a:lnT>
                    <a:lnB w="6191">
                      <a:solidFill>
                        <a:srgbClr val="20364D"/>
                      </a:solidFill>
                      <a:prstDash val="solid"/>
                    </a:lnB>
                    <a:solidFill>
                      <a:srgbClr val="102E50"/>
                    </a:solidFill>
                  </a:tcPr>
                </a:tc>
              </a:tr>
              <a:tr h="847725">
                <a:tc>
                  <a:txBody>
                    <a:bodyPr/>
                    <a:lstStyle/>
                    <a:p>
                      <a:r>
                        <a:rPr sz="1875" b="0">
                          <a:solidFill>
                            <a:srgbClr val="F2F6FF"/>
                          </a:solidFill>
                          <a:latin typeface="Arial"/>
                          <a:ea typeface="Arial"/>
                          <a:cs typeface="Arial"/>
                        </a:rPr>
                        <a:t>Reconcile fuel purchases,</a:t>
                      </a:r>
                    </a:p>
                    <a:p>
                      <a:r>
                        <a:rPr sz="1875" b="0">
                          <a:solidFill>
                            <a:srgbClr val="F2F6FF"/>
                          </a:solidFill>
                          <a:latin typeface="Arial"/>
                          <a:ea typeface="Arial"/>
                          <a:cs typeface="Arial"/>
                        </a:rPr>
                        <a:t>trip burn and tank stock</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Fleet + Finance</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Unexplained variance</a:t>
                      </a:r>
                    </a:p>
                    <a:p>
                      <a:r>
                        <a:rPr sz="1875" b="0">
                          <a:solidFill>
                            <a:srgbClr val="F2F6FF"/>
                          </a:solidFill>
                          <a:latin typeface="Arial"/>
                          <a:ea typeface="Arial"/>
                          <a:cs typeface="Arial"/>
                        </a:rPr>
                        <a:t>Gallons per mile</a:t>
                      </a:r>
                    </a:p>
                  </a:txBody>
                  <a:tcPr marL="91440" marR="91440" marT="45720" marB="45720">
                    <a:lnR w="6191">
                      <a:solidFill>
                        <a:srgbClr val="20364D"/>
                      </a:solidFill>
                      <a:prstDash val="solid"/>
                    </a:lnR>
                    <a:lnB w="6191">
                      <a:solidFill>
                        <a:srgbClr val="20364D"/>
                      </a:solidFill>
                      <a:prstDash val="solid"/>
                    </a:lnB>
                    <a:solidFill>
                      <a:srgbClr val="0B1728"/>
                    </a:solidFill>
                  </a:tcPr>
                </a:tc>
              </a:tr>
              <a:tr h="847725">
                <a:tc>
                  <a:txBody>
                    <a:bodyPr/>
                    <a:lstStyle/>
                    <a:p>
                      <a:r>
                        <a:rPr sz="1875" b="0">
                          <a:solidFill>
                            <a:srgbClr val="F2F6FF"/>
                          </a:solidFill>
                          <a:latin typeface="Arial"/>
                          <a:ea typeface="Arial"/>
                          <a:cs typeface="Arial"/>
                        </a:rPr>
                        <a:t>Resolve unmatched</a:t>
                      </a:r>
                    </a:p>
                    <a:p>
                      <a:r>
                        <a:rPr sz="1875" b="0">
                          <a:solidFill>
                            <a:srgbClr val="F2F6FF"/>
                          </a:solidFill>
                          <a:latin typeface="Arial"/>
                          <a:ea typeface="Arial"/>
                          <a:cs typeface="Arial"/>
                        </a:rPr>
                        <a:t>driver / truck / trailer keys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Data owners</a:t>
                      </a:r>
                    </a:p>
                  </a:txBody>
                  <a:tcPr marL="91440" marR="91440" marT="45720" marB="45720">
                    <a:lnR w="6191">
                      <a:solidFill>
                        <a:srgbClr val="20364D"/>
                      </a:solidFill>
                      <a:prstDash val="solid"/>
                    </a:lnR>
                    <a:lnB w="6191">
                      <a:solidFill>
                        <a:srgbClr val="20364D"/>
                      </a:solidFill>
                      <a:prstDash val="solid"/>
                    </a:lnB>
                    <a:solidFill>
                      <a:srgbClr val="0D1B2E"/>
                    </a:solidFill>
                  </a:tcPr>
                </a:tc>
                <a:tc>
                  <a:txBody>
                    <a:bodyPr/>
                    <a:lstStyle/>
                    <a:p>
                      <a:r>
                        <a:rPr sz="1875" b="0">
                          <a:solidFill>
                            <a:srgbClr val="F2F6FF"/>
                          </a:solidFill>
                          <a:latin typeface="Arial"/>
                          <a:ea typeface="Arial"/>
                          <a:cs typeface="Arial"/>
                        </a:rPr>
                        <a:t>Unmatched key rate</a:t>
                      </a:r>
                    </a:p>
                    <a:p>
                      <a:r>
                        <a:rPr sz="1875" b="0">
                          <a:solidFill>
                            <a:srgbClr val="F2F6FF"/>
                          </a:solidFill>
                          <a:latin typeface="Arial"/>
                          <a:ea typeface="Arial"/>
                          <a:cs typeface="Arial"/>
                        </a:rPr>
                        <a:t>Open exceptions</a:t>
                      </a:r>
                    </a:p>
                  </a:txBody>
                  <a:tcPr marL="91440" marR="91440" marT="45720" marB="45720">
                    <a:lnR w="6191">
                      <a:solidFill>
                        <a:srgbClr val="20364D"/>
                      </a:solidFill>
                      <a:prstDash val="solid"/>
                    </a:lnR>
                    <a:lnB w="6191">
                      <a:solidFill>
                        <a:srgbClr val="20364D"/>
                      </a:solidFill>
                      <a:prstDash val="solid"/>
                    </a:lnB>
                    <a:solidFill>
                      <a:srgbClr val="0D1B2E"/>
                    </a:solidFill>
                  </a:tcPr>
                </a:tc>
              </a:tr>
              <a:tr h="847725">
                <a:tc>
                  <a:txBody>
                    <a:bodyPr/>
                    <a:lstStyle/>
                    <a:p>
                      <a:r>
                        <a:rPr sz="1875" b="0">
                          <a:solidFill>
                            <a:srgbClr val="F2F6FF"/>
                          </a:solidFill>
                          <a:latin typeface="Arial"/>
                          <a:ea typeface="Arial"/>
                          <a:cs typeface="Arial"/>
                        </a:rPr>
                        <a:t>Compare yield within</a:t>
                      </a:r>
                    </a:p>
                    <a:p>
                      <a:r>
                        <a:rPr sz="1875" b="0">
                          <a:solidFill>
                            <a:srgbClr val="F2F6FF"/>
                          </a:solidFill>
                          <a:latin typeface="Arial"/>
                          <a:ea typeface="Arial"/>
                          <a:cs typeface="Arial"/>
                        </a:rPr>
                        <a:t>matched lanes and segments</a:t>
                      </a:r>
                    </a:p>
                  </a:txBody>
                  <a:tcPr marL="91440" marR="91440" marT="45720" marB="45720">
                    <a:lnL w="6191">
                      <a:solidFill>
                        <a:srgbClr val="20364D"/>
                      </a:solidFill>
                      <a:prstDash val="solid"/>
                    </a:lnL>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Commercial + BI</a:t>
                      </a:r>
                    </a:p>
                  </a:txBody>
                  <a:tcPr marL="91440" marR="91440" marT="45720" marB="45720">
                    <a:lnR w="6191">
                      <a:solidFill>
                        <a:srgbClr val="20364D"/>
                      </a:solidFill>
                      <a:prstDash val="solid"/>
                    </a:lnR>
                    <a:lnB w="6191">
                      <a:solidFill>
                        <a:srgbClr val="20364D"/>
                      </a:solidFill>
                      <a:prstDash val="solid"/>
                    </a:lnB>
                    <a:solidFill>
                      <a:srgbClr val="0B1728"/>
                    </a:solidFill>
                  </a:tcPr>
                </a:tc>
                <a:tc>
                  <a:txBody>
                    <a:bodyPr/>
                    <a:lstStyle/>
                    <a:p>
                      <a:r>
                        <a:rPr sz="1875" b="0">
                          <a:solidFill>
                            <a:srgbClr val="F2F6FF"/>
                          </a:solidFill>
                          <a:latin typeface="Arial"/>
                          <a:ea typeface="Arial"/>
                          <a:cs typeface="Arial"/>
                        </a:rPr>
                        <a:t>Revenue per load</a:t>
                      </a:r>
                    </a:p>
                    <a:p>
                      <a:r>
                        <a:rPr sz="1875" b="0">
                          <a:solidFill>
                            <a:srgbClr val="F2F6FF"/>
                          </a:solidFill>
                          <a:latin typeface="Arial"/>
                          <a:ea typeface="Arial"/>
                          <a:cs typeface="Arial"/>
                        </a:rPr>
                        <a:t>Revenue per mile</a:t>
                      </a:r>
                    </a:p>
                  </a:txBody>
                  <a:tcPr marL="91440" marR="91440" marT="45720" marB="45720">
                    <a:lnR w="6191">
                      <a:solidFill>
                        <a:srgbClr val="20364D"/>
                      </a:solidFill>
                      <a:prstDash val="solid"/>
                    </a:lnR>
                    <a:lnB w="6191">
                      <a:solidFill>
                        <a:srgbClr val="20364D"/>
                      </a:solidFill>
                      <a:prstDash val="solid"/>
                    </a:lnB>
                    <a:solidFill>
                      <a:srgbClr val="0B1728"/>
                    </a:solidFill>
                  </a:tcPr>
                </a:tc>
              </a:tr>
            </a:tbl>
          </a:graphicData>
        </a:graphic>
      </p:graphicFrame>
    </p:spTree>
    <p:extLst>
      <p:ext uri="{BB962C8B-B14F-4D97-AF65-F5344CB8AC3E}">
        <p14:creationId xmlns:p14="http://schemas.microsoft.com/office/powerpoint/2010/main" val="535532140"/>
      </p:ext>
    </p:extLst>
  </p:cSld>
</p:sld>
</file>

<file path=ppt/slides/slide40.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1" name="enhancement-95">
            <a:extLst xmlns:a="http://schemas.openxmlformats.org/drawingml/2006/main">
              <a:ext uri="{FF2B5EF4-FFF2-40B4-BE49-F238E27FC236}">
                <a16:creationId xmlns:a16="http://schemas.microsoft.com/office/drawing/2014/main" id="{82069EE2-6E38-4018-9553-1429E33C69B8}"/>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APPENDIX: DAX FORMULAS AND VALIDATION</a:t>
            </a:r>
          </a:p>
        </p:txBody>
      </p:sp>
      <p:sp>
        <p:nvSpPr>
          <p:cNvPr id="2" name="enhancement-96">
            <a:extLst xmlns:a="http://schemas.openxmlformats.org/drawingml/2006/main">
              <a:ext uri="{FF2B5EF4-FFF2-40B4-BE49-F238E27FC236}">
                <a16:creationId xmlns:a16="http://schemas.microsoft.com/office/drawing/2014/main" id="{0BB0E69B-FC0A-4C9F-A2FE-9D39EAEDE9DF}"/>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225" b="1">
                <a:solidFill>
                  <a:srgbClr val="F2F6FF"/>
                </a:solidFill>
                <a:latin typeface="Arial"/>
                <a:ea typeface="Arial"/>
                <a:cs typeface="Arial"/>
              </a:defRPr>
            </a:lvl1pPr>
            <a:lvl2pPr>
              <a:buNone/>
              <a:defRPr sz="3225" b="1">
                <a:solidFill>
                  <a:srgbClr val="F2F6FF"/>
                </a:solidFill>
                <a:latin typeface="Arial"/>
                <a:ea typeface="Arial"/>
                <a:cs typeface="Arial"/>
              </a:defRPr>
            </a:lvl2pPr>
            <a:lvl3pPr>
              <a:buNone/>
              <a:defRPr sz="3225" b="1">
                <a:solidFill>
                  <a:srgbClr val="F2F6FF"/>
                </a:solidFill>
                <a:latin typeface="Arial"/>
                <a:ea typeface="Arial"/>
                <a:cs typeface="Arial"/>
              </a:defRPr>
            </a:lvl3pPr>
            <a:lvl4pPr>
              <a:buNone/>
              <a:defRPr sz="3225" b="1">
                <a:solidFill>
                  <a:srgbClr val="F2F6FF"/>
                </a:solidFill>
                <a:latin typeface="Arial"/>
                <a:ea typeface="Arial"/>
                <a:cs typeface="Arial"/>
              </a:defRPr>
            </a:lvl4pPr>
            <a:lvl5pPr>
              <a:buNone/>
              <a:defRPr sz="3225" b="1">
                <a:solidFill>
                  <a:srgbClr val="F2F6FF"/>
                </a:solidFill>
                <a:latin typeface="Arial"/>
                <a:ea typeface="Arial"/>
                <a:cs typeface="Arial"/>
              </a:defRPr>
            </a:lvl5pPr>
            <a:lvl6pPr>
              <a:buNone/>
              <a:defRPr sz="3225" b="1">
                <a:solidFill>
                  <a:srgbClr val="F2F6FF"/>
                </a:solidFill>
                <a:latin typeface="Arial"/>
                <a:ea typeface="Arial"/>
                <a:cs typeface="Arial"/>
              </a:defRPr>
            </a:lvl6pPr>
            <a:lvl7pPr>
              <a:buNone/>
              <a:defRPr sz="3225" b="1">
                <a:solidFill>
                  <a:srgbClr val="F2F6FF"/>
                </a:solidFill>
                <a:latin typeface="Arial"/>
                <a:ea typeface="Arial"/>
                <a:cs typeface="Arial"/>
              </a:defRPr>
            </a:lvl7pPr>
            <a:lvl8pPr>
              <a:buNone/>
              <a:defRPr sz="3225" b="1">
                <a:solidFill>
                  <a:srgbClr val="F2F6FF"/>
                </a:solidFill>
                <a:latin typeface="Arial"/>
                <a:ea typeface="Arial"/>
                <a:cs typeface="Arial"/>
              </a:defRPr>
            </a:lvl8pPr>
            <a:lvl9pPr>
              <a:buNone/>
              <a:defRPr sz="3225" b="1">
                <a:solidFill>
                  <a:srgbClr val="F2F6FF"/>
                </a:solidFill>
                <a:latin typeface="Arial"/>
                <a:ea typeface="Arial"/>
                <a:cs typeface="Arial"/>
              </a:defRPr>
            </a:lvl9pPr>
          </a:lstStyle>
          <a:p xmlns:a="http://schemas.openxmlformats.org/drawingml/2006/main">
            <a:pPr>
              <a:buNone/>
              <a:defRPr sz="3225" b="1">
                <a:solidFill>
                  <a:srgbClr val="F2F6FF"/>
                </a:solidFill>
                <a:latin typeface="Arial"/>
                <a:ea typeface="Arial"/>
                <a:cs typeface="Arial"/>
              </a:defRPr>
            </a:pPr>
            <a:r>
              <a:rPr sz="3225" b="1">
                <a:solidFill>
                  <a:srgbClr val="F2F6FF"/>
                </a:solidFill>
                <a:latin typeface="Arial"/>
                <a:ea typeface="Arial"/>
                <a:cs typeface="Arial"/>
              </a:rPr>
              <a:t>DAX reference: additive measures and units</a:t>
            </a:r>
          </a:p>
        </p:txBody>
      </p:sp>
      <p:sp>
        <p:nvSpPr>
          <p:cNvPr id="3" name="enhancement-97">
            <a:extLst xmlns:a="http://schemas.openxmlformats.org/drawingml/2006/main">
              <a:ext uri="{FF2B5EF4-FFF2-40B4-BE49-F238E27FC236}">
                <a16:creationId xmlns:a16="http://schemas.microsoft.com/office/drawing/2014/main" id="{575CB77E-7C1A-4095-9C85-DEE1879661BD}"/>
              </a:ext>
            </a:extLst>
          </p:cNvPr>
          <p:cNvSpPr>
            <a:spLocks xmlns:a="http://schemas.openxmlformats.org/drawingml/2006/main" noGrp="1"/>
          </p:cNvSpPr>
          <p:nvPr/>
        </p:nvSpPr>
        <p:spPr>
          <a:xfrm xmlns:a="http://schemas.openxmlformats.org/drawingml/2006/main">
            <a:off x="571500" y="202882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00" b="1">
                <a:solidFill>
                  <a:srgbClr val="3DDCF5"/>
                </a:solidFill>
                <a:latin typeface="Arial"/>
                <a:ea typeface="Arial"/>
                <a:cs typeface="Arial"/>
              </a:defRPr>
            </a:lvl1pPr>
            <a:lvl2pPr>
              <a:buNone/>
              <a:defRPr sz="1500" b="1">
                <a:solidFill>
                  <a:srgbClr val="3DDCF5"/>
                </a:solidFill>
                <a:latin typeface="Arial"/>
                <a:ea typeface="Arial"/>
                <a:cs typeface="Arial"/>
              </a:defRPr>
            </a:lvl2pPr>
            <a:lvl3pPr>
              <a:buNone/>
              <a:defRPr sz="1500" b="1">
                <a:solidFill>
                  <a:srgbClr val="3DDCF5"/>
                </a:solidFill>
                <a:latin typeface="Arial"/>
                <a:ea typeface="Arial"/>
                <a:cs typeface="Arial"/>
              </a:defRPr>
            </a:lvl3pPr>
            <a:lvl4pPr>
              <a:buNone/>
              <a:defRPr sz="1500" b="1">
                <a:solidFill>
                  <a:srgbClr val="3DDCF5"/>
                </a:solidFill>
                <a:latin typeface="Arial"/>
                <a:ea typeface="Arial"/>
                <a:cs typeface="Arial"/>
              </a:defRPr>
            </a:lvl4pPr>
            <a:lvl5pPr>
              <a:buNone/>
              <a:defRPr sz="1500" b="1">
                <a:solidFill>
                  <a:srgbClr val="3DDCF5"/>
                </a:solidFill>
                <a:latin typeface="Arial"/>
                <a:ea typeface="Arial"/>
                <a:cs typeface="Arial"/>
              </a:defRPr>
            </a:lvl5pPr>
            <a:lvl6pPr>
              <a:buNone/>
              <a:defRPr sz="1500" b="1">
                <a:solidFill>
                  <a:srgbClr val="3DDCF5"/>
                </a:solidFill>
                <a:latin typeface="Arial"/>
                <a:ea typeface="Arial"/>
                <a:cs typeface="Arial"/>
              </a:defRPr>
            </a:lvl6pPr>
            <a:lvl7pPr>
              <a:buNone/>
              <a:defRPr sz="1500" b="1">
                <a:solidFill>
                  <a:srgbClr val="3DDCF5"/>
                </a:solidFill>
                <a:latin typeface="Arial"/>
                <a:ea typeface="Arial"/>
                <a:cs typeface="Arial"/>
              </a:defRPr>
            </a:lvl7pPr>
            <a:lvl8pPr>
              <a:buNone/>
              <a:defRPr sz="1500" b="1">
                <a:solidFill>
                  <a:srgbClr val="3DDCF5"/>
                </a:solidFill>
                <a:latin typeface="Arial"/>
                <a:ea typeface="Arial"/>
                <a:cs typeface="Arial"/>
              </a:defRPr>
            </a:lvl8pPr>
            <a:lvl9pPr>
              <a:buNone/>
              <a:defRPr sz="1500" b="1">
                <a:solidFill>
                  <a:srgbClr val="3DDCF5"/>
                </a:solidFill>
                <a:latin typeface="Arial"/>
                <a:ea typeface="Arial"/>
                <a:cs typeface="Arial"/>
              </a:defRPr>
            </a:lvl9pPr>
          </a:lstStyle>
          <a:p xmlns:a="http://schemas.openxmlformats.org/drawingml/2006/main">
            <a:pPr>
              <a:buNone/>
              <a:defRPr sz="1500" b="1">
                <a:solidFill>
                  <a:srgbClr val="3DDCF5"/>
                </a:solidFill>
                <a:latin typeface="Arial"/>
                <a:ea typeface="Arial"/>
                <a:cs typeface="Arial"/>
              </a:defRPr>
            </a:pPr>
            <a:r>
              <a:rPr sz="1500" b="1">
                <a:solidFill>
                  <a:srgbClr val="3DDCF5"/>
                </a:solidFill>
                <a:latin typeface="Arial"/>
                <a:ea typeface="Arial"/>
                <a:cs typeface="Arial"/>
              </a:rPr>
              <a:t>ACTUAL MODEL FORMULAS</a:t>
            </a:r>
          </a:p>
        </p:txBody>
      </p:sp>
      <p:sp>
        <p:nvSpPr>
          <p:cNvPr id="4" name="enhancement-98">
            <a:extLst xmlns:a="http://schemas.openxmlformats.org/drawingml/2006/main">
              <a:ext uri="{FF2B5EF4-FFF2-40B4-BE49-F238E27FC236}">
                <a16:creationId xmlns:a16="http://schemas.microsoft.com/office/drawing/2014/main" id="{27746E86-0FD6-4593-B0BA-8611D6AD87A2}"/>
              </a:ext>
            </a:extLst>
          </p:cNvPr>
          <p:cNvSpPr>
            <a:spLocks xmlns:a="http://schemas.openxmlformats.org/drawingml/2006/main" noGrp="1"/>
          </p:cNvSpPr>
          <p:nvPr/>
        </p:nvSpPr>
        <p:spPr>
          <a:xfrm xmlns:a="http://schemas.openxmlformats.org/drawingml/2006/main">
            <a:off x="6477000" y="2028825"/>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00" b="1">
                <a:solidFill>
                  <a:srgbClr val="A381FF"/>
                </a:solidFill>
                <a:latin typeface="Arial"/>
                <a:ea typeface="Arial"/>
                <a:cs typeface="Arial"/>
              </a:defRPr>
            </a:lvl1pPr>
            <a:lvl2pPr>
              <a:buNone/>
              <a:defRPr sz="1500" b="1">
                <a:solidFill>
                  <a:srgbClr val="A381FF"/>
                </a:solidFill>
                <a:latin typeface="Arial"/>
                <a:ea typeface="Arial"/>
                <a:cs typeface="Arial"/>
              </a:defRPr>
            </a:lvl2pPr>
            <a:lvl3pPr>
              <a:buNone/>
              <a:defRPr sz="1500" b="1">
                <a:solidFill>
                  <a:srgbClr val="A381FF"/>
                </a:solidFill>
                <a:latin typeface="Arial"/>
                <a:ea typeface="Arial"/>
                <a:cs typeface="Arial"/>
              </a:defRPr>
            </a:lvl3pPr>
            <a:lvl4pPr>
              <a:buNone/>
              <a:defRPr sz="1500" b="1">
                <a:solidFill>
                  <a:srgbClr val="A381FF"/>
                </a:solidFill>
                <a:latin typeface="Arial"/>
                <a:ea typeface="Arial"/>
                <a:cs typeface="Arial"/>
              </a:defRPr>
            </a:lvl4pPr>
            <a:lvl5pPr>
              <a:buNone/>
              <a:defRPr sz="1500" b="1">
                <a:solidFill>
                  <a:srgbClr val="A381FF"/>
                </a:solidFill>
                <a:latin typeface="Arial"/>
                <a:ea typeface="Arial"/>
                <a:cs typeface="Arial"/>
              </a:defRPr>
            </a:lvl5pPr>
            <a:lvl6pPr>
              <a:buNone/>
              <a:defRPr sz="1500" b="1">
                <a:solidFill>
                  <a:srgbClr val="A381FF"/>
                </a:solidFill>
                <a:latin typeface="Arial"/>
                <a:ea typeface="Arial"/>
                <a:cs typeface="Arial"/>
              </a:defRPr>
            </a:lvl6pPr>
            <a:lvl7pPr>
              <a:buNone/>
              <a:defRPr sz="1500" b="1">
                <a:solidFill>
                  <a:srgbClr val="A381FF"/>
                </a:solidFill>
                <a:latin typeface="Arial"/>
                <a:ea typeface="Arial"/>
                <a:cs typeface="Arial"/>
              </a:defRPr>
            </a:lvl7pPr>
            <a:lvl8pPr>
              <a:buNone/>
              <a:defRPr sz="1500" b="1">
                <a:solidFill>
                  <a:srgbClr val="A381FF"/>
                </a:solidFill>
                <a:latin typeface="Arial"/>
                <a:ea typeface="Arial"/>
                <a:cs typeface="Arial"/>
              </a:defRPr>
            </a:lvl8pPr>
            <a:lvl9pPr>
              <a:buNone/>
              <a:defRPr sz="1500" b="1">
                <a:solidFill>
                  <a:srgbClr val="A381FF"/>
                </a:solidFill>
                <a:latin typeface="Arial"/>
                <a:ea typeface="Arial"/>
                <a:cs typeface="Arial"/>
              </a:defRPr>
            </a:lvl9pPr>
          </a:lstStyle>
          <a:p xmlns:a="http://schemas.openxmlformats.org/drawingml/2006/main">
            <a:pPr>
              <a:buNone/>
              <a:defRPr sz="1500" b="1">
                <a:solidFill>
                  <a:srgbClr val="A381FF"/>
                </a:solidFill>
                <a:latin typeface="Arial"/>
                <a:ea typeface="Arial"/>
                <a:cs typeface="Arial"/>
              </a:defRPr>
            </a:pPr>
            <a:r>
              <a:rPr sz="1500" b="1">
                <a:solidFill>
                  <a:srgbClr val="A381FF"/>
                </a:solidFill>
                <a:latin typeface="Arial"/>
                <a:ea typeface="Arial"/>
                <a:cs typeface="Arial"/>
              </a:rPr>
              <a:t>UNITS AND COST SCOPE</a:t>
            </a:r>
          </a:p>
        </p:txBody>
      </p:sp>
      <p:sp>
        <p:nvSpPr>
          <p:cNvPr id="5" name="enhancement-99">
            <a:extLst xmlns:a="http://schemas.openxmlformats.org/drawingml/2006/main">
              <a:ext uri="{FF2B5EF4-FFF2-40B4-BE49-F238E27FC236}">
                <a16:creationId xmlns:a16="http://schemas.microsoft.com/office/drawing/2014/main" id="{96322DEC-7502-43F8-8E66-36CE143ED3B7}"/>
              </a:ext>
            </a:extLst>
          </p:cNvPr>
          <p:cNvSpPr>
            <a:spLocks xmlns:a="http://schemas.openxmlformats.org/drawingml/2006/main" noGrp="1"/>
          </p:cNvSpPr>
          <p:nvPr/>
        </p:nvSpPr>
        <p:spPr>
          <a:xfrm xmlns:a="http://schemas.openxmlformats.org/drawingml/2006/main">
            <a:off x="571500" y="2524125"/>
            <a:ext cx="5238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00" b="0">
                <a:solidFill>
                  <a:srgbClr val="F2F6FF"/>
                </a:solidFill>
                <a:latin typeface="Arial"/>
                <a:ea typeface="Arial"/>
                <a:cs typeface="Arial"/>
              </a:defRPr>
            </a:lvl1pPr>
            <a:lvl2pPr>
              <a:buNone/>
              <a:defRPr sz="1800" b="0">
                <a:solidFill>
                  <a:srgbClr val="F2F6FF"/>
                </a:solidFill>
                <a:latin typeface="Arial"/>
                <a:ea typeface="Arial"/>
                <a:cs typeface="Arial"/>
              </a:defRPr>
            </a:lvl2pPr>
            <a:lvl3pPr>
              <a:buNone/>
              <a:defRPr sz="1800" b="0">
                <a:solidFill>
                  <a:srgbClr val="F2F6FF"/>
                </a:solidFill>
                <a:latin typeface="Arial"/>
                <a:ea typeface="Arial"/>
                <a:cs typeface="Arial"/>
              </a:defRPr>
            </a:lvl3pPr>
            <a:lvl4pPr>
              <a:buNone/>
              <a:defRPr sz="1800" b="0">
                <a:solidFill>
                  <a:srgbClr val="F2F6FF"/>
                </a:solidFill>
                <a:latin typeface="Arial"/>
                <a:ea typeface="Arial"/>
                <a:cs typeface="Arial"/>
              </a:defRPr>
            </a:lvl4pPr>
            <a:lvl5pPr>
              <a:buNone/>
              <a:defRPr sz="1800" b="0">
                <a:solidFill>
                  <a:srgbClr val="F2F6FF"/>
                </a:solidFill>
                <a:latin typeface="Arial"/>
                <a:ea typeface="Arial"/>
                <a:cs typeface="Arial"/>
              </a:defRPr>
            </a:lvl5pPr>
            <a:lvl6pPr>
              <a:buNone/>
              <a:defRPr sz="1800" b="0">
                <a:solidFill>
                  <a:srgbClr val="F2F6FF"/>
                </a:solidFill>
                <a:latin typeface="Arial"/>
                <a:ea typeface="Arial"/>
                <a:cs typeface="Arial"/>
              </a:defRPr>
            </a:lvl6pPr>
            <a:lvl7pPr>
              <a:buNone/>
              <a:defRPr sz="1800" b="0">
                <a:solidFill>
                  <a:srgbClr val="F2F6FF"/>
                </a:solidFill>
                <a:latin typeface="Arial"/>
                <a:ea typeface="Arial"/>
                <a:cs typeface="Arial"/>
              </a:defRPr>
            </a:lvl7pPr>
            <a:lvl8pPr>
              <a:buNone/>
              <a:defRPr sz="1800" b="0">
                <a:solidFill>
                  <a:srgbClr val="F2F6FF"/>
                </a:solidFill>
                <a:latin typeface="Arial"/>
                <a:ea typeface="Arial"/>
                <a:cs typeface="Arial"/>
              </a:defRPr>
            </a:lvl8pPr>
            <a:lvl9pPr>
              <a:buNone/>
              <a:defRPr sz="1800" b="0">
                <a:solidFill>
                  <a:srgbClr val="F2F6FF"/>
                </a:solidFill>
                <a:latin typeface="Arial"/>
                <a:ea typeface="Arial"/>
                <a:cs typeface="Arial"/>
              </a:defRPr>
            </a:lvl9pPr>
          </a:lstStyle>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Total_Revenue =</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SUMX(loads,</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  loads[revenue]</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  + loads[fuel_surcharge]</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  + loads[accessorial_charges])</a:t>
            </a:r>
          </a:p>
        </p:txBody>
      </p:sp>
      <p:sp>
        <p:nvSpPr>
          <p:cNvPr id="6" name="enhancement-100">
            <a:extLst xmlns:a="http://schemas.openxmlformats.org/drawingml/2006/main">
              <a:ext uri="{FF2B5EF4-FFF2-40B4-BE49-F238E27FC236}">
                <a16:creationId xmlns:a16="http://schemas.microsoft.com/office/drawing/2014/main" id="{9F35D812-F125-4745-996C-1A4429FEEEFC}"/>
              </a:ext>
            </a:extLst>
          </p:cNvPr>
          <p:cNvSpPr>
            <a:spLocks xmlns:a="http://schemas.openxmlformats.org/drawingml/2006/main" noGrp="1"/>
          </p:cNvSpPr>
          <p:nvPr/>
        </p:nvSpPr>
        <p:spPr>
          <a:xfrm xmlns:a="http://schemas.openxmlformats.org/drawingml/2006/main">
            <a:off x="571500" y="4486275"/>
            <a:ext cx="523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00" b="0">
                <a:solidFill>
                  <a:srgbClr val="F2F6FF"/>
                </a:solidFill>
                <a:latin typeface="Arial"/>
                <a:ea typeface="Arial"/>
                <a:cs typeface="Arial"/>
              </a:defRPr>
            </a:lvl1pPr>
            <a:lvl2pPr>
              <a:buNone/>
              <a:defRPr sz="1800" b="0">
                <a:solidFill>
                  <a:srgbClr val="F2F6FF"/>
                </a:solidFill>
                <a:latin typeface="Arial"/>
                <a:ea typeface="Arial"/>
                <a:cs typeface="Arial"/>
              </a:defRPr>
            </a:lvl2pPr>
            <a:lvl3pPr>
              <a:buNone/>
              <a:defRPr sz="1800" b="0">
                <a:solidFill>
                  <a:srgbClr val="F2F6FF"/>
                </a:solidFill>
                <a:latin typeface="Arial"/>
                <a:ea typeface="Arial"/>
                <a:cs typeface="Arial"/>
              </a:defRPr>
            </a:lvl3pPr>
            <a:lvl4pPr>
              <a:buNone/>
              <a:defRPr sz="1800" b="0">
                <a:solidFill>
                  <a:srgbClr val="F2F6FF"/>
                </a:solidFill>
                <a:latin typeface="Arial"/>
                <a:ea typeface="Arial"/>
                <a:cs typeface="Arial"/>
              </a:defRPr>
            </a:lvl4pPr>
            <a:lvl5pPr>
              <a:buNone/>
              <a:defRPr sz="1800" b="0">
                <a:solidFill>
                  <a:srgbClr val="F2F6FF"/>
                </a:solidFill>
                <a:latin typeface="Arial"/>
                <a:ea typeface="Arial"/>
                <a:cs typeface="Arial"/>
              </a:defRPr>
            </a:lvl5pPr>
            <a:lvl6pPr>
              <a:buNone/>
              <a:defRPr sz="1800" b="0">
                <a:solidFill>
                  <a:srgbClr val="F2F6FF"/>
                </a:solidFill>
                <a:latin typeface="Arial"/>
                <a:ea typeface="Arial"/>
                <a:cs typeface="Arial"/>
              </a:defRPr>
            </a:lvl6pPr>
            <a:lvl7pPr>
              <a:buNone/>
              <a:defRPr sz="1800" b="0">
                <a:solidFill>
                  <a:srgbClr val="F2F6FF"/>
                </a:solidFill>
                <a:latin typeface="Arial"/>
                <a:ea typeface="Arial"/>
                <a:cs typeface="Arial"/>
              </a:defRPr>
            </a:lvl7pPr>
            <a:lvl8pPr>
              <a:buNone/>
              <a:defRPr sz="1800" b="0">
                <a:solidFill>
                  <a:srgbClr val="F2F6FF"/>
                </a:solidFill>
                <a:latin typeface="Arial"/>
                <a:ea typeface="Arial"/>
                <a:cs typeface="Arial"/>
              </a:defRPr>
            </a:lvl8pPr>
            <a:lvl9pPr>
              <a:buNone/>
              <a:defRPr sz="1800" b="0">
                <a:solidFill>
                  <a:srgbClr val="F2F6FF"/>
                </a:solidFill>
                <a:latin typeface="Arial"/>
                <a:ea typeface="Arial"/>
                <a:cs typeface="Arial"/>
              </a:defRPr>
            </a:lvl9pPr>
          </a:lstStyle>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Net Profit =</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[Total_Revenue] - [Total Cost]</a:t>
            </a:r>
          </a:p>
        </p:txBody>
      </p:sp>
      <p:sp>
        <p:nvSpPr>
          <p:cNvPr id="7" name="enhancement-101">
            <a:extLst xmlns:a="http://schemas.openxmlformats.org/drawingml/2006/main">
              <a:ext uri="{FF2B5EF4-FFF2-40B4-BE49-F238E27FC236}">
                <a16:creationId xmlns:a16="http://schemas.microsoft.com/office/drawing/2014/main" id="{FF31E10B-2988-4594-8FF9-92AB5291B13E}"/>
              </a:ext>
            </a:extLst>
          </p:cNvPr>
          <p:cNvSpPr>
            <a:spLocks xmlns:a="http://schemas.openxmlformats.org/drawingml/2006/main" noGrp="1"/>
          </p:cNvSpPr>
          <p:nvPr/>
        </p:nvSpPr>
        <p:spPr>
          <a:xfrm xmlns:a="http://schemas.openxmlformats.org/drawingml/2006/main">
            <a:off x="6477000" y="252412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00" b="0">
                <a:solidFill>
                  <a:srgbClr val="F2F6FF"/>
                </a:solidFill>
                <a:latin typeface="Arial"/>
                <a:ea typeface="Arial"/>
                <a:cs typeface="Arial"/>
              </a:defRPr>
            </a:lvl1pPr>
            <a:lvl2pPr>
              <a:buNone/>
              <a:defRPr sz="1800" b="0">
                <a:solidFill>
                  <a:srgbClr val="F2F6FF"/>
                </a:solidFill>
                <a:latin typeface="Arial"/>
                <a:ea typeface="Arial"/>
                <a:cs typeface="Arial"/>
              </a:defRPr>
            </a:lvl2pPr>
            <a:lvl3pPr>
              <a:buNone/>
              <a:defRPr sz="1800" b="0">
                <a:solidFill>
                  <a:srgbClr val="F2F6FF"/>
                </a:solidFill>
                <a:latin typeface="Arial"/>
                <a:ea typeface="Arial"/>
                <a:cs typeface="Arial"/>
              </a:defRPr>
            </a:lvl3pPr>
            <a:lvl4pPr>
              <a:buNone/>
              <a:defRPr sz="1800" b="0">
                <a:solidFill>
                  <a:srgbClr val="F2F6FF"/>
                </a:solidFill>
                <a:latin typeface="Arial"/>
                <a:ea typeface="Arial"/>
                <a:cs typeface="Arial"/>
              </a:defRPr>
            </a:lvl4pPr>
            <a:lvl5pPr>
              <a:buNone/>
              <a:defRPr sz="1800" b="0">
                <a:solidFill>
                  <a:srgbClr val="F2F6FF"/>
                </a:solidFill>
                <a:latin typeface="Arial"/>
                <a:ea typeface="Arial"/>
                <a:cs typeface="Arial"/>
              </a:defRPr>
            </a:lvl5pPr>
            <a:lvl6pPr>
              <a:buNone/>
              <a:defRPr sz="1800" b="0">
                <a:solidFill>
                  <a:srgbClr val="F2F6FF"/>
                </a:solidFill>
                <a:latin typeface="Arial"/>
                <a:ea typeface="Arial"/>
                <a:cs typeface="Arial"/>
              </a:defRPr>
            </a:lvl6pPr>
            <a:lvl7pPr>
              <a:buNone/>
              <a:defRPr sz="1800" b="0">
                <a:solidFill>
                  <a:srgbClr val="F2F6FF"/>
                </a:solidFill>
                <a:latin typeface="Arial"/>
                <a:ea typeface="Arial"/>
                <a:cs typeface="Arial"/>
              </a:defRPr>
            </a:lvl7pPr>
            <a:lvl8pPr>
              <a:buNone/>
              <a:defRPr sz="1800" b="0">
                <a:solidFill>
                  <a:srgbClr val="F2F6FF"/>
                </a:solidFill>
                <a:latin typeface="Arial"/>
                <a:ea typeface="Arial"/>
                <a:cs typeface="Arial"/>
              </a:defRPr>
            </a:lvl8pPr>
            <a:lvl9pPr>
              <a:buNone/>
              <a:defRPr sz="1800" b="0">
                <a:solidFill>
                  <a:srgbClr val="F2F6FF"/>
                </a:solidFill>
                <a:latin typeface="Arial"/>
                <a:ea typeface="Arial"/>
                <a:cs typeface="Arial"/>
              </a:defRPr>
            </a:lvl9pPr>
          </a:lstStyle>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MPG = DIVIDE(</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  [Total Miles],</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  [Total Gallons Burned], 0)</a:t>
            </a:r>
          </a:p>
        </p:txBody>
      </p:sp>
      <p:sp>
        <p:nvSpPr>
          <p:cNvPr id="8" name="enhancement-102">
            <a:extLst xmlns:a="http://schemas.openxmlformats.org/drawingml/2006/main">
              <a:ext uri="{FF2B5EF4-FFF2-40B4-BE49-F238E27FC236}">
                <a16:creationId xmlns:a16="http://schemas.microsoft.com/office/drawing/2014/main" id="{97A3C6E8-867C-45A2-BCB9-3F70F4FBD5CA}"/>
              </a:ext>
            </a:extLst>
          </p:cNvPr>
          <p:cNvSpPr>
            <a:spLocks xmlns:a="http://schemas.openxmlformats.org/drawingml/2006/main" noGrp="1"/>
          </p:cNvSpPr>
          <p:nvPr/>
        </p:nvSpPr>
        <p:spPr>
          <a:xfrm xmlns:a="http://schemas.openxmlformats.org/drawingml/2006/main">
            <a:off x="6477000" y="4219575"/>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00" b="0">
                <a:solidFill>
                  <a:srgbClr val="F2F6FF"/>
                </a:solidFill>
                <a:latin typeface="Arial"/>
                <a:ea typeface="Arial"/>
                <a:cs typeface="Arial"/>
              </a:defRPr>
            </a:lvl1pPr>
            <a:lvl2pPr>
              <a:buNone/>
              <a:defRPr sz="1800" b="0">
                <a:solidFill>
                  <a:srgbClr val="F2F6FF"/>
                </a:solidFill>
                <a:latin typeface="Arial"/>
                <a:ea typeface="Arial"/>
                <a:cs typeface="Arial"/>
              </a:defRPr>
            </a:lvl2pPr>
            <a:lvl3pPr>
              <a:buNone/>
              <a:defRPr sz="1800" b="0">
                <a:solidFill>
                  <a:srgbClr val="F2F6FF"/>
                </a:solidFill>
                <a:latin typeface="Arial"/>
                <a:ea typeface="Arial"/>
                <a:cs typeface="Arial"/>
              </a:defRPr>
            </a:lvl3pPr>
            <a:lvl4pPr>
              <a:buNone/>
              <a:defRPr sz="1800" b="0">
                <a:solidFill>
                  <a:srgbClr val="F2F6FF"/>
                </a:solidFill>
                <a:latin typeface="Arial"/>
                <a:ea typeface="Arial"/>
                <a:cs typeface="Arial"/>
              </a:defRPr>
            </a:lvl4pPr>
            <a:lvl5pPr>
              <a:buNone/>
              <a:defRPr sz="1800" b="0">
                <a:solidFill>
                  <a:srgbClr val="F2F6FF"/>
                </a:solidFill>
                <a:latin typeface="Arial"/>
                <a:ea typeface="Arial"/>
                <a:cs typeface="Arial"/>
              </a:defRPr>
            </a:lvl5pPr>
            <a:lvl6pPr>
              <a:buNone/>
              <a:defRPr sz="1800" b="0">
                <a:solidFill>
                  <a:srgbClr val="F2F6FF"/>
                </a:solidFill>
                <a:latin typeface="Arial"/>
                <a:ea typeface="Arial"/>
                <a:cs typeface="Arial"/>
              </a:defRPr>
            </a:lvl6pPr>
            <a:lvl7pPr>
              <a:buNone/>
              <a:defRPr sz="1800" b="0">
                <a:solidFill>
                  <a:srgbClr val="F2F6FF"/>
                </a:solidFill>
                <a:latin typeface="Arial"/>
                <a:ea typeface="Arial"/>
                <a:cs typeface="Arial"/>
              </a:defRPr>
            </a:lvl7pPr>
            <a:lvl8pPr>
              <a:buNone/>
              <a:defRPr sz="1800" b="0">
                <a:solidFill>
                  <a:srgbClr val="F2F6FF"/>
                </a:solidFill>
                <a:latin typeface="Arial"/>
                <a:ea typeface="Arial"/>
                <a:cs typeface="Arial"/>
              </a:defRPr>
            </a:lvl8pPr>
            <a:lvl9pPr>
              <a:buNone/>
              <a:defRPr sz="1800" b="0">
                <a:solidFill>
                  <a:srgbClr val="F2F6FF"/>
                </a:solidFill>
                <a:latin typeface="Arial"/>
                <a:ea typeface="Arial"/>
                <a:cs typeface="Arial"/>
              </a:defRPr>
            </a:lvl9pPr>
          </a:lstStyle>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Cost Per Mile = DIVIDE(</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  [Total Cost], [Total Miles], 0)</a:t>
            </a:r>
          </a:p>
        </p:txBody>
      </p:sp>
      <p:sp>
        <p:nvSpPr>
          <p:cNvPr id="9" name="enhancement-103">
            <a:extLst xmlns:a="http://schemas.openxmlformats.org/drawingml/2006/main">
              <a:ext uri="{FF2B5EF4-FFF2-40B4-BE49-F238E27FC236}">
                <a16:creationId xmlns:a16="http://schemas.microsoft.com/office/drawing/2014/main" id="{5CA64421-9C9F-4D3E-A02C-57145748DBA1}"/>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Net Profit is the saved measure name; the included lines support modeled contribution.</a:t>
            </a:r>
          </a:p>
        </p:txBody>
      </p:sp>
      <p:sp>
        <p:nvSpPr>
          <p:cNvPr id="10" name="enhancement-104">
            <a:extLst xmlns:a="http://schemas.openxmlformats.org/drawingml/2006/main">
              <a:ext uri="{FF2B5EF4-FFF2-40B4-BE49-F238E27FC236}">
                <a16:creationId xmlns:a16="http://schemas.microsoft.com/office/drawing/2014/main" id="{35DA4E11-1C34-469F-ADE6-C7A48B6519D1}"/>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A11</a:t>
            </a:r>
          </a:p>
        </p:txBody>
      </p:sp>
    </p:spTree>
    <p:extLst>
      <p:ext uri="{BB962C8B-B14F-4D97-AF65-F5344CB8AC3E}">
        <p14:creationId xmlns:p14="http://schemas.microsoft.com/office/powerpoint/2010/main" val="1205505218"/>
      </p:ext>
    </p:extLst>
  </p:cSld>
</p:sld>
</file>

<file path=ppt/slides/slide41.xml><?xml version="1.0" encoding="utf-8"?>
<p:sld xmlns:p="http://schemas.openxmlformats.org/presentationml/2006/main">
  <p:cSld>
    <p:bg>
      <p:bgPr>
        <a:solidFill xmlns:a="http://schemas.openxmlformats.org/drawingml/2006/main">
          <a:srgbClr val="050B16"/>
        </a:solidFill>
      </p:bgPr>
    </p:bg>
    <p:spTree>
      <p:nvGrpSpPr>
        <p:cNvPr id="1" name=""/>
        <p:cNvGrpSpPr/>
        <p:nvPr/>
      </p:nvGrpSpPr>
      <p:grpSpPr>
        <a:xfrm xmlns:a="http://schemas.openxmlformats.org/drawingml/2006/main"/>
      </p:grpSpPr>
      <p:sp>
        <p:nvSpPr>
          <p:cNvPr id="10" name="enhancement-105">
            <a:extLst xmlns:a="http://schemas.openxmlformats.org/drawingml/2006/main">
              <a:ext uri="{FF2B5EF4-FFF2-40B4-BE49-F238E27FC236}">
                <a16:creationId xmlns:a16="http://schemas.microsoft.com/office/drawing/2014/main" id="{7E49BCE5-7350-417C-97B2-A6EE0D697C1D}"/>
              </a:ext>
            </a:extLst>
          </p:cNvPr>
          <p:cNvSpPr>
            <a:spLocks xmlns:a="http://schemas.openxmlformats.org/drawingml/2006/main" noGrp="1"/>
          </p:cNvSpPr>
          <p:nvPr/>
        </p:nvSpPr>
        <p:spPr>
          <a:xfrm xmlns:a="http://schemas.openxmlformats.org/drawingml/2006/main">
            <a:off x="571500" y="3238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75" b="1">
                <a:solidFill>
                  <a:srgbClr val="3DDCF5"/>
                </a:solidFill>
                <a:latin typeface="Arial"/>
                <a:ea typeface="Arial"/>
                <a:cs typeface="Arial"/>
              </a:defRPr>
            </a:lvl1pPr>
            <a:lvl2pPr>
              <a:buNone/>
              <a:defRPr sz="1275" b="1">
                <a:solidFill>
                  <a:srgbClr val="3DDCF5"/>
                </a:solidFill>
                <a:latin typeface="Arial"/>
                <a:ea typeface="Arial"/>
                <a:cs typeface="Arial"/>
              </a:defRPr>
            </a:lvl2pPr>
            <a:lvl3pPr>
              <a:buNone/>
              <a:defRPr sz="1275" b="1">
                <a:solidFill>
                  <a:srgbClr val="3DDCF5"/>
                </a:solidFill>
                <a:latin typeface="Arial"/>
                <a:ea typeface="Arial"/>
                <a:cs typeface="Arial"/>
              </a:defRPr>
            </a:lvl3pPr>
            <a:lvl4pPr>
              <a:buNone/>
              <a:defRPr sz="1275" b="1">
                <a:solidFill>
                  <a:srgbClr val="3DDCF5"/>
                </a:solidFill>
                <a:latin typeface="Arial"/>
                <a:ea typeface="Arial"/>
                <a:cs typeface="Arial"/>
              </a:defRPr>
            </a:lvl4pPr>
            <a:lvl5pPr>
              <a:buNone/>
              <a:defRPr sz="1275" b="1">
                <a:solidFill>
                  <a:srgbClr val="3DDCF5"/>
                </a:solidFill>
                <a:latin typeface="Arial"/>
                <a:ea typeface="Arial"/>
                <a:cs typeface="Arial"/>
              </a:defRPr>
            </a:lvl5pPr>
            <a:lvl6pPr>
              <a:buNone/>
              <a:defRPr sz="1275" b="1">
                <a:solidFill>
                  <a:srgbClr val="3DDCF5"/>
                </a:solidFill>
                <a:latin typeface="Arial"/>
                <a:ea typeface="Arial"/>
                <a:cs typeface="Arial"/>
              </a:defRPr>
            </a:lvl6pPr>
            <a:lvl7pPr>
              <a:buNone/>
              <a:defRPr sz="1275" b="1">
                <a:solidFill>
                  <a:srgbClr val="3DDCF5"/>
                </a:solidFill>
                <a:latin typeface="Arial"/>
                <a:ea typeface="Arial"/>
                <a:cs typeface="Arial"/>
              </a:defRPr>
            </a:lvl7pPr>
            <a:lvl8pPr>
              <a:buNone/>
              <a:defRPr sz="1275" b="1">
                <a:solidFill>
                  <a:srgbClr val="3DDCF5"/>
                </a:solidFill>
                <a:latin typeface="Arial"/>
                <a:ea typeface="Arial"/>
                <a:cs typeface="Arial"/>
              </a:defRPr>
            </a:lvl8pPr>
            <a:lvl9pPr>
              <a:buNone/>
              <a:defRPr sz="1275" b="1">
                <a:solidFill>
                  <a:srgbClr val="3DDCF5"/>
                </a:solidFill>
                <a:latin typeface="Arial"/>
                <a:ea typeface="Arial"/>
                <a:cs typeface="Arial"/>
              </a:defRPr>
            </a:lvl9pPr>
          </a:lstStyle>
          <a:p xmlns:a="http://schemas.openxmlformats.org/drawingml/2006/main">
            <a:pPr>
              <a:buNone/>
              <a:defRPr sz="1275" b="1">
                <a:solidFill>
                  <a:srgbClr val="3DDCF5"/>
                </a:solidFill>
                <a:latin typeface="Arial"/>
                <a:ea typeface="Arial"/>
                <a:cs typeface="Arial"/>
              </a:defRPr>
            </a:pPr>
            <a:r>
              <a:rPr sz="1275" b="1">
                <a:solidFill>
                  <a:srgbClr val="3DDCF5"/>
                </a:solidFill>
                <a:latin typeface="Arial"/>
                <a:ea typeface="Arial"/>
                <a:cs typeface="Arial"/>
              </a:rPr>
              <a:t>APPENDIX: DAX FORMULAS AND VALIDATION</a:t>
            </a:r>
          </a:p>
        </p:txBody>
      </p:sp>
      <p:sp>
        <p:nvSpPr>
          <p:cNvPr id="2" name="enhancement-106">
            <a:extLst xmlns:a="http://schemas.openxmlformats.org/drawingml/2006/main">
              <a:ext uri="{FF2B5EF4-FFF2-40B4-BE49-F238E27FC236}">
                <a16:creationId xmlns:a16="http://schemas.microsoft.com/office/drawing/2014/main" id="{9A15A2B1-F253-4A00-9755-3FB26BFBB8C1}"/>
              </a:ext>
            </a:extLst>
          </p:cNvPr>
          <p:cNvSpPr>
            <a:spLocks xmlns:a="http://schemas.openxmlformats.org/drawingml/2006/main" noGrp="1"/>
          </p:cNvSpPr>
          <p:nvPr/>
        </p:nvSpPr>
        <p:spPr>
          <a:xfrm xmlns:a="http://schemas.openxmlformats.org/drawingml/2006/main">
            <a:off x="571500" y="7620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3225" b="1">
                <a:solidFill>
                  <a:srgbClr val="F2F6FF"/>
                </a:solidFill>
                <a:latin typeface="Arial"/>
                <a:ea typeface="Arial"/>
                <a:cs typeface="Arial"/>
              </a:defRPr>
            </a:lvl1pPr>
            <a:lvl2pPr>
              <a:buNone/>
              <a:defRPr sz="3225" b="1">
                <a:solidFill>
                  <a:srgbClr val="F2F6FF"/>
                </a:solidFill>
                <a:latin typeface="Arial"/>
                <a:ea typeface="Arial"/>
                <a:cs typeface="Arial"/>
              </a:defRPr>
            </a:lvl2pPr>
            <a:lvl3pPr>
              <a:buNone/>
              <a:defRPr sz="3225" b="1">
                <a:solidFill>
                  <a:srgbClr val="F2F6FF"/>
                </a:solidFill>
                <a:latin typeface="Arial"/>
                <a:ea typeface="Arial"/>
                <a:cs typeface="Arial"/>
              </a:defRPr>
            </a:lvl3pPr>
            <a:lvl4pPr>
              <a:buNone/>
              <a:defRPr sz="3225" b="1">
                <a:solidFill>
                  <a:srgbClr val="F2F6FF"/>
                </a:solidFill>
                <a:latin typeface="Arial"/>
                <a:ea typeface="Arial"/>
                <a:cs typeface="Arial"/>
              </a:defRPr>
            </a:lvl4pPr>
            <a:lvl5pPr>
              <a:buNone/>
              <a:defRPr sz="3225" b="1">
                <a:solidFill>
                  <a:srgbClr val="F2F6FF"/>
                </a:solidFill>
                <a:latin typeface="Arial"/>
                <a:ea typeface="Arial"/>
                <a:cs typeface="Arial"/>
              </a:defRPr>
            </a:lvl5pPr>
            <a:lvl6pPr>
              <a:buNone/>
              <a:defRPr sz="3225" b="1">
                <a:solidFill>
                  <a:srgbClr val="F2F6FF"/>
                </a:solidFill>
                <a:latin typeface="Arial"/>
                <a:ea typeface="Arial"/>
                <a:cs typeface="Arial"/>
              </a:defRPr>
            </a:lvl6pPr>
            <a:lvl7pPr>
              <a:buNone/>
              <a:defRPr sz="3225" b="1">
                <a:solidFill>
                  <a:srgbClr val="F2F6FF"/>
                </a:solidFill>
                <a:latin typeface="Arial"/>
                <a:ea typeface="Arial"/>
                <a:cs typeface="Arial"/>
              </a:defRPr>
            </a:lvl7pPr>
            <a:lvl8pPr>
              <a:buNone/>
              <a:defRPr sz="3225" b="1">
                <a:solidFill>
                  <a:srgbClr val="F2F6FF"/>
                </a:solidFill>
                <a:latin typeface="Arial"/>
                <a:ea typeface="Arial"/>
                <a:cs typeface="Arial"/>
              </a:defRPr>
            </a:lvl8pPr>
            <a:lvl9pPr>
              <a:buNone/>
              <a:defRPr sz="3225" b="1">
                <a:solidFill>
                  <a:srgbClr val="F2F6FF"/>
                </a:solidFill>
                <a:latin typeface="Arial"/>
                <a:ea typeface="Arial"/>
                <a:cs typeface="Arial"/>
              </a:defRPr>
            </a:lvl9pPr>
          </a:lstStyle>
          <a:p xmlns:a="http://schemas.openxmlformats.org/drawingml/2006/main">
            <a:pPr>
              <a:buNone/>
              <a:defRPr sz="3225" b="1">
                <a:solidFill>
                  <a:srgbClr val="F2F6FF"/>
                </a:solidFill>
                <a:latin typeface="Arial"/>
                <a:ea typeface="Arial"/>
                <a:cs typeface="Arial"/>
              </a:defRPr>
            </a:pPr>
            <a:r>
              <a:rPr sz="3225" b="1">
                <a:solidFill>
                  <a:srgbClr val="F2F6FF"/>
                </a:solidFill>
                <a:latin typeface="Arial"/>
                <a:ea typeface="Arial"/>
                <a:cs typeface="Arial"/>
              </a:rPr>
              <a:t>DAX reference: context and comparable scenarios</a:t>
            </a:r>
          </a:p>
        </p:txBody>
      </p:sp>
      <p:sp>
        <p:nvSpPr>
          <p:cNvPr id="3" name="enhancement-107">
            <a:extLst xmlns:a="http://schemas.openxmlformats.org/drawingml/2006/main">
              <a:ext uri="{FF2B5EF4-FFF2-40B4-BE49-F238E27FC236}">
                <a16:creationId xmlns:a16="http://schemas.microsoft.com/office/drawing/2014/main" id="{5F164096-BDBB-4770-ABFA-685F6268CC9C}"/>
              </a:ext>
            </a:extLst>
          </p:cNvPr>
          <p:cNvSpPr>
            <a:spLocks xmlns:a="http://schemas.openxmlformats.org/drawingml/2006/main" noGrp="1"/>
          </p:cNvSpPr>
          <p:nvPr/>
        </p:nvSpPr>
        <p:spPr>
          <a:xfrm xmlns:a="http://schemas.openxmlformats.org/drawingml/2006/main">
            <a:off x="571500" y="202882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00" b="1">
                <a:solidFill>
                  <a:srgbClr val="3DDCF5"/>
                </a:solidFill>
                <a:latin typeface="Arial"/>
                <a:ea typeface="Arial"/>
                <a:cs typeface="Arial"/>
              </a:defRPr>
            </a:lvl1pPr>
            <a:lvl2pPr>
              <a:buNone/>
              <a:defRPr sz="1500" b="1">
                <a:solidFill>
                  <a:srgbClr val="3DDCF5"/>
                </a:solidFill>
                <a:latin typeface="Arial"/>
                <a:ea typeface="Arial"/>
                <a:cs typeface="Arial"/>
              </a:defRPr>
            </a:lvl2pPr>
            <a:lvl3pPr>
              <a:buNone/>
              <a:defRPr sz="1500" b="1">
                <a:solidFill>
                  <a:srgbClr val="3DDCF5"/>
                </a:solidFill>
                <a:latin typeface="Arial"/>
                <a:ea typeface="Arial"/>
                <a:cs typeface="Arial"/>
              </a:defRPr>
            </a:lvl3pPr>
            <a:lvl4pPr>
              <a:buNone/>
              <a:defRPr sz="1500" b="1">
                <a:solidFill>
                  <a:srgbClr val="3DDCF5"/>
                </a:solidFill>
                <a:latin typeface="Arial"/>
                <a:ea typeface="Arial"/>
                <a:cs typeface="Arial"/>
              </a:defRPr>
            </a:lvl4pPr>
            <a:lvl5pPr>
              <a:buNone/>
              <a:defRPr sz="1500" b="1">
                <a:solidFill>
                  <a:srgbClr val="3DDCF5"/>
                </a:solidFill>
                <a:latin typeface="Arial"/>
                <a:ea typeface="Arial"/>
                <a:cs typeface="Arial"/>
              </a:defRPr>
            </a:lvl5pPr>
            <a:lvl6pPr>
              <a:buNone/>
              <a:defRPr sz="1500" b="1">
                <a:solidFill>
                  <a:srgbClr val="3DDCF5"/>
                </a:solidFill>
                <a:latin typeface="Arial"/>
                <a:ea typeface="Arial"/>
                <a:cs typeface="Arial"/>
              </a:defRPr>
            </a:lvl6pPr>
            <a:lvl7pPr>
              <a:buNone/>
              <a:defRPr sz="1500" b="1">
                <a:solidFill>
                  <a:srgbClr val="3DDCF5"/>
                </a:solidFill>
                <a:latin typeface="Arial"/>
                <a:ea typeface="Arial"/>
                <a:cs typeface="Arial"/>
              </a:defRPr>
            </a:lvl7pPr>
            <a:lvl8pPr>
              <a:buNone/>
              <a:defRPr sz="1500" b="1">
                <a:solidFill>
                  <a:srgbClr val="3DDCF5"/>
                </a:solidFill>
                <a:latin typeface="Arial"/>
                <a:ea typeface="Arial"/>
                <a:cs typeface="Arial"/>
              </a:defRPr>
            </a:lvl8pPr>
            <a:lvl9pPr>
              <a:buNone/>
              <a:defRPr sz="1500" b="1">
                <a:solidFill>
                  <a:srgbClr val="3DDCF5"/>
                </a:solidFill>
                <a:latin typeface="Arial"/>
                <a:ea typeface="Arial"/>
                <a:cs typeface="Arial"/>
              </a:defRPr>
            </a:lvl9pPr>
          </a:lstStyle>
          <a:p xmlns:a="http://schemas.openxmlformats.org/drawingml/2006/main">
            <a:pPr>
              <a:buNone/>
              <a:defRPr sz="1500" b="1">
                <a:solidFill>
                  <a:srgbClr val="3DDCF5"/>
                </a:solidFill>
                <a:latin typeface="Arial"/>
                <a:ea typeface="Arial"/>
                <a:cs typeface="Arial"/>
              </a:defRPr>
            </a:pPr>
            <a:r>
              <a:rPr sz="1500" b="1">
                <a:solidFill>
                  <a:srgbClr val="3DDCF5"/>
                </a:solidFill>
                <a:latin typeface="Arial"/>
                <a:ea typeface="Arial"/>
                <a:cs typeface="Arial"/>
              </a:rPr>
              <a:t>ACTUAL DELIVERY OTD</a:t>
            </a:r>
          </a:p>
        </p:txBody>
      </p:sp>
      <p:sp>
        <p:nvSpPr>
          <p:cNvPr id="4" name="enhancement-108">
            <a:extLst xmlns:a="http://schemas.openxmlformats.org/drawingml/2006/main">
              <a:ext uri="{FF2B5EF4-FFF2-40B4-BE49-F238E27FC236}">
                <a16:creationId xmlns:a16="http://schemas.microsoft.com/office/drawing/2014/main" id="{8CEDEF99-6762-48EB-B2F9-EB58A162517E}"/>
              </a:ext>
            </a:extLst>
          </p:cNvPr>
          <p:cNvSpPr>
            <a:spLocks xmlns:a="http://schemas.openxmlformats.org/drawingml/2006/main" noGrp="1"/>
          </p:cNvSpPr>
          <p:nvPr/>
        </p:nvSpPr>
        <p:spPr>
          <a:xfrm xmlns:a="http://schemas.openxmlformats.org/drawingml/2006/main">
            <a:off x="6477000" y="2028825"/>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00" b="1">
                <a:solidFill>
                  <a:srgbClr val="A381FF"/>
                </a:solidFill>
                <a:latin typeface="Arial"/>
                <a:ea typeface="Arial"/>
                <a:cs typeface="Arial"/>
              </a:defRPr>
            </a:lvl1pPr>
            <a:lvl2pPr>
              <a:buNone/>
              <a:defRPr sz="1500" b="1">
                <a:solidFill>
                  <a:srgbClr val="A381FF"/>
                </a:solidFill>
                <a:latin typeface="Arial"/>
                <a:ea typeface="Arial"/>
                <a:cs typeface="Arial"/>
              </a:defRPr>
            </a:lvl2pPr>
            <a:lvl3pPr>
              <a:buNone/>
              <a:defRPr sz="1500" b="1">
                <a:solidFill>
                  <a:srgbClr val="A381FF"/>
                </a:solidFill>
                <a:latin typeface="Arial"/>
                <a:ea typeface="Arial"/>
                <a:cs typeface="Arial"/>
              </a:defRPr>
            </a:lvl3pPr>
            <a:lvl4pPr>
              <a:buNone/>
              <a:defRPr sz="1500" b="1">
                <a:solidFill>
                  <a:srgbClr val="A381FF"/>
                </a:solidFill>
                <a:latin typeface="Arial"/>
                <a:ea typeface="Arial"/>
                <a:cs typeface="Arial"/>
              </a:defRPr>
            </a:lvl4pPr>
            <a:lvl5pPr>
              <a:buNone/>
              <a:defRPr sz="1500" b="1">
                <a:solidFill>
                  <a:srgbClr val="A381FF"/>
                </a:solidFill>
                <a:latin typeface="Arial"/>
                <a:ea typeface="Arial"/>
                <a:cs typeface="Arial"/>
              </a:defRPr>
            </a:lvl5pPr>
            <a:lvl6pPr>
              <a:buNone/>
              <a:defRPr sz="1500" b="1">
                <a:solidFill>
                  <a:srgbClr val="A381FF"/>
                </a:solidFill>
                <a:latin typeface="Arial"/>
                <a:ea typeface="Arial"/>
                <a:cs typeface="Arial"/>
              </a:defRPr>
            </a:lvl6pPr>
            <a:lvl7pPr>
              <a:buNone/>
              <a:defRPr sz="1500" b="1">
                <a:solidFill>
                  <a:srgbClr val="A381FF"/>
                </a:solidFill>
                <a:latin typeface="Arial"/>
                <a:ea typeface="Arial"/>
                <a:cs typeface="Arial"/>
              </a:defRPr>
            </a:lvl7pPr>
            <a:lvl8pPr>
              <a:buNone/>
              <a:defRPr sz="1500" b="1">
                <a:solidFill>
                  <a:srgbClr val="A381FF"/>
                </a:solidFill>
                <a:latin typeface="Arial"/>
                <a:ea typeface="Arial"/>
                <a:cs typeface="Arial"/>
              </a:defRPr>
            </a:lvl8pPr>
            <a:lvl9pPr>
              <a:buNone/>
              <a:defRPr sz="1500" b="1">
                <a:solidFill>
                  <a:srgbClr val="A381FF"/>
                </a:solidFill>
                <a:latin typeface="Arial"/>
                <a:ea typeface="Arial"/>
                <a:cs typeface="Arial"/>
              </a:defRPr>
            </a:lvl9pPr>
          </a:lstStyle>
          <a:p xmlns:a="http://schemas.openxmlformats.org/drawingml/2006/main">
            <a:pPr>
              <a:buNone/>
              <a:defRPr sz="1500" b="1">
                <a:solidFill>
                  <a:srgbClr val="A381FF"/>
                </a:solidFill>
                <a:latin typeface="Arial"/>
                <a:ea typeface="Arial"/>
                <a:cs typeface="Arial"/>
              </a:defRPr>
            </a:pPr>
            <a:r>
              <a:rPr sz="1500" b="1">
                <a:solidFill>
                  <a:srgbClr val="A381FF"/>
                </a:solidFill>
                <a:latin typeface="Arial"/>
                <a:ea typeface="Arial"/>
                <a:cs typeface="Arial"/>
              </a:rPr>
              <a:t>SCENARIO COST ALIGNMENT</a:t>
            </a:r>
          </a:p>
        </p:txBody>
      </p:sp>
      <p:sp>
        <p:nvSpPr>
          <p:cNvPr id="5" name="enhancement-109">
            <a:extLst xmlns:a="http://schemas.openxmlformats.org/drawingml/2006/main">
              <a:ext uri="{FF2B5EF4-FFF2-40B4-BE49-F238E27FC236}">
                <a16:creationId xmlns:a16="http://schemas.microsoft.com/office/drawing/2014/main" id="{00A4E9CA-95B3-412A-ADC7-33292C7ADF0C}"/>
              </a:ext>
            </a:extLst>
          </p:cNvPr>
          <p:cNvSpPr>
            <a:spLocks xmlns:a="http://schemas.openxmlformats.org/drawingml/2006/main" noGrp="1"/>
          </p:cNvSpPr>
          <p:nvPr/>
        </p:nvSpPr>
        <p:spPr>
          <a:xfrm xmlns:a="http://schemas.openxmlformats.org/drawingml/2006/main">
            <a:off x="571500" y="2476500"/>
            <a:ext cx="52863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575" b="0">
                <a:solidFill>
                  <a:srgbClr val="F2F6FF"/>
                </a:solidFill>
                <a:latin typeface="Arial"/>
                <a:ea typeface="Arial"/>
                <a:cs typeface="Arial"/>
              </a:defRPr>
            </a:lvl1pPr>
            <a:lvl2pPr>
              <a:buNone/>
              <a:defRPr sz="1575" b="0">
                <a:solidFill>
                  <a:srgbClr val="F2F6FF"/>
                </a:solidFill>
                <a:latin typeface="Arial"/>
                <a:ea typeface="Arial"/>
                <a:cs typeface="Arial"/>
              </a:defRPr>
            </a:lvl2pPr>
            <a:lvl3pPr>
              <a:buNone/>
              <a:defRPr sz="1575" b="0">
                <a:solidFill>
                  <a:srgbClr val="F2F6FF"/>
                </a:solidFill>
                <a:latin typeface="Arial"/>
                <a:ea typeface="Arial"/>
                <a:cs typeface="Arial"/>
              </a:defRPr>
            </a:lvl3pPr>
            <a:lvl4pPr>
              <a:buNone/>
              <a:defRPr sz="1575" b="0">
                <a:solidFill>
                  <a:srgbClr val="F2F6FF"/>
                </a:solidFill>
                <a:latin typeface="Arial"/>
                <a:ea typeface="Arial"/>
                <a:cs typeface="Arial"/>
              </a:defRPr>
            </a:lvl4pPr>
            <a:lvl5pPr>
              <a:buNone/>
              <a:defRPr sz="1575" b="0">
                <a:solidFill>
                  <a:srgbClr val="F2F6FF"/>
                </a:solidFill>
                <a:latin typeface="Arial"/>
                <a:ea typeface="Arial"/>
                <a:cs typeface="Arial"/>
              </a:defRPr>
            </a:lvl5pPr>
            <a:lvl6pPr>
              <a:buNone/>
              <a:defRPr sz="1575" b="0">
                <a:solidFill>
                  <a:srgbClr val="F2F6FF"/>
                </a:solidFill>
                <a:latin typeface="Arial"/>
                <a:ea typeface="Arial"/>
                <a:cs typeface="Arial"/>
              </a:defRPr>
            </a:lvl6pPr>
            <a:lvl7pPr>
              <a:buNone/>
              <a:defRPr sz="1575" b="0">
                <a:solidFill>
                  <a:srgbClr val="F2F6FF"/>
                </a:solidFill>
                <a:latin typeface="Arial"/>
                <a:ea typeface="Arial"/>
                <a:cs typeface="Arial"/>
              </a:defRPr>
            </a:lvl7pPr>
            <a:lvl8pPr>
              <a:buNone/>
              <a:defRPr sz="1575" b="0">
                <a:solidFill>
                  <a:srgbClr val="F2F6FF"/>
                </a:solidFill>
                <a:latin typeface="Arial"/>
                <a:ea typeface="Arial"/>
                <a:cs typeface="Arial"/>
              </a:defRPr>
            </a:lvl8pPr>
            <a:lvl9pPr>
              <a:buNone/>
              <a:defRPr sz="1575" b="0">
                <a:solidFill>
                  <a:srgbClr val="F2F6FF"/>
                </a:solidFill>
                <a:latin typeface="Arial"/>
                <a:ea typeface="Arial"/>
                <a:cs typeface="Arial"/>
              </a:defRPr>
            </a:lvl9pPr>
          </a:lstStyle>
          <a:p xmlns:a="http://schemas.openxmlformats.org/drawingml/2006/main">
            <a:pPr>
              <a:buNone/>
              <a:defRPr sz="1575" b="0">
                <a:solidFill>
                  <a:srgbClr val="F2F6FF"/>
                </a:solidFill>
                <a:latin typeface="Arial"/>
                <a:ea typeface="Arial"/>
                <a:cs typeface="Arial"/>
              </a:defRPr>
            </a:pPr>
            <a:r>
              <a:rPr sz="1575" b="0">
                <a:solidFill>
                  <a:srgbClr val="F2F6FF"/>
                </a:solidFill>
                <a:latin typeface="Arial"/>
                <a:ea typeface="Arial"/>
                <a:cs typeface="Arial"/>
              </a:rPr>
              <a:t>On_Time_Delivery_Rate =</a:t>
            </a:r>
          </a:p>
          <a:p xmlns:a="http://schemas.openxmlformats.org/drawingml/2006/main">
            <a:pPr>
              <a:buNone/>
              <a:defRPr sz="1575" b="0">
                <a:solidFill>
                  <a:srgbClr val="F2F6FF"/>
                </a:solidFill>
                <a:latin typeface="Arial"/>
                <a:ea typeface="Arial"/>
                <a:cs typeface="Arial"/>
              </a:defRPr>
            </a:pPr>
            <a:r>
              <a:rPr sz="1575" b="0">
                <a:solidFill>
                  <a:srgbClr val="F2F6FF"/>
                </a:solidFill>
                <a:latin typeface="Arial"/>
                <a:ea typeface="Arial"/>
                <a:cs typeface="Arial"/>
              </a:rPr>
              <a:t>DIVIDE(</a:t>
            </a:r>
          </a:p>
          <a:p xmlns:a="http://schemas.openxmlformats.org/drawingml/2006/main">
            <a:pPr>
              <a:buNone/>
              <a:defRPr sz="1575" b="0">
                <a:solidFill>
                  <a:srgbClr val="F2F6FF"/>
                </a:solidFill>
                <a:latin typeface="Arial"/>
                <a:ea typeface="Arial"/>
                <a:cs typeface="Arial"/>
              </a:defRPr>
            </a:pPr>
            <a:r>
              <a:rPr sz="1575" b="0">
                <a:solidFill>
                  <a:srgbClr val="F2F6FF"/>
                </a:solidFill>
                <a:latin typeface="Arial"/>
                <a:ea typeface="Arial"/>
                <a:cs typeface="Arial"/>
              </a:rPr>
              <a:t> CALCULATE(COUNTROWS(delivery_events),</a:t>
            </a:r>
          </a:p>
          <a:p xmlns:a="http://schemas.openxmlformats.org/drawingml/2006/main">
            <a:pPr>
              <a:buNone/>
              <a:defRPr sz="1575" b="0">
                <a:solidFill>
                  <a:srgbClr val="F2F6FF"/>
                </a:solidFill>
                <a:latin typeface="Arial"/>
                <a:ea typeface="Arial"/>
                <a:cs typeface="Arial"/>
              </a:defRPr>
            </a:pPr>
            <a:r>
              <a:rPr sz="1575" b="0">
                <a:solidFill>
                  <a:srgbClr val="F2F6FF"/>
                </a:solidFill>
                <a:latin typeface="Arial"/>
                <a:ea typeface="Arial"/>
                <a:cs typeface="Arial"/>
              </a:rPr>
              <a:t>  delivery_events[event_type]="Delivery",</a:t>
            </a:r>
          </a:p>
          <a:p xmlns:a="http://schemas.openxmlformats.org/drawingml/2006/main">
            <a:pPr>
              <a:buNone/>
              <a:defRPr sz="1575" b="0">
                <a:solidFill>
                  <a:srgbClr val="F2F6FF"/>
                </a:solidFill>
                <a:latin typeface="Arial"/>
                <a:ea typeface="Arial"/>
                <a:cs typeface="Arial"/>
              </a:defRPr>
            </a:pPr>
            <a:r>
              <a:rPr sz="1575" b="0">
                <a:solidFill>
                  <a:srgbClr val="F2F6FF"/>
                </a:solidFill>
                <a:latin typeface="Arial"/>
                <a:ea typeface="Arial"/>
                <a:cs typeface="Arial"/>
              </a:rPr>
              <a:t>  delivery_events[real_on_time_flag]=TRUE()),</a:t>
            </a:r>
          </a:p>
          <a:p xmlns:a="http://schemas.openxmlformats.org/drawingml/2006/main">
            <a:pPr>
              <a:buNone/>
              <a:defRPr sz="1575" b="0">
                <a:solidFill>
                  <a:srgbClr val="F2F6FF"/>
                </a:solidFill>
                <a:latin typeface="Arial"/>
                <a:ea typeface="Arial"/>
                <a:cs typeface="Arial"/>
              </a:defRPr>
            </a:pPr>
            <a:r>
              <a:rPr sz="1575" b="0">
                <a:solidFill>
                  <a:srgbClr val="F2F6FF"/>
                </a:solidFill>
                <a:latin typeface="Arial"/>
                <a:ea typeface="Arial"/>
                <a:cs typeface="Arial"/>
              </a:rPr>
              <a:t> CALCULATE(COUNTROWS(delivery_events),</a:t>
            </a:r>
          </a:p>
          <a:p xmlns:a="http://schemas.openxmlformats.org/drawingml/2006/main">
            <a:pPr>
              <a:buNone/>
              <a:defRPr sz="1575" b="0">
                <a:solidFill>
                  <a:srgbClr val="F2F6FF"/>
                </a:solidFill>
                <a:latin typeface="Arial"/>
                <a:ea typeface="Arial"/>
                <a:cs typeface="Arial"/>
              </a:defRPr>
            </a:pPr>
            <a:r>
              <a:rPr sz="1575" b="0">
                <a:solidFill>
                  <a:srgbClr val="F2F6FF"/>
                </a:solidFill>
                <a:latin typeface="Arial"/>
                <a:ea typeface="Arial"/>
                <a:cs typeface="Arial"/>
              </a:rPr>
              <a:t>  delivery_events[event_type]="Delivery"),</a:t>
            </a:r>
          </a:p>
          <a:p xmlns:a="http://schemas.openxmlformats.org/drawingml/2006/main">
            <a:pPr>
              <a:buNone/>
              <a:defRPr sz="1575" b="0">
                <a:solidFill>
                  <a:srgbClr val="F2F6FF"/>
                </a:solidFill>
                <a:latin typeface="Arial"/>
                <a:ea typeface="Arial"/>
                <a:cs typeface="Arial"/>
              </a:defRPr>
            </a:pPr>
            <a:r>
              <a:rPr sz="1575" b="0">
                <a:solidFill>
                  <a:srgbClr val="F2F6FF"/>
                </a:solidFill>
                <a:latin typeface="Arial"/>
                <a:ea typeface="Arial"/>
                <a:cs typeface="Arial"/>
              </a:rPr>
              <a:t> 0)</a:t>
            </a:r>
          </a:p>
        </p:txBody>
      </p:sp>
      <p:sp>
        <p:nvSpPr>
          <p:cNvPr id="6" name="enhancement-110">
            <a:extLst xmlns:a="http://schemas.openxmlformats.org/drawingml/2006/main">
              <a:ext uri="{FF2B5EF4-FFF2-40B4-BE49-F238E27FC236}">
                <a16:creationId xmlns:a16="http://schemas.microsoft.com/office/drawing/2014/main" id="{B3AA8B87-9911-4D03-AD37-C1BEC94842B2}"/>
              </a:ext>
            </a:extLst>
          </p:cNvPr>
          <p:cNvSpPr>
            <a:spLocks xmlns:a="http://schemas.openxmlformats.org/drawingml/2006/main" noGrp="1"/>
          </p:cNvSpPr>
          <p:nvPr/>
        </p:nvSpPr>
        <p:spPr>
          <a:xfrm xmlns:a="http://schemas.openxmlformats.org/drawingml/2006/main">
            <a:off x="6477000" y="2476500"/>
            <a:ext cx="5048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00" b="0">
                <a:solidFill>
                  <a:srgbClr val="F2F6FF"/>
                </a:solidFill>
                <a:latin typeface="Arial"/>
                <a:ea typeface="Arial"/>
                <a:cs typeface="Arial"/>
              </a:defRPr>
            </a:lvl1pPr>
            <a:lvl2pPr>
              <a:buNone/>
              <a:defRPr sz="1800" b="0">
                <a:solidFill>
                  <a:srgbClr val="F2F6FF"/>
                </a:solidFill>
                <a:latin typeface="Arial"/>
                <a:ea typeface="Arial"/>
                <a:cs typeface="Arial"/>
              </a:defRPr>
            </a:lvl2pPr>
            <a:lvl3pPr>
              <a:buNone/>
              <a:defRPr sz="1800" b="0">
                <a:solidFill>
                  <a:srgbClr val="F2F6FF"/>
                </a:solidFill>
                <a:latin typeface="Arial"/>
                <a:ea typeface="Arial"/>
                <a:cs typeface="Arial"/>
              </a:defRPr>
            </a:lvl3pPr>
            <a:lvl4pPr>
              <a:buNone/>
              <a:defRPr sz="1800" b="0">
                <a:solidFill>
                  <a:srgbClr val="F2F6FF"/>
                </a:solidFill>
                <a:latin typeface="Arial"/>
                <a:ea typeface="Arial"/>
                <a:cs typeface="Arial"/>
              </a:defRPr>
            </a:lvl4pPr>
            <a:lvl5pPr>
              <a:buNone/>
              <a:defRPr sz="1800" b="0">
                <a:solidFill>
                  <a:srgbClr val="F2F6FF"/>
                </a:solidFill>
                <a:latin typeface="Arial"/>
                <a:ea typeface="Arial"/>
                <a:cs typeface="Arial"/>
              </a:defRPr>
            </a:lvl5pPr>
            <a:lvl6pPr>
              <a:buNone/>
              <a:defRPr sz="1800" b="0">
                <a:solidFill>
                  <a:srgbClr val="F2F6FF"/>
                </a:solidFill>
                <a:latin typeface="Arial"/>
                <a:ea typeface="Arial"/>
                <a:cs typeface="Arial"/>
              </a:defRPr>
            </a:lvl6pPr>
            <a:lvl7pPr>
              <a:buNone/>
              <a:defRPr sz="1800" b="0">
                <a:solidFill>
                  <a:srgbClr val="F2F6FF"/>
                </a:solidFill>
                <a:latin typeface="Arial"/>
                <a:ea typeface="Arial"/>
                <a:cs typeface="Arial"/>
              </a:defRPr>
            </a:lvl7pPr>
            <a:lvl8pPr>
              <a:buNone/>
              <a:defRPr sz="1800" b="0">
                <a:solidFill>
                  <a:srgbClr val="F2F6FF"/>
                </a:solidFill>
                <a:latin typeface="Arial"/>
                <a:ea typeface="Arial"/>
                <a:cs typeface="Arial"/>
              </a:defRPr>
            </a:lvl8pPr>
            <a:lvl9pPr>
              <a:buNone/>
              <a:defRPr sz="1800" b="0">
                <a:solidFill>
                  <a:srgbClr val="F2F6FF"/>
                </a:solidFill>
                <a:latin typeface="Arial"/>
                <a:ea typeface="Arial"/>
                <a:cs typeface="Arial"/>
              </a:defRPr>
            </a:lvl9pPr>
          </a:lstStyle>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Current Scenario Profit subtracts:</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Fuel + Maintenance + Incident cost</a:t>
            </a:r>
          </a:p>
        </p:txBody>
      </p:sp>
      <p:sp>
        <p:nvSpPr>
          <p:cNvPr id="7" name="enhancement-111">
            <a:extLst xmlns:a="http://schemas.openxmlformats.org/drawingml/2006/main">
              <a:ext uri="{FF2B5EF4-FFF2-40B4-BE49-F238E27FC236}">
                <a16:creationId xmlns:a16="http://schemas.microsoft.com/office/drawing/2014/main" id="{FB0458C1-9436-442F-BA70-F0306A5EC1A0}"/>
              </a:ext>
            </a:extLst>
          </p:cNvPr>
          <p:cNvSpPr>
            <a:spLocks xmlns:a="http://schemas.openxmlformats.org/drawingml/2006/main" noGrp="1"/>
          </p:cNvSpPr>
          <p:nvPr/>
        </p:nvSpPr>
        <p:spPr>
          <a:xfrm xmlns:a="http://schemas.openxmlformats.org/drawingml/2006/main">
            <a:off x="6477000" y="3695700"/>
            <a:ext cx="5048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800" b="0">
                <a:solidFill>
                  <a:srgbClr val="F2F6FF"/>
                </a:solidFill>
                <a:latin typeface="Arial"/>
                <a:ea typeface="Arial"/>
                <a:cs typeface="Arial"/>
              </a:defRPr>
            </a:lvl1pPr>
            <a:lvl2pPr>
              <a:buNone/>
              <a:defRPr sz="1800" b="0">
                <a:solidFill>
                  <a:srgbClr val="F2F6FF"/>
                </a:solidFill>
                <a:latin typeface="Arial"/>
                <a:ea typeface="Arial"/>
                <a:cs typeface="Arial"/>
              </a:defRPr>
            </a:lvl2pPr>
            <a:lvl3pPr>
              <a:buNone/>
              <a:defRPr sz="1800" b="0">
                <a:solidFill>
                  <a:srgbClr val="F2F6FF"/>
                </a:solidFill>
                <a:latin typeface="Arial"/>
                <a:ea typeface="Arial"/>
                <a:cs typeface="Arial"/>
              </a:defRPr>
            </a:lvl3pPr>
            <a:lvl4pPr>
              <a:buNone/>
              <a:defRPr sz="1800" b="0">
                <a:solidFill>
                  <a:srgbClr val="F2F6FF"/>
                </a:solidFill>
                <a:latin typeface="Arial"/>
                <a:ea typeface="Arial"/>
                <a:cs typeface="Arial"/>
              </a:defRPr>
            </a:lvl4pPr>
            <a:lvl5pPr>
              <a:buNone/>
              <a:defRPr sz="1800" b="0">
                <a:solidFill>
                  <a:srgbClr val="F2F6FF"/>
                </a:solidFill>
                <a:latin typeface="Arial"/>
                <a:ea typeface="Arial"/>
                <a:cs typeface="Arial"/>
              </a:defRPr>
            </a:lvl5pPr>
            <a:lvl6pPr>
              <a:buNone/>
              <a:defRPr sz="1800" b="0">
                <a:solidFill>
                  <a:srgbClr val="F2F6FF"/>
                </a:solidFill>
                <a:latin typeface="Arial"/>
                <a:ea typeface="Arial"/>
                <a:cs typeface="Arial"/>
              </a:defRPr>
            </a:lvl6pPr>
            <a:lvl7pPr>
              <a:buNone/>
              <a:defRPr sz="1800" b="0">
                <a:solidFill>
                  <a:srgbClr val="F2F6FF"/>
                </a:solidFill>
                <a:latin typeface="Arial"/>
                <a:ea typeface="Arial"/>
                <a:cs typeface="Arial"/>
              </a:defRPr>
            </a:lvl7pPr>
            <a:lvl8pPr>
              <a:buNone/>
              <a:defRPr sz="1800" b="0">
                <a:solidFill>
                  <a:srgbClr val="F2F6FF"/>
                </a:solidFill>
                <a:latin typeface="Arial"/>
                <a:ea typeface="Arial"/>
                <a:cs typeface="Arial"/>
              </a:defRPr>
            </a:lvl8pPr>
            <a:lvl9pPr>
              <a:buNone/>
              <a:defRPr sz="1800" b="0">
                <a:solidFill>
                  <a:srgbClr val="F2F6FF"/>
                </a:solidFill>
                <a:latin typeface="Arial"/>
                <a:ea typeface="Arial"/>
                <a:cs typeface="Arial"/>
              </a:defRPr>
            </a:lvl9pPr>
          </a:lstStyle>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Proposed comparable logic:</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[Scenario Revenue]</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 - [Scenario Fuel Cost]</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 - [Total Maintenance Cost]</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 - [Total Incident Cost]</a:t>
            </a:r>
          </a:p>
          <a:p xmlns:a="http://schemas.openxmlformats.org/drawingml/2006/main">
            <a:pPr>
              <a:buNone/>
              <a:defRPr sz="1800" b="0">
                <a:solidFill>
                  <a:srgbClr val="F2F6FF"/>
                </a:solidFill>
                <a:latin typeface="Arial"/>
                <a:ea typeface="Arial"/>
                <a:cs typeface="Arial"/>
              </a:defRPr>
            </a:pPr>
            <a:r>
              <a:rPr sz="1800" b="0">
                <a:solidFill>
                  <a:srgbClr val="F2F6FF"/>
                </a:solidFill>
                <a:latin typeface="Arial"/>
                <a:ea typeface="Arial"/>
                <a:cs typeface="Arial"/>
              </a:rPr>
              <a:t> - [Total Driver Wages]</a:t>
            </a:r>
          </a:p>
        </p:txBody>
      </p:sp>
      <p:sp>
        <p:nvSpPr>
          <p:cNvPr id="8" name="enhancement-112">
            <a:extLst xmlns:a="http://schemas.openxmlformats.org/drawingml/2006/main">
              <a:ext uri="{FF2B5EF4-FFF2-40B4-BE49-F238E27FC236}">
                <a16:creationId xmlns:a16="http://schemas.microsoft.com/office/drawing/2014/main" id="{FD1F4F51-A48D-4865-A58F-7CA19AEAEE1C}"/>
              </a:ext>
            </a:extLst>
          </p:cNvPr>
          <p:cNvSpPr>
            <a:spLocks xmlns:a="http://schemas.openxmlformats.org/drawingml/2006/main" noGrp="1"/>
          </p:cNvSpPr>
          <p:nvPr/>
        </p:nvSpPr>
        <p:spPr>
          <a:xfrm xmlns:a="http://schemas.openxmlformats.org/drawingml/2006/main">
            <a:off x="571500" y="5934075"/>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725" b="1">
                <a:solidFill>
                  <a:srgbClr val="3DDCF5"/>
                </a:solidFill>
                <a:latin typeface="Arial"/>
                <a:ea typeface="Arial"/>
                <a:cs typeface="Arial"/>
              </a:defRPr>
            </a:lvl1pPr>
            <a:lvl2pPr>
              <a:buNone/>
              <a:defRPr sz="1725" b="1">
                <a:solidFill>
                  <a:srgbClr val="3DDCF5"/>
                </a:solidFill>
                <a:latin typeface="Arial"/>
                <a:ea typeface="Arial"/>
                <a:cs typeface="Arial"/>
              </a:defRPr>
            </a:lvl2pPr>
            <a:lvl3pPr>
              <a:buNone/>
              <a:defRPr sz="1725" b="1">
                <a:solidFill>
                  <a:srgbClr val="3DDCF5"/>
                </a:solidFill>
                <a:latin typeface="Arial"/>
                <a:ea typeface="Arial"/>
                <a:cs typeface="Arial"/>
              </a:defRPr>
            </a:lvl3pPr>
            <a:lvl4pPr>
              <a:buNone/>
              <a:defRPr sz="1725" b="1">
                <a:solidFill>
                  <a:srgbClr val="3DDCF5"/>
                </a:solidFill>
                <a:latin typeface="Arial"/>
                <a:ea typeface="Arial"/>
                <a:cs typeface="Arial"/>
              </a:defRPr>
            </a:lvl4pPr>
            <a:lvl5pPr>
              <a:buNone/>
              <a:defRPr sz="1725" b="1">
                <a:solidFill>
                  <a:srgbClr val="3DDCF5"/>
                </a:solidFill>
                <a:latin typeface="Arial"/>
                <a:ea typeface="Arial"/>
                <a:cs typeface="Arial"/>
              </a:defRPr>
            </a:lvl5pPr>
            <a:lvl6pPr>
              <a:buNone/>
              <a:defRPr sz="1725" b="1">
                <a:solidFill>
                  <a:srgbClr val="3DDCF5"/>
                </a:solidFill>
                <a:latin typeface="Arial"/>
                <a:ea typeface="Arial"/>
                <a:cs typeface="Arial"/>
              </a:defRPr>
            </a:lvl6pPr>
            <a:lvl7pPr>
              <a:buNone/>
              <a:defRPr sz="1725" b="1">
                <a:solidFill>
                  <a:srgbClr val="3DDCF5"/>
                </a:solidFill>
                <a:latin typeface="Arial"/>
                <a:ea typeface="Arial"/>
                <a:cs typeface="Arial"/>
              </a:defRPr>
            </a:lvl7pPr>
            <a:lvl8pPr>
              <a:buNone/>
              <a:defRPr sz="1725" b="1">
                <a:solidFill>
                  <a:srgbClr val="3DDCF5"/>
                </a:solidFill>
                <a:latin typeface="Arial"/>
                <a:ea typeface="Arial"/>
                <a:cs typeface="Arial"/>
              </a:defRPr>
            </a:lvl8pPr>
            <a:lvl9pPr>
              <a:buNone/>
              <a:defRPr sz="1725" b="1">
                <a:solidFill>
                  <a:srgbClr val="3DDCF5"/>
                </a:solidFill>
                <a:latin typeface="Arial"/>
                <a:ea typeface="Arial"/>
                <a:cs typeface="Arial"/>
              </a:defRPr>
            </a:lvl9pPr>
          </a:lstStyle>
          <a:p xmlns:a="http://schemas.openxmlformats.org/drawingml/2006/main">
            <a:pPr>
              <a:buNone/>
              <a:defRPr sz="1725" b="1">
                <a:solidFill>
                  <a:srgbClr val="3DDCF5"/>
                </a:solidFill>
                <a:latin typeface="Arial"/>
                <a:ea typeface="Arial"/>
                <a:cs typeface="Arial"/>
              </a:defRPr>
            </a:pPr>
            <a:r>
              <a:rPr sz="1725" b="1">
                <a:solidFill>
                  <a:srgbClr val="3DDCF5"/>
                </a:solidFill>
                <a:latin typeface="Arial"/>
                <a:ea typeface="Arial"/>
                <a:cs typeface="Arial"/>
              </a:rPr>
              <a:t>Calendar has no fact link; filter propagation and zero-delta tests remain required.</a:t>
            </a:r>
          </a:p>
        </p:txBody>
      </p:sp>
      <p:sp>
        <p:nvSpPr>
          <p:cNvPr id="9" name="enhancement-113">
            <a:extLst xmlns:a="http://schemas.openxmlformats.org/drawingml/2006/main">
              <a:ext uri="{FF2B5EF4-FFF2-40B4-BE49-F238E27FC236}">
                <a16:creationId xmlns:a16="http://schemas.microsoft.com/office/drawing/2014/main" id="{848E807B-A5ED-4B78-BA70-2D11C4E62422}"/>
              </a:ext>
            </a:extLst>
          </p:cNvPr>
          <p:cNvSpPr>
            <a:spLocks xmlns:a="http://schemas.openxmlformats.org/drawingml/2006/main" noGrp="1"/>
          </p:cNvSpPr>
          <p:nvPr/>
        </p:nvSpPr>
        <p:spPr>
          <a:xfrm xmlns:a="http://schemas.openxmlformats.org/drawingml/2006/main">
            <a:off x="11239500" y="64960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lvl1pPr>
              <a:buNone/>
              <a:defRPr sz="1200" b="0">
                <a:solidFill>
                  <a:srgbClr val="A8BDD4"/>
                </a:solidFill>
                <a:latin typeface="Arial"/>
                <a:ea typeface="Arial"/>
                <a:cs typeface="Arial"/>
              </a:defRPr>
            </a:lvl1pPr>
            <a:lvl2pPr>
              <a:buNone/>
              <a:defRPr sz="1200" b="0">
                <a:solidFill>
                  <a:srgbClr val="A8BDD4"/>
                </a:solidFill>
                <a:latin typeface="Arial"/>
                <a:ea typeface="Arial"/>
                <a:cs typeface="Arial"/>
              </a:defRPr>
            </a:lvl2pPr>
            <a:lvl3pPr>
              <a:buNone/>
              <a:defRPr sz="1200" b="0">
                <a:solidFill>
                  <a:srgbClr val="A8BDD4"/>
                </a:solidFill>
                <a:latin typeface="Arial"/>
                <a:ea typeface="Arial"/>
                <a:cs typeface="Arial"/>
              </a:defRPr>
            </a:lvl3pPr>
            <a:lvl4pPr>
              <a:buNone/>
              <a:defRPr sz="1200" b="0">
                <a:solidFill>
                  <a:srgbClr val="A8BDD4"/>
                </a:solidFill>
                <a:latin typeface="Arial"/>
                <a:ea typeface="Arial"/>
                <a:cs typeface="Arial"/>
              </a:defRPr>
            </a:lvl4pPr>
            <a:lvl5pPr>
              <a:buNone/>
              <a:defRPr sz="1200" b="0">
                <a:solidFill>
                  <a:srgbClr val="A8BDD4"/>
                </a:solidFill>
                <a:latin typeface="Arial"/>
                <a:ea typeface="Arial"/>
                <a:cs typeface="Arial"/>
              </a:defRPr>
            </a:lvl5pPr>
            <a:lvl6pPr>
              <a:buNone/>
              <a:defRPr sz="1200" b="0">
                <a:solidFill>
                  <a:srgbClr val="A8BDD4"/>
                </a:solidFill>
                <a:latin typeface="Arial"/>
                <a:ea typeface="Arial"/>
                <a:cs typeface="Arial"/>
              </a:defRPr>
            </a:lvl6pPr>
            <a:lvl7pPr>
              <a:buNone/>
              <a:defRPr sz="1200" b="0">
                <a:solidFill>
                  <a:srgbClr val="A8BDD4"/>
                </a:solidFill>
                <a:latin typeface="Arial"/>
                <a:ea typeface="Arial"/>
                <a:cs typeface="Arial"/>
              </a:defRPr>
            </a:lvl7pPr>
            <a:lvl8pPr>
              <a:buNone/>
              <a:defRPr sz="1200" b="0">
                <a:solidFill>
                  <a:srgbClr val="A8BDD4"/>
                </a:solidFill>
                <a:latin typeface="Arial"/>
                <a:ea typeface="Arial"/>
                <a:cs typeface="Arial"/>
              </a:defRPr>
            </a:lvl8pPr>
            <a:lvl9pPr>
              <a:buNone/>
              <a:defRPr sz="1200" b="0">
                <a:solidFill>
                  <a:srgbClr val="A8BDD4"/>
                </a:solidFill>
                <a:latin typeface="Arial"/>
                <a:ea typeface="Arial"/>
                <a:cs typeface="Arial"/>
              </a:defRPr>
            </a:lvl9pPr>
          </a:lstStyle>
          <a:p xmlns:a="http://schemas.openxmlformats.org/drawingml/2006/main">
            <a:pPr>
              <a:buNone/>
              <a:defRPr sz="1200" b="0">
                <a:solidFill>
                  <a:srgbClr val="A8BDD4"/>
                </a:solidFill>
                <a:latin typeface="Arial"/>
                <a:ea typeface="Arial"/>
                <a:cs typeface="Arial"/>
              </a:defRPr>
            </a:pPr>
            <a:r>
              <a:rPr sz="1200" b="0">
                <a:solidFill>
                  <a:srgbClr val="A8BDD4"/>
                </a:solidFill>
                <a:latin typeface="Arial"/>
                <a:ea typeface="Arial"/>
                <a:cs typeface="Arial"/>
              </a:rPr>
              <a:t>A12</a:t>
            </a:r>
          </a:p>
        </p:txBody>
      </p:sp>
    </p:spTree>
    <p:extLst>
      <p:ext uri="{BB962C8B-B14F-4D97-AF65-F5344CB8AC3E}">
        <p14:creationId xmlns:p14="http://schemas.microsoft.com/office/powerpoint/2010/main" val="12055052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2026-10-20T09:09:17.9330000Z</dcterms:created>
  <dcterms:modified xsi:type="dcterms:W3CDTF">2026-10-20T09:09:17.9340000Z</dcterms:modified>
</coreProperties>
</file>