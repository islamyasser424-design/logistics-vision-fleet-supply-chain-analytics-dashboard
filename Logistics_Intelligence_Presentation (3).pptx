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0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1B3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Delivery events
in source</c:v>
                  </c:pt>
                  <c:pt idx="1">
                    <c:v>Delivery events
in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170820</c:v>
                </c:pt>
                <c:pt idx="1">
                  <c:v>75725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0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C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8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 modelled</c:v>
                  </c:pt>
                  <c:pt idx="1">
                    <c:v>Purchase-based</c:v>
                  </c:pt>
                  <c:pt idx="2">
                    <c:v>Burn-based
(operational)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2.81</c:v>
                </c:pt>
                <c:pt idx="1">
                  <c:v>4.98</c:v>
                </c:pt>
                <c:pt idx="2">
                  <c:v>6.45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8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 modelled</c:v>
                  </c:pt>
                  <c:pt idx="1">
                    <c:v>Corrected</c:v>
                  </c:pt>
                  <c:pt idx="2">
                    <c:v>Industry norm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65.18</c:v>
                </c:pt>
                <c:pt idx="1">
                  <c:v>47.3</c:v>
                </c:pt>
                <c:pt idx="2">
                  <c:v>7.5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B3A52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99.92</c:v>
                </c:pt>
                <c:pt idx="1">
                  <c:v>98.91</c:v>
                </c:pt>
                <c:pt idx="2">
                  <c:v>99.79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38B"/>
              </a:solidFill>
              <a:effectLst/>
            </c:spPr>
          </c:dPt>
          <c:dPt>
            <c:idx val="1"/>
            <c:bubble3D val="0"/>
            <c:spPr>
              <a:solidFill>
                <a:srgbClr val="1B3A52"/>
              </a:solidFill>
              <a:effectLst/>
            </c:spPr>
          </c:dPt>
          <c:dPt>
            <c:idx val="2"/>
            <c:bubble3D val="0"/>
            <c:spPr>
              <a:solidFill>
                <a:srgbClr val="F2A33C"/>
              </a:solidFill>
              <a:effectLst/>
            </c:spPr>
          </c:dPt>
          <c:dLbls>
            <c:dLbl>
              <c:idx val="0"/>
              <c:numFmt formatCode="#,##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#,##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#,##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.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Contract</c:v>
                </c:pt>
                <c:pt idx="1">
                  <c:v>Spot</c:v>
                </c:pt>
                <c:pt idx="2">
                  <c:v>Dedicated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112.4</c:v>
                </c:pt>
                <c:pt idx="1">
                  <c:v>94.22</c:v>
                </c:pt>
                <c:pt idx="2">
                  <c:v>92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8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A38B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Charlotte–Portland</c:v>
                  </c:pt>
                  <c:pt idx="1">
                    <c:v>Seattle–Charlotte</c:v>
                  </c:pt>
                  <c:pt idx="2">
                    <c:v>Columbus–Portland</c:v>
                  </c:pt>
                  <c:pt idx="3">
                    <c:v>Philadelphia–Seattle</c:v>
                  </c:pt>
                  <c:pt idx="4">
                    <c:v>Phoenix–Philadelphia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11.23</c:v>
                </c:pt>
                <c:pt idx="1">
                  <c:v>10.93</c:v>
                </c:pt>
                <c:pt idx="2">
                  <c:v>10.91</c:v>
                </c:pt>
                <c:pt idx="3">
                  <c:v>10.86</c:v>
                </c:pt>
                <c:pt idx="4">
                  <c:v>10.54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($M)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A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C8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Fuel</c:v>
                  </c:pt>
                  <c:pt idx="1">
                    <c:v>Driver labour</c:v>
                  </c:pt>
                  <c:pt idx="2">
                    <c:v>Maintenance</c:v>
                  </c:pt>
                  <c:pt idx="3">
                    <c:v>Incidents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95.59</c:v>
                </c:pt>
                <c:pt idx="1">
                  <c:v>53.41</c:v>
                </c:pt>
                <c:pt idx="2">
                  <c:v>5.73</c:v>
                </c:pt>
                <c:pt idx="3">
                  <c:v>2.65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38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Actual</c:v>
                  </c:pt>
                  <c:pt idx="1">
                    <c:v>Target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33.28</c:v>
                </c:pt>
                <c:pt idx="1">
                  <c:v>90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($K)</c:v>
                </c:pt>
              </c:strCache>
            </c:strRef>
          </c:tx>
          <c:spPr>
            <a:solidFill>
              <a:srgbClr val="00A38B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3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A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3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53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2A3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7C8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Preventive</c:v>
                  </c:pt>
                  <c:pt idx="1">
                    <c:v>Repair</c:v>
                  </c:pt>
                  <c:pt idx="2">
                    <c:v>Tire</c:v>
                  </c:pt>
                  <c:pt idx="3">
                    <c:v>Brake</c:v>
                  </c:pt>
                  <c:pt idx="4">
                    <c:v>Engine</c:v>
                  </c:pt>
                  <c:pt idx="5">
                    <c:v>Transmission</c:v>
                  </c:pt>
                  <c:pt idx="6">
                    <c:v>Inspection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963.6</c:v>
                </c:pt>
                <c:pt idx="1">
                  <c:v>945.4</c:v>
                </c:pt>
                <c:pt idx="2">
                  <c:v>919.4</c:v>
                </c:pt>
                <c:pt idx="3">
                  <c:v>911.7</c:v>
                </c:pt>
                <c:pt idx="4">
                  <c:v>890.5</c:v>
                </c:pt>
                <c:pt idx="5">
                  <c:v>879.6</c:v>
                </c:pt>
                <c:pt idx="6">
                  <c:v>220.4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A3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DOT Violation</c:v>
                  </c:pt>
                  <c:pt idx="1">
                    <c:v>Equipment Damage</c:v>
                  </c:pt>
                  <c:pt idx="2">
                    <c:v>Accident</c:v>
                  </c:pt>
                  <c:pt idx="3">
                    <c:v>Customer Complaint</c:v>
                  </c:pt>
                  <c:pt idx="4">
                    <c:v>Moving Violation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35</c:v>
                </c:pt>
                <c:pt idx="2">
                  <c:v>35</c:v>
                </c:pt>
                <c:pt idx="3">
                  <c:v>34</c:v>
                </c:pt>
                <c:pt idx="4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E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0"/>
        <c:axPos val="b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Full-stack BI build: 14 source tables, 549K rows, 9 report pages, 181 DAX measures. Deck covers the build, the validation audit, and the corrected business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Four-person team, supervised by Eng. Abdelrahman Faraag at Instant — matching the LedgerSight project team slide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sections. The validation audit in section 4 is the analytical core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executive questions frame every page of the report. Everything built downstream traces to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distinct grains. Mixing them without care is the single biggest modelling risk in this dataset — transaction tables must not be averaged against pre-aggregated monthly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trips is the natural fact hub — it is the only table carrying driver, truck, trailer and load keys simultaneously. Everything else hangs off it or off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Deriving rather than trusting the vendor flag is the step that exposed the data quality problem covered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count is high because early iterations left duplicates. The consolidation is covered in the audit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pivot of the deck. Everything after it uses corrected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Recomputed independently: 170,820 source rows, 75,725 survive the filter. 85,410 deliveries become 47,308.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24.5M gallons purchased vs 18.9M gallons burned. The gap itself is worth investigating separately as a shrinkage or card-control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position: 47.3% is an improvement on 65% but still a gross-contribution figure, not net margin. Naming what is missing is more defensible than quietly presenting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change a number today. All of them change whether the model can be trusted in six months by someone who did not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KPIs, colour-coded by status. On-time delivery at 33% is the standout failure and drives the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top line is the strategic context for everything that follows. Cost control and service recovery are the only available levers.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$112.4M, Spot $94.2M, Dedicated $92.0M. Lane revenue is remarkably even across the top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24.5M gallons purchased vs 18.9M burned. Could be data capture, could be leakage — either way it is the highest-value follow-up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Utilisation is the one place where a large number is available without winning new business — but flat demand is the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limitation is the defensible move. Reporting 33% as settled fact without flagging the scheduling assumption would be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Flat distribution across maintenance types means there is no single high-value fix available here. The opportunity is shifting the preventive/reactive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Idle time and attrition are both real costs that sit outside the current measure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the good news slide, but preventable share and DOT violations are the honest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example is the point: a 5% rate increase is almost exactly cancelled by a $1.25 move in diesel. That framing lands harder than either number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red items are investigations, not fixes — that is deliberate. Recommending action on a number you cannot yet explain is how analysts lose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method rather than findings. The audit is the differentiator — anyone can build nine pages of visuals, far fewer will tell you which of their own numbers were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38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VISION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Operations &amp;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Analytics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Power BI solution over 549,000 rows of trucking operations data —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extracts to a validated nine-page executive decision platform.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31750">
            <a:solidFill>
              <a:srgbClr val="F2A3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2303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Power Query (M)  ·  DAX  ·  Star Schema Modelling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Vision — Fleet Operations &amp; Profitability Analytics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Abdelwahab Abdallah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Eslam Yasser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Youssef Hany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8803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Mohamed Sami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97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Abdelrahman Faraag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4297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Ismail Moustafa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297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2708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Diploma  ·  Data Analytics Track  ·  Logistics Operations Database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02536"/>
            <a:ext cx="603504" cy="60350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214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1965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question and who is asking 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2002536"/>
            <a:ext cx="603504" cy="60350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212140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1965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7333488" y="2331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tables, 549K rows, schema and grain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7296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483864"/>
            <a:ext cx="603504" cy="60350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60273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3447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Semantic Layer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3813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Power Query, 181 DAX measures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7296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483864"/>
            <a:ext cx="603504" cy="60350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60273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33488" y="3447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Audit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333488" y="38130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defects found and corrected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5429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965192"/>
            <a:ext cx="603504" cy="60350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08406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664208" y="49286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 Findings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1664208" y="5294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operational, safety performance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5429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4965192"/>
            <a:ext cx="603504" cy="603504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508406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49286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&amp; Recommendations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7333488" y="5294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levers and the action list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carrier moving $298M of freight with no single source of truth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 truckload carrier runs 85,410 loads a year across 58 lanes with 120 tractors and 150 drivers. Financial, operational and safety data sit in fourteen disconnected extracts. Leadership cannot answer basic questions without a week of manual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347472" cy="34747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809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91693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lanes and customers actually earn money once fuel and maintenance land on them?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94760"/>
            <a:ext cx="347472" cy="34747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4962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78561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real on-time delivery rate, and what does missing it cost?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663440"/>
            <a:ext cx="347472" cy="34747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7183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6542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fleet idle, and which assets are consuming maintenance spend?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532120"/>
            <a:ext cx="347472" cy="34747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5869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52297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exposed are we if diesel moves a dollar, or if we reprice contracts?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deliverable: one governed model that answers all four, with numbers that survive audit.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Fourteen source tables, 549,720 rows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GRAIN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fuel_purchases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2128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196,442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delivery_events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170,820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63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1638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85,410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63931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85,410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1572768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GRAIN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2128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driver_monthly_metrics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2128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4,464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truck_utilization_metrics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3,312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163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maintenance_records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1638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2,920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safety_incidents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63931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21040" y="1572768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1783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GRAIN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2128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698480" y="22128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698480" y="26883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3163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698480" y="31638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363931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698480" y="363931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595360" y="41148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698480" y="41148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45902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0698480" y="45902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1 Jan 2022 – 31 Dec 2024  ·  36 months  ·  every load fully closed (85,410 Completed, zero open)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schema with trips as the fact hub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active relationships, all many-to-one, all single-direction except two deliberate exceptions.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32461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0A3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9204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85,410 rows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22860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21945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22860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846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delivery_events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46634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0" y="4846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fuel_purchases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6634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846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46634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4846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safety_incidents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32918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0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6035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date table built with ADDCOLUMNS over CALENDAR(2022–2024), marked as the date table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6035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trips ↔ loads and trips ↔ safety_incidents, to let incident filters reach load attributes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5760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6035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safety_incidents → trucks and → drivers held inactive to avoid ambiguity with the trip path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layer in Power Query (M)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19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ingestion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276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explicitly cast at load — dates as date, flags as logical, money as Currency.Type. No implicit conversion left to the engine.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78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time columns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560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Name, Year and Quarter inserted on loads at source, so date logic is not repeated in visuals.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112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categorisation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4930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Weight_Category buckets loads into Light / Medium / Heavy at 10K and 25K lbs; Load_Density computed as pieces per pound with a guarded try…otherwise.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17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43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consolidation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42569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Total_Revenue built at row level as revenue + fuel_surcharge + accessorial_charges, so the three revenue streams stay individually reportable.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58384"/>
            <a:ext cx="457200" cy="457200"/>
          </a:xfrm>
          <a:prstGeom prst="ellipse">
            <a:avLst/>
          </a:prstGeom>
          <a:solidFill>
            <a:srgbClr val="0E22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449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376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Service-quality flags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535838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real_on_time_flag derived by comparing actual_datetime to scheduled_datetime rather than trusting the supplied flag; delay_minutes computed from the same pair.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supplied on_time_flag disagrees with the timestamps on 19% of deliveries — deriving the flag rather than trusting it is what surfaced the first defect.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 DAX measures across seven display folders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7627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counts, active-status filters, net profit and margin roll-ups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6592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17627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Loads, trips, miles, revenue per load and per mile, YoY growth via DATEADD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21040" y="16459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77072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17627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maintenance, incident cost, cost per mile, and the two scenario branches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77647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asset productivity, weighted on-time rate, utilisation, detention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32461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36592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377647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counts, rate per 1,000 trips, at-fault, injury and preventable ratios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324612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77072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inputs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77072" y="377647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Multiplier 0.80–1.50 and Scenario Fuel Price $2.00–$6.00, both GENERATESERIES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02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pattern — weighted, not naive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41324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On-Time Rate =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DIVIDE(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SUMX( driver_monthly_metrics, [on_time_delivery_rate] * [trips_completed] ),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 driver_monthly_metrics[trips_completed] 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51389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 pre-averaged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treats a 3-trip month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90-trip month as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equal. Weighting by trip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the only defensible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of this measure.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reporting a single number, the model was audited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measure was independently recomputed from the source CSVs in Python and compared against the model output. Four material defects were found.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0744200" cy="694944"/>
          </a:xfrm>
          <a:prstGeom prst="roundRect">
            <a:avLst>
              <a:gd name="adj" fmla="val 7895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054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063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row filter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081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delivery events dropped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3081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understated by 13.5 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10744200" cy="694944"/>
          </a:xfrm>
          <a:prstGeom prst="roundRect">
            <a:avLst>
              <a:gd name="adj" fmla="val 7895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904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Double-counted fuel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summed as one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MPG reported at 2.81 — physically impossible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581144"/>
            <a:ext cx="10744200" cy="694944"/>
          </a:xfrm>
          <a:prstGeom prst="roundRect">
            <a:avLst>
              <a:gd name="adj" fmla="val 7895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764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cost line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labour absent from profit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782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margin, against 5–10% industry norm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431536"/>
            <a:ext cx="10744200" cy="694944"/>
          </a:xfrm>
          <a:prstGeom prst="roundRect">
            <a:avLst>
              <a:gd name="adj" fmla="val 7895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605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614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hygiene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5632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and broken measures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5632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answers, 24MB file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CRITICAL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1 — a filter step removed 56% of delivery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#"Filtered Rows" = Table.SelectRows( #"Changed Type", each ([on_time_flag] = false) 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as a diagnostic peek at late deliveries. It was never removed, so it shipped as a permanent filter on the fact table.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88036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28803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304495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19.83%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36301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AS REPORTED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840" y="2880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89720" y="30449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33.28%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189720" y="3630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ON-TIME, CORRECTED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44348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4617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visible to the model fell from 85,410 to 47,308. Every service-level, detention and facility metric on the report inherited the distortion.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80644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the filter step was removed and the derived real_on_time_flag retained as the single service-quality source.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CRITICAL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2 — the same fuel counted twice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Total_Fuel_Gallons = SUM( fuel_purchases[gallons] ) + SUM( trips[fuel_gallons_used] 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0927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fuel_purchases records diesel bought at the pump. trips records diesel burned on the road. These are two measurements of one physical quantity — not two quantities to be added.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3200400"/>
          <a:ext cx="5577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329184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372160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8 tractor runs 5.5–7.0 MPG. A reported 2.81 is not a bad result — it is an impossible one, and it invalidates every fuel-efficiency conclusion on the page.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45720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20840" y="4709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wins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50017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Burn-based MPG from trips is the operational truth at 6.45. Purchase gallons are kept exclusively for cost, where the money actually left the business.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MPG measures repointed to trips; fuel_purchases reserved for cost measures only.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MATERIAL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3 — a 65% margin that no carrier has ever earned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927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subtracted fuel, maintenance and incident cost, then stopped. Driver wages — the second-largest line item in any trucking P&amp;L — were never applied.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31720"/>
          <a:ext cx="5577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3317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2569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2569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$298.62M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30266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($95.59M)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3483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3483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($5.73M)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3941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cost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509760" y="3941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($2.65M)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43982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labour — added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509760" y="43982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($53.41M)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20840" y="4773168"/>
            <a:ext cx="461772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4855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net profit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4855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$141.23M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6235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1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2,136,503 driving hours at a $25/hr blended rate. Corrected margin is still optimistic — insurance, tolls, depreciation, tractor financing and overhead remain outside this dataset, which is stated rather than hidden.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MAINTAINABILITY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4 — model hygiene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37944"/>
            <a:ext cx="256032" cy="256032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1673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measures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645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Total_Revenue and Total_Load_Revenue2, Cost_Per_Mile and Cost Per Mile 2, three separate active-driver counts. Two analysts asking the same question could pull different measures and get different answers.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779776"/>
            <a:ext cx="256032" cy="256032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26151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references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25877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Avg_Revenue_Per_Load calls [Total_Load_Revenue], which does not exist in the model. Cost_Per_Mile calls [Total_Miles_Driven] where only the " 2" variant is defined.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38144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721608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35570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352958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literally named "New Mesure" holds over a hundred measures. Nothing about it tells a consumer what lives inside.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663440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4498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date/time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069080" y="447141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hidden LocalDateTable hierarchies generated automatically, inflating the file to 24MB and competing with the purpose-built Calendar 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927080" cy="822960"/>
          </a:xfrm>
          <a:prstGeom prst="roundRect">
            <a:avLst>
              <a:gd name="adj" fmla="val 888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5605272"/>
            <a:ext cx="256032" cy="256032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25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Hardcoded constants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54132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Truck Age computes against a literal 2024 rather than TODAY(), so the measure silently ages out of correctness.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to a single canonical measure per concept, organised into named folders, with auto date/time disabled.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Corrected executive scorecard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independently recomputed from source and reconciled to the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2633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$298.62M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4688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2633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$141.23M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24688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26334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47.3%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4005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122.2M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DRIVEN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38404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4005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85,410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DELIVERED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38404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4005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$1.29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52120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5376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5925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52120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9432" y="5376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6.45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925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MPG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5212080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5376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1.99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5925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/ 1,000 TRIPS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is healthy · amber needs watching · red is the priority problem.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REVENUE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flat — $99M a year, three years running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943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7647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28,589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350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LOADS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326880" y="160020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09760" y="17647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28,656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509760" y="2350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LOADS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0" y="315468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33375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moved 0.2% in three years and revenue moved 0.1%. This is a business holding position, not one growing — and with rates flat, every dollar of margin has to come from the cost side.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composition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52578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376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$262.53M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freight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5440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87.9%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480560" y="52578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9160" y="5376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$29.98M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surcharge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440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321040" y="52578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49640" y="5376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$6.12M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54964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Accessorials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0698480" y="5440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MIX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892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customer type ($M)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126480" y="1645920"/>
          <a:ext cx="5440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0" y="48920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five lanes by revenue ($M)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40080" y="539496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" y="5577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concentration risk on either axis. The largest customer segment is 37.6% of revenue and the largest single lane is 3.8% — a diversified book, but also one with no obvious anchor relationship to defend in a downturn.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 — fuel is 61% of every dollar spent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1746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$1.29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mile, all-in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0" y="2441448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2587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$3.90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670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per gallon paid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0" y="3282696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32.0%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5112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as a share of revenue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0" y="4123944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86600" y="4270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72,230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4352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downtime hours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5120640"/>
            <a:ext cx="10927080" cy="1188720"/>
          </a:xfrm>
          <a:prstGeom prst="roundRect">
            <a:avLst>
              <a:gd name="adj" fmla="val 6154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285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controllable exposure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5961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dominates the cost base, and 5.6M gallons more were purchased than the trip records show as burned. That variance alone is worth roughly $21.8M at the average price paid — a fuel-card reconciliation should be the first operational audit commissioned off this report.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profile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85,410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50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completed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60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closed, zero in flight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50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miles per trip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609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profile, 2.4 transit days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27,478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133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load weight (lbs)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Mid-weight, well under 80K limits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76.7%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133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utilisation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4439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of 120 tractors active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idle tractors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6875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fleet average of 1.02M miles and $2.44 revenue per mile, returning the inactive tractors to service represents roughly $69M of unrealised annual revenue capacity — assuming freight exists to fill it, which flat volume suggests it may not.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SERVICE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performance is the business problem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810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57,000+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869680" y="16459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52560" y="18105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 min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23957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DETENTION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0" y="3200400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33832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loads arrive late against their scheduled window. Against a 90% service target this is not a tuning problem — it points at either systematically unrealistic scheduling or a structural dispatch failure.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892040"/>
            <a:ext cx="10927080" cy="1463040"/>
          </a:xfrm>
          <a:prstGeom prst="roundRect">
            <a:avLst>
              <a:gd name="adj" fmla="val 5000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5056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the data cannot answer — and why that matters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3675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33% on-time rate across 85,410 loads and three years would normally have cost this carrier its contract book. The more likely explanation is that scheduled_datetime carries an unrealistic transit assumption rather than that delivery genuinely fails two times in three. Confirming which is true requires the commitment logic behind scheduling — it is not in the dataset, and the report should not pretend otherwise.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FLEET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and asset performance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492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8920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spend by type ($K)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498080" y="164592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7922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utilisation rate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98080" y="2487168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633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$47.8K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2715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per tractor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3328416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$0.047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355701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per mile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416966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43159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602 hrs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43982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per active tractor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5349240"/>
            <a:ext cx="10927080" cy="1005840"/>
          </a:xfrm>
          <a:prstGeom prst="roundRect">
            <a:avLst>
              <a:gd name="adj" fmla="val 727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5532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almost perfectly even across categories, which is itself the finding: there is no failing component or bad model year driving cost. Preventive work only marginally outweighs reactive repair — a fleet being maintained adequately, not strategically.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WORKFORCE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647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C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on file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7647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331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active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7647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31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17647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 hrs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331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idle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493008"/>
            <a:ext cx="256032" cy="25603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properly, not naively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273552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on-time rate is weighted by trips completed rather than averaged across months. A driver with three trips in a month cannot swing the fleet number the way a simple AVERAGE would let them.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572000"/>
            <a:ext cx="256032" cy="25603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25880" y="43708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time is the cost story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52544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hours of idle per driver per month across 124 active drivers is roughly 10,400 hours a year of engine time producing no miles — burning fuel, accruing hours and adding wear with no revenue attached.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12664"/>
            <a:ext cx="10927080" cy="932688"/>
          </a:xfrm>
          <a:prstGeom prst="roundRect">
            <a:avLst>
              <a:gd name="adj" fmla="val 7843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650992"/>
            <a:ext cx="256032" cy="256032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25880" y="5449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is the risk story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431536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of 150 drivers terminated. At industry replacement costs of $8–12K per seat, turnover at this level is a material and largely invisible line item that no current measure captures.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— the one area performing well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760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76288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76288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89720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90888" y="1764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1.99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390888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trips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75120" y="271576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76288" y="2834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31.8%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87628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At-fault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89720" y="271576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90888" y="2834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37.6%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390888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75120" y="378561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6288" y="3904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19.4%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Involved injury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89720" y="3785616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90888" y="3904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$2.65M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390888" y="4315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cost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498348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0E2233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1480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absolute performance, one soft spot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4589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incidents per thousand trips across 122 million miles is genuinely good, and incident cost is under 1% of revenue. The concern is composition rather than volume: 38% of incidents were classified preventable, and DOT violations lead the table. Both are compliance and training exposures, and both carry regulatory consequences that are not priced into the $2.65M.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modelling — two levers, live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disconnected parameter tables drive a parallel measure branch, letting leadership price a decision in the room rather than commissioning a model for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8803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Multiplier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7355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 → 1.50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576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GENERATESERIES(0.8, 1.5, 0.01)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0507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Reprices the entire revenue base to test contract renegotiation or a market-driven rate move.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69748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8803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Fuel Price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7355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 → $6.00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6576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GENERATESERIES(2, 6, 0.1)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00507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Reprices purchased gallons at a chosen diesel rate, defaulting to $3.25 via SELECTEDVALUE.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Scenario Revenue, Scenario Profit, Scenario Margin %, plus Revenue / Profit / Margin Delta against the live baseline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632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on rates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925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+$14.9M revenue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43400" y="54864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5632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to $4.50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925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−$14.7M profit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0" y="54864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E2233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5632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together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5925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+$0.2M net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about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27080" cy="850392"/>
          </a:xfrm>
          <a:prstGeom prst="roundRect">
            <a:avLst>
              <a:gd name="adj" fmla="val 8602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92224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56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733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fuel gap first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65506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5.6M gallons purchased above gallons burned, worth roughly $21.8M. Reconcile fuel cards against trip records before any other initiative — it is the largest single number in the deck that has no explanation.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23744"/>
            <a:ext cx="10927080" cy="850392"/>
          </a:xfrm>
          <a:prstGeom prst="roundRect">
            <a:avLst>
              <a:gd name="adj" fmla="val 8602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761488"/>
            <a:ext cx="384048" cy="38404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8254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426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the scheduling question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62432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whether 33% on-time reflects genuine service failure or unrealistic committed transit times. The answer determines whether this is a dispatch problem or a contracting problem — they need opposite responses.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93008"/>
            <a:ext cx="10927080" cy="850392"/>
          </a:xfrm>
          <a:prstGeom prst="roundRect">
            <a:avLst>
              <a:gd name="adj" fmla="val 8602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3730752"/>
            <a:ext cx="384048" cy="38404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7947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idle time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59359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10,400 engine-hours a year producing no miles. Idle is measurable per driver today, so targets and coaching can start immediately with no new data collection.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62272"/>
            <a:ext cx="10927080" cy="850392"/>
          </a:xfrm>
          <a:prstGeom prst="roundRect">
            <a:avLst>
              <a:gd name="adj" fmla="val 8602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700016"/>
            <a:ext cx="384048" cy="38404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7640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5811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on the 28 idle tractors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56285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fill them or release them. With volume flat for three years, carrying unutilised capacity is a financing cost with no revenue case behind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850392"/>
          </a:xfrm>
          <a:prstGeom prst="roundRect">
            <a:avLst>
              <a:gd name="adj" fmla="val 8602"/>
            </a:avLst>
          </a:prstGeom>
          <a:solidFill>
            <a:srgbClr val="F2F5F7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669280"/>
            <a:ext cx="384048" cy="384048"/>
          </a:xfrm>
          <a:prstGeom prst="ellipse">
            <a:avLst/>
          </a:prstGeom>
          <a:solidFill>
            <a:srgbClr val="00A3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57332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550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preventive versus reactive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55321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spend barely exceeds reactive repair. Moving that ratio is the only maintenance lever with real headroom, given cost is evenly spread across every component category.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46520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value at risk, not by ease of delivery.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DEFENSIBILITY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numbers hold up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585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verified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2432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figure recomputed from source CSVs in Python and reconciled against model output. Nothing in this deck is quoted from a visual without a second, separate calculation behind 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05740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2585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disclosed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2432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material defects found, corrected, and documented in the deck itself rather than quietly fixed. The uncorrected numbers are shown alongside the corrected ones.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1788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stated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5445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47.3% margin is labelled as excluding overhead, insurance and depreciation. The 33% on-time figure is labelled as unresolved between two explanations. Neither is presented as more settled than it 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257800" cy="1691640"/>
          </a:xfrm>
          <a:prstGeom prst="roundRect">
            <a:avLst>
              <a:gd name="adj" fmla="val 3784"/>
            </a:avLst>
          </a:prstGeom>
          <a:solidFill>
            <a:srgbClr val="1B3A52"/>
          </a:solidFill>
          <a:ln w="12700">
            <a:solidFill>
              <a:srgbClr val="2E56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1788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maintained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445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canonical measure per concept, named folders, purpose-built Calendar, auto date/time disabled, no hardcoded years. A second analyst can pick this up without an interview.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6080760"/>
            <a:ext cx="2926080" cy="0"/>
          </a:xfrm>
          <a:prstGeom prst="line">
            <a:avLst/>
          </a:prstGeom>
          <a:noFill/>
          <a:ln w="31750">
            <a:solidFill>
              <a:srgbClr val="F2A3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6236208"/>
            <a:ext cx="10744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Eng. Abdelrahman Faraag  ·  Mentor: Eng. Ismail Moustafa  ·  Instant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2026-09-17T16:34:25Z</dcterms:created>
  <dcterms:modified xsi:type="dcterms:W3CDTF">2026-09-17T16:34:25Z</dcterms:modified>
</cp:coreProperties>
</file>